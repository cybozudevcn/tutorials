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303" r:id="rId3"/>
    <p:sldId id="298" r:id="rId4"/>
    <p:sldId id="304" r:id="rId5"/>
    <p:sldId id="300" r:id="rId6"/>
    <p:sldId id="301" r:id="rId7"/>
    <p:sldId id="299" r:id="rId8"/>
    <p:sldId id="302" r:id="rId9"/>
    <p:sldId id="258" r:id="rId10"/>
    <p:sldId id="276" r:id="rId11"/>
    <p:sldId id="296" r:id="rId12"/>
    <p:sldId id="297" r:id="rId13"/>
    <p:sldId id="292" r:id="rId14"/>
    <p:sldId id="274" r:id="rId15"/>
    <p:sldId id="294" r:id="rId16"/>
    <p:sldId id="295" r:id="rId17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64547" autoAdjust="0"/>
  </p:normalViewPr>
  <p:slideViewPr>
    <p:cSldViewPr snapToGrid="0" showGuides="1">
      <p:cViewPr varScale="1">
        <p:scale>
          <a:sx n="73" d="100"/>
          <a:sy n="73" d="100"/>
        </p:scale>
        <p:origin x="2100" y="7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927965-EE88-4760-A896-D27D22D293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A9B4AB-5418-41F7-A05E-FA0C7D7538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68B04-C7C3-42F9-B289-49AD8C39C81B}" type="datetimeFigureOut">
              <a:rPr lang="zh-CN" altLang="en-US" smtClean="0"/>
              <a:t>2019/3/27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4D6DF2-7518-4682-B132-E2A42FF9D7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E5AC67-6FD7-4DF2-A903-59185F3F98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BEBC0-90A2-4DE9-8218-ED48DE368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36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4E69F-9238-4ABC-BF47-0CC5E10BB88E}" type="datetimeFigureOut">
              <a:rPr lang="zh-CN" altLang="en-US" smtClean="0"/>
              <a:t>2019/3/27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7E059-2F59-4869-B8DC-74D54B9958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92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817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Source Code Pr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908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527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7E059-2F59-4869-B8DC-74D54B9958F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496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4296850"/>
            <a:ext cx="12192000" cy="2572438"/>
          </a:xfrm>
          <a:prstGeom prst="rect">
            <a:avLst/>
          </a:prstGeom>
          <a:solidFill>
            <a:srgbClr val="64BD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07" y="188235"/>
            <a:ext cx="2087135" cy="48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3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4BDD4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-1" y="0"/>
            <a:ext cx="324081" cy="6858000"/>
          </a:xfrm>
          <a:prstGeom prst="rect">
            <a:avLst/>
          </a:prstGeom>
          <a:solidFill>
            <a:srgbClr val="9E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7881" y="6109179"/>
            <a:ext cx="640039" cy="58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8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9A777-DDFC-4114-B27F-368012E730E9}" type="datetimeFigureOut">
              <a:rPr lang="zh-CN" altLang="en-US" smtClean="0"/>
              <a:t>2019/3/27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E8CD5-D900-4549-B40B-AAA848D5F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5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sdn.net/weixin_41817034/article/details/80492315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cybozu.net.cn/hc/kb/article/1189701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D775FAF7-6FDE-47CA-B3EE-6AC31653947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93289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" name="think-cell Slide" r:id="rId5" imgW="359" imgH="360" progId="TCLayout.ActiveDocument.1">
                  <p:embed/>
                </p:oleObj>
              </mc:Choice>
              <mc:Fallback>
                <p:oleObj name="think-cell Slide" r:id="rId5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6ACEEB3-851F-4025-8629-139F045E4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5638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kintone</a:t>
            </a:r>
            <a:r>
              <a:rPr lang="en-US" altLang="zh-CN" dirty="0"/>
              <a:t> </a:t>
            </a:r>
            <a:r>
              <a:rPr lang="zh-CN" altLang="en-US" dirty="0"/>
              <a:t>第三方整合开发</a:t>
            </a:r>
            <a:endParaRPr lang="zh-CN" altLang="en-US" sz="4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96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A53203-F998-4FE5-95B5-2696FCA64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7683" y="2766218"/>
            <a:ext cx="6816634" cy="1325563"/>
          </a:xfrm>
        </p:spPr>
        <p:txBody>
          <a:bodyPr/>
          <a:lstStyle/>
          <a:p>
            <a:r>
              <a:rPr lang="en-US" altLang="zh-CN" dirty="0" err="1"/>
              <a:t>kintone</a:t>
            </a:r>
            <a:r>
              <a:rPr lang="zh-CN" altLang="en-US" dirty="0"/>
              <a:t>对</a:t>
            </a:r>
            <a:r>
              <a:rPr lang="en-US" altLang="zh-CN" dirty="0"/>
              <a:t>promise</a:t>
            </a:r>
            <a:r>
              <a:rPr lang="zh-CN" altLang="en-US" dirty="0"/>
              <a:t>的支持</a:t>
            </a:r>
          </a:p>
        </p:txBody>
      </p:sp>
    </p:spTree>
    <p:extLst>
      <p:ext uri="{BB962C8B-B14F-4D97-AF65-F5344CB8AC3E}">
        <p14:creationId xmlns:p14="http://schemas.microsoft.com/office/powerpoint/2010/main" val="3244092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8E7C5F-6740-4ADD-97E4-F631EB20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Promise</a:t>
            </a:r>
            <a:r>
              <a:rPr lang="zh-CN" altLang="en-US" dirty="0"/>
              <a:t>是什么？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A1E4A1-7C86-4AAB-9434-C7CAFCB45F3D}"/>
              </a:ext>
            </a:extLst>
          </p:cNvPr>
          <p:cNvSpPr/>
          <p:nvPr/>
        </p:nvSpPr>
        <p:spPr>
          <a:xfrm>
            <a:off x="1692621" y="2095347"/>
            <a:ext cx="880675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zh-CN" altLang="en-US" sz="28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异步调用，根据执行结果回调函数。符合</a:t>
            </a:r>
            <a:r>
              <a:rPr lang="en-US" altLang="zh-CN" sz="28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es6</a:t>
            </a:r>
            <a:r>
              <a:rPr lang="zh-CN" altLang="en-US" sz="28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的新语法</a:t>
            </a:r>
            <a:endParaRPr lang="en-US" altLang="zh-CN" sz="280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altLang="zh-CN" sz="280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可以将多个异步请求以同步执行。</a:t>
            </a:r>
            <a:endParaRPr lang="en-US" altLang="zh-CN" sz="280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sz="160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sz="160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sz="160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https://blog.csdn.net/weixin_41817034/article/details/80492315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sz="160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001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4D215-19AC-46FC-9C29-2AB05F2A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kintone</a:t>
            </a:r>
            <a:r>
              <a:rPr lang="zh-CN" altLang="en-US" dirty="0"/>
              <a:t>利用</a:t>
            </a:r>
            <a:r>
              <a:rPr lang="en-US" altLang="zh-CN" dirty="0"/>
              <a:t>promise</a:t>
            </a:r>
            <a:r>
              <a:rPr lang="zh-CN" altLang="en-US" dirty="0"/>
              <a:t>函数解决什么问题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B60ED-A349-458D-8ABD-296CAAF2C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zh-CN" altLang="en-US" b="1" dirty="0"/>
              <a:t>标准</a:t>
            </a:r>
            <a:r>
              <a:rPr lang="en-US" altLang="zh-CN" b="1" dirty="0"/>
              <a:t>API</a:t>
            </a:r>
            <a:r>
              <a:rPr lang="zh-CN" altLang="en-US" b="1" dirty="0"/>
              <a:t>无法发送同步请求的问题</a:t>
            </a:r>
            <a:endParaRPr lang="en-US" altLang="zh-CN" b="1" dirty="0"/>
          </a:p>
          <a:p>
            <a:pPr marL="0" indent="0" fontAlgn="base">
              <a:buNone/>
            </a:pPr>
            <a:r>
              <a:rPr lang="zh-CN" altLang="en-US" sz="2400" dirty="0"/>
              <a:t>之前如果是想在获取数据后，使用这些数据进行一些处理，基本上是使用</a:t>
            </a:r>
            <a:r>
              <a:rPr lang="en-US" altLang="zh-CN" sz="2400" dirty="0" err="1"/>
              <a:t>XMLHttpRequest</a:t>
            </a:r>
            <a:r>
              <a:rPr lang="zh-CN" altLang="en-US" sz="2400" dirty="0"/>
              <a:t>进行痛苦的同步处理。执行请求的页面会卡住，不能进行其他操作。</a:t>
            </a:r>
            <a:endParaRPr lang="en-US" altLang="zh-CN" sz="2400" b="1" dirty="0"/>
          </a:p>
          <a:p>
            <a:pPr fontAlgn="base"/>
            <a:endParaRPr lang="en-US" altLang="zh-CN" b="1" dirty="0"/>
          </a:p>
          <a:p>
            <a:pPr fontAlgn="base"/>
            <a:r>
              <a:rPr lang="zh-CN" altLang="en-US" b="1" dirty="0"/>
              <a:t>使用</a:t>
            </a:r>
            <a:r>
              <a:rPr lang="en-US" altLang="zh-CN" b="1" dirty="0"/>
              <a:t>submit</a:t>
            </a:r>
            <a:r>
              <a:rPr lang="zh-CN" altLang="en-US" b="1" dirty="0"/>
              <a:t>等事件句柄时不能使用请求类</a:t>
            </a:r>
            <a:r>
              <a:rPr lang="en-US" altLang="zh-CN" b="1" dirty="0" err="1"/>
              <a:t>kintone</a:t>
            </a:r>
            <a:r>
              <a:rPr lang="en-US" altLang="zh-CN" b="1" dirty="0"/>
              <a:t> API</a:t>
            </a:r>
            <a:r>
              <a:rPr lang="zh-CN" altLang="en-US" b="1" dirty="0"/>
              <a:t>的问题</a:t>
            </a:r>
            <a:endParaRPr lang="en-US" altLang="zh-CN" b="1" dirty="0"/>
          </a:p>
          <a:p>
            <a:pPr marL="0" indent="0" fontAlgn="base">
              <a:buNone/>
            </a:pPr>
            <a:r>
              <a:rPr lang="zh-CN" altLang="en-US" sz="2400" dirty="0"/>
              <a:t>请求类</a:t>
            </a:r>
            <a:r>
              <a:rPr lang="en-US" altLang="zh-CN" sz="2400" dirty="0" err="1"/>
              <a:t>kintone</a:t>
            </a:r>
            <a:r>
              <a:rPr lang="en-US" altLang="zh-CN" sz="2400" dirty="0"/>
              <a:t> API</a:t>
            </a:r>
            <a:r>
              <a:rPr lang="zh-CN" altLang="en-US" sz="2400" dirty="0"/>
              <a:t>的话比如有</a:t>
            </a:r>
            <a:r>
              <a:rPr lang="en-US" altLang="zh-CN" sz="2400" dirty="0" err="1"/>
              <a:t>kintone.api</a:t>
            </a:r>
            <a:r>
              <a:rPr lang="zh-CN" altLang="en-US" sz="2400" dirty="0"/>
              <a:t>及</a:t>
            </a:r>
            <a:r>
              <a:rPr lang="en-US" altLang="zh-CN" sz="2400" dirty="0" err="1"/>
              <a:t>kintone.proxy</a:t>
            </a:r>
            <a:r>
              <a:rPr lang="zh-CN" altLang="en-US" sz="2400" dirty="0"/>
              <a:t>等，基本上都是异步处理的。也就是说按下记录添加页面的保存按钮时，不等待</a:t>
            </a:r>
            <a:r>
              <a:rPr lang="en-US" altLang="zh-CN" sz="2400" dirty="0" err="1"/>
              <a:t>kintone.api</a:t>
            </a:r>
            <a:r>
              <a:rPr lang="zh-CN" altLang="en-US" sz="2400" dirty="0"/>
              <a:t>及</a:t>
            </a:r>
            <a:r>
              <a:rPr lang="en-US" altLang="zh-CN" sz="2400" dirty="0" err="1"/>
              <a:t>kintone.proxy</a:t>
            </a:r>
            <a:r>
              <a:rPr lang="zh-CN" altLang="en-US" sz="2400" dirty="0"/>
              <a:t>等的执行结果，而直接执行保存。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8542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07BEA-EA5F-4D20-8D0E-9F3DA5D6A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支持</a:t>
            </a:r>
            <a:r>
              <a:rPr lang="en-US" altLang="zh-CN" b="1" dirty="0"/>
              <a:t>Promise</a:t>
            </a:r>
            <a:r>
              <a:rPr lang="zh-CN" altLang="en-US" b="1" dirty="0"/>
              <a:t>的事件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58BC12-097F-430D-944C-296F0A987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altLang="zh-CN" dirty="0" err="1"/>
              <a:t>app.record.create.submit</a:t>
            </a:r>
            <a:endParaRPr lang="en-US" altLang="zh-CN" dirty="0"/>
          </a:p>
          <a:p>
            <a:pPr fontAlgn="base"/>
            <a:r>
              <a:rPr lang="en-US" altLang="zh-CN" dirty="0" err="1"/>
              <a:t>app.record.edit.submit</a:t>
            </a:r>
            <a:endParaRPr lang="en-US" altLang="zh-CN" dirty="0"/>
          </a:p>
          <a:p>
            <a:pPr fontAlgn="base"/>
            <a:r>
              <a:rPr lang="en-US" altLang="zh-CN" dirty="0" err="1"/>
              <a:t>app.record.index.edit.submit</a:t>
            </a:r>
            <a:endParaRPr lang="en-US" altLang="zh-CN" dirty="0"/>
          </a:p>
          <a:p>
            <a:pPr fontAlgn="base"/>
            <a:r>
              <a:rPr lang="en-US" altLang="zh-CN" dirty="0" err="1"/>
              <a:t>app.record.index.delete.submit</a:t>
            </a:r>
            <a:endParaRPr lang="en-US" altLang="zh-CN" dirty="0"/>
          </a:p>
          <a:p>
            <a:pPr fontAlgn="base"/>
            <a:r>
              <a:rPr lang="en-US" altLang="zh-CN" dirty="0" err="1"/>
              <a:t>app.record.detail.process.proceed</a:t>
            </a:r>
            <a:endParaRPr lang="en-US" altLang="zh-CN" dirty="0"/>
          </a:p>
          <a:p>
            <a:pPr fontAlgn="base"/>
            <a:r>
              <a:rPr lang="en-US" altLang="zh-CN" dirty="0" err="1"/>
              <a:t>app.record.detail.delete.submit</a:t>
            </a:r>
            <a:endParaRPr lang="en-US" altLang="zh-CN" dirty="0"/>
          </a:p>
          <a:p>
            <a:pPr fontAlgn="base"/>
            <a:r>
              <a:rPr lang="en-US" altLang="zh-CN" dirty="0" err="1"/>
              <a:t>app.record.create.submit.success</a:t>
            </a:r>
            <a:r>
              <a:rPr lang="en-US" altLang="zh-CN" dirty="0"/>
              <a:t> </a:t>
            </a:r>
          </a:p>
          <a:p>
            <a:pPr fontAlgn="base"/>
            <a:r>
              <a:rPr lang="en-US" altLang="zh-CN" dirty="0" err="1"/>
              <a:t>app.record.edit.submit.success</a:t>
            </a:r>
            <a:r>
              <a:rPr lang="en-US" altLang="zh-CN" dirty="0"/>
              <a:t> </a:t>
            </a:r>
          </a:p>
          <a:p>
            <a:pPr fontAlgn="base"/>
            <a:r>
              <a:rPr lang="en-US" altLang="zh-CN" dirty="0" err="1"/>
              <a:t>mobile.app.record.create.submit</a:t>
            </a:r>
            <a:r>
              <a:rPr lang="en-US" altLang="zh-CN" dirty="0"/>
              <a:t> </a:t>
            </a:r>
            <a:endParaRPr lang="zh-CN" altLang="en-US" dirty="0"/>
          </a:p>
          <a:p>
            <a:pPr fontAlgn="base"/>
            <a:r>
              <a:rPr lang="en-US" altLang="zh-CN" dirty="0" err="1"/>
              <a:t>mobile.app.record.edit.submit</a:t>
            </a:r>
            <a:r>
              <a:rPr lang="en-US" altLang="zh-CN" dirty="0"/>
              <a:t>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0299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3384D-0EE1-453F-ADC3-9393C861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支持</a:t>
            </a:r>
            <a:r>
              <a:rPr lang="en-US" altLang="zh-CN" b="1" dirty="0"/>
              <a:t>Promise</a:t>
            </a:r>
            <a:r>
              <a:rPr lang="zh-CN" altLang="en-US" b="1" dirty="0"/>
              <a:t>请求类</a:t>
            </a:r>
            <a:r>
              <a:rPr lang="en-US" altLang="zh-CN" b="1" dirty="0"/>
              <a:t>API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8A748D-3EEF-4E21-A835-5D38B4D54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zh-CN" dirty="0" err="1"/>
              <a:t>kintone.api</a:t>
            </a:r>
            <a:endParaRPr lang="en-US" altLang="zh-CN" dirty="0"/>
          </a:p>
          <a:p>
            <a:pPr fontAlgn="base"/>
            <a:r>
              <a:rPr lang="en-US" altLang="zh-CN" dirty="0" err="1"/>
              <a:t>kintone.proxy</a:t>
            </a:r>
            <a:endParaRPr lang="en-US" altLang="zh-CN" dirty="0"/>
          </a:p>
          <a:p>
            <a:pPr fontAlgn="base"/>
            <a:r>
              <a:rPr lang="en-US" altLang="zh-CN" dirty="0" err="1"/>
              <a:t>kintone.plugin.app.proxy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4499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51334-B341-4C51-9A90-5F0155B80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62064" cy="132556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例</a:t>
            </a:r>
            <a:r>
              <a:rPr lang="en-US" altLang="zh-CN" sz="3600" dirty="0"/>
              <a:t>:</a:t>
            </a:r>
            <a:r>
              <a:rPr lang="zh-CN" altLang="en-US" sz="3600" dirty="0"/>
              <a:t>在应用</a:t>
            </a:r>
            <a:r>
              <a:rPr lang="en-US" altLang="zh-CN" sz="3600" dirty="0"/>
              <a:t>1</a:t>
            </a:r>
            <a:r>
              <a:rPr lang="zh-CN" altLang="en-US" sz="3600" dirty="0"/>
              <a:t>里添加数据成功后，同步这条数据到应用</a:t>
            </a:r>
            <a:r>
              <a:rPr lang="en-US" altLang="zh-CN" sz="3600" dirty="0"/>
              <a:t>2</a:t>
            </a:r>
            <a:endParaRPr lang="zh-CN" alt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91A6FEC-B6B2-48E4-AC38-462AAAF5A7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48098" y="2450235"/>
            <a:ext cx="8018417" cy="3765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kintone.events.on(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Monaco"/>
              </a:rPr>
              <a:t>'app.record.create.submit.success'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,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7800"/>
                </a:solidFill>
                <a:effectLst/>
                <a:latin typeface="Arial Unicode MS"/>
                <a:ea typeface="Monaco"/>
              </a:rPr>
              <a:t>function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(event) {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7800"/>
                </a:solidFill>
                <a:effectLst/>
                <a:latin typeface="Arial Unicode MS"/>
                <a:ea typeface="Monaco"/>
              </a:rPr>
              <a:t>var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374051"/>
                </a:solidFill>
                <a:effectLst/>
                <a:ea typeface="Monaco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record = event.record;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7800"/>
                </a:solidFill>
                <a:effectLst/>
                <a:latin typeface="Arial Unicode MS"/>
                <a:ea typeface="Monaco"/>
              </a:rPr>
              <a:t>var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374051"/>
                </a:solidFill>
                <a:effectLst/>
                <a:ea typeface="Monaco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appId = 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;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7800"/>
                </a:solidFill>
                <a:effectLst/>
                <a:latin typeface="Arial Unicode MS"/>
                <a:ea typeface="Monaco"/>
              </a:rPr>
              <a:t>var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374051"/>
                </a:solidFill>
                <a:effectLst/>
                <a:ea typeface="Monaco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recordId = event.recordId;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      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374051"/>
                </a:solidFill>
                <a:effectLst/>
                <a:ea typeface="Monaco"/>
              </a:rPr>
              <a:t> 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Arial Unicode MS"/>
                <a:ea typeface="Monaco"/>
              </a:rPr>
              <a:t>//记录更新API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7800"/>
                </a:solidFill>
                <a:effectLst/>
                <a:latin typeface="Arial Unicode MS"/>
                <a:ea typeface="Monaco"/>
              </a:rPr>
              <a:t>var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374051"/>
                </a:solidFill>
                <a:effectLst/>
                <a:ea typeface="Monaco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body = {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   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Monaco"/>
              </a:rPr>
              <a:t>"app"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: appId,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    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Monaco"/>
              </a:rPr>
              <a:t>"record"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: </a:t>
            </a:r>
            <a:r>
              <a:rPr lang="zh-CN" altLang="zh-CN" sz="1400" dirty="0">
                <a:solidFill>
                  <a:srgbClr val="000000"/>
                </a:solidFill>
                <a:latin typeface="Arial Unicode MS"/>
                <a:ea typeface="Monaco"/>
              </a:rPr>
              <a:t> record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DD1144"/>
              </a:solidFill>
              <a:effectLst/>
              <a:latin typeface="Arial Unicode MS"/>
              <a:ea typeface="Monaco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zh-CN" sz="1400" dirty="0">
                <a:solidFill>
                  <a:srgbClr val="DD1144"/>
                </a:solidFill>
                <a:latin typeface="Arial Unicode MS"/>
                <a:ea typeface="Monaco"/>
              </a:rPr>
              <a:t>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};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7800"/>
                </a:solidFill>
                <a:effectLst/>
                <a:latin typeface="Arial Unicode MS"/>
                <a:ea typeface="Monaco"/>
              </a:rPr>
              <a:t>return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374051"/>
                </a:solidFill>
                <a:effectLst/>
                <a:ea typeface="Monaco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kintone.api(kintone.api.url(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Monaco"/>
              </a:rPr>
              <a:t>"/k/v1/record"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,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7800"/>
                </a:solidFill>
                <a:effectLst/>
                <a:latin typeface="Arial Unicode MS"/>
                <a:ea typeface="Monaco"/>
              </a:rPr>
              <a:t>true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), 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Monaco"/>
              </a:rPr>
              <a:t>“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Monaco"/>
              </a:rPr>
              <a:t>POST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Monaco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, body).then(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7800"/>
                </a:solidFill>
                <a:effectLst/>
                <a:latin typeface="Arial Unicode MS"/>
                <a:ea typeface="Monaco"/>
              </a:rPr>
              <a:t>function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(resp) {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          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7800"/>
                </a:solidFill>
                <a:effectLst/>
                <a:latin typeface="Arial Unicode MS"/>
                <a:ea typeface="Monaco"/>
              </a:rPr>
              <a:t>return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374051"/>
                </a:solidFill>
                <a:effectLst/>
                <a:ea typeface="Monaco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event;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}, 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7800"/>
                </a:solidFill>
                <a:effectLst/>
                <a:latin typeface="Arial Unicode MS"/>
                <a:ea typeface="Monaco"/>
              </a:rPr>
              <a:t>function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(error) {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   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alert(error.message);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   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       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FF7800"/>
                </a:solidFill>
                <a:effectLst/>
                <a:latin typeface="Arial Unicode MS"/>
                <a:ea typeface="Monaco"/>
              </a:rPr>
              <a:t>return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374051"/>
                </a:solidFill>
                <a:effectLst/>
                <a:ea typeface="Monaco"/>
              </a:rPr>
              <a:t>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event;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    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});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Arial Unicode MS"/>
                <a:ea typeface="Monaco"/>
              </a:rPr>
              <a:t> 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onaco"/>
              </a:rPr>
              <a:t>});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E16E979-4EA6-4BD9-B4E7-740CAB979264}"/>
              </a:ext>
            </a:extLst>
          </p:cNvPr>
          <p:cNvSpPr txBox="1">
            <a:spLocks/>
          </p:cNvSpPr>
          <p:nvPr/>
        </p:nvSpPr>
        <p:spPr>
          <a:xfrm>
            <a:off x="838200" y="1755365"/>
            <a:ext cx="10515600" cy="630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zh-CN" altLang="en-US" sz="1800" dirty="0"/>
              <a:t>记录添加页面保存成功后的事件： </a:t>
            </a:r>
            <a:r>
              <a:rPr lang="en-US" altLang="zh-CN" sz="1800" dirty="0" err="1"/>
              <a:t>app.record.create.submit.success</a:t>
            </a:r>
            <a:endParaRPr lang="zh-CN" altLang="en-US" sz="1800" dirty="0"/>
          </a:p>
          <a:p>
            <a:pPr fontAlgn="base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7096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EFE1F-2873-4979-90BA-E52B49ACE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1320" y="2533559"/>
            <a:ext cx="5693229" cy="1325563"/>
          </a:xfrm>
        </p:spPr>
        <p:txBody>
          <a:bodyPr/>
          <a:lstStyle/>
          <a:p>
            <a:r>
              <a:rPr lang="en-US" altLang="zh-CN" dirty="0" err="1"/>
              <a:t>kintone</a:t>
            </a:r>
            <a:r>
              <a:rPr lang="zh-CN" altLang="en-US" dirty="0"/>
              <a:t>调用外部服务</a:t>
            </a:r>
          </a:p>
        </p:txBody>
      </p:sp>
    </p:spTree>
    <p:extLst>
      <p:ext uri="{BB962C8B-B14F-4D97-AF65-F5344CB8AC3E}">
        <p14:creationId xmlns:p14="http://schemas.microsoft.com/office/powerpoint/2010/main" val="222021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C1DCB-6F15-43C3-9C84-65C248F6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背景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7A0DD2-7F2B-4E24-AC0B-F666471CC0AC}"/>
              </a:ext>
            </a:extLst>
          </p:cNvPr>
          <p:cNvSpPr/>
          <p:nvPr/>
        </p:nvSpPr>
        <p:spPr>
          <a:xfrm>
            <a:off x="1617402" y="1990844"/>
            <a:ext cx="880675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我们知道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要调用外部服务，会涉及到跨域问题，比较麻烦，但是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已经帮我解决了这个问题。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kintone.proxy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函数会通过代理服务器的方式帮我们在服务端获取数据，然后把数据返回给我们。这样我们就能在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端调用外部服务啦。</a:t>
            </a:r>
            <a:endParaRPr lang="zh-CN" altLang="en-US" sz="280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542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0459C8-5FEE-4656-AF76-FB715CE4B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331" y="2740025"/>
            <a:ext cx="10515600" cy="2589621"/>
          </a:xfrm>
        </p:spPr>
        <p:txBody>
          <a:bodyPr/>
          <a:lstStyle/>
          <a:p>
            <a:pPr marL="0" indent="0" fontAlgn="base">
              <a:buNone/>
            </a:pPr>
            <a:r>
              <a:rPr lang="en-US" altLang="zh-CN" dirty="0" err="1"/>
              <a:t>kintone.proxy</a:t>
            </a:r>
            <a:r>
              <a:rPr lang="en-US" altLang="zh-CN" dirty="0"/>
              <a:t>(</a:t>
            </a:r>
            <a:r>
              <a:rPr lang="en-US" altLang="zh-CN" dirty="0" err="1"/>
              <a:t>url</a:t>
            </a:r>
            <a:r>
              <a:rPr lang="en-US" altLang="zh-CN" dirty="0"/>
              <a:t>, method, headers, data, callback, </a:t>
            </a:r>
            <a:r>
              <a:rPr lang="en-US" altLang="zh-CN" dirty="0" err="1"/>
              <a:t>errback</a:t>
            </a:r>
            <a:r>
              <a:rPr lang="en-US" altLang="zh-CN" dirty="0"/>
              <a:t>);</a:t>
            </a:r>
          </a:p>
          <a:p>
            <a:pPr marL="0" indent="0" fontAlgn="base">
              <a:buNone/>
            </a:pPr>
            <a:endParaRPr lang="en-US" altLang="zh-CN" dirty="0"/>
          </a:p>
          <a:p>
            <a:pPr marL="0" indent="0" fontAlgn="base">
              <a:buNone/>
            </a:pPr>
            <a:endParaRPr lang="en-US" altLang="zh-CN" dirty="0"/>
          </a:p>
          <a:p>
            <a:pPr fontAlgn="base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7BF9990-3199-4DDF-AD34-0B98B7C3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b="1" dirty="0"/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1121142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A6A8E-0033-4332-AA14-AF3FD2400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232723"/>
            <a:ext cx="10515600" cy="1325563"/>
          </a:xfrm>
        </p:spPr>
        <p:txBody>
          <a:bodyPr/>
          <a:lstStyle/>
          <a:p>
            <a:r>
              <a:rPr lang="zh-CN" altLang="en-US" b="1" dirty="0"/>
              <a:t>参数</a:t>
            </a: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0665A77-37AE-4CD5-BE13-C4A31DB5E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624356"/>
              </p:ext>
            </p:extLst>
          </p:nvPr>
        </p:nvGraphicFramePr>
        <p:xfrm>
          <a:off x="1372689" y="1358831"/>
          <a:ext cx="9446622" cy="5095574"/>
        </p:xfrm>
        <a:graphic>
          <a:graphicData uri="http://schemas.openxmlformats.org/drawingml/2006/table">
            <a:tbl>
              <a:tblPr/>
              <a:tblGrid>
                <a:gridCol w="1518141">
                  <a:extLst>
                    <a:ext uri="{9D8B030D-6E8A-4147-A177-3AD203B41FA5}">
                      <a16:colId xmlns:a16="http://schemas.microsoft.com/office/drawing/2014/main" val="3328062839"/>
                    </a:ext>
                  </a:extLst>
                </a:gridCol>
                <a:gridCol w="1001208">
                  <a:extLst>
                    <a:ext uri="{9D8B030D-6E8A-4147-A177-3AD203B41FA5}">
                      <a16:colId xmlns:a16="http://schemas.microsoft.com/office/drawing/2014/main" val="2874840335"/>
                    </a:ext>
                  </a:extLst>
                </a:gridCol>
                <a:gridCol w="920028">
                  <a:extLst>
                    <a:ext uri="{9D8B030D-6E8A-4147-A177-3AD203B41FA5}">
                      <a16:colId xmlns:a16="http://schemas.microsoft.com/office/drawing/2014/main" val="1259980514"/>
                    </a:ext>
                  </a:extLst>
                </a:gridCol>
                <a:gridCol w="6007245">
                  <a:extLst>
                    <a:ext uri="{9D8B030D-6E8A-4147-A177-3AD203B41FA5}">
                      <a16:colId xmlns:a16="http://schemas.microsoft.com/office/drawing/2014/main" val="1750324850"/>
                    </a:ext>
                  </a:extLst>
                </a:gridCol>
              </a:tblGrid>
              <a:tr h="404654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dirty="0" err="1">
                          <a:effectLst/>
                        </a:rPr>
                        <a:t>url</a:t>
                      </a:r>
                      <a:endParaRPr lang="en-US" sz="2400" b="0" dirty="0">
                        <a:effectLst/>
                      </a:endParaRP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b="0" dirty="0">
                          <a:effectLst/>
                        </a:rPr>
                        <a:t>字符串</a:t>
                      </a:r>
                      <a:br>
                        <a:rPr lang="zh-CN" altLang="en-US" sz="1600" b="0" dirty="0">
                          <a:effectLst/>
                        </a:rPr>
                      </a:br>
                      <a:endParaRPr lang="zh-CN" altLang="en-US" sz="1600" b="0" dirty="0">
                        <a:effectLst/>
                      </a:endParaRP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b="0" dirty="0">
                          <a:effectLst/>
                        </a:rPr>
                        <a:t>必須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 b="0" dirty="0">
                          <a:effectLst/>
                        </a:rPr>
                        <a:t>请求</a:t>
                      </a:r>
                      <a:r>
                        <a:rPr lang="en-US" sz="1400" b="0" dirty="0">
                          <a:effectLst/>
                        </a:rPr>
                        <a:t>URL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948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dirty="0">
                          <a:effectLst/>
                        </a:rPr>
                        <a:t>method</a:t>
                      </a:r>
                      <a:endParaRPr lang="en-US" sz="1600" b="0" dirty="0">
                        <a:effectLst/>
                      </a:endParaRP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b="0" dirty="0">
                          <a:effectLst/>
                        </a:rPr>
                        <a:t>字符串</a:t>
                      </a:r>
                      <a:br>
                        <a:rPr lang="zh-CN" altLang="en-US" sz="1600" b="0" dirty="0">
                          <a:effectLst/>
                        </a:rPr>
                      </a:br>
                      <a:endParaRPr lang="zh-CN" altLang="en-US" sz="1600" b="0" dirty="0">
                        <a:effectLst/>
                      </a:endParaRP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b="0" dirty="0">
                          <a:effectLst/>
                        </a:rPr>
                        <a:t>必須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dirty="0">
                          <a:effectLst/>
                        </a:rPr>
                        <a:t>HTTP</a:t>
                      </a:r>
                      <a:r>
                        <a:rPr lang="zh-CN" altLang="en-US" sz="1400" b="0" dirty="0">
                          <a:effectLst/>
                        </a:rPr>
                        <a:t>方法。 </a:t>
                      </a:r>
                      <a:r>
                        <a:rPr lang="en-US" sz="1400" b="0" dirty="0">
                          <a:effectLst/>
                        </a:rPr>
                        <a:t>GET,POST,PUT,DELETE </a:t>
                      </a:r>
                      <a:r>
                        <a:rPr lang="zh-CN" altLang="en-US" sz="1400" b="0" dirty="0">
                          <a:effectLst/>
                        </a:rPr>
                        <a:t>中任一个。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395025"/>
                  </a:ext>
                </a:extLst>
              </a:tr>
              <a:tr h="888736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dirty="0">
                          <a:effectLst/>
                        </a:rPr>
                        <a:t>headers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b="0" dirty="0">
                          <a:effectLst/>
                        </a:rPr>
                        <a:t>对象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b="0" dirty="0">
                          <a:effectLst/>
                        </a:rPr>
                        <a:t>必須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 b="0" dirty="0">
                          <a:effectLst/>
                        </a:rPr>
                        <a:t>指定请求头对象。 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zh-CN" altLang="en-US" sz="1400" b="0" dirty="0">
                          <a:effectLst/>
                        </a:rPr>
                        <a:t>未指定的时候，默认</a:t>
                      </a:r>
                      <a:r>
                        <a:rPr lang="en-US" altLang="zh-CN" sz="1400" b="0" dirty="0">
                          <a:effectLst/>
                        </a:rPr>
                        <a:t>{}</a:t>
                      </a:r>
                      <a:r>
                        <a:rPr lang="zh-CN" altLang="en-US" sz="1400" b="0" dirty="0">
                          <a:effectLst/>
                        </a:rPr>
                        <a:t>。 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en-US" altLang="zh-CN" sz="1400" b="0" dirty="0">
                          <a:effectLst/>
                        </a:rPr>
                        <a:t>(</a:t>
                      </a:r>
                      <a:r>
                        <a:rPr lang="zh-CN" altLang="en-US" sz="1400" b="0" dirty="0">
                          <a:effectLst/>
                        </a:rPr>
                        <a:t>例</a:t>
                      </a:r>
                      <a:r>
                        <a:rPr lang="en-US" altLang="zh-CN" sz="1400" b="0" dirty="0">
                          <a:effectLst/>
                        </a:rPr>
                        <a:t>) {'</a:t>
                      </a:r>
                      <a:r>
                        <a:rPr lang="en-US" sz="1400" b="0" dirty="0">
                          <a:effectLst/>
                        </a:rPr>
                        <a:t>Content-Type': 'application/json'}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7944586"/>
                  </a:ext>
                </a:extLst>
              </a:tr>
              <a:tr h="828809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dirty="0">
                          <a:effectLst/>
                        </a:rPr>
                        <a:t>data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b="0" dirty="0">
                          <a:effectLst/>
                        </a:rPr>
                        <a:t>对象或字符串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b="0" dirty="0">
                          <a:effectLst/>
                        </a:rPr>
                        <a:t>必須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 b="0" dirty="0">
                          <a:effectLst/>
                        </a:rPr>
                        <a:t>请求里包含的数据。未指定的时候，默认</a:t>
                      </a:r>
                      <a:r>
                        <a:rPr lang="en-US" altLang="zh-CN" sz="1400" b="0" dirty="0">
                          <a:effectLst/>
                        </a:rPr>
                        <a:t>{}</a:t>
                      </a:r>
                      <a:r>
                        <a:rPr lang="zh-CN" altLang="en-US" sz="1400" b="0" dirty="0">
                          <a:effectLst/>
                        </a:rPr>
                        <a:t>。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zh-CN" altLang="en-US" sz="1400" b="0" dirty="0">
                          <a:effectLst/>
                        </a:rPr>
                        <a:t>仅在</a:t>
                      </a:r>
                      <a:r>
                        <a:rPr lang="en-US" sz="1400" b="0" dirty="0">
                          <a:effectLst/>
                        </a:rPr>
                        <a:t>POST/PUT</a:t>
                      </a:r>
                      <a:r>
                        <a:rPr lang="zh-CN" altLang="en-US" sz="1400" b="0" dirty="0">
                          <a:effectLst/>
                        </a:rPr>
                        <a:t>情形下被使用，</a:t>
                      </a:r>
                      <a:r>
                        <a:rPr lang="en-US" sz="1400" b="0" dirty="0">
                          <a:effectLst/>
                        </a:rPr>
                        <a:t>GET/DELETE </a:t>
                      </a:r>
                      <a:r>
                        <a:rPr lang="zh-CN" altLang="en-US" sz="1400" b="0" dirty="0">
                          <a:effectLst/>
                        </a:rPr>
                        <a:t>情形下被无视。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zh-CN" altLang="en-US" sz="1400" b="0" dirty="0">
                          <a:effectLst/>
                        </a:rPr>
                        <a:t>在</a:t>
                      </a:r>
                      <a:r>
                        <a:rPr lang="en-US" sz="1400" b="0" dirty="0">
                          <a:effectLst/>
                        </a:rPr>
                        <a:t>GET/DELETE</a:t>
                      </a:r>
                      <a:r>
                        <a:rPr lang="zh-CN" altLang="en-US" sz="1400" b="0" dirty="0">
                          <a:effectLst/>
                        </a:rPr>
                        <a:t>的情况下、需要往</a:t>
                      </a:r>
                      <a:r>
                        <a:rPr lang="en-US" sz="1400" b="0" dirty="0">
                          <a:effectLst/>
                        </a:rPr>
                        <a:t>URL</a:t>
                      </a:r>
                      <a:r>
                        <a:rPr lang="zh-CN" altLang="en-US" sz="1400" b="0" dirty="0">
                          <a:effectLst/>
                        </a:rPr>
                        <a:t>的</a:t>
                      </a:r>
                      <a:r>
                        <a:rPr lang="en-US" sz="1400" b="0" dirty="0" err="1">
                          <a:effectLst/>
                        </a:rPr>
                        <a:t>QueryString</a:t>
                      </a:r>
                      <a:r>
                        <a:rPr lang="zh-CN" altLang="en-US" sz="1400" b="0" dirty="0">
                          <a:effectLst/>
                        </a:rPr>
                        <a:t>里传递参数。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3153303"/>
                  </a:ext>
                </a:extLst>
              </a:tr>
              <a:tr h="1324293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dirty="0">
                          <a:effectLst/>
                        </a:rPr>
                        <a:t>callback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b="0" dirty="0">
                          <a:effectLst/>
                        </a:rPr>
                        <a:t>函数</a:t>
                      </a:r>
                      <a:br>
                        <a:rPr lang="zh-CN" altLang="en-US" sz="1600" b="0" dirty="0">
                          <a:effectLst/>
                        </a:rPr>
                      </a:br>
                      <a:endParaRPr lang="zh-CN" altLang="en-US" sz="1600" b="0" dirty="0">
                        <a:effectLst/>
                      </a:endParaRP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b="0" dirty="0">
                          <a:effectLst/>
                        </a:rPr>
                        <a:t>可省略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400" b="0" dirty="0">
                          <a:effectLst/>
                        </a:rPr>
                        <a:t>向</a:t>
                      </a:r>
                      <a:r>
                        <a:rPr lang="en-US" sz="1400" b="0" dirty="0">
                          <a:effectLst/>
                        </a:rPr>
                        <a:t>Proxy</a:t>
                      </a:r>
                      <a:r>
                        <a:rPr lang="zh-CN" altLang="en-US" sz="1400" b="0" dirty="0">
                          <a:effectLst/>
                        </a:rPr>
                        <a:t>处发送的请求，结束时执行的回调函数。 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zh-CN" altLang="en-US" sz="1400" b="0" dirty="0">
                          <a:effectLst/>
                        </a:rPr>
                        <a:t>参数里赋值的是来自</a:t>
                      </a:r>
                      <a:r>
                        <a:rPr lang="en-US" sz="1400" b="0" dirty="0">
                          <a:effectLst/>
                        </a:rPr>
                        <a:t>proxy</a:t>
                      </a:r>
                      <a:r>
                        <a:rPr lang="zh-CN" altLang="en-US" sz="1400" b="0" dirty="0">
                          <a:effectLst/>
                        </a:rPr>
                        <a:t>的</a:t>
                      </a:r>
                      <a:r>
                        <a:rPr lang="en-US" sz="1400" b="0" dirty="0">
                          <a:effectLst/>
                        </a:rPr>
                        <a:t>response body (</a:t>
                      </a:r>
                      <a:r>
                        <a:rPr lang="zh-CN" altLang="en-US" sz="1400" b="0" dirty="0">
                          <a:effectLst/>
                        </a:rPr>
                        <a:t>字符串</a:t>
                      </a:r>
                      <a:r>
                        <a:rPr lang="en-US" altLang="zh-CN" sz="1400" b="0" dirty="0">
                          <a:effectLst/>
                        </a:rPr>
                        <a:t>)</a:t>
                      </a:r>
                      <a:r>
                        <a:rPr lang="zh-CN" altLang="en-US" sz="1400" b="0" dirty="0">
                          <a:effectLst/>
                        </a:rPr>
                        <a:t>、</a:t>
                      </a:r>
                      <a:r>
                        <a:rPr lang="en-US" sz="1400" b="0" dirty="0">
                          <a:effectLst/>
                        </a:rPr>
                        <a:t>status code(</a:t>
                      </a:r>
                      <a:r>
                        <a:rPr lang="zh-CN" altLang="en-US" sz="1400" b="0" dirty="0">
                          <a:effectLst/>
                        </a:rPr>
                        <a:t>数字</a:t>
                      </a:r>
                      <a:r>
                        <a:rPr lang="en-US" altLang="zh-CN" sz="1400" b="0" dirty="0">
                          <a:effectLst/>
                        </a:rPr>
                        <a:t>)</a:t>
                      </a:r>
                      <a:r>
                        <a:rPr lang="zh-CN" altLang="en-US" sz="1400" b="0" dirty="0">
                          <a:effectLst/>
                        </a:rPr>
                        <a:t>、</a:t>
                      </a:r>
                      <a:r>
                        <a:rPr lang="en-US" sz="1400" b="0" dirty="0">
                          <a:effectLst/>
                        </a:rPr>
                        <a:t>response header(</a:t>
                      </a:r>
                      <a:r>
                        <a:rPr lang="zh-CN" altLang="en-US" sz="1400" b="0" dirty="0">
                          <a:effectLst/>
                        </a:rPr>
                        <a:t>对象</a:t>
                      </a:r>
                      <a:r>
                        <a:rPr lang="en-US" altLang="zh-CN" sz="1400" b="0" dirty="0">
                          <a:effectLst/>
                        </a:rPr>
                        <a:t>)</a:t>
                      </a:r>
                      <a:r>
                        <a:rPr lang="zh-CN" altLang="en-US" sz="1400" b="0" dirty="0">
                          <a:effectLst/>
                        </a:rPr>
                        <a:t>。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zh-CN" altLang="en-US" sz="1400" b="0" dirty="0">
                          <a:effectLst/>
                        </a:rPr>
                        <a:t>省略的情况下，默认返回</a:t>
                      </a:r>
                      <a:r>
                        <a:rPr lang="en-US" sz="1400" b="0" dirty="0" err="1">
                          <a:effectLst/>
                        </a:rPr>
                        <a:t>kintone.Promise</a:t>
                      </a:r>
                      <a:r>
                        <a:rPr lang="zh-CN" altLang="en-US" sz="1400" b="0" dirty="0">
                          <a:effectLst/>
                        </a:rPr>
                        <a:t>对象，里面是含有</a:t>
                      </a:r>
                      <a:r>
                        <a:rPr lang="en-US" sz="1400" b="0" dirty="0">
                          <a:effectLst/>
                        </a:rPr>
                        <a:t>response body (</a:t>
                      </a:r>
                      <a:r>
                        <a:rPr lang="zh-CN" altLang="en-US" sz="1400" b="0" dirty="0">
                          <a:effectLst/>
                        </a:rPr>
                        <a:t>字符串</a:t>
                      </a:r>
                      <a:r>
                        <a:rPr lang="en-US" altLang="zh-CN" sz="1400" b="0" dirty="0">
                          <a:effectLst/>
                        </a:rPr>
                        <a:t>)</a:t>
                      </a:r>
                      <a:r>
                        <a:rPr lang="zh-CN" altLang="en-US" sz="1400" b="0" dirty="0">
                          <a:effectLst/>
                        </a:rPr>
                        <a:t>、</a:t>
                      </a:r>
                      <a:r>
                        <a:rPr lang="en-US" sz="1400" b="0" dirty="0">
                          <a:effectLst/>
                        </a:rPr>
                        <a:t>status code(</a:t>
                      </a:r>
                      <a:r>
                        <a:rPr lang="zh-CN" altLang="en-US" sz="1400" b="0" dirty="0">
                          <a:effectLst/>
                        </a:rPr>
                        <a:t>数字</a:t>
                      </a:r>
                      <a:r>
                        <a:rPr lang="en-US" altLang="zh-CN" sz="1400" b="0" dirty="0">
                          <a:effectLst/>
                        </a:rPr>
                        <a:t>)</a:t>
                      </a:r>
                      <a:r>
                        <a:rPr lang="zh-CN" altLang="en-US" sz="1400" b="0" dirty="0">
                          <a:effectLst/>
                        </a:rPr>
                        <a:t>、</a:t>
                      </a:r>
                      <a:r>
                        <a:rPr lang="en-US" sz="1400" b="0" dirty="0">
                          <a:effectLst/>
                        </a:rPr>
                        <a:t>response header(</a:t>
                      </a:r>
                      <a:r>
                        <a:rPr lang="zh-CN" altLang="en-US" sz="1400" b="0" dirty="0">
                          <a:effectLst/>
                        </a:rPr>
                        <a:t>对象</a:t>
                      </a:r>
                      <a:r>
                        <a:rPr lang="en-US" altLang="zh-CN" sz="1400" b="0" dirty="0">
                          <a:effectLst/>
                        </a:rPr>
                        <a:t>)</a:t>
                      </a:r>
                      <a:r>
                        <a:rPr lang="zh-CN" altLang="en-US" sz="1400" b="0" dirty="0">
                          <a:effectLst/>
                        </a:rPr>
                        <a:t>信息的数组。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661217"/>
                  </a:ext>
                </a:extLst>
              </a:tr>
              <a:tr h="1015312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dirty="0" err="1">
                          <a:effectLst/>
                        </a:rPr>
                        <a:t>errback</a:t>
                      </a:r>
                      <a:endParaRPr lang="en-US" sz="2400" b="0" dirty="0">
                        <a:effectLst/>
                      </a:endParaRP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b="0" dirty="0">
                          <a:effectLst/>
                        </a:rPr>
                        <a:t>函数</a:t>
                      </a:r>
                      <a:br>
                        <a:rPr lang="zh-CN" altLang="en-US" sz="1600" b="0" dirty="0">
                          <a:effectLst/>
                        </a:rPr>
                      </a:br>
                      <a:endParaRPr lang="zh-CN" altLang="en-US" sz="1600" b="0" dirty="0">
                        <a:effectLst/>
                      </a:endParaRP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b="0" dirty="0">
                          <a:effectLst/>
                        </a:rPr>
                        <a:t>可省略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zh-CN" altLang="en-US" sz="1400" b="0" dirty="0">
                          <a:effectLst/>
                        </a:rPr>
                        <a:t>发往</a:t>
                      </a:r>
                      <a:r>
                        <a:rPr lang="en-US" sz="1400" b="0" dirty="0">
                          <a:effectLst/>
                        </a:rPr>
                        <a:t>proxy API </a:t>
                      </a:r>
                      <a:r>
                        <a:rPr lang="zh-CN" altLang="en-US" sz="1400" b="0" dirty="0">
                          <a:effectLst/>
                        </a:rPr>
                        <a:t>的请求，失败时执行的回调函数。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zh-CN" altLang="en-US" sz="1400" b="0" dirty="0">
                          <a:effectLst/>
                        </a:rPr>
                        <a:t>接受来自</a:t>
                      </a:r>
                      <a:r>
                        <a:rPr lang="en-US" sz="1400" b="0" dirty="0">
                          <a:effectLst/>
                        </a:rPr>
                        <a:t>proxy</a:t>
                      </a:r>
                      <a:r>
                        <a:rPr lang="zh-CN" altLang="en-US" sz="1400" b="0" dirty="0">
                          <a:effectLst/>
                        </a:rPr>
                        <a:t>的参数：</a:t>
                      </a:r>
                      <a:r>
                        <a:rPr lang="en-US" sz="1400" b="0" dirty="0">
                          <a:effectLst/>
                        </a:rPr>
                        <a:t>response body (</a:t>
                      </a:r>
                      <a:r>
                        <a:rPr lang="zh-CN" altLang="en-US" sz="1400" b="0" dirty="0">
                          <a:effectLst/>
                        </a:rPr>
                        <a:t>字符串</a:t>
                      </a:r>
                      <a:r>
                        <a:rPr lang="en-US" altLang="zh-CN" sz="1400" b="0" dirty="0">
                          <a:effectLst/>
                        </a:rPr>
                        <a:t>)</a:t>
                      </a:r>
                      <a:r>
                        <a:rPr lang="zh-CN" altLang="en-US" sz="1400" b="0" dirty="0">
                          <a:effectLst/>
                        </a:rPr>
                        <a:t>。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callback</a:t>
                      </a:r>
                      <a:r>
                        <a:rPr lang="zh-CN" altLang="en-US" sz="1400" b="0" dirty="0">
                          <a:effectLst/>
                        </a:rPr>
                        <a:t>省略的情况下，默认返回</a:t>
                      </a:r>
                      <a:r>
                        <a:rPr lang="en-US" sz="1400" b="0" dirty="0" err="1">
                          <a:effectLst/>
                        </a:rPr>
                        <a:t>kintone.Promise</a:t>
                      </a:r>
                      <a:r>
                        <a:rPr lang="zh-CN" altLang="en-US" sz="1400" b="0" dirty="0">
                          <a:effectLst/>
                        </a:rPr>
                        <a:t>对象，在</a:t>
                      </a:r>
                      <a:r>
                        <a:rPr lang="en-US" sz="1400" b="0" dirty="0">
                          <a:effectLst/>
                        </a:rPr>
                        <a:t>proxy API</a:t>
                      </a:r>
                      <a:r>
                        <a:rPr lang="zh-CN" altLang="en-US" sz="1400" b="0" dirty="0">
                          <a:effectLst/>
                        </a:rPr>
                        <a:t>的</a:t>
                      </a:r>
                      <a:r>
                        <a:rPr lang="en-US" sz="1400" b="0" dirty="0">
                          <a:effectLst/>
                        </a:rPr>
                        <a:t>response body (</a:t>
                      </a:r>
                      <a:r>
                        <a:rPr lang="zh-CN" altLang="en-US" sz="1400" b="0" dirty="0">
                          <a:effectLst/>
                        </a:rPr>
                        <a:t>字符串</a:t>
                      </a:r>
                      <a:r>
                        <a:rPr lang="en-US" altLang="zh-CN" sz="1400" b="0" dirty="0">
                          <a:effectLst/>
                        </a:rPr>
                        <a:t>)</a:t>
                      </a:r>
                      <a:r>
                        <a:rPr lang="zh-CN" altLang="en-US" sz="1400" b="0" dirty="0">
                          <a:effectLst/>
                        </a:rPr>
                        <a:t>里含有出错信息。</a:t>
                      </a:r>
                    </a:p>
                  </a:txBody>
                  <a:tcPr marL="15766" marR="15766" marT="15766" marB="15766">
                    <a:lnL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817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293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7D06C-798D-4383-95F2-4B3E37B8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返回值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5C5183-4C93-496F-8AF3-5373BB475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zh-CN" altLang="en-US" dirty="0"/>
              <a:t>省略参数</a:t>
            </a:r>
            <a:r>
              <a:rPr lang="en-US" altLang="zh-CN" dirty="0"/>
              <a:t>callback</a:t>
            </a:r>
            <a:r>
              <a:rPr lang="zh-CN" altLang="en-US" dirty="0"/>
              <a:t>时，返回 </a:t>
            </a:r>
            <a:r>
              <a:rPr lang="en-US" altLang="zh-CN" dirty="0" err="1"/>
              <a:t>kintone.Promise</a:t>
            </a:r>
            <a:r>
              <a:rPr lang="en-US" altLang="zh-CN" dirty="0"/>
              <a:t> </a:t>
            </a:r>
            <a:r>
              <a:rPr lang="zh-CN" altLang="en-US" dirty="0"/>
              <a:t>对象。</a:t>
            </a:r>
            <a:br>
              <a:rPr lang="zh-CN" altLang="en-US" dirty="0"/>
            </a:br>
            <a:endParaRPr lang="en-US" altLang="zh-CN" dirty="0"/>
          </a:p>
          <a:p>
            <a:pPr fontAlgn="base"/>
            <a:r>
              <a:rPr lang="zh-CN" altLang="en-US" dirty="0"/>
              <a:t>指定</a:t>
            </a:r>
            <a:r>
              <a:rPr lang="en-US" altLang="zh-CN" dirty="0"/>
              <a:t>callback</a:t>
            </a:r>
            <a:r>
              <a:rPr lang="zh-CN" altLang="en-US" dirty="0"/>
              <a:t>的时候，没有返回值。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7700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9EB3E0-36D3-4F36-AEEC-768195E86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91" y="718457"/>
            <a:ext cx="10515600" cy="5772014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4000" dirty="0"/>
              <a:t>使用</a:t>
            </a:r>
            <a:r>
              <a:rPr lang="en-US" altLang="zh-CN" sz="4000" dirty="0"/>
              <a:t>call back</a:t>
            </a:r>
            <a:r>
              <a:rPr lang="zh-CN" altLang="en-US" sz="4000" dirty="0"/>
              <a:t>的记述方法</a:t>
            </a:r>
            <a:endParaRPr lang="en-US" altLang="zh-CN" sz="4000" dirty="0"/>
          </a:p>
          <a:p>
            <a:pPr marL="0" indent="0">
              <a:buNone/>
            </a:pPr>
            <a:r>
              <a:rPr lang="en-US" altLang="zh-CN" sz="2100" dirty="0" err="1"/>
              <a:t>kintone.proxy</a:t>
            </a:r>
            <a:r>
              <a:rPr lang="en-US" altLang="zh-CN" sz="2100" dirty="0"/>
              <a:t>(</a:t>
            </a:r>
            <a:r>
              <a:rPr lang="en-US" altLang="zh-CN" sz="2100" dirty="0">
                <a:solidFill>
                  <a:srgbClr val="0070C0"/>
                </a:solidFill>
              </a:rPr>
              <a:t>'https://*****.***</a:t>
            </a:r>
            <a:r>
              <a:rPr lang="en-US" altLang="zh-CN" sz="2100" dirty="0" err="1">
                <a:solidFill>
                  <a:srgbClr val="0070C0"/>
                </a:solidFill>
              </a:rPr>
              <a:t>.net</a:t>
            </a:r>
            <a:r>
              <a:rPr lang="en-US" altLang="zh-CN" sz="2100" dirty="0">
                <a:solidFill>
                  <a:srgbClr val="0070C0"/>
                </a:solidFill>
              </a:rPr>
              <a:t>'</a:t>
            </a:r>
            <a:r>
              <a:rPr lang="en-US" altLang="zh-CN" sz="2100" dirty="0"/>
              <a:t>, 'GET', {}, {}, </a:t>
            </a:r>
            <a:r>
              <a:rPr lang="en-US" altLang="zh-CN" sz="2100" dirty="0">
                <a:solidFill>
                  <a:schemeClr val="accent2"/>
                </a:solidFill>
              </a:rPr>
              <a:t>function</a:t>
            </a:r>
            <a:r>
              <a:rPr lang="en-US" altLang="zh-CN" sz="2100" dirty="0"/>
              <a:t>(body, status, headers) {</a:t>
            </a:r>
          </a:p>
          <a:p>
            <a:pPr marL="0" indent="0">
              <a:buNone/>
            </a:pPr>
            <a:r>
              <a:rPr lang="en-US" altLang="zh-CN" sz="2100" dirty="0"/>
              <a:t>    console.log(status, </a:t>
            </a:r>
            <a:r>
              <a:rPr lang="en-US" altLang="zh-CN" sz="2100" dirty="0" err="1"/>
              <a:t>JSON.parse</a:t>
            </a:r>
            <a:r>
              <a:rPr lang="en-US" altLang="zh-CN" sz="2100" dirty="0"/>
              <a:t>(body), headers);</a:t>
            </a:r>
          </a:p>
          <a:p>
            <a:pPr marL="0" indent="0">
              <a:buNone/>
            </a:pPr>
            <a:r>
              <a:rPr lang="en-US" altLang="zh-CN" sz="2100" dirty="0"/>
              <a:t>}, </a:t>
            </a:r>
            <a:r>
              <a:rPr lang="en-US" altLang="zh-CN" sz="2100" dirty="0">
                <a:solidFill>
                  <a:schemeClr val="accent2"/>
                </a:solidFill>
              </a:rPr>
              <a:t>function</a:t>
            </a:r>
            <a:r>
              <a:rPr lang="en-US" altLang="zh-CN" sz="2100" dirty="0"/>
              <a:t>(error) {</a:t>
            </a:r>
          </a:p>
          <a:p>
            <a:pPr marL="0" indent="0">
              <a:buNone/>
            </a:pPr>
            <a:r>
              <a:rPr lang="en-US" altLang="zh-CN" sz="2100" dirty="0"/>
              <a:t>    console.log(error);  </a:t>
            </a:r>
          </a:p>
          <a:p>
            <a:pPr marL="0" indent="0">
              <a:buNone/>
            </a:pPr>
            <a:r>
              <a:rPr lang="en-US" altLang="zh-CN" sz="2100" dirty="0"/>
              <a:t>});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r>
              <a:rPr lang="zh-CN" altLang="en-US" sz="4000" dirty="0"/>
              <a:t>使用</a:t>
            </a:r>
            <a:r>
              <a:rPr lang="en-US" altLang="zh-CN" sz="4000" dirty="0" err="1"/>
              <a:t>kintone.Promise</a:t>
            </a:r>
            <a:r>
              <a:rPr lang="zh-CN" altLang="en-US" sz="4000" dirty="0"/>
              <a:t>的记述方法</a:t>
            </a:r>
            <a:endParaRPr lang="en-US" altLang="zh-CN" sz="4000" dirty="0"/>
          </a:p>
          <a:p>
            <a:pPr marL="0" indent="0">
              <a:buNone/>
            </a:pPr>
            <a:r>
              <a:rPr lang="en-US" altLang="zh-CN" sz="2000" dirty="0" err="1"/>
              <a:t>kintone.proxy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0070C0"/>
                </a:solidFill>
              </a:rPr>
              <a:t>'https://*****.***</a:t>
            </a:r>
            <a:r>
              <a:rPr lang="en-US" altLang="zh-CN" sz="2000" dirty="0" err="1">
                <a:solidFill>
                  <a:srgbClr val="0070C0"/>
                </a:solidFill>
              </a:rPr>
              <a:t>.net</a:t>
            </a:r>
            <a:r>
              <a:rPr lang="en-US" altLang="zh-CN" sz="2000" dirty="0">
                <a:solidFill>
                  <a:srgbClr val="0070C0"/>
                </a:solidFill>
              </a:rPr>
              <a:t>', </a:t>
            </a:r>
            <a:r>
              <a:rPr lang="en-US" altLang="zh-CN" sz="2000" dirty="0"/>
              <a:t>'GET', {}, {}).then(</a:t>
            </a:r>
            <a:r>
              <a:rPr lang="en-US" altLang="zh-CN" sz="2000" dirty="0">
                <a:solidFill>
                  <a:schemeClr val="accent2"/>
                </a:solidFill>
              </a:rPr>
              <a:t>function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 {</a:t>
            </a:r>
          </a:p>
          <a:p>
            <a:pPr marL="0" indent="0">
              <a:buNone/>
            </a:pPr>
            <a:r>
              <a:rPr lang="en-US" altLang="zh-CN" sz="2000" dirty="0"/>
              <a:t>    /* 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[0] -&gt; body(</a:t>
            </a:r>
            <a:r>
              <a:rPr lang="zh-CN" altLang="en-US" sz="2000" dirty="0"/>
              <a:t>字符串</a:t>
            </a:r>
            <a:r>
              <a:rPr lang="en-US" altLang="zh-CN" sz="2000" dirty="0"/>
              <a:t>)</a:t>
            </a:r>
          </a:p>
          <a:p>
            <a:pPr marL="0" indent="0">
              <a:buNone/>
            </a:pPr>
            <a:r>
              <a:rPr lang="en-US" altLang="zh-CN" sz="2000" dirty="0"/>
              <a:t>     * 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[1] -&gt; status(</a:t>
            </a:r>
            <a:r>
              <a:rPr lang="zh-CN" altLang="en-US" sz="2000" dirty="0"/>
              <a:t>数字</a:t>
            </a:r>
            <a:r>
              <a:rPr lang="en-US" altLang="zh-CN" sz="2000" dirty="0"/>
              <a:t>)</a:t>
            </a:r>
          </a:p>
          <a:p>
            <a:pPr marL="0" indent="0">
              <a:buNone/>
            </a:pPr>
            <a:r>
              <a:rPr lang="en-US" altLang="zh-CN" sz="2000" dirty="0"/>
              <a:t>     * 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[2] -&gt; headers(</a:t>
            </a:r>
            <a:r>
              <a:rPr lang="zh-CN" altLang="en-US" sz="2000" dirty="0"/>
              <a:t>对象</a:t>
            </a:r>
            <a:r>
              <a:rPr lang="en-US" altLang="zh-CN" sz="2000" dirty="0"/>
              <a:t>)</a:t>
            </a:r>
          </a:p>
          <a:p>
            <a:pPr marL="0" indent="0">
              <a:buNone/>
            </a:pPr>
            <a:r>
              <a:rPr lang="en-US" altLang="zh-CN" sz="2000" dirty="0"/>
              <a:t>     */</a:t>
            </a:r>
          </a:p>
          <a:p>
            <a:pPr marL="0" indent="0">
              <a:buNone/>
            </a:pPr>
            <a:r>
              <a:rPr lang="en-US" altLang="zh-CN" sz="2000" dirty="0"/>
              <a:t>    console.log(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[1], </a:t>
            </a:r>
            <a:r>
              <a:rPr lang="en-US" altLang="zh-CN" sz="2000" dirty="0" err="1"/>
              <a:t>JSON.parse</a:t>
            </a:r>
            <a:r>
              <a:rPr lang="en-US" altLang="zh-CN" sz="2000" dirty="0"/>
              <a:t>(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[0]),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[2]);</a:t>
            </a:r>
          </a:p>
          <a:p>
            <a:pPr marL="0" indent="0">
              <a:buNone/>
            </a:pPr>
            <a:r>
              <a:rPr lang="en-US" altLang="zh-CN" sz="2000" dirty="0"/>
              <a:t>}, </a:t>
            </a:r>
            <a:r>
              <a:rPr lang="en-US" altLang="zh-CN" sz="2000" dirty="0">
                <a:solidFill>
                  <a:schemeClr val="accent2"/>
                </a:solidFill>
              </a:rPr>
              <a:t>function</a:t>
            </a:r>
            <a:r>
              <a:rPr lang="en-US" altLang="zh-CN" sz="2000" dirty="0"/>
              <a:t>(error) {</a:t>
            </a:r>
          </a:p>
          <a:p>
            <a:pPr marL="0" indent="0">
              <a:buNone/>
            </a:pPr>
            <a:r>
              <a:rPr lang="en-US" altLang="zh-CN" sz="2000" dirty="0"/>
              <a:t>    console.log(error);  //</a:t>
            </a:r>
            <a:r>
              <a:rPr lang="zh-CN" altLang="en-US" sz="2000" dirty="0"/>
              <a:t>显示</a:t>
            </a:r>
            <a:r>
              <a:rPr lang="en-US" altLang="zh-CN" sz="2000" dirty="0"/>
              <a:t>proxy API</a:t>
            </a:r>
            <a:r>
              <a:rPr lang="zh-CN" altLang="en-US" sz="2000" dirty="0"/>
              <a:t>的</a:t>
            </a:r>
            <a:r>
              <a:rPr lang="en-US" altLang="zh-CN" sz="2000" dirty="0"/>
              <a:t>response body(</a:t>
            </a:r>
            <a:r>
              <a:rPr lang="zh-CN" altLang="en-US" sz="2000" dirty="0"/>
              <a:t>字符串</a:t>
            </a:r>
            <a:r>
              <a:rPr lang="en-US" altLang="zh-CN" sz="2000" dirty="0"/>
              <a:t>)</a:t>
            </a:r>
          </a:p>
          <a:p>
            <a:pPr marL="0" indent="0">
              <a:buNone/>
            </a:pPr>
            <a:r>
              <a:rPr lang="en-US" altLang="zh-CN" sz="2000" dirty="0"/>
              <a:t>});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5510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71DB92-22DF-43A4-AC11-100DDC95C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709" y="2675731"/>
            <a:ext cx="10515600" cy="1325563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altLang="zh-CN" b="1" dirty="0"/>
              <a:t>Sample:  </a:t>
            </a:r>
            <a:br>
              <a:rPr lang="en-US" altLang="zh-CN" b="1" dirty="0">
                <a:hlinkClick r:id="rId3"/>
              </a:rPr>
            </a:br>
            <a:r>
              <a:rPr lang="zh-CN" altLang="en-US" b="1" dirty="0">
                <a:hlinkClick r:id="rId3"/>
              </a:rPr>
              <a:t>调用外部天气</a:t>
            </a:r>
            <a:r>
              <a:rPr lang="en-US" altLang="zh-CN" b="1" dirty="0">
                <a:hlinkClick r:id="rId3"/>
              </a:rPr>
              <a:t>API</a:t>
            </a:r>
            <a:r>
              <a:rPr lang="zh-CN" altLang="en-US" b="1" dirty="0">
                <a:hlinkClick r:id="rId3"/>
              </a:rPr>
              <a:t>来让</a:t>
            </a:r>
            <a:r>
              <a:rPr lang="en-US" altLang="zh-CN" b="1" dirty="0" err="1">
                <a:hlinkClick r:id="rId3"/>
              </a:rPr>
              <a:t>kintone</a:t>
            </a:r>
            <a:r>
              <a:rPr lang="zh-CN" altLang="en-US" b="1" dirty="0">
                <a:hlinkClick r:id="rId3"/>
              </a:rPr>
              <a:t>显示天气状况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985701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9EB3E0-36D3-4F36-AEEC-768195E86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1342" y="2926081"/>
            <a:ext cx="10515600" cy="24950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文章上的代码是用</a:t>
            </a:r>
            <a:r>
              <a:rPr lang="en-US" altLang="zh-CN" dirty="0"/>
              <a:t>callback</a:t>
            </a:r>
            <a:r>
              <a:rPr lang="zh-CN" altLang="en-US" dirty="0"/>
              <a:t>方式来实现的，咱们来将他改成</a:t>
            </a:r>
            <a:r>
              <a:rPr lang="en-US" altLang="zh-CN" dirty="0"/>
              <a:t>promise</a:t>
            </a:r>
            <a:r>
              <a:rPr lang="zh-CN" altLang="en-US" dirty="0"/>
              <a:t>方式来实现吧。</a:t>
            </a:r>
            <a:endParaRPr lang="en-US" altLang="zh-CN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B308325-B21D-4D87-871F-A57707C0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/>
              <a:t>改用</a:t>
            </a:r>
            <a:r>
              <a:rPr lang="en-US" altLang="zh-CN" b="1" dirty="0"/>
              <a:t>promise</a:t>
            </a:r>
            <a:r>
              <a:rPr lang="zh-CN" altLang="en-US" b="1" dirty="0"/>
              <a:t>该怎么写呢？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7302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255C96A-9387-406E-A30B-D2D717AA5861}"/>
              </a:ext>
            </a:extLst>
          </p:cNvPr>
          <p:cNvSpPr/>
          <p:nvPr/>
        </p:nvSpPr>
        <p:spPr>
          <a:xfrm>
            <a:off x="544285" y="1485378"/>
            <a:ext cx="1110342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Consolas" panose="020B0609020204030204" pitchFamily="49" charset="0"/>
              </a:rPr>
              <a:t>kintone.proxy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weatherApiUrl</a:t>
            </a:r>
            <a:r>
              <a:rPr lang="en-US" altLang="zh-CN" sz="1600" dirty="0">
                <a:latin typeface="Consolas" panose="020B0609020204030204" pitchFamily="49" charset="0"/>
              </a:rPr>
              <a:t>, 'GET', { "Content-Type": "application/json" }, {}).then(function (resp) {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var data = resp[0];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var status = resp[1];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if (status &gt;= 200 &amp;&amp; status &lt; 300) {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var </a:t>
            </a:r>
            <a:r>
              <a:rPr lang="en-US" altLang="zh-CN" sz="1600" dirty="0" err="1">
                <a:latin typeface="Consolas" panose="020B0609020204030204" pitchFamily="49" charset="0"/>
              </a:rPr>
              <a:t>weatherdata</a:t>
            </a:r>
            <a:r>
              <a:rPr lang="en-US" altLang="zh-CN" sz="1600" dirty="0">
                <a:latin typeface="Consolas" panose="020B0609020204030204" pitchFamily="49" charset="0"/>
              </a:rPr>
              <a:t> = </a:t>
            </a:r>
            <a:r>
              <a:rPr lang="en-US" altLang="zh-CN" sz="1600" dirty="0" err="1">
                <a:latin typeface="Consolas" panose="020B0609020204030204" pitchFamily="49" charset="0"/>
              </a:rPr>
              <a:t>JSON.parse</a:t>
            </a:r>
            <a:r>
              <a:rPr lang="en-US" altLang="zh-CN" sz="1600" dirty="0">
                <a:latin typeface="Consolas" panose="020B0609020204030204" pitchFamily="49" charset="0"/>
              </a:rPr>
              <a:t>(data);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var </a:t>
            </a:r>
            <a:r>
              <a:rPr lang="en-US" altLang="zh-CN" sz="1600" dirty="0" err="1">
                <a:latin typeface="Consolas" panose="020B0609020204030204" pitchFamily="49" charset="0"/>
              </a:rPr>
              <a:t>messinfo</a:t>
            </a:r>
            <a:r>
              <a:rPr lang="en-US" altLang="zh-CN" sz="1600" dirty="0">
                <a:latin typeface="Consolas" panose="020B0609020204030204" pitchFamily="49" charset="0"/>
              </a:rPr>
              <a:t> = </a:t>
            </a:r>
            <a:r>
              <a:rPr lang="en-US" altLang="zh-CN" sz="1600" dirty="0" err="1">
                <a:latin typeface="Consolas" panose="020B0609020204030204" pitchFamily="49" charset="0"/>
              </a:rPr>
              <a:t>weatherdata.data</a:t>
            </a:r>
            <a:r>
              <a:rPr lang="en-US" altLang="zh-CN" sz="1600" dirty="0">
                <a:latin typeface="Consolas" panose="020B0609020204030204" pitchFamily="49" charset="0"/>
              </a:rPr>
              <a:t>[0];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var city = </a:t>
            </a:r>
            <a:r>
              <a:rPr lang="en-US" altLang="zh-CN" sz="1600" dirty="0" err="1">
                <a:latin typeface="Consolas" panose="020B0609020204030204" pitchFamily="49" charset="0"/>
              </a:rPr>
              <a:t>weatherdata.city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var </a:t>
            </a:r>
            <a:r>
              <a:rPr lang="en-US" altLang="zh-CN" sz="1600" dirty="0" err="1">
                <a:latin typeface="Consolas" panose="020B0609020204030204" pitchFamily="49" charset="0"/>
              </a:rPr>
              <a:t>weatherinfo</a:t>
            </a:r>
            <a:r>
              <a:rPr lang="en-US" altLang="zh-CN" sz="1600" dirty="0">
                <a:latin typeface="Consolas" panose="020B0609020204030204" pitchFamily="49" charset="0"/>
              </a:rPr>
              <a:t> = city + "</a:t>
            </a:r>
            <a:r>
              <a:rPr lang="zh-CN" altLang="en-US" sz="1600" dirty="0">
                <a:latin typeface="Consolas" panose="020B0609020204030204" pitchFamily="49" charset="0"/>
              </a:rPr>
              <a:t>今天天气：</a:t>
            </a:r>
            <a:r>
              <a:rPr lang="en-US" altLang="zh-CN" sz="1600" dirty="0">
                <a:latin typeface="Consolas" panose="020B0609020204030204" pitchFamily="49" charset="0"/>
              </a:rPr>
              <a:t>" + </a:t>
            </a:r>
            <a:r>
              <a:rPr lang="en-US" altLang="zh-CN" sz="1600" dirty="0" err="1">
                <a:latin typeface="Consolas" panose="020B0609020204030204" pitchFamily="49" charset="0"/>
              </a:rPr>
              <a:t>messinfo</a:t>
            </a:r>
            <a:r>
              <a:rPr lang="en-US" altLang="zh-CN" sz="1600" dirty="0">
                <a:latin typeface="Consolas" panose="020B0609020204030204" pitchFamily="49" charset="0"/>
              </a:rPr>
              <a:t>['</a:t>
            </a:r>
            <a:r>
              <a:rPr lang="en-US" altLang="zh-CN" sz="1600" dirty="0" err="1">
                <a:latin typeface="Consolas" panose="020B0609020204030204" pitchFamily="49" charset="0"/>
              </a:rPr>
              <a:t>wea</a:t>
            </a:r>
            <a:r>
              <a:rPr lang="en-US" altLang="zh-CN" sz="1600" dirty="0">
                <a:latin typeface="Consolas" panose="020B0609020204030204" pitchFamily="49" charset="0"/>
              </a:rPr>
              <a:t>'] + ",</a:t>
            </a:r>
            <a:r>
              <a:rPr lang="zh-CN" altLang="en-US" sz="1600" dirty="0">
                <a:latin typeface="Consolas" panose="020B0609020204030204" pitchFamily="49" charset="0"/>
              </a:rPr>
              <a:t>最高温度</a:t>
            </a:r>
            <a:r>
              <a:rPr lang="en-US" altLang="zh-CN" sz="1600" dirty="0">
                <a:latin typeface="Consolas" panose="020B0609020204030204" pitchFamily="49" charset="0"/>
              </a:rPr>
              <a:t>:" + </a:t>
            </a:r>
            <a:r>
              <a:rPr lang="en-US" altLang="zh-CN" sz="1600" dirty="0" err="1">
                <a:latin typeface="Consolas" panose="020B0609020204030204" pitchFamily="49" charset="0"/>
              </a:rPr>
              <a:t>messinfo</a:t>
            </a:r>
            <a:r>
              <a:rPr lang="en-US" altLang="zh-CN" sz="1600" dirty="0">
                <a:latin typeface="Consolas" panose="020B0609020204030204" pitchFamily="49" charset="0"/>
              </a:rPr>
              <a:t>['tem1'] + ",</a:t>
            </a:r>
            <a:r>
              <a:rPr lang="zh-CN" altLang="en-US" sz="1600" dirty="0">
                <a:latin typeface="Consolas" panose="020B0609020204030204" pitchFamily="49" charset="0"/>
              </a:rPr>
              <a:t>最低温度</a:t>
            </a:r>
            <a:r>
              <a:rPr lang="en-US" altLang="zh-CN" sz="1600" dirty="0">
                <a:latin typeface="Consolas" panose="020B0609020204030204" pitchFamily="49" charset="0"/>
              </a:rPr>
              <a:t>:" + </a:t>
            </a:r>
            <a:r>
              <a:rPr lang="en-US" altLang="zh-CN" sz="1600" dirty="0" err="1">
                <a:latin typeface="Consolas" panose="020B0609020204030204" pitchFamily="49" charset="0"/>
              </a:rPr>
              <a:t>messinfo</a:t>
            </a:r>
            <a:r>
              <a:rPr lang="en-US" altLang="zh-CN" sz="1600" dirty="0">
                <a:latin typeface="Consolas" panose="020B0609020204030204" pitchFamily="49" charset="0"/>
              </a:rPr>
              <a:t>['tem2'] + "," + </a:t>
            </a:r>
            <a:r>
              <a:rPr lang="en-US" altLang="zh-CN" sz="1600" dirty="0" err="1">
                <a:latin typeface="Consolas" panose="020B0609020204030204" pitchFamily="49" charset="0"/>
              </a:rPr>
              <a:t>messinfo</a:t>
            </a:r>
            <a:r>
              <a:rPr lang="en-US" altLang="zh-CN" sz="1600" dirty="0">
                <a:latin typeface="Consolas" panose="020B0609020204030204" pitchFamily="49" charset="0"/>
              </a:rPr>
              <a:t>['</a:t>
            </a:r>
            <a:r>
              <a:rPr lang="en-US" altLang="zh-CN" sz="1600" dirty="0" err="1">
                <a:latin typeface="Consolas" panose="020B0609020204030204" pitchFamily="49" charset="0"/>
              </a:rPr>
              <a:t>air_tips</a:t>
            </a:r>
            <a:r>
              <a:rPr lang="en-US" altLang="zh-CN" sz="1600" dirty="0">
                <a:latin typeface="Consolas" panose="020B0609020204030204" pitchFamily="49" charset="0"/>
              </a:rPr>
              <a:t>'];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var </a:t>
            </a:r>
            <a:r>
              <a:rPr lang="en-US" altLang="zh-CN" sz="1600" dirty="0" err="1">
                <a:latin typeface="Consolas" panose="020B0609020204030204" pitchFamily="49" charset="0"/>
              </a:rPr>
              <a:t>telop</a:t>
            </a:r>
            <a:r>
              <a:rPr lang="en-US" altLang="zh-CN" sz="1600" dirty="0">
                <a:latin typeface="Consolas" panose="020B0609020204030204" pitchFamily="49" charset="0"/>
              </a:rPr>
              <a:t> = $('&lt;span style="font-size: 16px;font-weight:bold"&gt;&lt;/span&gt;').text(</a:t>
            </a:r>
            <a:r>
              <a:rPr lang="en-US" altLang="zh-CN" sz="1600" dirty="0" err="1">
                <a:latin typeface="Consolas" panose="020B0609020204030204" pitchFamily="49" charset="0"/>
              </a:rPr>
              <a:t>weatherinfo</a:t>
            </a:r>
            <a:r>
              <a:rPr lang="en-US" altLang="zh-CN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var weather = $('&lt;div style="margin: 20px 0;"&gt;&lt;/div&gt;').append(</a:t>
            </a:r>
            <a:r>
              <a:rPr lang="en-US" altLang="zh-CN" sz="1600" dirty="0" err="1">
                <a:latin typeface="Consolas" panose="020B0609020204030204" pitchFamily="49" charset="0"/>
              </a:rPr>
              <a:t>telop</a:t>
            </a:r>
            <a:r>
              <a:rPr lang="en-US" altLang="zh-CN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$(header).append(weather);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}, function (error) {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});</a:t>
            </a:r>
            <a:endParaRPr lang="en-US" altLang="zh-CN" sz="16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1370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3427</TotalTime>
  <Words>873</Words>
  <Application>Microsoft Office PowerPoint</Application>
  <PresentationFormat>宽屏</PresentationFormat>
  <Paragraphs>129</Paragraphs>
  <Slides>16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 Unicode MS</vt:lpstr>
      <vt:lpstr>Source Code Pro</vt:lpstr>
      <vt:lpstr>等线</vt:lpstr>
      <vt:lpstr>微软雅黑</vt:lpstr>
      <vt:lpstr>Arial</vt:lpstr>
      <vt:lpstr>Calibri</vt:lpstr>
      <vt:lpstr>Calibri Light</vt:lpstr>
      <vt:lpstr>Consolas</vt:lpstr>
      <vt:lpstr>Office 主题</vt:lpstr>
      <vt:lpstr>think-cell Slide</vt:lpstr>
      <vt:lpstr>kintone 第三方整合开发</vt:lpstr>
      <vt:lpstr>kintone对promise的支持</vt:lpstr>
      <vt:lpstr>Promise是什么？</vt:lpstr>
      <vt:lpstr>kintone利用promise函数解决什么问题</vt:lpstr>
      <vt:lpstr>支持Promise的事件</vt:lpstr>
      <vt:lpstr>支持Promise请求类API</vt:lpstr>
      <vt:lpstr>例:在应用1里添加数据成功后，同步这条数据到应用2</vt:lpstr>
      <vt:lpstr>kintone调用外部服务</vt:lpstr>
      <vt:lpstr>背景</vt:lpstr>
      <vt:lpstr>函数</vt:lpstr>
      <vt:lpstr>参数</vt:lpstr>
      <vt:lpstr>返回值</vt:lpstr>
      <vt:lpstr>PowerPoint 演示文稿</vt:lpstr>
      <vt:lpstr>Sample:   调用外部天气API来让kintone显示天气状况</vt:lpstr>
      <vt:lpstr>改用promise该怎么写呢？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slgu@cybozu.cn</dc:creator>
  <cp:lastModifiedBy>顾 三乐</cp:lastModifiedBy>
  <cp:revision>738</cp:revision>
  <dcterms:created xsi:type="dcterms:W3CDTF">2018-11-21T08:32:31Z</dcterms:created>
  <dcterms:modified xsi:type="dcterms:W3CDTF">2019-03-27T05:38:56Z</dcterms:modified>
</cp:coreProperties>
</file>