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312" r:id="rId2"/>
    <p:sldId id="376" r:id="rId3"/>
    <p:sldId id="367" r:id="rId4"/>
    <p:sldId id="368" r:id="rId5"/>
    <p:sldId id="308" r:id="rId6"/>
    <p:sldId id="314" r:id="rId7"/>
    <p:sldId id="294" r:id="rId8"/>
    <p:sldId id="369" r:id="rId9"/>
    <p:sldId id="371" r:id="rId10"/>
    <p:sldId id="358" r:id="rId11"/>
    <p:sldId id="357" r:id="rId12"/>
    <p:sldId id="295" r:id="rId13"/>
    <p:sldId id="317" r:id="rId14"/>
    <p:sldId id="319" r:id="rId15"/>
    <p:sldId id="320" r:id="rId16"/>
    <p:sldId id="322" r:id="rId17"/>
    <p:sldId id="324" r:id="rId18"/>
    <p:sldId id="330" r:id="rId19"/>
    <p:sldId id="336" r:id="rId20"/>
    <p:sldId id="384" r:id="rId21"/>
    <p:sldId id="387" r:id="rId22"/>
    <p:sldId id="385" r:id="rId23"/>
    <p:sldId id="340" r:id="rId24"/>
    <p:sldId id="359" r:id="rId25"/>
    <p:sldId id="386" r:id="rId26"/>
    <p:sldId id="379" r:id="rId27"/>
    <p:sldId id="380" r:id="rId28"/>
    <p:sldId id="338" r:id="rId29"/>
    <p:sldId id="345" r:id="rId30"/>
    <p:sldId id="341" r:id="rId31"/>
    <p:sldId id="374" r:id="rId32"/>
    <p:sldId id="337" r:id="rId33"/>
    <p:sldId id="350" r:id="rId34"/>
    <p:sldId id="388" r:id="rId35"/>
    <p:sldId id="351" r:id="rId36"/>
    <p:sldId id="373" r:id="rId37"/>
    <p:sldId id="352" r:id="rId38"/>
    <p:sldId id="372" r:id="rId39"/>
    <p:sldId id="381" r:id="rId40"/>
    <p:sldId id="389" r:id="rId41"/>
    <p:sldId id="353" r:id="rId42"/>
    <p:sldId id="354" r:id="rId43"/>
    <p:sldId id="356" r:id="rId44"/>
    <p:sldId id="304" r:id="rId4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1053">
          <p15:clr>
            <a:srgbClr val="A4A3A4"/>
          </p15:clr>
        </p15:guide>
        <p15:guide id="3" pos="3844">
          <p15:clr>
            <a:srgbClr val="A4A3A4"/>
          </p15:clr>
        </p15:guide>
        <p15:guide id="4" pos="1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9E2"/>
    <a:srgbClr val="FDA907"/>
    <a:srgbClr val="4BB968"/>
    <a:srgbClr val="1A7BAE"/>
    <a:srgbClr val="F45450"/>
    <a:srgbClr val="F6D970"/>
    <a:srgbClr val="7DCD92"/>
    <a:srgbClr val="35388B"/>
    <a:srgbClr val="92BC49"/>
    <a:srgbClr val="9092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2" autoAdjust="0"/>
    <p:restoredTop sz="63149" autoAdjust="0"/>
  </p:normalViewPr>
  <p:slideViewPr>
    <p:cSldViewPr>
      <p:cViewPr varScale="1">
        <p:scale>
          <a:sx n="64" d="100"/>
          <a:sy n="64" d="100"/>
        </p:scale>
        <p:origin x="1500" y="66"/>
      </p:cViewPr>
      <p:guideLst>
        <p:guide orient="horz" pos="2159"/>
        <p:guide orient="horz" pos="1053"/>
        <p:guide pos="3844"/>
        <p:guide pos="1916"/>
      </p:guideLst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564" y="7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cybozu-my.sharepoint.com/personal/koichiro_tanaka_cybozu_onmicrosoft_com/Documents/&#21942;&#26989;&#26412;&#37096;/&#28288;&#36275;&#24230;&#65286;&#12471;&#12455;&#12450;/2016-2017&#28288;&#36275;&#24230;&#65286;&#12471;&#12455;&#12450;/&#12471;&#12455;&#12450;/2016&#12471;&#12455;&#12450;&#12463;&#12441;&#12521;&#12501;&#20803;&#12486;&#12441;&#12540;&#12479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2">
                <a:lumMod val="60000"/>
                <a:lumOff val="40000"/>
              </a:scheme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79442"/>
              </a:solidFill>
            </c:spPr>
            <c:extLst>
              <c:ext xmlns:c16="http://schemas.microsoft.com/office/drawing/2014/chart" uri="{C3380CC4-5D6E-409C-BE32-E72D297353CC}">
                <c16:uniqueId val="{00000001-2779-4AE8-A6BD-2D7A24EE8761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lang="ja-JP" sz="1200" b="1"/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779-4AE8-A6BD-2D7A24EE876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ja-JP"/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'2016グラフ①'!$A$4:$A$11</c:f>
              <c:strCache>
                <c:ptCount val="6"/>
                <c:pt idx="0">
                  <c:v>サイボウズ Office/ガルーン</c:v>
                </c:pt>
                <c:pt idx="1">
                  <c:v>Office 365/Exchange Online</c:v>
                </c:pt>
                <c:pt idx="2">
                  <c:v>Lotus Notes/Domino</c:v>
                </c:pt>
                <c:pt idx="3">
                  <c:v>desknet's NEO/desknet's</c:v>
                </c:pt>
                <c:pt idx="4">
                  <c:v>Google Apps</c:v>
                </c:pt>
                <c:pt idx="5">
                  <c:v>Microsoft Exchange Server</c:v>
                </c:pt>
              </c:strCache>
              <c:extLst/>
            </c:strRef>
          </c:cat>
          <c:val>
            <c:numRef>
              <c:f>'2016グラフ①'!$B$4:$B$11</c:f>
              <c:numCache>
                <c:formatCode>0.0%</c:formatCode>
                <c:ptCount val="6"/>
                <c:pt idx="0">
                  <c:v>0.28999999999999998</c:v>
                </c:pt>
                <c:pt idx="1">
                  <c:v>0.16200000000000001</c:v>
                </c:pt>
                <c:pt idx="2">
                  <c:v>0.11600000000000001</c:v>
                </c:pt>
                <c:pt idx="3">
                  <c:v>8.3000000000000004E-2</c:v>
                </c:pt>
                <c:pt idx="4">
                  <c:v>6.6000000000000003E-2</c:v>
                </c:pt>
                <c:pt idx="5">
                  <c:v>6.3E-2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2779-4AE8-A6BD-2D7A24EE87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670881184"/>
        <c:axId val="-670722816"/>
      </c:barChart>
      <c:catAx>
        <c:axId val="-67088118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lang="ja-JP" sz="1100"/>
            </a:pPr>
            <a:endParaRPr lang="zh-CN"/>
          </a:p>
        </c:txPr>
        <c:crossAx val="-670722816"/>
        <c:crosses val="autoZero"/>
        <c:auto val="1"/>
        <c:lblAlgn val="ctr"/>
        <c:lblOffset val="100"/>
        <c:noMultiLvlLbl val="0"/>
      </c:catAx>
      <c:valAx>
        <c:axId val="-670722816"/>
        <c:scaling>
          <c:orientation val="minMax"/>
        </c:scaling>
        <c:delete val="0"/>
        <c:axPos val="t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lang="ja-JP" sz="800"/>
            </a:pPr>
            <a:endParaRPr lang="zh-CN"/>
          </a:p>
        </c:txPr>
        <c:crossAx val="-670881184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>
          <a:latin typeface="メイリオ"/>
          <a:ea typeface="メイリオ"/>
          <a:cs typeface="メイリオ"/>
        </a:defRPr>
      </a:pPr>
      <a:endParaRPr lang="zh-CN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ozu.cn/product/kintone/" TargetMode="External"/><Relationship Id="rId1" Type="http://schemas.openxmlformats.org/officeDocument/2006/relationships/hyperlink" Target="https://cybozudev.kf5.com/hc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AF9645-F9FE-4491-900C-C37B6C0B90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482002D-093B-49A6-BF0C-0A5D62524209}">
      <dgm:prSet custT="1"/>
      <dgm:spPr>
        <a:solidFill>
          <a:srgbClr val="62C9E2"/>
        </a:solidFill>
        <a:ln>
          <a:solidFill>
            <a:srgbClr val="62C9E2"/>
          </a:solidFill>
        </a:ln>
      </dgm:spPr>
      <dgm:t>
        <a:bodyPr/>
        <a:lstStyle/>
        <a:p>
          <a:r>
            <a:rPr lang="en-US" sz="1100" b="1" dirty="0"/>
            <a:t>cybozu developer network</a:t>
          </a:r>
          <a:r>
            <a:rPr lang="zh-CN" altLang="en-US" sz="1100" b="1" dirty="0"/>
            <a:t>网站</a:t>
          </a:r>
          <a:endParaRPr lang="zh-CN" sz="1100" dirty="0"/>
        </a:p>
      </dgm:t>
    </dgm:pt>
    <dgm:pt modelId="{262DD8D2-20BD-4F28-9E08-1C5A4FFB3FDC}" type="par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CDDBF1D3-3983-485F-9252-D9869C52C2E6}" type="sibTrans" cxnId="{8504BACE-ED63-458A-8023-4AF65FD35343}">
      <dgm:prSet/>
      <dgm:spPr/>
      <dgm:t>
        <a:bodyPr/>
        <a:lstStyle/>
        <a:p>
          <a:endParaRPr lang="zh-CN" altLang="en-US"/>
        </a:p>
      </dgm:t>
    </dgm:pt>
    <dgm:pt modelId="{42155B44-35DF-450B-BE6E-E1659B158AC0}">
      <dgm:prSet custT="1"/>
      <dgm:spPr>
        <a:solidFill>
          <a:srgbClr val="FDA907"/>
        </a:solidFill>
        <a:ln>
          <a:solidFill>
            <a:srgbClr val="FDA907"/>
          </a:solidFill>
        </a:ln>
      </dgm:spPr>
      <dgm:t>
        <a:bodyPr/>
        <a:lstStyle/>
        <a:p>
          <a:r>
            <a:rPr lang="en-US" sz="1100" b="1" dirty="0"/>
            <a:t>kintone</a:t>
          </a:r>
          <a:r>
            <a:rPr lang="zh-CN" sz="1100" b="1" dirty="0"/>
            <a:t>中国官网</a:t>
          </a:r>
          <a:endParaRPr lang="zh-CN" altLang="en-US" sz="1100" b="1" dirty="0"/>
        </a:p>
      </dgm:t>
    </dgm:pt>
    <dgm:pt modelId="{0931BF11-F11D-408D-A2DA-0ED69C8BB422}" type="par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67F2FEA2-A8C7-4CD1-8DD4-D4A3294DC861}" type="sibTrans" cxnId="{BA14B30A-6A5D-4EBD-8EF0-F756C2CDBCDF}">
      <dgm:prSet/>
      <dgm:spPr/>
      <dgm:t>
        <a:bodyPr/>
        <a:lstStyle/>
        <a:p>
          <a:endParaRPr lang="zh-CN" altLang="en-US"/>
        </a:p>
      </dgm:t>
    </dgm:pt>
    <dgm:pt modelId="{18100290-5B97-4AFC-8A09-D80AE70FBC3F}">
      <dgm:prSet custT="1"/>
      <dgm:spPr>
        <a:solidFill>
          <a:srgbClr val="4BB968"/>
        </a:solidFill>
        <a:ln>
          <a:solidFill>
            <a:srgbClr val="4BB968"/>
          </a:solidFill>
        </a:ln>
      </dgm:spPr>
      <dgm:t>
        <a:bodyPr/>
        <a:lstStyle/>
        <a:p>
          <a:r>
            <a:rPr lang="zh-CN" altLang="en-US" sz="1100" b="1" dirty="0"/>
            <a:t>微信公众号</a:t>
          </a:r>
          <a:r>
            <a:rPr lang="en-US" altLang="zh-CN" sz="1100" b="1" dirty="0"/>
            <a:t>:cybozu</a:t>
          </a:r>
          <a:r>
            <a:rPr lang="zh-CN" altLang="en-US" sz="1100" b="1" dirty="0"/>
            <a:t>开发者网站</a:t>
          </a:r>
          <a:endParaRPr lang="zh-CN" sz="1100" dirty="0"/>
        </a:p>
      </dgm:t>
    </dgm:pt>
    <dgm:pt modelId="{2B52976E-7E3A-4D80-91A7-75A1B634D2BD}" type="sib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64E4F109-63F3-47AF-BD42-23324141CCF3}" type="parTrans" cxnId="{2F8EBCDE-B104-4C9F-9F77-F466AEC78FDB}">
      <dgm:prSet/>
      <dgm:spPr/>
      <dgm:t>
        <a:bodyPr/>
        <a:lstStyle/>
        <a:p>
          <a:endParaRPr lang="zh-CN" altLang="en-US"/>
        </a:p>
      </dgm:t>
    </dgm:pt>
    <dgm:pt modelId="{02422081-F09A-4DEC-AEF7-16B1605DCBF3}">
      <dgm:prSet custT="1"/>
      <dgm:spPr>
        <a:solidFill>
          <a:srgbClr val="62C9E2">
            <a:alpha val="20000"/>
          </a:srgbClr>
        </a:solidFill>
        <a:ln>
          <a:solidFill>
            <a:srgbClr val="62C9E2">
              <a:alpha val="20000"/>
            </a:srgbClr>
          </a:solidFill>
        </a:ln>
      </dgm:spPr>
      <dgm:t>
        <a:bodyPr/>
        <a:lstStyle/>
        <a:p>
          <a:r>
            <a:rPr lang="en-US" sz="1100" dirty="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dirty="0">
            <a:solidFill>
              <a:srgbClr val="62C9E2"/>
            </a:solidFill>
          </a:endParaRPr>
        </a:p>
      </dgm:t>
    </dgm:pt>
    <dgm:pt modelId="{6B780937-DE71-4AE9-9D9D-6E34478E1DC9}" type="sib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10E57AA-B5B4-4092-92DF-717C287AED02}" type="parTrans" cxnId="{4011BDF4-0D69-47B0-A376-A55A29C474F8}">
      <dgm:prSet/>
      <dgm:spPr/>
      <dgm:t>
        <a:bodyPr/>
        <a:lstStyle/>
        <a:p>
          <a:endParaRPr lang="zh-CN" altLang="en-US"/>
        </a:p>
      </dgm:t>
    </dgm:pt>
    <dgm:pt modelId="{DC2F2674-385E-4623-AB26-5BF3EB642258}">
      <dgm:prSet custT="1"/>
      <dgm:spPr>
        <a:solidFill>
          <a:srgbClr val="FDA907">
            <a:alpha val="20000"/>
          </a:srgbClr>
        </a:solidFill>
        <a:ln>
          <a:solidFill>
            <a:srgbClr val="FDA907">
              <a:alpha val="20000"/>
            </a:srgbClr>
          </a:solidFill>
        </a:ln>
      </dgm:spPr>
      <dgm:t>
        <a:bodyPr/>
        <a:lstStyle/>
        <a:p>
          <a:r>
            <a:rPr lang="en-US" altLang="zh-CN" sz="11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dirty="0"/>
        </a:p>
      </dgm:t>
    </dgm:pt>
    <dgm:pt modelId="{7645FA14-CFD8-42FA-8504-3A3FC9307F1F}" type="sib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797C1B13-5A5C-41B0-96DE-C43DCAF2CB05}" type="parTrans" cxnId="{5A11CD1D-499A-4E94-810F-662BC789B4BD}">
      <dgm:prSet/>
      <dgm:spPr/>
      <dgm:t>
        <a:bodyPr/>
        <a:lstStyle/>
        <a:p>
          <a:endParaRPr lang="zh-CN" altLang="en-US"/>
        </a:p>
      </dgm:t>
    </dgm:pt>
    <dgm:pt modelId="{A1131A92-A7E2-4E83-9E7A-4D2EA0D5E6A4}">
      <dgm:prSet custT="1"/>
      <dgm:spPr>
        <a:solidFill>
          <a:srgbClr val="4BB968">
            <a:alpha val="20000"/>
          </a:srgbClr>
        </a:solidFill>
        <a:ln>
          <a:solidFill>
            <a:srgbClr val="4BB968">
              <a:alpha val="20000"/>
            </a:srgbClr>
          </a:solidFill>
        </a:ln>
      </dgm:spPr>
      <dgm:t>
        <a:bodyPr/>
        <a:lstStyle/>
        <a:p>
          <a:endParaRPr lang="zh-CN" altLang="en-US" sz="1100" dirty="0"/>
        </a:p>
      </dgm:t>
    </dgm:pt>
    <dgm:pt modelId="{85C0B018-9434-4FAA-AFEE-C2FCBF1B6E42}" type="sibTrans" cxnId="{A0C4FFDC-94ED-4AD7-A468-188C0641E8BB}">
      <dgm:prSet/>
      <dgm:spPr/>
      <dgm:t>
        <a:bodyPr/>
        <a:lstStyle/>
        <a:p>
          <a:endParaRPr lang="zh-CN" altLang="en-US"/>
        </a:p>
      </dgm:t>
    </dgm:pt>
    <dgm:pt modelId="{11AA4837-2671-4CEA-98A5-A2F604D27D3D}" type="parTrans" cxnId="{A0C4FFDC-94ED-4AD7-A468-188C0641E8BB}">
      <dgm:prSet/>
      <dgm:spPr/>
      <dgm:t>
        <a:bodyPr/>
        <a:lstStyle/>
        <a:p>
          <a:endParaRPr lang="zh-CN" altLang="en-US"/>
        </a:p>
      </dgm:t>
    </dgm:pt>
    <dgm:pt modelId="{52FA4DE0-5C9A-4166-A375-5BB65EBD2A0A}" type="pres">
      <dgm:prSet presAssocID="{5BAF9645-F9FE-4491-900C-C37B6C0B9099}" presName="Name0" presStyleCnt="0">
        <dgm:presLayoutVars>
          <dgm:dir/>
          <dgm:animLvl val="lvl"/>
          <dgm:resizeHandles val="exact"/>
        </dgm:presLayoutVars>
      </dgm:prSet>
      <dgm:spPr/>
    </dgm:pt>
    <dgm:pt modelId="{1B83B677-6649-4B2A-BE7E-EB5A086FAD1A}" type="pres">
      <dgm:prSet presAssocID="{C482002D-093B-49A6-BF0C-0A5D62524209}" presName="composite" presStyleCnt="0"/>
      <dgm:spPr/>
    </dgm:pt>
    <dgm:pt modelId="{02DE2194-79AC-412A-BEDC-D8DC2054B17B}" type="pres">
      <dgm:prSet presAssocID="{C482002D-093B-49A6-BF0C-0A5D6252420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2BFEC1A-A31A-4E95-9DE1-A04D0E37E9C5}" type="pres">
      <dgm:prSet presAssocID="{C482002D-093B-49A6-BF0C-0A5D62524209}" presName="desTx" presStyleLbl="alignAccFollowNode1" presStyleIdx="0" presStyleCnt="3">
        <dgm:presLayoutVars>
          <dgm:bulletEnabled val="1"/>
        </dgm:presLayoutVars>
      </dgm:prSet>
      <dgm:spPr/>
    </dgm:pt>
    <dgm:pt modelId="{D18B7241-E2F9-4BF9-8F9D-E95373023176}" type="pres">
      <dgm:prSet presAssocID="{CDDBF1D3-3983-485F-9252-D9869C52C2E6}" presName="space" presStyleCnt="0"/>
      <dgm:spPr/>
    </dgm:pt>
    <dgm:pt modelId="{D6A567B8-AF62-4206-9F46-CE5DFC4E4BE6}" type="pres">
      <dgm:prSet presAssocID="{18100290-5B97-4AFC-8A09-D80AE70FBC3F}" presName="composite" presStyleCnt="0"/>
      <dgm:spPr/>
    </dgm:pt>
    <dgm:pt modelId="{2F3E05CD-05E8-487D-97C0-F36C5B25A766}" type="pres">
      <dgm:prSet presAssocID="{18100290-5B97-4AFC-8A09-D80AE70FBC3F}" presName="parTx" presStyleLbl="alignNode1" presStyleIdx="1" presStyleCnt="3" custScaleX="101724" custLinFactNeighborX="0" custLinFactNeighborY="1150">
        <dgm:presLayoutVars>
          <dgm:chMax val="0"/>
          <dgm:chPref val="0"/>
          <dgm:bulletEnabled val="1"/>
        </dgm:presLayoutVars>
      </dgm:prSet>
      <dgm:spPr/>
    </dgm:pt>
    <dgm:pt modelId="{E082B7CA-85BE-4FF1-8E83-B33DD293E2C5}" type="pres">
      <dgm:prSet presAssocID="{18100290-5B97-4AFC-8A09-D80AE70FBC3F}" presName="desTx" presStyleLbl="alignAccFollowNode1" presStyleIdx="1" presStyleCnt="3" custLinFactNeighborY="3551">
        <dgm:presLayoutVars>
          <dgm:bulletEnabled val="1"/>
        </dgm:presLayoutVars>
      </dgm:prSet>
      <dgm:spPr/>
    </dgm:pt>
    <dgm:pt modelId="{916010FC-73C2-4A20-BAF1-D3DB841A5D2F}" type="pres">
      <dgm:prSet presAssocID="{2B52976E-7E3A-4D80-91A7-75A1B634D2BD}" presName="space" presStyleCnt="0"/>
      <dgm:spPr/>
    </dgm:pt>
    <dgm:pt modelId="{E99C8C0B-735C-4792-8775-AE31569CBCAF}" type="pres">
      <dgm:prSet presAssocID="{42155B44-35DF-450B-BE6E-E1659B158AC0}" presName="composite" presStyleCnt="0"/>
      <dgm:spPr/>
    </dgm:pt>
    <dgm:pt modelId="{B12AE9C0-421F-483A-A5E4-1EF097948687}" type="pres">
      <dgm:prSet presAssocID="{42155B44-35DF-450B-BE6E-E1659B158AC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A36BC6B-2E73-4C15-B318-8EEFBE07D2CC}" type="pres">
      <dgm:prSet presAssocID="{42155B44-35DF-450B-BE6E-E1659B158AC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A14B30A-6A5D-4EBD-8EF0-F756C2CDBCDF}" srcId="{5BAF9645-F9FE-4491-900C-C37B6C0B9099}" destId="{42155B44-35DF-450B-BE6E-E1659B158AC0}" srcOrd="2" destOrd="0" parTransId="{0931BF11-F11D-408D-A2DA-0ED69C8BB422}" sibTransId="{67F2FEA2-A8C7-4CD1-8DD4-D4A3294DC861}"/>
    <dgm:cxn modelId="{5CCCF014-DF03-4C0A-9F10-83258132E5DE}" type="presOf" srcId="{42155B44-35DF-450B-BE6E-E1659B158AC0}" destId="{B12AE9C0-421F-483A-A5E4-1EF097948687}" srcOrd="0" destOrd="0" presId="urn:microsoft.com/office/officeart/2005/8/layout/hList1"/>
    <dgm:cxn modelId="{5A11CD1D-499A-4E94-810F-662BC789B4BD}" srcId="{42155B44-35DF-450B-BE6E-E1659B158AC0}" destId="{DC2F2674-385E-4623-AB26-5BF3EB642258}" srcOrd="0" destOrd="0" parTransId="{797C1B13-5A5C-41B0-96DE-C43DCAF2CB05}" sibTransId="{7645FA14-CFD8-42FA-8504-3A3FC9307F1F}"/>
    <dgm:cxn modelId="{5B120262-91D8-4CED-B234-AD20EA98D57D}" type="presOf" srcId="{C482002D-093B-49A6-BF0C-0A5D62524209}" destId="{02DE2194-79AC-412A-BEDC-D8DC2054B17B}" srcOrd="0" destOrd="0" presId="urn:microsoft.com/office/officeart/2005/8/layout/hList1"/>
    <dgm:cxn modelId="{44EC454E-EB08-4BBE-8BC6-B2B828008CBC}" type="presOf" srcId="{A1131A92-A7E2-4E83-9E7A-4D2EA0D5E6A4}" destId="{E082B7CA-85BE-4FF1-8E83-B33DD293E2C5}" srcOrd="0" destOrd="0" presId="urn:microsoft.com/office/officeart/2005/8/layout/hList1"/>
    <dgm:cxn modelId="{EB113BC4-F8EF-43B8-8535-C1BB85D0F7F8}" type="presOf" srcId="{02422081-F09A-4DEC-AEF7-16B1605DCBF3}" destId="{B2BFEC1A-A31A-4E95-9DE1-A04D0E37E9C5}" srcOrd="0" destOrd="0" presId="urn:microsoft.com/office/officeart/2005/8/layout/hList1"/>
    <dgm:cxn modelId="{5F63A6C9-09F3-4F14-A78B-7C36831C32C2}" type="presOf" srcId="{18100290-5B97-4AFC-8A09-D80AE70FBC3F}" destId="{2F3E05CD-05E8-487D-97C0-F36C5B25A766}" srcOrd="0" destOrd="0" presId="urn:microsoft.com/office/officeart/2005/8/layout/hList1"/>
    <dgm:cxn modelId="{8504BACE-ED63-458A-8023-4AF65FD35343}" srcId="{5BAF9645-F9FE-4491-900C-C37B6C0B9099}" destId="{C482002D-093B-49A6-BF0C-0A5D62524209}" srcOrd="0" destOrd="0" parTransId="{262DD8D2-20BD-4F28-9E08-1C5A4FFB3FDC}" sibTransId="{CDDBF1D3-3983-485F-9252-D9869C52C2E6}"/>
    <dgm:cxn modelId="{A0C4FFDC-94ED-4AD7-A468-188C0641E8BB}" srcId="{18100290-5B97-4AFC-8A09-D80AE70FBC3F}" destId="{A1131A92-A7E2-4E83-9E7A-4D2EA0D5E6A4}" srcOrd="0" destOrd="0" parTransId="{11AA4837-2671-4CEA-98A5-A2F604D27D3D}" sibTransId="{85C0B018-9434-4FAA-AFEE-C2FCBF1B6E42}"/>
    <dgm:cxn modelId="{2F8EBCDE-B104-4C9F-9F77-F466AEC78FDB}" srcId="{5BAF9645-F9FE-4491-900C-C37B6C0B9099}" destId="{18100290-5B97-4AFC-8A09-D80AE70FBC3F}" srcOrd="1" destOrd="0" parTransId="{64E4F109-63F3-47AF-BD42-23324141CCF3}" sibTransId="{2B52976E-7E3A-4D80-91A7-75A1B634D2BD}"/>
    <dgm:cxn modelId="{4011BDF4-0D69-47B0-A376-A55A29C474F8}" srcId="{C482002D-093B-49A6-BF0C-0A5D62524209}" destId="{02422081-F09A-4DEC-AEF7-16B1605DCBF3}" srcOrd="0" destOrd="0" parTransId="{D10E57AA-B5B4-4092-92DF-717C287AED02}" sibTransId="{6B780937-DE71-4AE9-9D9D-6E34478E1DC9}"/>
    <dgm:cxn modelId="{C643A8F6-8984-4A11-9247-F4E3BCF174D5}" type="presOf" srcId="{DC2F2674-385E-4623-AB26-5BF3EB642258}" destId="{0A36BC6B-2E73-4C15-B318-8EEFBE07D2CC}" srcOrd="0" destOrd="0" presId="urn:microsoft.com/office/officeart/2005/8/layout/hList1"/>
    <dgm:cxn modelId="{A7CF29FB-BE84-43F4-8721-80B8829E2ACD}" type="presOf" srcId="{5BAF9645-F9FE-4491-900C-C37B6C0B9099}" destId="{52FA4DE0-5C9A-4166-A375-5BB65EBD2A0A}" srcOrd="0" destOrd="0" presId="urn:microsoft.com/office/officeart/2005/8/layout/hList1"/>
    <dgm:cxn modelId="{0F41CA7B-5000-49A6-99E5-17C49FA7642E}" type="presParOf" srcId="{52FA4DE0-5C9A-4166-A375-5BB65EBD2A0A}" destId="{1B83B677-6649-4B2A-BE7E-EB5A086FAD1A}" srcOrd="0" destOrd="0" presId="urn:microsoft.com/office/officeart/2005/8/layout/hList1"/>
    <dgm:cxn modelId="{0F3D3EA0-7166-46DA-80BD-1A425FDB2160}" type="presParOf" srcId="{1B83B677-6649-4B2A-BE7E-EB5A086FAD1A}" destId="{02DE2194-79AC-412A-BEDC-D8DC2054B17B}" srcOrd="0" destOrd="0" presId="urn:microsoft.com/office/officeart/2005/8/layout/hList1"/>
    <dgm:cxn modelId="{E6C0C457-1923-4EB9-89B3-5162A0133BE9}" type="presParOf" srcId="{1B83B677-6649-4B2A-BE7E-EB5A086FAD1A}" destId="{B2BFEC1A-A31A-4E95-9DE1-A04D0E37E9C5}" srcOrd="1" destOrd="0" presId="urn:microsoft.com/office/officeart/2005/8/layout/hList1"/>
    <dgm:cxn modelId="{3F0A9209-3EC3-4CD8-80D1-19642CCCF163}" type="presParOf" srcId="{52FA4DE0-5C9A-4166-A375-5BB65EBD2A0A}" destId="{D18B7241-E2F9-4BF9-8F9D-E95373023176}" srcOrd="1" destOrd="0" presId="urn:microsoft.com/office/officeart/2005/8/layout/hList1"/>
    <dgm:cxn modelId="{3BF159A2-DDF0-4720-B405-5B4F3420B33A}" type="presParOf" srcId="{52FA4DE0-5C9A-4166-A375-5BB65EBD2A0A}" destId="{D6A567B8-AF62-4206-9F46-CE5DFC4E4BE6}" srcOrd="2" destOrd="0" presId="urn:microsoft.com/office/officeart/2005/8/layout/hList1"/>
    <dgm:cxn modelId="{4CE9E8E8-7207-4E9F-A0AF-BDAF8A2A0D2E}" type="presParOf" srcId="{D6A567B8-AF62-4206-9F46-CE5DFC4E4BE6}" destId="{2F3E05CD-05E8-487D-97C0-F36C5B25A766}" srcOrd="0" destOrd="0" presId="urn:microsoft.com/office/officeart/2005/8/layout/hList1"/>
    <dgm:cxn modelId="{5DE264E7-FB88-492F-AA75-4EF8DD329887}" type="presParOf" srcId="{D6A567B8-AF62-4206-9F46-CE5DFC4E4BE6}" destId="{E082B7CA-85BE-4FF1-8E83-B33DD293E2C5}" srcOrd="1" destOrd="0" presId="urn:microsoft.com/office/officeart/2005/8/layout/hList1"/>
    <dgm:cxn modelId="{FB5FFE86-9574-484C-B711-C07C503F0D79}" type="presParOf" srcId="{52FA4DE0-5C9A-4166-A375-5BB65EBD2A0A}" destId="{916010FC-73C2-4A20-BAF1-D3DB841A5D2F}" srcOrd="3" destOrd="0" presId="urn:microsoft.com/office/officeart/2005/8/layout/hList1"/>
    <dgm:cxn modelId="{956D3A80-ECF5-49DC-BD8A-323DDC24B11B}" type="presParOf" srcId="{52FA4DE0-5C9A-4166-A375-5BB65EBD2A0A}" destId="{E99C8C0B-735C-4792-8775-AE31569CBCAF}" srcOrd="4" destOrd="0" presId="urn:microsoft.com/office/officeart/2005/8/layout/hList1"/>
    <dgm:cxn modelId="{1EA4C944-255E-48D4-B82E-7EF471C7BD38}" type="presParOf" srcId="{E99C8C0B-735C-4792-8775-AE31569CBCAF}" destId="{B12AE9C0-421F-483A-A5E4-1EF097948687}" srcOrd="0" destOrd="0" presId="urn:microsoft.com/office/officeart/2005/8/layout/hList1"/>
    <dgm:cxn modelId="{D2FB8DF2-71AC-4A24-9215-5D740D947B90}" type="presParOf" srcId="{E99C8C0B-735C-4792-8775-AE31569CBCAF}" destId="{0A36BC6B-2E73-4C15-B318-8EEFBE07D2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E2194-79AC-412A-BEDC-D8DC2054B17B}">
      <dsp:nvSpPr>
        <dsp:cNvPr id="0" name=""/>
        <dsp:cNvSpPr/>
      </dsp:nvSpPr>
      <dsp:spPr>
        <a:xfrm>
          <a:off x="777" y="12071"/>
          <a:ext cx="2333557" cy="460800"/>
        </a:xfrm>
        <a:prstGeom prst="rect">
          <a:avLst/>
        </a:prstGeom>
        <a:solidFill>
          <a:srgbClr val="62C9E2"/>
        </a:solidFill>
        <a:ln w="25400" cap="flat" cmpd="sng" algn="ctr">
          <a:solidFill>
            <a:srgbClr val="62C9E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cybozu developer network</a:t>
          </a:r>
          <a:r>
            <a:rPr lang="zh-CN" altLang="en-US" sz="1100" b="1" kern="1200" dirty="0"/>
            <a:t>网站</a:t>
          </a:r>
          <a:endParaRPr lang="zh-CN" sz="1100" kern="1200" dirty="0"/>
        </a:p>
      </dsp:txBody>
      <dsp:txXfrm>
        <a:off x="777" y="12071"/>
        <a:ext cx="2333557" cy="460800"/>
      </dsp:txXfrm>
    </dsp:sp>
    <dsp:sp modelId="{B2BFEC1A-A31A-4E95-9DE1-A04D0E37E9C5}">
      <dsp:nvSpPr>
        <dsp:cNvPr id="0" name=""/>
        <dsp:cNvSpPr/>
      </dsp:nvSpPr>
      <dsp:spPr>
        <a:xfrm>
          <a:off x="777" y="472871"/>
          <a:ext cx="2333557" cy="702720"/>
        </a:xfrm>
        <a:prstGeom prst="rect">
          <a:avLst/>
        </a:prstGeom>
        <a:solidFill>
          <a:srgbClr val="62C9E2">
            <a:alpha val="20000"/>
          </a:srgbClr>
        </a:solidFill>
        <a:ln w="25400" cap="flat" cmpd="sng" algn="ctr">
          <a:solidFill>
            <a:srgbClr val="62C9E2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solidFill>
                <a:srgbClr val="62C9E2"/>
              </a:solidFill>
              <a:hlinkClick xmlns:r="http://schemas.openxmlformats.org/officeDocument/2006/relationships" r:id="rId1"/>
            </a:rPr>
            <a:t>https://cybozudev.kf5.com/hc/</a:t>
          </a:r>
          <a:endParaRPr lang="zh-CN" altLang="en-US" sz="1100" kern="1200" dirty="0">
            <a:solidFill>
              <a:srgbClr val="62C9E2"/>
            </a:solidFill>
          </a:endParaRPr>
        </a:p>
      </dsp:txBody>
      <dsp:txXfrm>
        <a:off x="777" y="472871"/>
        <a:ext cx="2333557" cy="702720"/>
      </dsp:txXfrm>
    </dsp:sp>
    <dsp:sp modelId="{2F3E05CD-05E8-487D-97C0-F36C5B25A766}">
      <dsp:nvSpPr>
        <dsp:cNvPr id="0" name=""/>
        <dsp:cNvSpPr/>
      </dsp:nvSpPr>
      <dsp:spPr>
        <a:xfrm>
          <a:off x="2661033" y="17370"/>
          <a:ext cx="2373788" cy="460800"/>
        </a:xfrm>
        <a:prstGeom prst="rect">
          <a:avLst/>
        </a:prstGeom>
        <a:solidFill>
          <a:srgbClr val="4BB968"/>
        </a:solidFill>
        <a:ln w="25400" cap="flat" cmpd="sng" algn="ctr">
          <a:solidFill>
            <a:srgbClr val="4BB968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微信公众号</a:t>
          </a:r>
          <a:r>
            <a:rPr lang="en-US" altLang="zh-CN" sz="1100" b="1" kern="1200" dirty="0"/>
            <a:t>:cybozu</a:t>
          </a:r>
          <a:r>
            <a:rPr lang="zh-CN" altLang="en-US" sz="1100" b="1" kern="1200" dirty="0"/>
            <a:t>开发者网站</a:t>
          </a:r>
          <a:endParaRPr lang="zh-CN" sz="1100" kern="1200" dirty="0"/>
        </a:p>
      </dsp:txBody>
      <dsp:txXfrm>
        <a:off x="2661033" y="17370"/>
        <a:ext cx="2373788" cy="460800"/>
      </dsp:txXfrm>
    </dsp:sp>
    <dsp:sp modelId="{E082B7CA-85BE-4FF1-8E83-B33DD293E2C5}">
      <dsp:nvSpPr>
        <dsp:cNvPr id="0" name=""/>
        <dsp:cNvSpPr/>
      </dsp:nvSpPr>
      <dsp:spPr>
        <a:xfrm>
          <a:off x="2681148" y="484943"/>
          <a:ext cx="2333557" cy="702720"/>
        </a:xfrm>
        <a:prstGeom prst="rect">
          <a:avLst/>
        </a:prstGeom>
        <a:solidFill>
          <a:srgbClr val="4BB968">
            <a:alpha val="20000"/>
          </a:srgbClr>
        </a:solidFill>
        <a:ln w="25400" cap="flat" cmpd="sng" algn="ctr">
          <a:solidFill>
            <a:srgbClr val="4BB968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zh-CN" altLang="en-US" sz="1100" kern="1200" dirty="0"/>
        </a:p>
      </dsp:txBody>
      <dsp:txXfrm>
        <a:off x="2681148" y="484943"/>
        <a:ext cx="2333557" cy="702720"/>
      </dsp:txXfrm>
    </dsp:sp>
    <dsp:sp modelId="{B12AE9C0-421F-483A-A5E4-1EF097948687}">
      <dsp:nvSpPr>
        <dsp:cNvPr id="0" name=""/>
        <dsp:cNvSpPr/>
      </dsp:nvSpPr>
      <dsp:spPr>
        <a:xfrm>
          <a:off x="5361519" y="12071"/>
          <a:ext cx="2333557" cy="460800"/>
        </a:xfrm>
        <a:prstGeom prst="rect">
          <a:avLst/>
        </a:prstGeom>
        <a:solidFill>
          <a:srgbClr val="FDA907"/>
        </a:solidFill>
        <a:ln w="25400" cap="flat" cmpd="sng" algn="ctr">
          <a:solidFill>
            <a:srgbClr val="FDA90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kintone</a:t>
          </a:r>
          <a:r>
            <a:rPr lang="zh-CN" sz="1100" b="1" kern="1200" dirty="0"/>
            <a:t>中国官网</a:t>
          </a:r>
          <a:endParaRPr lang="zh-CN" altLang="en-US" sz="1100" b="1" kern="1200" dirty="0"/>
        </a:p>
      </dsp:txBody>
      <dsp:txXfrm>
        <a:off x="5361519" y="12071"/>
        <a:ext cx="2333557" cy="460800"/>
      </dsp:txXfrm>
    </dsp:sp>
    <dsp:sp modelId="{0A36BC6B-2E73-4C15-B318-8EEFBE07D2CC}">
      <dsp:nvSpPr>
        <dsp:cNvPr id="0" name=""/>
        <dsp:cNvSpPr/>
      </dsp:nvSpPr>
      <dsp:spPr>
        <a:xfrm>
          <a:off x="5361519" y="472871"/>
          <a:ext cx="2333557" cy="702720"/>
        </a:xfrm>
        <a:prstGeom prst="rect">
          <a:avLst/>
        </a:prstGeom>
        <a:solidFill>
          <a:srgbClr val="FDA907">
            <a:alpha val="20000"/>
          </a:srgbClr>
        </a:solidFill>
        <a:ln w="25400" cap="flat" cmpd="sng" algn="ctr">
          <a:solidFill>
            <a:srgbClr val="FDA907">
              <a:alpha val="2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74" tIns="58674" rIns="78232" bIns="88011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100" kern="1200" dirty="0">
              <a:hlinkClick xmlns:r="http://schemas.openxmlformats.org/officeDocument/2006/relationships" r:id="rId2"/>
            </a:rPr>
            <a:t>https://www.cybozu.cn/product/kintone/</a:t>
          </a:r>
          <a:endParaRPr lang="zh-CN" altLang="en-US" sz="1100" kern="1200" dirty="0"/>
        </a:p>
      </dsp:txBody>
      <dsp:txXfrm>
        <a:off x="5361519" y="472871"/>
        <a:ext cx="2333557" cy="702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56024-E033-460B-B461-F9C8C93C904B}" type="datetimeFigureOut">
              <a:rPr lang="zh-CN" altLang="en-US" smtClean="0"/>
              <a:t>2018/4/18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72FC-EDD4-43B4-B218-6888597E2A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3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3541-C361-4440-AA44-DBB6527DDBFB}" type="datetimeFigureOut">
              <a:rPr lang="zh-CN" altLang="en-US" smtClean="0"/>
              <a:t>2018/4/18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461BB-BB29-447B-86E6-652C097B0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2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camp.cybozu.cn/k/#/space/1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请大家在开始前按照提示，设置以下内容。</a:t>
            </a:r>
            <a:endParaRPr lang="en-US" altLang="zh-CN" dirty="0"/>
          </a:p>
          <a:p>
            <a:pPr lvl="0" algn="l"/>
            <a:r>
              <a:rPr lang="en-US" altLang="zh-CN" sz="1200" b="1" kern="1200" dirty="0" err="1">
                <a:solidFill>
                  <a:srgbClr val="66D5F0"/>
                </a:solidFill>
                <a:latin typeface="+mj-ea"/>
                <a:ea typeface="+mn-ea"/>
                <a:cs typeface="+mn-cs"/>
              </a:rPr>
              <a:t>WiFi</a:t>
            </a:r>
            <a:r>
              <a:rPr lang="en-US" altLang="zh-CN" sz="1200" b="1" kern="1200" dirty="0">
                <a:solidFill>
                  <a:srgbClr val="66D5F0"/>
                </a:solidFill>
                <a:latin typeface="+mj-ea"/>
                <a:ea typeface="+mn-ea"/>
                <a:cs typeface="+mn-cs"/>
              </a:rPr>
              <a:t>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请查看您所在会议桌上的提示。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solidFill>
                  <a:srgbClr val="F39030"/>
                </a:solidFill>
                <a:latin typeface="+mj-ea"/>
                <a:ea typeface="+mn-ea"/>
                <a:cs typeface="+mn-cs"/>
              </a:rPr>
              <a:t>kintone</a:t>
            </a:r>
            <a:r>
              <a:rPr lang="zh-CN" altLang="en-US" sz="1200" b="1" kern="1200" dirty="0">
                <a:solidFill>
                  <a:srgbClr val="F39030"/>
                </a:solidFill>
                <a:latin typeface="+mj-ea"/>
                <a:ea typeface="+mn-ea"/>
                <a:cs typeface="+mn-cs"/>
              </a:rPr>
              <a:t>试用环境登录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签到时分发的纸张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上的用户名、密码。本次账号有效期为</a:t>
            </a:r>
            <a:r>
              <a:rPr lang="zh-CN" altLang="en-US" sz="1200" dirty="0">
                <a:solidFill>
                  <a:srgbClr val="FF0000"/>
                </a:solidFill>
                <a:latin typeface="+mn-ea"/>
              </a:rPr>
              <a:t>两周。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之后如果想继续使用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，以下链接可获取免费试用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30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天的环境。</a:t>
            </a:r>
            <a:endParaRPr lang="zh-CN" altLang="en-US" sz="1200" b="1" kern="1200" dirty="0">
              <a:solidFill>
                <a:srgbClr val="F39030"/>
              </a:solidFill>
              <a:latin typeface="+mj-e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kern="1200" dirty="0">
                <a:solidFill>
                  <a:srgbClr val="F39030"/>
                </a:solidFill>
                <a:latin typeface="+mj-ea"/>
                <a:ea typeface="+mn-ea"/>
                <a:cs typeface="+mn-cs"/>
              </a:rPr>
              <a:t>本次课程资料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可以在试用环境首页左边“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课程资料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”中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下载。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课程开始后如果遇到什么困难可以举手示意，我们会有工作人员过来为您提供帮助。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Wingdings" panose="05000000000000000000" pitchFamily="2" charset="2"/>
              </a:rPr>
              <a:t>现在大家都设置好了吗？如果大家都设置完成，那我们本次学习会就正式开始了。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823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首先在座各位可能很多人是第一次听说</a:t>
            </a:r>
            <a:r>
              <a:rPr lang="en-US" altLang="zh-CN" dirty="0" err="1"/>
              <a:t>kintone</a:t>
            </a:r>
            <a:r>
              <a:rPr lang="zh-CN" altLang="en-US" dirty="0"/>
              <a:t>，以及</a:t>
            </a:r>
            <a:r>
              <a:rPr lang="en-US" altLang="zh-CN" dirty="0" err="1"/>
              <a:t>cybozu</a:t>
            </a:r>
            <a:r>
              <a:rPr lang="zh-CN" altLang="en-US" dirty="0"/>
              <a:t>公司，中文名是才望子。</a:t>
            </a:r>
            <a:endParaRPr lang="en-US" altLang="zh-CN" dirty="0"/>
          </a:p>
          <a:p>
            <a:r>
              <a:rPr lang="zh-CN" altLang="en-US" dirty="0"/>
              <a:t>所以在深入学习之前，我先来简单介绍一下才望子。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266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才望子公司在日本是上市公司，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在办公软件领域，连续</a:t>
            </a:r>
            <a:r>
              <a:rPr lang="en-US" altLang="ja-JP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ja-JP" altLang="en-US" sz="1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zh-CN" altLang="en-US" sz="1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市场占有率第一</a:t>
            </a:r>
            <a:endParaRPr kumimoji="1" lang="ja-JP" altLang="en-US" sz="12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918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在中国，除了上海这里，在深圳和台湾我们也有分公司。我们有</a:t>
            </a: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 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880 </a:t>
            </a: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 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</a:t>
            </a: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名的用户正在使用才望子的产品。</a:t>
            </a:r>
            <a:endParaRPr lang="en-US" altLang="zh-CN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我们可以看一下这张图，包括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TOTO</a:t>
            </a: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、象印、朝日啤酒、富士电机等等都正在使用我们的产品。</a:t>
            </a:r>
            <a:endParaRPr lang="en-US" altLang="zh-CN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才望子公司就简单介绍到这里。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907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本次学习会的主题是：深度学习</a:t>
            </a:r>
            <a:r>
              <a:rPr lang="en-US" altLang="zh-CN" dirty="0" err="1"/>
              <a:t>kintone</a:t>
            </a:r>
            <a:r>
              <a:rPr lang="zh-CN" altLang="en-US" dirty="0"/>
              <a:t>，手把手教你</a:t>
            </a:r>
            <a:r>
              <a:rPr lang="en-US" altLang="zh-CN" dirty="0" err="1"/>
              <a:t>kintone</a:t>
            </a:r>
            <a:r>
              <a:rPr lang="zh-CN" altLang="en-US" dirty="0"/>
              <a:t>定制化。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081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n-ea"/>
                <a:cs typeface="+mn-cs"/>
              </a:rPr>
              <a:t>本课程内容</a:t>
            </a:r>
          </a:p>
          <a:p>
            <a:r>
              <a:rPr lang="zh-CN" altLang="en-US" dirty="0"/>
              <a:t>首先给大家介绍一下</a:t>
            </a:r>
            <a:r>
              <a:rPr lang="en-US" altLang="zh-CN" dirty="0"/>
              <a:t>kintone</a:t>
            </a:r>
            <a:r>
              <a:rPr lang="zh-CN" altLang="en-US" dirty="0"/>
              <a:t>，然后大家一起动手来制作应用。</a:t>
            </a:r>
            <a:endParaRPr lang="en-US" altLang="zh-CN" dirty="0"/>
          </a:p>
          <a:p>
            <a:r>
              <a:rPr lang="zh-CN" altLang="en-US" dirty="0"/>
              <a:t>之后的一节课是给大家介绍如何定制化</a:t>
            </a:r>
            <a:r>
              <a:rPr lang="en-US" altLang="zh-CN" dirty="0" err="1"/>
              <a:t>kintone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06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kintone</a:t>
            </a:r>
            <a:r>
              <a:rPr lang="zh-CN" altLang="en-US" dirty="0"/>
              <a:t>是什么</a:t>
            </a:r>
            <a:endParaRPr lang="en-US" altLang="zh-CN" dirty="0"/>
          </a:p>
          <a:p>
            <a:r>
              <a:rPr lang="zh-CN" altLang="en-US" dirty="0"/>
              <a:t>简单的说它是一个易于操作而且能信息共享的云服务。</a:t>
            </a:r>
            <a:endParaRPr lang="en-US" altLang="zh-CN" dirty="0"/>
          </a:p>
          <a:p>
            <a:r>
              <a:rPr lang="zh-CN" altLang="en-US" dirty="0"/>
              <a:t>大家之后有时间可以了解一下。也可以看一下我们的官网。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564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我们来看一下</a:t>
            </a:r>
            <a:r>
              <a:rPr lang="en-US" altLang="zh-CN" dirty="0" err="1"/>
              <a:t>kintone</a:t>
            </a:r>
            <a:r>
              <a:rPr lang="zh-CN" altLang="en-US" dirty="0"/>
              <a:t>和普通系统的对比，</a:t>
            </a:r>
            <a:r>
              <a:rPr lang="en-US" altLang="zh-CN" dirty="0" err="1"/>
              <a:t>kintone</a:t>
            </a:r>
            <a:r>
              <a:rPr lang="zh-CN" altLang="en-US" dirty="0"/>
              <a:t>在金钱时间以及操作上都有显著的优势。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23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再来看看和</a:t>
            </a:r>
            <a:r>
              <a:rPr lang="en-US" altLang="zh-CN" dirty="0"/>
              <a:t>ERP</a:t>
            </a:r>
            <a:r>
              <a:rPr lang="zh-CN" altLang="en-US" dirty="0"/>
              <a:t>还有</a:t>
            </a:r>
            <a:r>
              <a:rPr lang="en-US" altLang="zh-CN" dirty="0"/>
              <a:t>Excel</a:t>
            </a:r>
            <a:r>
              <a:rPr lang="zh-CN" altLang="en-US" dirty="0"/>
              <a:t>的对比，</a:t>
            </a:r>
            <a:r>
              <a:rPr lang="en-US" altLang="zh-CN" dirty="0" err="1"/>
              <a:t>kintone</a:t>
            </a:r>
            <a:r>
              <a:rPr lang="zh-CN" altLang="en-US" dirty="0"/>
              <a:t>在流程管理以及信息共享上有明显的优势。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203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可以说</a:t>
            </a:r>
            <a:r>
              <a:rPr lang="en-US" altLang="zh-CN" dirty="0" err="1"/>
              <a:t>kintone</a:t>
            </a:r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可以实现</a:t>
            </a:r>
            <a:r>
              <a:rPr lang="zh-CN" altLang="en-US" sz="1400" b="0" dirty="0">
                <a:solidFill>
                  <a:srgbClr val="C00000"/>
                </a:solidFill>
                <a:latin typeface="Impact" pitchFamily="34" charset="0"/>
              </a:rPr>
              <a:t>各个行业</a:t>
            </a:r>
            <a:r>
              <a:rPr lang="zh-CN" altLang="en-US" b="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的业务改善。比如营业业务方面，店铺管理方面，电子申请方面。</a:t>
            </a:r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714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n-ea"/>
                <a:cs typeface="+mn-cs"/>
              </a:rPr>
              <a:t>kintone</a:t>
            </a:r>
            <a:r>
              <a:rPr lang="en-US" altLang="zh-CN" sz="1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n-ea"/>
                <a:cs typeface="+mn-cs"/>
              </a:rPr>
              <a:t> </a:t>
            </a:r>
            <a:r>
              <a:rPr lang="zh-CN" altLang="en-US" sz="12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n-ea"/>
                <a:cs typeface="+mn-cs"/>
              </a:rPr>
              <a:t>可以</a:t>
            </a:r>
            <a:r>
              <a:rPr lang="zh-CN" altLang="en-US" dirty="0"/>
              <a:t>用项目实现企业之间的共享：比如来宾空间</a:t>
            </a:r>
            <a:endParaRPr lang="en-US" altLang="zh-CN" dirty="0"/>
          </a:p>
          <a:p>
            <a:r>
              <a:rPr lang="zh-CN" altLang="en-US" dirty="0"/>
              <a:t>在系统整合和开发方面我们会和很多知名企业做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连接</a:t>
            </a:r>
            <a:r>
              <a:rPr lang="zh-CN" altLang="en-US" dirty="0"/>
              <a:t>，比如像微信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39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初步介绍完</a:t>
            </a:r>
            <a:r>
              <a:rPr lang="en-US" altLang="zh-CN" dirty="0" err="1"/>
              <a:t>kintone</a:t>
            </a:r>
            <a:r>
              <a:rPr lang="zh-CN" altLang="en-US" dirty="0"/>
              <a:t>之后我们就来实际体验一下。这里需要大家跟着我一起操作。</a:t>
            </a:r>
            <a:endParaRPr lang="en-US" altLang="zh-CN" dirty="0"/>
          </a:p>
          <a:p>
            <a:r>
              <a:rPr lang="zh-CN" altLang="en-US" dirty="0"/>
              <a:t>首先请大家登录到</a:t>
            </a:r>
            <a:r>
              <a:rPr lang="en-US" altLang="zh-CN" dirty="0"/>
              <a:t>kintone</a:t>
            </a:r>
            <a:r>
              <a:rPr lang="zh-CN" altLang="en-US" dirty="0"/>
              <a:t>的试用环境。</a:t>
            </a:r>
            <a:endParaRPr lang="en-US" altLang="zh-CN" dirty="0"/>
          </a:p>
          <a:p>
            <a:r>
              <a:rPr lang="zh-CN" altLang="en-US" dirty="0">
                <a:solidFill>
                  <a:schemeClr val="bg1"/>
                </a:solidFill>
                <a:latin typeface="+mn-ea"/>
              </a:rPr>
              <a:t>用户名和密码在</a:t>
            </a:r>
            <a:r>
              <a:rPr lang="zh-CN" altLang="en-US" dirty="0"/>
              <a:t>签到时分发的纸张上。</a:t>
            </a:r>
            <a:endParaRPr lang="en-US" altLang="zh-CN" dirty="0"/>
          </a:p>
          <a:p>
            <a:r>
              <a:rPr lang="zh-CN" altLang="en-US" dirty="0"/>
              <a:t>（等</a:t>
            </a:r>
            <a:r>
              <a:rPr lang="en-US" altLang="zh-CN" dirty="0"/>
              <a:t>2</a:t>
            </a:r>
            <a:r>
              <a:rPr lang="zh-CN" altLang="en-US" dirty="0"/>
              <a:t>分钟）</a:t>
            </a:r>
            <a:endParaRPr lang="en-US" altLang="zh-CN" dirty="0"/>
          </a:p>
          <a:p>
            <a:r>
              <a:rPr lang="zh-CN" altLang="en-US" dirty="0"/>
              <a:t>大家都登录好了吗？遇到困难的话请举手。</a:t>
            </a:r>
            <a:endParaRPr lang="en-US" altLang="zh-CN" dirty="0"/>
          </a:p>
          <a:p>
            <a:r>
              <a:rPr lang="zh-CN" altLang="en-US" dirty="0"/>
              <a:t>好，那我们现在就开始吧。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342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4BB968"/>
                </a:solidFill>
              </a:rPr>
              <a:t>登录</a:t>
            </a:r>
            <a:r>
              <a:rPr lang="en-US" altLang="zh-CN" sz="1200" b="0" dirty="0" err="1">
                <a:solidFill>
                  <a:srgbClr val="4BB968"/>
                </a:solidFill>
              </a:rPr>
              <a:t>kintone</a:t>
            </a:r>
            <a:r>
              <a:rPr lang="zh-CN" altLang="en-US" sz="1200" b="0" dirty="0">
                <a:solidFill>
                  <a:srgbClr val="4BB968"/>
                </a:solidFill>
              </a:rPr>
              <a:t>后大家可以看到的</a:t>
            </a:r>
            <a:r>
              <a:rPr lang="en-US" altLang="zh-CN" sz="1200" b="0" dirty="0" err="1">
                <a:solidFill>
                  <a:srgbClr val="4BB968"/>
                </a:solidFill>
              </a:rPr>
              <a:t>kintone</a:t>
            </a:r>
            <a:r>
              <a:rPr lang="zh-CN" altLang="en-US" sz="1200" b="0" dirty="0">
                <a:solidFill>
                  <a:srgbClr val="4BB968"/>
                </a:solidFill>
              </a:rPr>
              <a:t>的门户，也就是首页。</a:t>
            </a:r>
            <a:endParaRPr lang="en-US" altLang="zh-CN" sz="1200" b="0" dirty="0">
              <a:solidFill>
                <a:srgbClr val="4BB968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4BB968"/>
                </a:solidFill>
              </a:rPr>
              <a:t>左上角是导航条（激光笔）</a:t>
            </a:r>
            <a:endParaRPr lang="en-US" altLang="zh-CN" sz="1200" b="0" dirty="0">
              <a:solidFill>
                <a:srgbClr val="4BB968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4BB968"/>
                </a:solidFill>
              </a:rPr>
              <a:t>大家可以点击看看。</a:t>
            </a:r>
            <a:endParaRPr lang="en-US" altLang="zh-CN" sz="12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下面是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通知</a:t>
            </a:r>
            <a:r>
              <a:rPr lang="zh-CN" altLang="en-US" sz="1200" b="1" dirty="0">
                <a:solidFill>
                  <a:srgbClr val="4BB968"/>
                </a:solidFill>
              </a:rPr>
              <a:t>（激光笔）</a:t>
            </a:r>
            <a:r>
              <a:rPr lang="zh-CN" altLang="en-US" sz="1200" b="0" dirty="0">
                <a:solidFill>
                  <a:srgbClr val="4BB968"/>
                </a:solidFill>
              </a:rPr>
              <a:t>，这里有</a:t>
            </a:r>
            <a:r>
              <a:rPr lang="en-US" altLang="zh-CN" sz="1200" b="0" dirty="0">
                <a:solidFill>
                  <a:srgbClr val="4BB968"/>
                </a:solidFill>
              </a:rPr>
              <a:t>2</a:t>
            </a:r>
            <a:r>
              <a:rPr lang="zh-CN" altLang="en-US" sz="1200" b="0" dirty="0">
                <a:solidFill>
                  <a:srgbClr val="4BB968"/>
                </a:solidFill>
              </a:rPr>
              <a:t>个按钮可以点击切换已读未读的通知。</a:t>
            </a:r>
            <a:endParaRPr lang="en-US" altLang="zh-CN" sz="1200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右上角是</a:t>
            </a:r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个人设置</a:t>
            </a:r>
            <a:r>
              <a:rPr lang="zh-CN" altLang="en-US" sz="1200" b="1" dirty="0">
                <a:solidFill>
                  <a:srgbClr val="4BB968"/>
                </a:solidFill>
              </a:rPr>
              <a:t>（激光笔）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0" dirty="0">
                <a:solidFill>
                  <a:srgbClr val="4BB968"/>
                </a:solidFill>
              </a:rPr>
              <a:t>这个是</a:t>
            </a:r>
            <a:r>
              <a:rPr lang="zh-CN" altLang="en-US" sz="1200" b="1" dirty="0">
                <a:solidFill>
                  <a:srgbClr val="4BB968"/>
                </a:solidFill>
              </a:rPr>
              <a:t>搜索框（激光笔）</a:t>
            </a:r>
            <a:endParaRPr lang="en-US" altLang="zh-CN" sz="1200" b="1" dirty="0">
              <a:solidFill>
                <a:srgbClr val="4BB968"/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b="0" dirty="0">
                <a:solidFill>
                  <a:srgbClr val="4BB968"/>
                </a:solidFill>
              </a:rPr>
              <a:t>这里显示</a:t>
            </a:r>
            <a:r>
              <a:rPr lang="zh-CN" altLang="en-US" sz="1200" b="1" dirty="0">
                <a:solidFill>
                  <a:srgbClr val="4BB968"/>
                </a:solidFill>
              </a:rPr>
              <a:t>未处理的任务（激光笔）</a:t>
            </a:r>
            <a:endParaRPr lang="en-US" altLang="zh-CN" sz="1200" b="1" dirty="0">
              <a:solidFill>
                <a:srgbClr val="4BB968"/>
              </a:solidFill>
            </a:endParaRPr>
          </a:p>
          <a:p>
            <a:r>
              <a:rPr lang="zh-CN" altLang="en-US" sz="1200" b="0" dirty="0">
                <a:solidFill>
                  <a:srgbClr val="4BB968"/>
                </a:solidFill>
              </a:rPr>
              <a:t>下面是</a:t>
            </a:r>
            <a:r>
              <a:rPr lang="zh-CN" altLang="en-US" sz="1200" b="1" dirty="0">
                <a:solidFill>
                  <a:srgbClr val="4BB968"/>
                </a:solidFill>
              </a:rPr>
              <a:t>空间（激光笔）</a:t>
            </a:r>
            <a:r>
              <a:rPr lang="zh-CN" altLang="en-US" sz="1200" b="0" dirty="0">
                <a:solidFill>
                  <a:srgbClr val="4BB968"/>
                </a:solidFill>
              </a:rPr>
              <a:t>，我们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可以点击加号来创建空间，在空间内跟参加者交流和共享数据。等一下我们会具体讲一下。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空间下面是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应用</a:t>
            </a:r>
            <a:r>
              <a:rPr lang="zh-CN" altLang="en-US" sz="1200" b="1" dirty="0">
                <a:solidFill>
                  <a:srgbClr val="4BB968"/>
                </a:solidFill>
              </a:rPr>
              <a:t>（激光笔）</a:t>
            </a:r>
            <a:r>
              <a:rPr lang="zh-CN" altLang="en-US" sz="1200" b="0" dirty="0">
                <a:solidFill>
                  <a:srgbClr val="4BB968"/>
                </a:solidFill>
              </a:rPr>
              <a:t>，应用相当于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数据库，用于积累销售、客户、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等信息，并进行团队内共享。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dirty="0">
                <a:solidFill>
                  <a:srgbClr val="4BB968"/>
                </a:solidFill>
              </a:rPr>
              <a:t>同样也是点击加号来创建应用。</a:t>
            </a:r>
            <a:endParaRPr lang="en-US" altLang="zh-CN" sz="1200" b="0" dirty="0">
              <a:solidFill>
                <a:srgbClr val="4BB968"/>
              </a:solidFill>
            </a:endParaRPr>
          </a:p>
          <a:p>
            <a:endParaRPr lang="en-US" altLang="zh-CN" sz="1200" b="0" i="0" kern="1200" dirty="0">
              <a:solidFill>
                <a:srgbClr val="4BB968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现在我们来具体介绍一下空间，我们在试用环境中制作了一个叫做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销售部空间(可试用)"/>
              </a:rPr>
              <a:t>销售部空间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销售部空间(可试用)"/>
              </a:rPr>
              <a:t>(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销售部空间(可试用)"/>
              </a:rPr>
              <a:t>可试用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销售部空间(可试用)"/>
              </a:rPr>
              <a:t>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的空间，大家可以点进去试用一下。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601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界面的内容和门户差不多，有公告，主题，应用，用户等几大块。大家可以点进去看看。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30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好下面我来介绍一下应用的界面，这是一个应用的列表页面。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其中显示了各个字段和数据，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等下就来教大家怎么制作应用。</a:t>
            </a:r>
            <a:endParaRPr lang="en-US" altLang="zh-CN" sz="1200" b="0" dirty="0">
              <a:solidFill>
                <a:srgbClr val="4BB968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052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好，我们来点击首页应用旁的加号来创建应用吧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6696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创建应用有五种方法，我们选择从头开始创建。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417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点进去以后我们先看一下界面。</a:t>
            </a:r>
            <a:endParaRPr lang="en-US" altLang="zh-CN" dirty="0"/>
          </a:p>
          <a:p>
            <a:r>
              <a:rPr lang="zh-CN" altLang="en-US" dirty="0"/>
              <a:t>（激光笔）左边这个按钮点击开后是可以修改应用图标。</a:t>
            </a:r>
            <a:endParaRPr lang="en-US" altLang="zh-CN" dirty="0"/>
          </a:p>
          <a:p>
            <a:r>
              <a:rPr lang="zh-CN" altLang="en-US" dirty="0"/>
              <a:t>（激光笔）旁边是应用的名称。</a:t>
            </a:r>
            <a:endParaRPr lang="en-US" altLang="zh-CN" dirty="0"/>
          </a:p>
          <a:p>
            <a:r>
              <a:rPr lang="zh-CN" altLang="en-US" dirty="0"/>
              <a:t>（激光笔）下面是表单部分，也就是应用的项目。我们只要选择一个项目按住不放，拖动到右边框内，然后根据需要，摆放位置。</a:t>
            </a:r>
          </a:p>
          <a:p>
            <a:r>
              <a:rPr lang="zh-CN" altLang="en-US" dirty="0"/>
              <a:t>下面我们就要来设计这个应用。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461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大家把签到时分发给大家的文件夹打开，找到名为：动手制作应用的纸张。</a:t>
            </a:r>
          </a:p>
          <a:p>
            <a:r>
              <a:rPr lang="zh-CN" altLang="en-US" dirty="0"/>
              <a:t>我们看着这张示意图来一起创建应用。</a:t>
            </a:r>
          </a:p>
          <a:p>
            <a:endParaRPr lang="zh-CN" altLang="en-US" dirty="0"/>
          </a:p>
          <a:p>
            <a:r>
              <a:rPr lang="zh-CN" altLang="en-US" dirty="0"/>
              <a:t>首先我们看蓝色框叫标签的项目，一般标签都是作为标题来使用的。</a:t>
            </a:r>
          </a:p>
          <a:p>
            <a:r>
              <a:rPr lang="zh-CN" altLang="en-US" dirty="0"/>
              <a:t>鼠标点击一个标签按住不要放，拖动到右边空白处。</a:t>
            </a:r>
          </a:p>
          <a:p>
            <a:r>
              <a:rPr lang="zh-CN" altLang="en-US" dirty="0"/>
              <a:t>然后鼠标放在这个项目上，它的右上角出现了一个齿轮图标，把鼠标移动到齿轮上。这时就会出现三个按钮“设置”，“复制”，和“删除”。</a:t>
            </a:r>
          </a:p>
          <a:p>
            <a:r>
              <a:rPr lang="zh-CN" altLang="en-US" dirty="0"/>
              <a:t>我们选择“设置”，点击。</a:t>
            </a:r>
          </a:p>
          <a:p>
            <a:r>
              <a:rPr lang="zh-CN" altLang="en-US" dirty="0"/>
              <a:t>进入到标签的设置页面，我们把输入框内的文字修改为“顾客信息”。</a:t>
            </a:r>
          </a:p>
          <a:p>
            <a:r>
              <a:rPr lang="zh-CN" altLang="en-US" dirty="0"/>
              <a:t>然后可以对这些字进行美化。记得选中这些字再设置这些属性哦。好，点保存。那么这个标签的设置就完成了。</a:t>
            </a:r>
          </a:p>
          <a:p>
            <a:endParaRPr lang="zh-CN" altLang="en-US" dirty="0"/>
          </a:p>
          <a:p>
            <a:r>
              <a:rPr lang="zh-CN" altLang="en-US" dirty="0"/>
              <a:t>好，大家都完成了吗？哇，大家都好厉害！</a:t>
            </a:r>
          </a:p>
          <a:p>
            <a:r>
              <a:rPr lang="zh-CN" altLang="en-US" dirty="0"/>
              <a:t>那么按照这个方法我们把下面的“业务信息”和“活动记录”也设置一下。这些项目的位置我们可以先随意摆放，之后可以通过鼠标拖动的方式再调整位置。</a:t>
            </a:r>
          </a:p>
          <a:p>
            <a:r>
              <a:rPr lang="zh-CN" altLang="en-US" dirty="0"/>
              <a:t>设置好了吗？</a:t>
            </a:r>
          </a:p>
          <a:p>
            <a:endParaRPr lang="zh-CN" altLang="en-US" dirty="0"/>
          </a:p>
          <a:p>
            <a:r>
              <a:rPr lang="zh-CN" altLang="en-US" dirty="0"/>
              <a:t>我们来看橘黄色框的单行文本框。对于文字类的不用计算的项目就可以使用单行文本框。这里有</a:t>
            </a:r>
            <a:r>
              <a:rPr lang="en-US" altLang="zh-CN" dirty="0"/>
              <a:t>2</a:t>
            </a:r>
            <a:r>
              <a:rPr lang="zh-CN" altLang="en-US" dirty="0"/>
              <a:t>个，一个“公司名”，一个”负责人”。</a:t>
            </a:r>
          </a:p>
          <a:p>
            <a:r>
              <a:rPr lang="zh-CN" altLang="en-US" dirty="0"/>
              <a:t>方式和之前标签一样，鼠标按住单行文本框拖到右边空白处。这时我们可以调整下位置，让它在“顾客信息”的下面。更改设置。我们把字段名称改为“公司名”。然后点保存。</a:t>
            </a:r>
          </a:p>
          <a:p>
            <a:r>
              <a:rPr lang="zh-CN" altLang="en-US" dirty="0"/>
              <a:t>同样的我们再做一个“负责人”出来。</a:t>
            </a:r>
          </a:p>
          <a:p>
            <a:r>
              <a:rPr lang="zh-CN" altLang="en-US" dirty="0"/>
              <a:t>大家完成了吗？很好，我们接着看。</a:t>
            </a:r>
          </a:p>
          <a:p>
            <a:r>
              <a:rPr lang="zh-CN" altLang="en-US" dirty="0"/>
              <a:t>浅绿色是单选框，字段名称设置为“进度”，项目与顺序，我们需要三个选项，现在只有</a:t>
            </a:r>
            <a:r>
              <a:rPr lang="en-US" altLang="zh-CN" dirty="0"/>
              <a:t>2</a:t>
            </a:r>
            <a:r>
              <a:rPr lang="zh-CN" altLang="en-US" dirty="0"/>
              <a:t>个。我们要点击加号增加一个。三个选项分别填入“有意向”，“签约中”，“签约完成”。</a:t>
            </a:r>
          </a:p>
          <a:p>
            <a:r>
              <a:rPr lang="zh-CN" altLang="en-US" dirty="0"/>
              <a:t>最后点保存。</a:t>
            </a:r>
          </a:p>
          <a:p>
            <a:endParaRPr lang="zh-CN" altLang="en-US" dirty="0"/>
          </a:p>
          <a:p>
            <a:r>
              <a:rPr lang="zh-CN" altLang="en-US" dirty="0"/>
              <a:t>是不是越来越得心应手了呢？那我们再接再厉。</a:t>
            </a:r>
          </a:p>
          <a:p>
            <a:r>
              <a:rPr lang="zh-CN" altLang="en-US" dirty="0"/>
              <a:t>下一行是“单价”，“用户数”和“小计”。大家是不是发现了什么？对了，这</a:t>
            </a:r>
            <a:r>
              <a:rPr lang="en-US" altLang="zh-CN" dirty="0"/>
              <a:t>3</a:t>
            </a:r>
            <a:r>
              <a:rPr lang="zh-CN" altLang="en-US" dirty="0"/>
              <a:t>个的值应该都是数字。所以我们先找到浅紫色框的数值，先拖动一个，设置它的字段名称为单价。先不要急着点保存哦。</a:t>
            </a:r>
          </a:p>
          <a:p>
            <a:r>
              <a:rPr lang="zh-CN" altLang="en-US" dirty="0"/>
              <a:t>在设置页的最下面，我们还需要设置它的字段代码。点击编辑图标，改为：单价</a:t>
            </a:r>
            <a:r>
              <a:rPr lang="en-US" altLang="zh-CN" dirty="0"/>
              <a:t>code</a:t>
            </a:r>
            <a:r>
              <a:rPr lang="zh-CN" altLang="en-US" dirty="0"/>
              <a:t>。保存。</a:t>
            </a:r>
          </a:p>
          <a:p>
            <a:r>
              <a:rPr lang="zh-CN" altLang="en-US" dirty="0"/>
              <a:t>再来一个数值，同样字段名称改为“用户数”，字段代码改为“用户数</a:t>
            </a:r>
            <a:r>
              <a:rPr lang="en-US" altLang="zh-CN" dirty="0"/>
              <a:t>code”</a:t>
            </a:r>
            <a:r>
              <a:rPr lang="zh-CN" altLang="en-US" dirty="0"/>
              <a:t>，保存。</a:t>
            </a:r>
          </a:p>
          <a:p>
            <a:endParaRPr lang="zh-CN" altLang="en-US" dirty="0"/>
          </a:p>
          <a:p>
            <a:r>
              <a:rPr lang="zh-CN" altLang="en-US" dirty="0"/>
              <a:t>下面我们着重讲一下浅蓝色框的计算，计算是会根据计算公式自动计算的一个项目。这里的小计应该是“单价”乘“用户数”的结果。</a:t>
            </a:r>
          </a:p>
          <a:p>
            <a:r>
              <a:rPr lang="zh-CN" altLang="en-US" dirty="0"/>
              <a:t>所以我们用单价的字段代码乘用户数的字段代码来表达。点开设置，字段名称改为“小计”。下面的计算公式填入：单价</a:t>
            </a:r>
            <a:r>
              <a:rPr lang="en-US" altLang="zh-CN" dirty="0"/>
              <a:t>code</a:t>
            </a:r>
            <a:r>
              <a:rPr lang="zh-CN" altLang="en-US" dirty="0"/>
              <a:t>，星号，表示乘，用户数</a:t>
            </a:r>
            <a:r>
              <a:rPr lang="en-US" altLang="zh-CN" dirty="0"/>
              <a:t>code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（等</a:t>
            </a:r>
            <a:r>
              <a:rPr lang="en-US" altLang="zh-CN" dirty="0"/>
              <a:t>1</a:t>
            </a:r>
            <a:r>
              <a:rPr lang="zh-CN" altLang="en-US" dirty="0"/>
              <a:t>分钟）</a:t>
            </a:r>
          </a:p>
          <a:p>
            <a:r>
              <a:rPr lang="zh-CN" altLang="en-US" dirty="0"/>
              <a:t>大家设置好了吗？点保存。这样这个计算项目就设置好了。计算项目对公司那些需要计算的业务帮助很大，可以减少很多人工计算的时间以及人工计算错误带来的损失。</a:t>
            </a:r>
          </a:p>
          <a:p>
            <a:endParaRPr lang="zh-CN" altLang="en-US" dirty="0"/>
          </a:p>
          <a:p>
            <a:r>
              <a:rPr lang="zh-CN" altLang="en-US" dirty="0"/>
              <a:t>好了，这个应用马上要完成了。现在是最后一项，我们要设置一个表格。</a:t>
            </a:r>
          </a:p>
          <a:p>
            <a:r>
              <a:rPr lang="zh-CN" altLang="en-US" dirty="0"/>
              <a:t>这个表格包含了</a:t>
            </a:r>
            <a:r>
              <a:rPr lang="en-US" altLang="zh-CN" dirty="0"/>
              <a:t>2</a:t>
            </a:r>
            <a:r>
              <a:rPr lang="zh-CN" altLang="en-US" dirty="0"/>
              <a:t>个项目，一个是日期项目，我们把字段名称改为活动日期。</a:t>
            </a:r>
          </a:p>
          <a:p>
            <a:r>
              <a:rPr lang="zh-CN" altLang="en-US" dirty="0"/>
              <a:t>另一个是下拉菜单项目，字段名称是活动内容。项目与顺序，我们可以分别填入拜访，电话，邮件三个项目。</a:t>
            </a:r>
          </a:p>
          <a:p>
            <a:r>
              <a:rPr lang="zh-CN" altLang="en-US" dirty="0"/>
              <a:t>设置好后记得这</a:t>
            </a:r>
            <a:r>
              <a:rPr lang="en-US" altLang="zh-CN" dirty="0"/>
              <a:t>2</a:t>
            </a:r>
            <a:r>
              <a:rPr lang="zh-CN" altLang="en-US" dirty="0"/>
              <a:t>个项目一定要放在同一行哦。</a:t>
            </a:r>
          </a:p>
          <a:p>
            <a:endParaRPr lang="zh-CN" altLang="en-US" dirty="0"/>
          </a:p>
          <a:p>
            <a:r>
              <a:rPr lang="zh-CN" altLang="en-US" dirty="0"/>
              <a:t>好，这些做完以后我们就要把它们合并成一个表格内的项目了。</a:t>
            </a:r>
          </a:p>
          <a:p>
            <a:r>
              <a:rPr lang="zh-CN" altLang="en-US" dirty="0"/>
              <a:t>鼠标移动到这一行，在最右边大家有没有看到一个像表格一样的图标。移动到这个图标上，出现了设置的字样。点设置。</a:t>
            </a:r>
          </a:p>
          <a:p>
            <a:r>
              <a:rPr lang="zh-CN" altLang="en-US" dirty="0"/>
              <a:t>进入设置页面，点击“将此行设为表格”，点保存。这个时候，这</a:t>
            </a:r>
            <a:r>
              <a:rPr lang="en-US" altLang="zh-CN" dirty="0"/>
              <a:t>2</a:t>
            </a:r>
            <a:r>
              <a:rPr lang="zh-CN" altLang="en-US" dirty="0"/>
              <a:t>个项目就合并变成同一个表格的项目了。</a:t>
            </a:r>
          </a:p>
          <a:p>
            <a:r>
              <a:rPr lang="zh-CN" altLang="en-US" dirty="0"/>
              <a:t>最后我们点一下左边绿色的“保存表单”按钮。到这里，整个表单就完成了。</a:t>
            </a:r>
          </a:p>
          <a:p>
            <a:endParaRPr lang="zh-CN" altLang="en-US" dirty="0"/>
          </a:p>
          <a:p>
            <a:r>
              <a:rPr lang="zh-CN" altLang="en-US" dirty="0"/>
              <a:t>因为本次学习会大家使用的是同一个试用环境，为了之后大家做的应用不混淆，最后我们来设置一下权限。</a:t>
            </a:r>
          </a:p>
          <a:p>
            <a:r>
              <a:rPr lang="zh-CN" altLang="en-US" dirty="0"/>
              <a:t>点击设置，点击应用，</a:t>
            </a:r>
          </a:p>
          <a:p>
            <a:r>
              <a:rPr lang="zh-CN" altLang="en-US" dirty="0"/>
              <a:t>这里有个“</a:t>
            </a:r>
            <a:r>
              <a:rPr lang="en-US" altLang="zh-CN" dirty="0"/>
              <a:t>everyone</a:t>
            </a:r>
            <a:r>
              <a:rPr lang="zh-CN" altLang="en-US" dirty="0"/>
              <a:t>用户”，我们它那条打勾的权限都取消，这里是把“查看记录”和“添加记录”取消。然后按“保存”。</a:t>
            </a:r>
          </a:p>
          <a:p>
            <a:r>
              <a:rPr lang="zh-CN" altLang="en-US" dirty="0"/>
              <a:t>这样这个应用就只有管理员和制作这个应用的用户才能看到。</a:t>
            </a:r>
          </a:p>
          <a:p>
            <a:endParaRPr lang="zh-CN" altLang="en-US" dirty="0"/>
          </a:p>
          <a:p>
            <a:r>
              <a:rPr lang="zh-CN" altLang="en-US" dirty="0"/>
              <a:t>最后我们修改下应用名称：业务管理。然后点公开应用。到这里，这个应用就生成了。是不是很简单？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添加数据</a:t>
            </a:r>
          </a:p>
          <a:p>
            <a:endParaRPr lang="zh-CN" altLang="en-US" dirty="0"/>
          </a:p>
          <a:p>
            <a:r>
              <a:rPr lang="zh-CN" altLang="en-US" dirty="0"/>
              <a:t>应用创建完成后会显示这个应用的列表页面，现在我们需要添加数据。点击加号。</a:t>
            </a:r>
          </a:p>
          <a:p>
            <a:endParaRPr lang="zh-CN" altLang="en-US" dirty="0"/>
          </a:p>
          <a:p>
            <a:r>
              <a:rPr lang="zh-CN" altLang="en-US" dirty="0"/>
              <a:t>我们来模拟一条客户信息。</a:t>
            </a:r>
          </a:p>
          <a:p>
            <a:r>
              <a:rPr lang="zh-CN" altLang="en-US" dirty="0"/>
              <a:t>填写的内容我们之后会用到，所以请尽量填写看上去比较真实的内容。</a:t>
            </a:r>
          </a:p>
          <a:p>
            <a:r>
              <a:rPr lang="zh-CN" altLang="en-US" dirty="0"/>
              <a:t>公司名和负责人尽量用文字，单价和用户数只能填写数值。</a:t>
            </a:r>
          </a:p>
          <a:p>
            <a:r>
              <a:rPr lang="zh-CN" altLang="en-US" dirty="0"/>
              <a:t>这里我模拟公司名是才望子。</a:t>
            </a:r>
          </a:p>
          <a:p>
            <a:r>
              <a:rPr lang="zh-CN" altLang="en-US" dirty="0"/>
              <a:t>填写完内容后点击保存。</a:t>
            </a:r>
          </a:p>
          <a:p>
            <a:endParaRPr lang="zh-CN" altLang="en-US" dirty="0"/>
          </a:p>
          <a:p>
            <a:r>
              <a:rPr lang="zh-CN" altLang="en-US" dirty="0"/>
              <a:t>时间关系我们就先添加这一条数据，课后大家可以再多加几条试试看。</a:t>
            </a:r>
          </a:p>
          <a:p>
            <a:r>
              <a:rPr lang="zh-CN" altLang="en-US" dirty="0"/>
              <a:t>这里在列表画面中点击这个“笔”也能对数据进行编辑。试试看。</a:t>
            </a:r>
          </a:p>
          <a:p>
            <a:r>
              <a:rPr lang="zh-CN" altLang="en-US" dirty="0"/>
              <a:t>就这样，一个应用就算彻底创建完成了。</a:t>
            </a:r>
          </a:p>
          <a:p>
            <a:r>
              <a:rPr lang="zh-CN" altLang="en-US" dirty="0"/>
              <a:t>切换到</a:t>
            </a:r>
            <a:r>
              <a:rPr lang="en-US" altLang="zh-CN" dirty="0"/>
              <a:t>PPT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8740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我们来看看怎么设置控件。看一下标签，拖动标签到右边放置处，鼠标放在控件上，选择设置，然后修改名称以及设置字体样式就可以了。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81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下拉菜单字段名称可以叫“活动内容”，内容可以填</a:t>
            </a:r>
            <a:r>
              <a:rPr lang="en-US" altLang="zh-CN" dirty="0"/>
              <a:t>2</a:t>
            </a:r>
            <a:r>
              <a:rPr lang="zh-CN" altLang="en-US" dirty="0"/>
              <a:t>到</a:t>
            </a:r>
            <a:r>
              <a:rPr lang="en-US" altLang="zh-CN" dirty="0"/>
              <a:t>3</a:t>
            </a:r>
            <a:r>
              <a:rPr lang="zh-CN" altLang="en-US" dirty="0"/>
              <a:t>个。比如拜访，电话，邮件等等。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77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再来看看公司名这个单行文本框。这里就要着重看</a:t>
            </a:r>
            <a:r>
              <a:rPr lang="en-US" altLang="zh-CN" dirty="0"/>
              <a:t>2</a:t>
            </a:r>
            <a:r>
              <a:rPr lang="zh-CN" altLang="en-US" dirty="0"/>
              <a:t>个值。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989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这里着重讲一下计算，计算是会根据计算公式自动计算的一个项目，在应用里这个项目是被禁止编辑的。所以我们要设置计算公式。</a:t>
            </a:r>
            <a:endParaRPr lang="en-US" altLang="zh-CN" dirty="0"/>
          </a:p>
          <a:p>
            <a:r>
              <a:rPr lang="zh-CN" altLang="en-US" dirty="0"/>
              <a:t>这里的小计是“单价”乘“用户数”的结果。所以我们用单价的字段代码乘用户数的字段代码来表达。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16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现在来看一下表格的设置。在同一行的控件，我们只要把鼠标放在这一行的最右边就会出现一个表格设置的图标，点击这个图标就可以设置表格了。</a:t>
            </a:r>
            <a:endParaRPr lang="en-US" altLang="zh-CN" dirty="0"/>
          </a:p>
          <a:p>
            <a:r>
              <a:rPr lang="zh-CN" altLang="en-US" dirty="0"/>
              <a:t>这里会提示你一旦组合成表格就无法复原了。点击设为表格后可进行字段代码的修改。</a:t>
            </a:r>
            <a:endParaRPr lang="en-US" altLang="zh-CN" dirty="0"/>
          </a:p>
          <a:p>
            <a:r>
              <a:rPr lang="zh-CN" altLang="en-US" dirty="0"/>
              <a:t>设置为表格的字段行标题部分会变成蓝底白色。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085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设置完表单记得按一下保存表单。然后我们需要设置一下权限。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304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点击应用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095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</a:t>
            </a:r>
            <a:r>
              <a:rPr lang="en-US" altLang="zh-CN" dirty="0"/>
              <a:t>everyone</a:t>
            </a:r>
            <a:r>
              <a:rPr lang="zh-CN" altLang="en-US" dirty="0"/>
              <a:t>用户我们把“查看记录”和“添加记录”取消。然后按“保存”。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735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再来修改一下名称，可以叫业务管理。最后点公开应用，这个应用就创建完成了。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022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应用创建完成后会显示这个应用的列表页面，现在我们需要添加数据。点击加号。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8455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我们来模拟一条客户信息。</a:t>
            </a:r>
            <a:endParaRPr lang="en-US" altLang="zh-CN" dirty="0"/>
          </a:p>
          <a:p>
            <a:r>
              <a:rPr lang="zh-CN" altLang="en-US" dirty="0"/>
              <a:t>填写的内容我们之后会用到，所以请尽量填写看上去比较真实的内容。</a:t>
            </a:r>
            <a:endParaRPr lang="en-US" altLang="zh-CN" dirty="0"/>
          </a:p>
          <a:p>
            <a:r>
              <a:rPr lang="zh-CN" altLang="en-US" dirty="0"/>
              <a:t>公司名和负责人尽量用文字，单价和用户数只能填写数值。</a:t>
            </a:r>
            <a:endParaRPr lang="en-US" altLang="zh-CN" dirty="0"/>
          </a:p>
          <a:p>
            <a:r>
              <a:rPr lang="zh-CN" altLang="en-US" dirty="0"/>
              <a:t>这里我模拟公司名是才望子。</a:t>
            </a:r>
            <a:endParaRPr lang="en-US" altLang="zh-CN" dirty="0"/>
          </a:p>
          <a:p>
            <a:r>
              <a:rPr lang="zh-CN" altLang="en-US" dirty="0"/>
              <a:t>填写完内容后点击保存。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042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这样添加数据就完成了。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680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然后我们按照这个流程添加了</a:t>
            </a:r>
            <a:r>
              <a:rPr lang="en-US" altLang="zh-CN" dirty="0"/>
              <a:t>4</a:t>
            </a:r>
            <a:r>
              <a:rPr lang="zh-CN" altLang="en-US" dirty="0"/>
              <a:t>条数据。</a:t>
            </a:r>
            <a:endParaRPr lang="en-US" altLang="zh-CN" dirty="0"/>
          </a:p>
          <a:p>
            <a:r>
              <a:rPr lang="zh-CN" altLang="en-US" dirty="0"/>
              <a:t>在列表画面中也能对数据进行编辑，点击按钮“笔”。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3219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0793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我们来把它的说明看一下。（激光笔，一边读一边演示，读完）</a:t>
            </a:r>
            <a:endParaRPr lang="en-US" altLang="zh-CN" dirty="0"/>
          </a:p>
          <a:p>
            <a:r>
              <a:rPr lang="zh-CN" altLang="en-US" dirty="0"/>
              <a:t>说的简单一些就是让</a:t>
            </a:r>
            <a:r>
              <a:rPr lang="en-US" altLang="zh-CN" dirty="0"/>
              <a:t>2</a:t>
            </a:r>
            <a:r>
              <a:rPr lang="zh-CN" altLang="en-US" dirty="0"/>
              <a:t>个应用之间存在联系。在一个应用的记录中可以看到另外一个应用中的记录。</a:t>
            </a:r>
            <a:endParaRPr lang="en-US" altLang="zh-CN" dirty="0"/>
          </a:p>
          <a:p>
            <a:r>
              <a:rPr lang="zh-CN" altLang="en-US" dirty="0"/>
              <a:t>看示意图，这是一个客户信息，这是一个销售管理表。</a:t>
            </a:r>
            <a:endParaRPr lang="en-US" altLang="zh-CN" dirty="0"/>
          </a:p>
          <a:p>
            <a:r>
              <a:rPr lang="zh-CN" altLang="en-US" dirty="0"/>
              <a:t>通过关联记录列表，和这个客户相关的销售信息就会显示在客户信息内。这里“同一客户的案件”就是关联记录列表。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大家听了是不是还有些不明白呢？那我们就来实际操作一下。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1157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现在我们要</a:t>
            </a:r>
            <a:r>
              <a:rPr lang="zh-CN" altLang="en-US" sz="1200" dirty="0"/>
              <a:t>创建一个叫“客户列表”的应用，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然后让它和之前</a:t>
            </a:r>
            <a:r>
              <a:rPr lang="zh-CN" altLang="en-US" sz="1200" dirty="0"/>
              <a:t>做的“业务管理”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</a:t>
            </a:r>
            <a:r>
              <a:rPr lang="zh-CN" altLang="en-US" sz="1200" dirty="0"/>
              <a:t>“关联记录列表”关联起来。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这个应用很简单，我们只需要</a:t>
            </a:r>
            <a:r>
              <a:rPr lang="en-US" altLang="zh-CN" sz="1200" dirty="0"/>
              <a:t>2</a:t>
            </a:r>
            <a:r>
              <a:rPr lang="zh-CN" altLang="en-US" sz="1200" dirty="0"/>
              <a:t>个项目，一个是单行文本框，另一个是就是“关联记录列表”。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我们回到门户页，找到应用这个地方，和之前操作一样点加号。选择从头开始创建。</a:t>
            </a:r>
            <a:endParaRPr lang="en-US" altLang="zh-CN" sz="1200" dirty="0"/>
          </a:p>
          <a:p>
            <a:r>
              <a:rPr lang="zh-CN" altLang="en-US" sz="1200" dirty="0"/>
              <a:t>拖动一个单行文本框，字段名称改为“公司名”，保存。</a:t>
            </a:r>
            <a:endParaRPr lang="en-US" altLang="zh-CN" sz="1200" dirty="0"/>
          </a:p>
          <a:p>
            <a:r>
              <a:rPr lang="zh-CN" altLang="en-US" sz="1200" dirty="0"/>
              <a:t>在拖动一个“关联记录列表”。</a:t>
            </a:r>
            <a:endParaRPr lang="en-US" altLang="zh-CN" sz="1200" dirty="0"/>
          </a:p>
          <a:p>
            <a:r>
              <a:rPr lang="zh-CN" altLang="en-US" sz="1200" dirty="0"/>
              <a:t>大家都拖动好了吗？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嗯，现在大家都好快啊。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好，鼠标放在“关联记录列表”上，移动到“齿轮”图标后选择“设置”。</a:t>
            </a:r>
            <a:endParaRPr lang="en-US" altLang="zh-CN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399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现在我们来设置关联记录列表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8744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点击“设置”，弹出这个窗口。字段名称我们可以叫：业务管理关联记录列表</a:t>
            </a:r>
            <a:endParaRPr lang="en-US" altLang="zh-CN" dirty="0"/>
          </a:p>
          <a:p>
            <a:r>
              <a:rPr lang="zh-CN" altLang="en-US" dirty="0"/>
              <a:t>“要引用的应用”我们选择之前做的“业务管理”。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“设置要显示的记录”，前一个下拉框内显示的是本应用中的字段名称。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后面一个下拉框内显示的是“要引用的应用”的字段名称，也就是业务管理的的字段名称。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大家可以先随便选一选，会发现其实很智能，后一个下拉框的内容会根据前一个内容变化而变化，主要是根据他们的字段的属性。比如前一个是数值后一个也会出现是数值的字段。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这里我们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个下拉框都选择“公司名”。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“要显示的字段”，这里下拉框内显示的字段都是“业务管理”应用的。大家可以按加号多添加几条。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（等</a:t>
            </a:r>
            <a:r>
              <a:rPr lang="en-US" altLang="zh-CN" dirty="0"/>
              <a:t>2</a:t>
            </a:r>
            <a:r>
              <a:rPr lang="zh-CN" altLang="en-US" dirty="0"/>
              <a:t>分钟）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大家都设置完了吗？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以上设置的内容的意思是（激光笔）：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我要和“业务管理”这个应用相关联。只要当它们的“公司名”这个字段内的数据相同时，在这个“客户列表”应用中，显示以下“业务管理”应用的字段数据。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如果有疑问可以举手。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好，设置完成点“保存” 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5298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设置完关联记录列表后还需要设置权限，然后修改应用名称为：客户列表，最后公开应用。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887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和之前那个应用一样，我们需要添加数据。点加号。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0108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我们看到只能添加公司名，下面的“业务管理关联记录列表”无法编辑。</a:t>
            </a:r>
            <a:endParaRPr lang="en-US" altLang="zh-CN" dirty="0"/>
          </a:p>
          <a:p>
            <a:r>
              <a:rPr lang="zh-CN" altLang="en-US" dirty="0"/>
              <a:t>我们来填一下公司名，先随便填一个，比如叫“阿里巴巴”，点保存。</a:t>
            </a:r>
            <a:endParaRPr lang="en-US" altLang="zh-CN" dirty="0"/>
          </a:p>
          <a:p>
            <a:r>
              <a:rPr lang="zh-CN" altLang="en-US" dirty="0"/>
              <a:t>诶？怎么“业务管理关联记录列表”显示的是“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暂无符合条件的记录。”这和我期望的不一样啊。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大家知道怎么能让它显示出来记录呢？（看看大家，看有没有人回答）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非常好，这位同学说的很对。大家记不记得前面我们在设置</a:t>
            </a:r>
            <a:r>
              <a:rPr lang="zh-CN" altLang="en-US" dirty="0"/>
              <a:t>关联记录列表里填的内容（打开关联记录列表设置页面），就是当</a:t>
            </a:r>
            <a:r>
              <a:rPr lang="en-US" altLang="zh-CN" dirty="0"/>
              <a:t>2</a:t>
            </a:r>
            <a:r>
              <a:rPr lang="zh-CN" altLang="en-US" dirty="0"/>
              <a:t>个应用的“公司名”的数据相同时，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才能在</a:t>
            </a:r>
            <a:r>
              <a:rPr lang="zh-CN" altLang="en-US" dirty="0"/>
              <a:t>“业务管理关联记录列表”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显示出相关的数据。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所以我们修改一下，之前我在</a:t>
            </a:r>
            <a:r>
              <a:rPr lang="zh-CN" altLang="en-US" dirty="0"/>
              <a:t>“业务管理”应用填了条数据，公司名我写了“才望子”。好，保存。</a:t>
            </a:r>
            <a:endParaRPr lang="en-US" altLang="zh-CN" dirty="0"/>
          </a:p>
          <a:p>
            <a:r>
              <a:rPr lang="zh-CN" altLang="en-US" dirty="0"/>
              <a:t>看，现在数据就出来了，是不是很神奇！</a:t>
            </a:r>
            <a:endParaRPr lang="en-US" altLang="zh-CN" dirty="0"/>
          </a:p>
          <a:p>
            <a:r>
              <a:rPr lang="zh-CN" altLang="en-US" dirty="0"/>
              <a:t>大家有没有成功呢？</a:t>
            </a:r>
            <a:endParaRPr lang="en-US" altLang="zh-CN" dirty="0"/>
          </a:p>
          <a:p>
            <a:r>
              <a:rPr lang="zh-CN" altLang="en-US" dirty="0"/>
              <a:t>（等</a:t>
            </a:r>
            <a:r>
              <a:rPr lang="en-US" altLang="zh-CN" dirty="0"/>
              <a:t>2</a:t>
            </a:r>
            <a:r>
              <a:rPr lang="zh-CN" altLang="en-US" dirty="0"/>
              <a:t>分钟）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460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创建记录。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9903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只要是在客户列表的设置页面关联业务管理，设置好关联字段，那么</a:t>
            </a:r>
            <a:r>
              <a:rPr lang="en-US" altLang="zh-CN" dirty="0"/>
              <a:t>2</a:t>
            </a:r>
            <a:r>
              <a:rPr lang="zh-CN" altLang="en-US" dirty="0"/>
              <a:t>个表就能关联起来了。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11185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205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谢谢大家，我们上半场的学习会就到这里。</a:t>
            </a:r>
            <a:endParaRPr lang="en-US" altLang="zh-CN" dirty="0"/>
          </a:p>
          <a:p>
            <a:r>
              <a:rPr lang="zh-CN" altLang="en-US" dirty="0"/>
              <a:t>大家有兴趣的话可以扫一下我们的二维码，第一个是我们</a:t>
            </a:r>
            <a:r>
              <a:rPr lang="en-US" altLang="zh-CN" dirty="0" err="1"/>
              <a:t>cybozu</a:t>
            </a:r>
            <a:r>
              <a:rPr lang="zh-CN" altLang="en-US" dirty="0"/>
              <a:t>开发者网站的，第二个是</a:t>
            </a:r>
            <a:r>
              <a:rPr lang="en-US" altLang="zh-CN" dirty="0" err="1"/>
              <a:t>cybozu</a:t>
            </a:r>
            <a:r>
              <a:rPr lang="zh-CN" altLang="en-US" dirty="0"/>
              <a:t>开发者网站的微信公众号，第三个是</a:t>
            </a:r>
            <a:r>
              <a:rPr lang="en-US" altLang="zh-CN" dirty="0" err="1"/>
              <a:t>kintone</a:t>
            </a:r>
            <a:r>
              <a:rPr lang="zh-CN" altLang="en-US" dirty="0"/>
              <a:t>的官网。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之后的学习会是教大家如何定制</a:t>
            </a:r>
            <a:r>
              <a:rPr lang="en-US" altLang="zh-CN" dirty="0" err="1"/>
              <a:t>kintone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461BB-BB29-447B-86E6-652C097B04C1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739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 rot="5400000">
            <a:off x="1790966" y="425408"/>
            <a:ext cx="2028376" cy="1177563"/>
          </a:xfrm>
          <a:custGeom>
            <a:avLst/>
            <a:gdLst/>
            <a:ahLst/>
            <a:cxnLst/>
            <a:rect l="l" t="t" r="r" b="b"/>
            <a:pathLst>
              <a:path w="2028376" h="1177563">
                <a:moveTo>
                  <a:pt x="0" y="1177563"/>
                </a:moveTo>
                <a:lnTo>
                  <a:pt x="0" y="0"/>
                </a:lnTo>
                <a:lnTo>
                  <a:pt x="2028376" y="0"/>
                </a:lnTo>
                <a:cubicBezTo>
                  <a:pt x="1624320" y="702037"/>
                  <a:pt x="867468" y="1174384"/>
                  <a:pt x="0" y="1177563"/>
                </a:cubicBezTo>
                <a:close/>
              </a:path>
            </a:pathLst>
          </a:custGeom>
          <a:solidFill>
            <a:srgbClr val="BF34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7"/>
          <p:cNvSpPr/>
          <p:nvPr userDrawn="1"/>
        </p:nvSpPr>
        <p:spPr>
          <a:xfrm rot="5400000">
            <a:off x="2809827" y="584110"/>
            <a:ext cx="2346109" cy="1177890"/>
          </a:xfrm>
          <a:custGeom>
            <a:avLst/>
            <a:gdLst/>
            <a:ahLst/>
            <a:cxnLst/>
            <a:rect l="l" t="t" r="r" b="b"/>
            <a:pathLst>
              <a:path w="2346109" h="1177890">
                <a:moveTo>
                  <a:pt x="0" y="1177890"/>
                </a:moveTo>
                <a:lnTo>
                  <a:pt x="0" y="0"/>
                </a:lnTo>
                <a:lnTo>
                  <a:pt x="2346109" y="0"/>
                </a:lnTo>
                <a:cubicBezTo>
                  <a:pt x="2346109" y="429552"/>
                  <a:pt x="2231144" y="832251"/>
                  <a:pt x="2028377" y="1177890"/>
                </a:cubicBezTo>
                <a:close/>
              </a:path>
            </a:pathLst>
          </a:cu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12"/>
          <p:cNvSpPr/>
          <p:nvPr userDrawn="1"/>
        </p:nvSpPr>
        <p:spPr>
          <a:xfrm rot="5400000">
            <a:off x="5324309" y="425407"/>
            <a:ext cx="2028375" cy="1177562"/>
          </a:xfrm>
          <a:custGeom>
            <a:avLst/>
            <a:gdLst/>
            <a:ahLst/>
            <a:cxnLst/>
            <a:rect l="l" t="t" r="r" b="b"/>
            <a:pathLst>
              <a:path w="2028375" h="1177562">
                <a:moveTo>
                  <a:pt x="0" y="1177562"/>
                </a:moveTo>
                <a:lnTo>
                  <a:pt x="0" y="0"/>
                </a:lnTo>
                <a:cubicBezTo>
                  <a:pt x="867468" y="3179"/>
                  <a:pt x="1624319" y="475526"/>
                  <a:pt x="2028375" y="1177562"/>
                </a:cubicBezTo>
                <a:close/>
              </a:path>
            </a:pathLst>
          </a:custGeom>
          <a:solidFill>
            <a:srgbClr val="1A7B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13"/>
          <p:cNvSpPr/>
          <p:nvPr userDrawn="1"/>
        </p:nvSpPr>
        <p:spPr>
          <a:xfrm rot="5400000">
            <a:off x="3987408" y="584418"/>
            <a:ext cx="2346724" cy="1177890"/>
          </a:xfrm>
          <a:custGeom>
            <a:avLst/>
            <a:gdLst/>
            <a:ahLst/>
            <a:cxnLst/>
            <a:rect l="l" t="t" r="r" b="b"/>
            <a:pathLst>
              <a:path w="2346724" h="1177890">
                <a:moveTo>
                  <a:pt x="0" y="1177890"/>
                </a:moveTo>
                <a:lnTo>
                  <a:pt x="0" y="0"/>
                </a:lnTo>
                <a:lnTo>
                  <a:pt x="2028990" y="0"/>
                </a:lnTo>
                <a:cubicBezTo>
                  <a:pt x="2231759" y="345641"/>
                  <a:pt x="2346724" y="748340"/>
                  <a:pt x="2346724" y="1177890"/>
                </a:cubicBezTo>
                <a:close/>
              </a:path>
            </a:pathLst>
          </a:custGeom>
          <a:solidFill>
            <a:srgbClr val="95BC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 userDrawn="1"/>
        </p:nvSpPr>
        <p:spPr>
          <a:xfrm>
            <a:off x="2074528" y="-2513200"/>
            <a:ext cx="4994940" cy="4994940"/>
          </a:xfrm>
          <a:prstGeom prst="arc">
            <a:avLst>
              <a:gd name="adj1" fmla="val 3404"/>
              <a:gd name="adj2" fmla="val 10819516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4493240" y="2414232"/>
            <a:ext cx="157518" cy="1575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845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28E05036-268D-45F3-B09D-CC67008DF79E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732CD06-1B1F-414B-B4FE-31E1F85B81F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FB4022A-BBFC-42BA-B5AD-219EDFE7BE49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350168-D733-40F3-8008-C1E3A15A97FC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6EE83656-7932-4486-84C9-E7CE3178D44D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C8A92E5-160A-463C-8A42-C2B4DDA97872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06735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BCB39C-B571-4FAE-AD83-3C56671202CF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E09FD10D-B83E-489C-A23D-83BB085930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AF6F023-3388-4DFA-B290-C08530C2CFB5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C954331-23A4-4B71-A4CB-58B1F761A477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F887FB-4A05-40F2-A212-D4E163B2F8C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D86D66A-0081-4E9F-9DEC-63BDA23E871F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6189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D591B4-D3C2-48BA-B84E-42133E130F72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FFD7933-5AEB-4EFB-A137-E299B9E87D8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6A58BA5-38FD-490E-A4EB-EC85AEDC0EB7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2661083-F71D-42F6-8583-D032B2B57F46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282CFF8-2478-4E96-B97A-86F5169648A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E8EC397-24B0-47A1-9741-70B5CBE3E78E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646686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F00FBC38-9EA5-485D-82C7-D310F88722B0}"/>
              </a:ext>
            </a:extLst>
          </p:cNvPr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3593B03-534B-4CEE-B9DF-8D7E5B7F199E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83AB6E9-C55F-42A0-B182-C067CCAD9993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61D2D8B-4DA7-486F-859B-FBEF371BD3E9}"/>
              </a:ext>
            </a:extLst>
          </p:cNvPr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C444A7A-FFB8-4BB2-A6C6-6C92F19DCAD8}"/>
                </a:ext>
              </a:extLst>
            </p:cNvPr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F52FA3-F5FE-4DE5-8F3D-54EB048B3C4C}"/>
                </a:ext>
              </a:extLst>
            </p:cNvPr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727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81524" y="0"/>
            <a:ext cx="105725" cy="721610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105725" cy="180402"/>
            <a:chOff x="281524" y="0"/>
            <a:chExt cx="105725" cy="721610"/>
          </a:xfrm>
          <a:solidFill>
            <a:srgbClr val="FDA907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62C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连接符 7"/>
          <p:cNvCxnSpPr/>
          <p:nvPr userDrawn="1"/>
        </p:nvCxnSpPr>
        <p:spPr>
          <a:xfrm>
            <a:off x="521550" y="681540"/>
            <a:ext cx="351039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14891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61510" y="0"/>
            <a:ext cx="225739" cy="721610"/>
            <a:chOff x="161510" y="0"/>
            <a:chExt cx="225739" cy="721610"/>
          </a:xfrm>
        </p:grpSpPr>
        <p:sp>
          <p:nvSpPr>
            <p:cNvPr id="3" name="矩形 2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8801756" y="4963098"/>
            <a:ext cx="225739" cy="180402"/>
            <a:chOff x="161510" y="0"/>
            <a:chExt cx="225739" cy="721610"/>
          </a:xfrm>
        </p:grpSpPr>
        <p:sp>
          <p:nvSpPr>
            <p:cNvPr id="8" name="矩形 7"/>
            <p:cNvSpPr/>
            <p:nvPr/>
          </p:nvSpPr>
          <p:spPr>
            <a:xfrm>
              <a:off x="161510" y="0"/>
              <a:ext cx="45719" cy="721610"/>
            </a:xfrm>
            <a:prstGeom prst="rect">
              <a:avLst/>
            </a:prstGeom>
            <a:solidFill>
              <a:srgbClr val="1A7B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21517" y="0"/>
              <a:ext cx="45719" cy="721610"/>
            </a:xfrm>
            <a:prstGeom prst="rect">
              <a:avLst/>
            </a:prstGeom>
            <a:solidFill>
              <a:srgbClr val="95BC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solidFill>
              <a:srgbClr val="FDA9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solidFill>
              <a:srgbClr val="BF34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837133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39271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706765"/>
            <a:ext cx="9144000" cy="1350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 descr="C:\Documents and Settings\yangweizhou\桌面\2.jpg"/>
          <p:cNvPicPr>
            <a:picLocks noChangeAspect="1" noChangeArrowheads="1"/>
          </p:cNvPicPr>
          <p:nvPr userDrawn="1"/>
        </p:nvPicPr>
        <p:blipFill rotWithShape="1">
          <a:blip r:embed="rId2"/>
          <a:srcRect b="2046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55D6FDB-6D68-4507-AA21-E241AD02189A}"/>
              </a:ext>
            </a:extLst>
          </p:cNvPr>
          <p:cNvSpPr/>
          <p:nvPr userDrawn="1"/>
        </p:nvSpPr>
        <p:spPr>
          <a:xfrm>
            <a:off x="7182290" y="51470"/>
            <a:ext cx="1890210" cy="675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A65D2-8FAD-4D76-8784-B0DFBE8D81B0}" type="datetimeFigureOut">
              <a:rPr lang="zh-CN" altLang="en-US" smtClean="0"/>
              <a:t>2018/4/18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1E52-4521-4A04-9B01-2C3910F23D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22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0D07AA-D6A0-4511-9255-3945168B88E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186485"/>
            <a:ext cx="1510693" cy="3318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5" r:id="rId5"/>
    <p:sldLayoutId id="2147483669" r:id="rId6"/>
    <p:sldLayoutId id="2147483667" r:id="rId7"/>
    <p:sldLayoutId id="2147483653" r:id="rId8"/>
    <p:sldLayoutId id="2147483662" r:id="rId9"/>
    <p:sldLayoutId id="2147483654" r:id="rId10"/>
    <p:sldLayoutId id="2147483651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8" r:id="rId17"/>
  </p:sldLayoutIdLst>
  <p:transition spd="slow">
    <p:push dir="u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camp.cybozu.cn/k/#/porta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e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0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5" Type="http://schemas.openxmlformats.org/officeDocument/2006/relationships/image" Target="../media/image43.jpg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camp.cybozu.cn/k/#/porta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jp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jpg"/><Relationship Id="rId5" Type="http://schemas.openxmlformats.org/officeDocument/2006/relationships/image" Target="../media/image47.png"/><Relationship Id="rId10" Type="http://schemas.openxmlformats.org/officeDocument/2006/relationships/image" Target="../media/image52.jpe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jpeg"/><Relationship Id="rId4" Type="http://schemas.openxmlformats.org/officeDocument/2006/relationships/image" Target="../media/image65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61.jpg"/><Relationship Id="rId7" Type="http://schemas.openxmlformats.org/officeDocument/2006/relationships/image" Target="../media/image7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image" Target="../media/image6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jpeg"/><Relationship Id="rId5" Type="http://schemas.openxmlformats.org/officeDocument/2006/relationships/image" Target="../media/image73.jpg"/><Relationship Id="rId4" Type="http://schemas.openxmlformats.org/officeDocument/2006/relationships/image" Target="../media/image7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jpg"/><Relationship Id="rId4" Type="http://schemas.openxmlformats.org/officeDocument/2006/relationships/image" Target="../media/image81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9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96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直接连接符 22"/>
          <p:cNvCxnSpPr>
            <a:cxnSpLocks/>
          </p:cNvCxnSpPr>
          <p:nvPr/>
        </p:nvCxnSpPr>
        <p:spPr>
          <a:xfrm>
            <a:off x="1145663" y="3021800"/>
            <a:ext cx="625766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34364D-513D-4286-AB19-E3307679F45F}"/>
              </a:ext>
            </a:extLst>
          </p:cNvPr>
          <p:cNvGrpSpPr/>
          <p:nvPr/>
        </p:nvGrpSpPr>
        <p:grpSpPr>
          <a:xfrm>
            <a:off x="1145663" y="2623154"/>
            <a:ext cx="7386777" cy="1208736"/>
            <a:chOff x="1145663" y="2443134"/>
            <a:chExt cx="7386777" cy="1208736"/>
          </a:xfrm>
        </p:grpSpPr>
        <p:cxnSp>
          <p:nvCxnSpPr>
            <p:cNvPr id="24" name="直接连接符 23"/>
            <p:cNvCxnSpPr>
              <a:cxnSpLocks/>
            </p:cNvCxnSpPr>
            <p:nvPr/>
          </p:nvCxnSpPr>
          <p:spPr>
            <a:xfrm>
              <a:off x="1145663" y="3471850"/>
              <a:ext cx="6355056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7323704" y="2443134"/>
              <a:ext cx="1208736" cy="12087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390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200" b="1">
                <a:solidFill>
                  <a:srgbClr val="F39030"/>
                </a:solidFill>
                <a:latin typeface="微软雅黑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051720" y="2872847"/>
              <a:ext cx="5528626" cy="499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登录试用环境，页面左边“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课程资料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”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下载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403331" y="2780752"/>
              <a:ext cx="1049482" cy="611312"/>
            </a:xfrm>
            <a:prstGeom prst="rect">
              <a:avLst/>
            </a:prstGeom>
          </p:spPr>
          <p:txBody>
            <a:bodyPr wrap="square" tIns="72000">
              <a:spAutoFit/>
            </a:bodyPr>
            <a:lstStyle/>
            <a:p>
              <a:pPr lvl="0" algn="ctr"/>
              <a:r>
                <a:rPr lang="zh-CN" altLang="en-US" sz="1600" b="1" dirty="0">
                  <a:solidFill>
                    <a:srgbClr val="F39030"/>
                  </a:solidFill>
                  <a:latin typeface="+mj-ea"/>
                  <a:ea typeface="+mj-ea"/>
                </a:rPr>
                <a:t>本次课程</a:t>
              </a:r>
              <a:endParaRPr lang="en-US" altLang="zh-CN" sz="1600" b="1" dirty="0">
                <a:solidFill>
                  <a:srgbClr val="F39030"/>
                </a:solidFill>
                <a:latin typeface="+mj-ea"/>
                <a:ea typeface="+mj-ea"/>
              </a:endParaRPr>
            </a:p>
            <a:p>
              <a:pPr lvl="0" algn="ctr"/>
              <a:r>
                <a:rPr lang="zh-CN" altLang="en-US" sz="1600" b="1" dirty="0">
                  <a:solidFill>
                    <a:srgbClr val="F39030"/>
                  </a:solidFill>
                  <a:latin typeface="+mj-ea"/>
                  <a:ea typeface="+mj-ea"/>
                </a:rPr>
                <a:t>资料下载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开课前提示</a:t>
            </a:r>
          </a:p>
        </p:txBody>
      </p:sp>
      <p:cxnSp>
        <p:nvCxnSpPr>
          <p:cNvPr id="20" name="直接连接符 19"/>
          <p:cNvCxnSpPr>
            <a:cxnSpLocks/>
          </p:cNvCxnSpPr>
          <p:nvPr/>
        </p:nvCxnSpPr>
        <p:spPr>
          <a:xfrm>
            <a:off x="0" y="963205"/>
            <a:ext cx="7386549" cy="1110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cxnSpLocks/>
          </p:cNvCxnSpPr>
          <p:nvPr/>
        </p:nvCxnSpPr>
        <p:spPr>
          <a:xfrm>
            <a:off x="1094259" y="1716655"/>
            <a:ext cx="653808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/>
          <p:cNvSpPr/>
          <p:nvPr/>
        </p:nvSpPr>
        <p:spPr>
          <a:xfrm>
            <a:off x="7317305" y="681540"/>
            <a:ext cx="1208736" cy="1208736"/>
          </a:xfrm>
          <a:prstGeom prst="ellipse">
            <a:avLst/>
          </a:prstGeom>
          <a:solidFill>
            <a:schemeClr val="bg1"/>
          </a:solidFill>
          <a:ln w="28575">
            <a:solidFill>
              <a:srgbClr val="66D5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86549" y="990466"/>
            <a:ext cx="10494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b="1" dirty="0" err="1">
                <a:solidFill>
                  <a:srgbClr val="66D5F0"/>
                </a:solidFill>
                <a:latin typeface="+mj-ea"/>
                <a:ea typeface="+mj-ea"/>
              </a:rPr>
              <a:t>WiFi</a:t>
            </a:r>
            <a:endParaRPr lang="en-US" altLang="zh-CN" sz="1600" b="1" dirty="0">
              <a:solidFill>
                <a:srgbClr val="66D5F0"/>
              </a:solidFill>
              <a:latin typeface="+mj-ea"/>
              <a:ea typeface="+mj-ea"/>
            </a:endParaRPr>
          </a:p>
          <a:p>
            <a:pPr lvl="0" algn="ctr"/>
            <a:r>
              <a:rPr lang="zh-CN" altLang="en-US" sz="1600" b="1" dirty="0">
                <a:solidFill>
                  <a:srgbClr val="66D5F0"/>
                </a:solidFill>
                <a:latin typeface="+mj-ea"/>
                <a:ea typeface="+mj-ea"/>
              </a:rPr>
              <a:t>环境设定</a:t>
            </a:r>
          </a:p>
        </p:txBody>
      </p:sp>
      <p:sp>
        <p:nvSpPr>
          <p:cNvPr id="27" name="椭圆 26"/>
          <p:cNvSpPr/>
          <p:nvPr/>
        </p:nvSpPr>
        <p:spPr>
          <a:xfrm>
            <a:off x="431540" y="1626646"/>
            <a:ext cx="1485164" cy="148516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390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b="1" dirty="0">
              <a:solidFill>
                <a:srgbClr val="1A7BAE"/>
              </a:solidFill>
              <a:latin typeface="微软雅黑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9381" y="1829313"/>
            <a:ext cx="10494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b="1" dirty="0">
                <a:solidFill>
                  <a:srgbClr val="F39030"/>
                </a:solidFill>
                <a:latin typeface="+mj-ea"/>
                <a:ea typeface="+mj-ea"/>
              </a:rPr>
              <a:t>kintone</a:t>
            </a:r>
          </a:p>
          <a:p>
            <a:pPr lvl="0" algn="ctr"/>
            <a:r>
              <a:rPr lang="zh-CN" altLang="en-US" sz="1600" b="1" dirty="0">
                <a:solidFill>
                  <a:srgbClr val="F39030"/>
                </a:solidFill>
                <a:latin typeface="+mj-ea"/>
                <a:ea typeface="+mj-ea"/>
              </a:rPr>
              <a:t>试用环境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A135D1C-B541-4A27-8A3A-75CCE2944A9A}"/>
              </a:ext>
            </a:extLst>
          </p:cNvPr>
          <p:cNvGrpSpPr/>
          <p:nvPr/>
        </p:nvGrpSpPr>
        <p:grpSpPr>
          <a:xfrm>
            <a:off x="617959" y="3478249"/>
            <a:ext cx="8526041" cy="1208736"/>
            <a:chOff x="617959" y="3343234"/>
            <a:chExt cx="8526041" cy="1208736"/>
          </a:xfrm>
        </p:grpSpPr>
        <p:cxnSp>
          <p:nvCxnSpPr>
            <p:cNvPr id="22" name="直接连接符 21"/>
            <p:cNvCxnSpPr>
              <a:cxnSpLocks/>
            </p:cNvCxnSpPr>
            <p:nvPr/>
          </p:nvCxnSpPr>
          <p:spPr>
            <a:xfrm>
              <a:off x="1094259" y="4416955"/>
              <a:ext cx="8049741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/>
            <p:cNvSpPr/>
            <p:nvPr/>
          </p:nvSpPr>
          <p:spPr>
            <a:xfrm>
              <a:off x="617959" y="3343234"/>
              <a:ext cx="1208736" cy="12087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66D5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200" b="1">
                <a:solidFill>
                  <a:srgbClr val="1A7BAE"/>
                </a:solidFill>
                <a:latin typeface="微软雅黑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714197" y="3697165"/>
              <a:ext cx="102248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1600" b="1" dirty="0">
                  <a:solidFill>
                    <a:srgbClr val="66D5F0"/>
                  </a:solidFill>
                  <a:latin typeface="微软雅黑"/>
                </a:rPr>
                <a:t>必要软件下载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2051720" y="3520186"/>
              <a:ext cx="6570729" cy="806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登录试用环境，页面左边“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必要软件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”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Wingdings" panose="05000000000000000000" pitchFamily="2" charset="2"/>
                </a:rPr>
                <a:t>下载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可用于编程的文本编辑器：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Notepad++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，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Sublime Text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等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 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浏览器：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Chrome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2051720" y="1581640"/>
            <a:ext cx="6570729" cy="93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u="sng" dirty="0">
                <a:solidFill>
                  <a:schemeClr val="accent4">
                    <a:lumMod val="75000"/>
                  </a:schemeClr>
                </a:solidFill>
                <a:hlinkClick r:id="rId3"/>
              </a:rPr>
              <a:t>https://</a:t>
            </a:r>
            <a:r>
              <a:rPr lang="en-US" altLang="zh-CN" sz="2400" u="sng" dirty="0">
                <a:solidFill>
                  <a:schemeClr val="accent4">
                    <a:lumMod val="75000"/>
                  </a:schemeClr>
                </a:solidFill>
                <a:hlinkClick r:id="rId3"/>
              </a:rPr>
              <a:t>devcamp.cybozu.cn/k/#/portal</a:t>
            </a:r>
            <a:endParaRPr lang="en-US" altLang="zh-CN" sz="2400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</a:t>
            </a:r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签到时分发的纸张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上的用户名、密码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546775" y="1082016"/>
            <a:ext cx="4575578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请查看您所在会议桌上的提示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B30F3B-9923-41BA-B1AC-2AEA4D883E5C}"/>
              </a:ext>
            </a:extLst>
          </p:cNvPr>
          <p:cNvSpPr txBox="1"/>
          <p:nvPr/>
        </p:nvSpPr>
        <p:spPr>
          <a:xfrm>
            <a:off x="2051720" y="2465758"/>
            <a:ext cx="4959955" cy="511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如果继续使用</a:t>
            </a:r>
            <a:r>
              <a:rPr lang="en-US" altLang="zh-CN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，以下链接可获取免费试用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30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天的环境：</a:t>
            </a:r>
            <a:endParaRPr lang="en-US" altLang="zh-CN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https://www.cybozu.cn/contact/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8E665A-0D2D-4C09-85A0-FB5568F0EEEE}"/>
              </a:ext>
            </a:extLst>
          </p:cNvPr>
          <p:cNvSpPr txBox="1"/>
          <p:nvPr/>
        </p:nvSpPr>
        <p:spPr>
          <a:xfrm>
            <a:off x="629023" y="2427340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账号有效期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  <a:latin typeface="+mn-ea"/>
              </a:rPr>
              <a:t>两周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50369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9EDB57BF-B509-4B14-BF5D-B6ECE58557CF}"/>
              </a:ext>
            </a:extLst>
          </p:cNvPr>
          <p:cNvGrpSpPr/>
          <p:nvPr/>
        </p:nvGrpSpPr>
        <p:grpSpPr>
          <a:xfrm>
            <a:off x="1556665" y="3066805"/>
            <a:ext cx="6008167" cy="61651"/>
            <a:chOff x="566555" y="877035"/>
            <a:chExt cx="2340260" cy="16454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86D9441-4B54-4601-841B-1D6DB7E7B984}"/>
                </a:ext>
              </a:extLst>
            </p:cNvPr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3538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3CA70BC4-20E5-4021-8805-AB94232ACEC9}"/>
                </a:ext>
              </a:extLst>
            </p:cNvPr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7DCD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88249C6-E3A3-4D46-B08D-F0B613A5926D}"/>
                </a:ext>
              </a:extLst>
            </p:cNvPr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6D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B38B809D-D10E-4EEA-B93D-C1CEDF11BBFA}"/>
                </a:ext>
              </a:extLst>
            </p:cNvPr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F454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4" name="TextBox 6">
            <a:extLst>
              <a:ext uri="{FF2B5EF4-FFF2-40B4-BE49-F238E27FC236}">
                <a16:creationId xmlns:a16="http://schemas.microsoft.com/office/drawing/2014/main" id="{955FBF51-8E5F-4354-B457-BC3103B2C56B}"/>
              </a:ext>
            </a:extLst>
          </p:cNvPr>
          <p:cNvSpPr txBox="1"/>
          <p:nvPr/>
        </p:nvSpPr>
        <p:spPr>
          <a:xfrm>
            <a:off x="71500" y="2031980"/>
            <a:ext cx="9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                 的介绍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6D13DF-7442-407B-A77B-7DA27CA5D7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10" y="1221600"/>
            <a:ext cx="1577525" cy="18452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5F1BF3-6805-48EE-A4AA-C36327A78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161" y="2084149"/>
            <a:ext cx="2135952" cy="50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033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6">
            <a:extLst>
              <a:ext uri="{FF2B5EF4-FFF2-40B4-BE49-F238E27FC236}">
                <a16:creationId xmlns:a16="http://schemas.microsoft.com/office/drawing/2014/main" id="{13B433CE-954F-47B2-BAE5-7E531A1D8ABD}"/>
              </a:ext>
            </a:extLst>
          </p:cNvPr>
          <p:cNvSpPr txBox="1"/>
          <p:nvPr/>
        </p:nvSpPr>
        <p:spPr>
          <a:xfrm>
            <a:off x="476520" y="174870"/>
            <a:ext cx="59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                                日本的成绩</a:t>
            </a:r>
          </a:p>
        </p:txBody>
      </p:sp>
      <p:grpSp>
        <p:nvGrpSpPr>
          <p:cNvPr id="11" name="グループ化 2">
            <a:extLst>
              <a:ext uri="{FF2B5EF4-FFF2-40B4-BE49-F238E27FC236}">
                <a16:creationId xmlns:a16="http://schemas.microsoft.com/office/drawing/2014/main" id="{EBDEC7A3-64AA-44DD-A87C-84CE500990F8}"/>
              </a:ext>
            </a:extLst>
          </p:cNvPr>
          <p:cNvGrpSpPr/>
          <p:nvPr/>
        </p:nvGrpSpPr>
        <p:grpSpPr>
          <a:xfrm>
            <a:off x="386535" y="174870"/>
            <a:ext cx="8640960" cy="4917160"/>
            <a:chOff x="-285665" y="1142807"/>
            <a:chExt cx="8640960" cy="4930242"/>
          </a:xfrm>
        </p:grpSpPr>
        <p:sp>
          <p:nvSpPr>
            <p:cNvPr id="12" name="テキスト ボックス 3">
              <a:extLst>
                <a:ext uri="{FF2B5EF4-FFF2-40B4-BE49-F238E27FC236}">
                  <a16:creationId xmlns:a16="http://schemas.microsoft.com/office/drawing/2014/main" id="{C2221B8B-CE6C-444D-81E3-CF4D65A46691}"/>
                </a:ext>
              </a:extLst>
            </p:cNvPr>
            <p:cNvSpPr txBox="1"/>
            <p:nvPr/>
          </p:nvSpPr>
          <p:spPr>
            <a:xfrm>
              <a:off x="193189" y="1785767"/>
              <a:ext cx="5118709" cy="4011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在办公软件领域，连续</a:t>
              </a:r>
              <a:r>
                <a:rPr lang="en-US" altLang="ja-JP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kumimoji="1" lang="ja-JP" altLang="en-US" sz="2000" b="1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kumimoji="1" lang="zh-CN" altLang="en-US" sz="2000" b="1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市场占有率第一</a:t>
              </a:r>
              <a:endParaRPr kumimoji="1" lang="ja-JP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グループ化 10">
              <a:extLst>
                <a:ext uri="{FF2B5EF4-FFF2-40B4-BE49-F238E27FC236}">
                  <a16:creationId xmlns:a16="http://schemas.microsoft.com/office/drawing/2014/main" id="{C42FF19D-CA3D-4839-80D7-5A39FD2191BB}"/>
                </a:ext>
              </a:extLst>
            </p:cNvPr>
            <p:cNvGrpSpPr/>
            <p:nvPr/>
          </p:nvGrpSpPr>
          <p:grpSpPr>
            <a:xfrm>
              <a:off x="-12699" y="1142807"/>
              <a:ext cx="8367994" cy="3452010"/>
              <a:chOff x="100701" y="2666196"/>
              <a:chExt cx="9548463" cy="4088212"/>
            </a:xfrm>
          </p:grpSpPr>
          <p:sp>
            <p:nvSpPr>
              <p:cNvPr id="18" name="正方形/長方形 11">
                <a:extLst>
                  <a:ext uri="{FF2B5EF4-FFF2-40B4-BE49-F238E27FC236}">
                    <a16:creationId xmlns:a16="http://schemas.microsoft.com/office/drawing/2014/main" id="{3844949E-AD0C-46FA-9B25-24988EDF1DE6}"/>
                  </a:ext>
                </a:extLst>
              </p:cNvPr>
              <p:cNvSpPr/>
              <p:nvPr/>
            </p:nvSpPr>
            <p:spPr>
              <a:xfrm>
                <a:off x="100701" y="4051060"/>
                <a:ext cx="3776464" cy="22448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Cybozu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的办公软件在诺克调查公司出品的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《2016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年度中坚、中小企业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应用程序使用现状及评价报告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》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的办公软件类别，连续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年获得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No.1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的成绩。</a:t>
                </a:r>
                <a:endParaRPr lang="ja-JP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9" name="図 13">
                <a:extLst>
                  <a:ext uri="{FF2B5EF4-FFF2-40B4-BE49-F238E27FC236}">
                    <a16:creationId xmlns:a16="http://schemas.microsoft.com/office/drawing/2014/main" id="{CF3D577B-5E3B-42F6-B2D6-51A09B392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69673" y="2666196"/>
                <a:ext cx="1104893" cy="1101270"/>
              </a:xfrm>
              <a:prstGeom prst="rect">
                <a:avLst/>
              </a:prstGeom>
            </p:spPr>
          </p:pic>
          <p:graphicFrame>
            <p:nvGraphicFramePr>
              <p:cNvPr id="20" name="グラフ 15">
                <a:extLst>
                  <a:ext uri="{FF2B5EF4-FFF2-40B4-BE49-F238E27FC236}">
                    <a16:creationId xmlns:a16="http://schemas.microsoft.com/office/drawing/2014/main" id="{B04D4B2E-F614-4E8A-90F0-CBF8A8997DE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79168439"/>
                  </p:ext>
                </p:extLst>
              </p:nvPr>
            </p:nvGraphicFramePr>
            <p:xfrm>
              <a:off x="3926800" y="3823096"/>
              <a:ext cx="5722364" cy="293131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  <p:pic>
          <p:nvPicPr>
            <p:cNvPr id="14" name="図 17">
              <a:extLst>
                <a:ext uri="{FF2B5EF4-FFF2-40B4-BE49-F238E27FC236}">
                  <a16:creationId xmlns:a16="http://schemas.microsoft.com/office/drawing/2014/main" id="{8B0D6969-CA55-4FE3-9776-8572960D0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8438" y="4813994"/>
              <a:ext cx="1183272" cy="890769"/>
            </a:xfrm>
            <a:prstGeom prst="rect">
              <a:avLst/>
            </a:prstGeom>
          </p:spPr>
        </p:pic>
        <p:sp>
          <p:nvSpPr>
            <p:cNvPr id="15" name="正方形/長方形 18">
              <a:extLst>
                <a:ext uri="{FF2B5EF4-FFF2-40B4-BE49-F238E27FC236}">
                  <a16:creationId xmlns:a16="http://schemas.microsoft.com/office/drawing/2014/main" id="{60575AB7-7CC3-4F0A-87D3-38C87FA51B6A}"/>
                </a:ext>
              </a:extLst>
            </p:cNvPr>
            <p:cNvSpPr/>
            <p:nvPr/>
          </p:nvSpPr>
          <p:spPr>
            <a:xfrm>
              <a:off x="6322986" y="4991416"/>
              <a:ext cx="197693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导入公司数</a:t>
              </a:r>
              <a:endParaRPr lang="en-US" altLang="ja-JP" sz="20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ヒラギノ角ゴ Pro W3"/>
              </a:endParaRPr>
            </a:p>
            <a:p>
              <a:r>
                <a:rPr lang="en-US" altLang="zh-CN" sz="20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60,000</a:t>
              </a:r>
              <a:r>
                <a:rPr lang="zh-CN" altLang="en-US" sz="20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家</a:t>
              </a:r>
              <a:r>
                <a:rPr lang="ja-JP" altLang="en-US" sz="20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以上</a:t>
              </a:r>
              <a:endParaRPr lang="en-US" altLang="ja-JP" sz="20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ヒラギノ角ゴ Pro W3"/>
              </a:endParaRPr>
            </a:p>
          </p:txBody>
        </p:sp>
        <p:sp>
          <p:nvSpPr>
            <p:cNvPr id="16" name="正方形/長方形 20">
              <a:extLst>
                <a:ext uri="{FF2B5EF4-FFF2-40B4-BE49-F238E27FC236}">
                  <a16:creationId xmlns:a16="http://schemas.microsoft.com/office/drawing/2014/main" id="{797C2DE5-F0A5-4553-A5AF-4110D84A0ED1}"/>
                </a:ext>
              </a:extLst>
            </p:cNvPr>
            <p:cNvSpPr/>
            <p:nvPr/>
          </p:nvSpPr>
          <p:spPr>
            <a:xfrm>
              <a:off x="1344697" y="4749610"/>
              <a:ext cx="3171130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日经</a:t>
              </a:r>
              <a:r>
                <a:rPr lang="en-US" altLang="ja-JP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BP</a:t>
              </a:r>
              <a:r>
                <a:rPr lang="zh-CN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政府科技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 </a:t>
              </a:r>
              <a:endParaRPr lang="en-US" altLang="ja-JP" sz="1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ヒラギノ角ゴ Pro W3"/>
              </a:endParaRPr>
            </a:p>
            <a:p>
              <a:r>
                <a:rPr lang="en-US" altLang="ja-JP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2017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年秋</a:t>
              </a:r>
              <a:r>
                <a:rPr lang="zh-CN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季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号</a:t>
              </a:r>
              <a:endParaRPr lang="en-US" altLang="ja-JP" sz="1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ヒラギノ角ゴ Pro W3"/>
              </a:endParaRPr>
            </a:p>
            <a:p>
              <a:r>
                <a:rPr lang="en-US" altLang="ja-JP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IT</a:t>
              </a:r>
              <a:r>
                <a:rPr lang="zh-CN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系统满意度调查 </a:t>
              </a:r>
              <a:r>
                <a:rPr lang="en-US" altLang="ja-JP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2016-2017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　</a:t>
              </a:r>
              <a:endParaRPr lang="en-US" altLang="ja-JP" sz="1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ヒラギノ角ゴ Pro W3"/>
              </a:endParaRPr>
            </a:p>
            <a:p>
              <a:r>
                <a:rPr lang="zh-CN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办公软件部门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 </a:t>
              </a:r>
              <a:endParaRPr lang="en-US" altLang="ja-JP" sz="1600" b="1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ヒラギノ角ゴ Pro W3"/>
              </a:endParaRPr>
            </a:p>
            <a:p>
              <a:r>
                <a:rPr lang="zh-CN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连续</a:t>
              </a:r>
              <a:r>
                <a:rPr lang="en-US" altLang="ja-JP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4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年 第 </a:t>
              </a:r>
              <a:r>
                <a:rPr lang="en-US" altLang="ja-JP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1 </a:t>
              </a:r>
              <a:r>
                <a:rPr lang="ja-JP" altLang="en-US" sz="1600" b="1" dirty="0">
                  <a:solidFill>
                    <a:srgbClr val="8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ヒラギノ角ゴ Pro W3"/>
                </a:rPr>
                <a:t>位</a:t>
              </a:r>
            </a:p>
          </p:txBody>
        </p:sp>
        <p:pic>
          <p:nvPicPr>
            <p:cNvPr id="17" name="図 21">
              <a:extLst>
                <a:ext uri="{FF2B5EF4-FFF2-40B4-BE49-F238E27FC236}">
                  <a16:creationId xmlns:a16="http://schemas.microsoft.com/office/drawing/2014/main" id="{687768EA-CF32-4DD8-8416-77B947D4C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85665" y="4844967"/>
              <a:ext cx="1573324" cy="1194282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AB1A323-C3EF-4373-B2C6-59EFBD6608B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30"/>
          <a:stretch/>
        </p:blipFill>
        <p:spPr>
          <a:xfrm>
            <a:off x="4031716" y="1486803"/>
            <a:ext cx="1980444" cy="26992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87AB5E0-96CD-4C33-8216-8FF7A97851B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205320"/>
            <a:ext cx="1710190" cy="4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8175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6">
            <a:extLst>
              <a:ext uri="{FF2B5EF4-FFF2-40B4-BE49-F238E27FC236}">
                <a16:creationId xmlns:a16="http://schemas.microsoft.com/office/drawing/2014/main" id="{13B433CE-954F-47B2-BAE5-7E531A1D8ABD}"/>
              </a:ext>
            </a:extLst>
          </p:cNvPr>
          <p:cNvSpPr txBox="1"/>
          <p:nvPr/>
        </p:nvSpPr>
        <p:spPr>
          <a:xfrm>
            <a:off x="476520" y="174870"/>
            <a:ext cx="59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                                中国的成绩</a:t>
            </a:r>
          </a:p>
        </p:txBody>
      </p:sp>
      <p:pic>
        <p:nvPicPr>
          <p:cNvPr id="24" name="図 7">
            <a:extLst>
              <a:ext uri="{FF2B5EF4-FFF2-40B4-BE49-F238E27FC236}">
                <a16:creationId xmlns:a16="http://schemas.microsoft.com/office/drawing/2014/main" id="{98E9291F-08C7-4D5D-A2A2-1FD19458A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60" y="1469844"/>
            <a:ext cx="6414557" cy="3510298"/>
          </a:xfrm>
          <a:prstGeom prst="rect">
            <a:avLst/>
          </a:prstGeom>
        </p:spPr>
      </p:pic>
      <p:pic>
        <p:nvPicPr>
          <p:cNvPr id="25" name="図 9">
            <a:extLst>
              <a:ext uri="{FF2B5EF4-FFF2-40B4-BE49-F238E27FC236}">
                <a16:creationId xmlns:a16="http://schemas.microsoft.com/office/drawing/2014/main" id="{54548C12-98C9-434E-AC13-409C51022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10" y="3516855"/>
            <a:ext cx="1485165" cy="148516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158065C-1968-4703-AD68-7472EE6AF46D}"/>
              </a:ext>
            </a:extLst>
          </p:cNvPr>
          <p:cNvSpPr txBox="1"/>
          <p:nvPr/>
        </p:nvSpPr>
        <p:spPr>
          <a:xfrm>
            <a:off x="1587282" y="906855"/>
            <a:ext cx="6585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880 </a:t>
            </a: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 </a:t>
            </a:r>
            <a:r>
              <a:rPr lang="en-US" altLang="zh-CN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35,000 </a:t>
            </a: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名用户使用</a:t>
            </a:r>
            <a:r>
              <a:rPr lang="en-US" altLang="zh-CN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cybozu</a:t>
            </a: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的产品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958352-A322-499C-A067-3B489F5D11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205320"/>
            <a:ext cx="1710190" cy="4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1637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63EA17-4662-4380-A542-1E1983412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1185863"/>
            <a:ext cx="77152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3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19D5600F-383C-4318-A746-AC8A2560A1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397" y="2256715"/>
            <a:ext cx="1558292" cy="23113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CDF5298-368F-48D7-A397-FF2CB737DB49}"/>
              </a:ext>
            </a:extLst>
          </p:cNvPr>
          <p:cNvSpPr txBox="1"/>
          <p:nvPr/>
        </p:nvSpPr>
        <p:spPr>
          <a:xfrm>
            <a:off x="4752020" y="951570"/>
            <a:ext cx="257903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</a:rPr>
              <a:t>2. </a:t>
            </a:r>
            <a:r>
              <a:rPr lang="zh-CN" altLang="en-US" sz="2000" dirty="0">
                <a:latin typeface="+mj-ea"/>
              </a:rPr>
              <a:t>实践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</a:rPr>
              <a:t>2.1 kintone</a:t>
            </a:r>
            <a:r>
              <a:rPr lang="zh-CN" altLang="en-US" sz="2000" dirty="0">
                <a:latin typeface="+mj-ea"/>
              </a:rPr>
              <a:t>界面介绍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</a:rPr>
              <a:t>2.2 </a:t>
            </a:r>
            <a:r>
              <a:rPr lang="zh-CN" altLang="en-US" sz="2000" dirty="0">
                <a:latin typeface="+mj-ea"/>
              </a:rPr>
              <a:t>动手制作应用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      业务管理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2.3 </a:t>
            </a:r>
            <a:r>
              <a:rPr lang="zh-CN" altLang="en-US" sz="2000" dirty="0"/>
              <a:t>关联记录列表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      客户管理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BA88AAD-9EAC-44AA-B40C-4EA823C8F39D}"/>
              </a:ext>
            </a:extLst>
          </p:cNvPr>
          <p:cNvSpPr/>
          <p:nvPr/>
        </p:nvSpPr>
        <p:spPr>
          <a:xfrm>
            <a:off x="692904" y="111977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76556B-D926-4CE1-A99F-590D84AED93E}"/>
              </a:ext>
            </a:extLst>
          </p:cNvPr>
          <p:cNvSpPr txBox="1"/>
          <p:nvPr/>
        </p:nvSpPr>
        <p:spPr>
          <a:xfrm>
            <a:off x="1016605" y="951570"/>
            <a:ext cx="2171877" cy="1424044"/>
          </a:xfrm>
          <a:prstGeom prst="rect">
            <a:avLst/>
          </a:prstGeom>
          <a:noFill/>
        </p:spPr>
        <p:txBody>
          <a:bodyPr wrap="none" tIns="46800" spcCol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  <a:ea typeface="+mj-ea"/>
              </a:rPr>
              <a:t>1. kintone</a:t>
            </a:r>
            <a:r>
              <a:rPr lang="zh-CN" altLang="en-US" sz="2000" dirty="0">
                <a:latin typeface="+mj-ea"/>
                <a:ea typeface="+mj-ea"/>
              </a:rPr>
              <a:t>是什么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  <a:ea typeface="+mj-ea"/>
              </a:rPr>
              <a:t>1.1 kintone</a:t>
            </a:r>
            <a:r>
              <a:rPr lang="zh-CN" altLang="en-US" sz="2000" dirty="0">
                <a:latin typeface="+mj-ea"/>
                <a:ea typeface="+mj-ea"/>
              </a:rPr>
              <a:t>介绍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ea"/>
                <a:ea typeface="+mj-ea"/>
              </a:rPr>
              <a:t>1.2 kintone</a:t>
            </a:r>
            <a:r>
              <a:rPr lang="zh-CN" altLang="en-US" sz="2000" dirty="0">
                <a:latin typeface="+mj-ea"/>
                <a:ea typeface="+mj-ea"/>
              </a:rPr>
              <a:t>功能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6228786B-E576-43BA-B947-F997ADE38041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本课程内容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50834B4-2B3D-4BD6-8F9A-F8093E500B98}"/>
              </a:ext>
            </a:extLst>
          </p:cNvPr>
          <p:cNvSpPr/>
          <p:nvPr/>
        </p:nvSpPr>
        <p:spPr>
          <a:xfrm>
            <a:off x="4391980" y="1119774"/>
            <a:ext cx="188686" cy="188686"/>
          </a:xfrm>
          <a:prstGeom prst="ellipse">
            <a:avLst/>
          </a:prstGeom>
          <a:solidFill>
            <a:srgbClr val="6ED5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10D25FB-94C6-4E52-BCE8-2E68113A5EB0}"/>
              </a:ext>
            </a:extLst>
          </p:cNvPr>
          <p:cNvSpPr/>
          <p:nvPr/>
        </p:nvSpPr>
        <p:spPr>
          <a:xfrm>
            <a:off x="4977045" y="2571750"/>
            <a:ext cx="135015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4645B6E-99FC-47FC-86C3-D0AF38664000}"/>
              </a:ext>
            </a:extLst>
          </p:cNvPr>
          <p:cNvSpPr/>
          <p:nvPr/>
        </p:nvSpPr>
        <p:spPr>
          <a:xfrm>
            <a:off x="4977045" y="3481724"/>
            <a:ext cx="135015" cy="135015"/>
          </a:xfrm>
          <a:prstGeom prst="ellipse">
            <a:avLst/>
          </a:prstGeom>
          <a:solidFill>
            <a:srgbClr val="FDA9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02492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676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47977" y="-1433695"/>
            <a:ext cx="2723823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latin typeface="+mj-lt"/>
              </a:rPr>
              <a:t>1</a:t>
            </a:r>
            <a:endParaRPr lang="zh-CN" altLang="en-US" sz="5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11760" y="2166705"/>
            <a:ext cx="666074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谁都能简单制作，可以顺利进行信息共享的云服务系统。</a:t>
            </a:r>
          </a:p>
        </p:txBody>
      </p:sp>
      <p:sp>
        <p:nvSpPr>
          <p:cNvPr id="3" name="矩形 2"/>
          <p:cNvSpPr/>
          <p:nvPr/>
        </p:nvSpPr>
        <p:spPr>
          <a:xfrm>
            <a:off x="5118327" y="1397264"/>
            <a:ext cx="36391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altLang="zh-CN" sz="4400" dirty="0">
                <a:solidFill>
                  <a:schemeClr val="bg1"/>
                </a:solidFill>
                <a:latin typeface="Impact"/>
              </a:rPr>
              <a:t>kintone</a:t>
            </a:r>
            <a:r>
              <a:rPr lang="zh-CN" altLang="en-US" sz="4400" b="1" dirty="0">
                <a:solidFill>
                  <a:schemeClr val="bg1"/>
                </a:solidFill>
                <a:latin typeface="Impact"/>
              </a:rPr>
              <a:t>是什么</a:t>
            </a:r>
          </a:p>
        </p:txBody>
      </p:sp>
      <p:sp>
        <p:nvSpPr>
          <p:cNvPr id="25" name="矩形 24"/>
          <p:cNvSpPr/>
          <p:nvPr/>
        </p:nvSpPr>
        <p:spPr>
          <a:xfrm>
            <a:off x="3041830" y="2691666"/>
            <a:ext cx="598566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无需开发知识，即可根据公司业务轻松创建系统。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使用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kintone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可直观地创建业务应用，在团队内部共享和使用。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而且兼具用于加强员工之间交流的公司内部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SNS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的功能，因此可即时共享信息。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为了使团队得以顺利进行工作，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kintone</a:t>
            </a: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配备有必要的数据库，流程管理，交流机制。</a:t>
            </a: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中国官网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https://www.cybozu.cn/product/kintone/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+mn-ea"/>
              </a:rPr>
              <a:t>日本官网 </a:t>
            </a:r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https://kintone.cybozu.co.jp/jp/</a:t>
            </a:r>
            <a:endParaRPr lang="zh-CN" altLang="en-US" sz="12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83521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6">
            <a:extLst>
              <a:ext uri="{FF2B5EF4-FFF2-40B4-BE49-F238E27FC236}">
                <a16:creationId xmlns:a16="http://schemas.microsoft.com/office/drawing/2014/main" id="{13B433CE-954F-47B2-BAE5-7E531A1D8ABD}"/>
              </a:ext>
            </a:extLst>
          </p:cNvPr>
          <p:cNvSpPr txBox="1"/>
          <p:nvPr/>
        </p:nvSpPr>
        <p:spPr>
          <a:xfrm>
            <a:off x="476520" y="174870"/>
            <a:ext cx="59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是什么</a:t>
            </a:r>
          </a:p>
        </p:txBody>
      </p:sp>
      <p:sp>
        <p:nvSpPr>
          <p:cNvPr id="23" name="スライド番号プレースホルダー 4">
            <a:extLst>
              <a:ext uri="{FF2B5EF4-FFF2-40B4-BE49-F238E27FC236}">
                <a16:creationId xmlns:a16="http://schemas.microsoft.com/office/drawing/2014/main" id="{E77D0263-1EDC-4D50-8448-CD8AF778CADE}"/>
              </a:ext>
            </a:extLst>
          </p:cNvPr>
          <p:cNvSpPr txBox="1">
            <a:spLocks/>
          </p:cNvSpPr>
          <p:nvPr/>
        </p:nvSpPr>
        <p:spPr bwMode="auto">
          <a:xfrm>
            <a:off x="7578138" y="6145662"/>
            <a:ext cx="2133600" cy="1968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r" defTabSz="914400" rtl="0" eaLnBrk="1" latinLnBrk="0" hangingPunct="1">
              <a:defRPr kumimoji="0" sz="923" kern="1200" smtClean="0">
                <a:solidFill>
                  <a:srgbClr val="74B6D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7E1E011-F1CE-46F9-B678-7E1CDA88FF1D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  <p:grpSp>
        <p:nvGrpSpPr>
          <p:cNvPr id="8" name="グループ化 20">
            <a:extLst>
              <a:ext uri="{FF2B5EF4-FFF2-40B4-BE49-F238E27FC236}">
                <a16:creationId xmlns:a16="http://schemas.microsoft.com/office/drawing/2014/main" id="{F8299866-4B22-4CDA-A51C-4B7936465874}"/>
              </a:ext>
            </a:extLst>
          </p:cNvPr>
          <p:cNvGrpSpPr/>
          <p:nvPr/>
        </p:nvGrpSpPr>
        <p:grpSpPr>
          <a:xfrm>
            <a:off x="1184858" y="1735716"/>
            <a:ext cx="7470830" cy="2836983"/>
            <a:chOff x="883921" y="1560991"/>
            <a:chExt cx="10708671" cy="4674433"/>
          </a:xfrm>
        </p:grpSpPr>
        <p:sp>
          <p:nvSpPr>
            <p:cNvPr id="9" name="四角形: 角を丸くする 19">
              <a:extLst>
                <a:ext uri="{FF2B5EF4-FFF2-40B4-BE49-F238E27FC236}">
                  <a16:creationId xmlns:a16="http://schemas.microsoft.com/office/drawing/2014/main" id="{235E8B26-DB43-4689-96D0-9306314B9CE4}"/>
                </a:ext>
              </a:extLst>
            </p:cNvPr>
            <p:cNvSpPr/>
            <p:nvPr/>
          </p:nvSpPr>
          <p:spPr>
            <a:xfrm>
              <a:off x="883921" y="3739964"/>
              <a:ext cx="10424159" cy="2495460"/>
            </a:xfrm>
            <a:prstGeom prst="round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コンテンツ プレースホルダー 2">
              <a:extLst>
                <a:ext uri="{FF2B5EF4-FFF2-40B4-BE49-F238E27FC236}">
                  <a16:creationId xmlns:a16="http://schemas.microsoft.com/office/drawing/2014/main" id="{E970DE2E-2DB9-430C-B113-422564A7F5E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250345" y="5608320"/>
              <a:ext cx="2699484" cy="418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zh-CN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115/</a:t>
              </a:r>
              <a:r>
                <a:rPr lang="zh-CN" altLang="en-US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月</a:t>
              </a:r>
              <a:r>
                <a:rPr lang="en-US" altLang="zh-CN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/ID</a:t>
              </a:r>
              <a:r>
                <a:rPr lang="en-US" altLang="ja-JP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 </a:t>
              </a:r>
              <a:r>
                <a:rPr lang="zh-CN" altLang="en-US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！ </a:t>
              </a:r>
              <a:r>
                <a:rPr lang="ja-JP" altLang="en-US" sz="1200" b="1" dirty="0">
                  <a:solidFill>
                    <a:srgbClr val="FFF9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！</a:t>
              </a:r>
              <a:endParaRPr lang="en-US" altLang="ja-JP" sz="1200" b="1" dirty="0">
                <a:solidFill>
                  <a:srgbClr val="FFF9E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メイリオ"/>
              </a:endParaRPr>
            </a:p>
          </p:txBody>
        </p:sp>
        <p:sp>
          <p:nvSpPr>
            <p:cNvPr id="11" name="コンテンツ プレースホルダー 2">
              <a:extLst>
                <a:ext uri="{FF2B5EF4-FFF2-40B4-BE49-F238E27FC236}">
                  <a16:creationId xmlns:a16="http://schemas.microsoft.com/office/drawing/2014/main" id="{84AC6952-8552-4A3C-824D-1F389D04806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718925" y="5608320"/>
              <a:ext cx="2956639" cy="418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ja-JP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Excel</a:t>
              </a:r>
              <a:r>
                <a:rPr lang="ja-JP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DB </a:t>
              </a:r>
              <a:r>
                <a:rPr lang="en-US" altLang="zh-CN" sz="1200" b="1" dirty="0">
                  <a:solidFill>
                    <a:srgbClr val="ED4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1200" b="1" dirty="0">
                  <a:solidFill>
                    <a:srgbClr val="ED458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分钟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搞定</a:t>
              </a:r>
              <a:r>
                <a:rPr lang="zh-CN" altLang="en-US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！</a:t>
              </a:r>
              <a:endParaRPr lang="ja-JP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コンテンツ プレースホルダー 2">
              <a:extLst>
                <a:ext uri="{FF2B5EF4-FFF2-40B4-BE49-F238E27FC236}">
                  <a16:creationId xmlns:a16="http://schemas.microsoft.com/office/drawing/2014/main" id="{1E61A6BC-589C-4BF9-AEEE-E4CE6897618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75565" y="5629125"/>
              <a:ext cx="3917027" cy="418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メイリオ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会用</a:t>
              </a:r>
              <a:r>
                <a:rPr lang="zh-CN" altLang="en-US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鼠标</a:t>
              </a:r>
              <a:r>
                <a:rPr lang="zh-CN" altLang="en-US" sz="1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你就</a:t>
              </a:r>
              <a:r>
                <a:rPr lang="zh-CN" altLang="en-US" sz="1200" b="1" dirty="0">
                  <a:solidFill>
                    <a:srgbClr val="E917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メイリオ"/>
                </a:rPr>
                <a:t>行！</a:t>
              </a:r>
              <a:endParaRPr lang="ja-JP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3E02088-EBC2-468F-9AE4-A6513CDB4B9A}"/>
                </a:ext>
              </a:extLst>
            </p:cNvPr>
            <p:cNvGrpSpPr/>
            <p:nvPr/>
          </p:nvGrpSpPr>
          <p:grpSpPr>
            <a:xfrm>
              <a:off x="1310085" y="3533770"/>
              <a:ext cx="2520000" cy="702786"/>
              <a:chOff x="1545666" y="3567527"/>
              <a:chExt cx="2520000" cy="702786"/>
            </a:xfrm>
          </p:grpSpPr>
          <p:sp>
            <p:nvSpPr>
              <p:cNvPr id="70" name="右矢印 46">
                <a:extLst>
                  <a:ext uri="{FF2B5EF4-FFF2-40B4-BE49-F238E27FC236}">
                    <a16:creationId xmlns:a16="http://schemas.microsoft.com/office/drawing/2014/main" id="{223D860E-93E2-4851-B50E-5057A11D3602}"/>
                  </a:ext>
                </a:extLst>
              </p:cNvPr>
              <p:cNvSpPr/>
              <p:nvPr/>
            </p:nvSpPr>
            <p:spPr>
              <a:xfrm rot="5400000">
                <a:off x="2576382" y="3597805"/>
                <a:ext cx="378042" cy="966974"/>
              </a:xfrm>
              <a:prstGeom prst="rightArrow">
                <a:avLst/>
              </a:prstGeom>
              <a:solidFill>
                <a:srgbClr val="E91767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角丸四角形 54">
                <a:extLst>
                  <a:ext uri="{FF2B5EF4-FFF2-40B4-BE49-F238E27FC236}">
                    <a16:creationId xmlns:a16="http://schemas.microsoft.com/office/drawing/2014/main" id="{8930A032-81E4-430C-8E25-F06F7F4A6655}"/>
                  </a:ext>
                </a:extLst>
              </p:cNvPr>
              <p:cNvSpPr/>
              <p:nvPr/>
            </p:nvSpPr>
            <p:spPr>
              <a:xfrm>
                <a:off x="1545666" y="3567527"/>
                <a:ext cx="2520000" cy="342750"/>
              </a:xfrm>
              <a:prstGeom prst="roundRect">
                <a:avLst/>
              </a:prstGeom>
              <a:solidFill>
                <a:srgbClr val="E917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非常费钱</a:t>
                </a:r>
                <a:r>
                  <a:rPr lang="ja-JP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7D846293-A606-4FEB-B62E-187F680D52A4}"/>
                </a:ext>
              </a:extLst>
            </p:cNvPr>
            <p:cNvGrpSpPr/>
            <p:nvPr/>
          </p:nvGrpSpPr>
          <p:grpSpPr>
            <a:xfrm>
              <a:off x="4836000" y="3537192"/>
              <a:ext cx="2520000" cy="695942"/>
              <a:chOff x="5480653" y="3641410"/>
              <a:chExt cx="2520000" cy="695942"/>
            </a:xfrm>
          </p:grpSpPr>
          <p:sp>
            <p:nvSpPr>
              <p:cNvPr id="68" name="右矢印 43">
                <a:extLst>
                  <a:ext uri="{FF2B5EF4-FFF2-40B4-BE49-F238E27FC236}">
                    <a16:creationId xmlns:a16="http://schemas.microsoft.com/office/drawing/2014/main" id="{9BF0004B-A3A9-42AA-820E-207CE3FC8B26}"/>
                  </a:ext>
                </a:extLst>
              </p:cNvPr>
              <p:cNvSpPr/>
              <p:nvPr/>
            </p:nvSpPr>
            <p:spPr>
              <a:xfrm rot="5400000">
                <a:off x="6551632" y="3664844"/>
                <a:ext cx="378042" cy="966974"/>
              </a:xfrm>
              <a:prstGeom prst="rightArrow">
                <a:avLst/>
              </a:prstGeom>
              <a:solidFill>
                <a:srgbClr val="E91767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角丸四角形 55">
                <a:extLst>
                  <a:ext uri="{FF2B5EF4-FFF2-40B4-BE49-F238E27FC236}">
                    <a16:creationId xmlns:a16="http://schemas.microsoft.com/office/drawing/2014/main" id="{D053C4BB-EF48-40FE-B6D8-7CC288D41FEE}"/>
                  </a:ext>
                </a:extLst>
              </p:cNvPr>
              <p:cNvSpPr/>
              <p:nvPr/>
            </p:nvSpPr>
            <p:spPr>
              <a:xfrm>
                <a:off x="5480653" y="3641410"/>
                <a:ext cx="2520000" cy="342750"/>
              </a:xfrm>
              <a:prstGeom prst="roundRect">
                <a:avLst/>
              </a:prstGeom>
              <a:solidFill>
                <a:srgbClr val="E917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非常费时间</a:t>
                </a:r>
                <a:r>
                  <a:rPr lang="ja-JP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7B2CC831-1A3B-494C-B04F-A9FB2E92DC24}"/>
                </a:ext>
              </a:extLst>
            </p:cNvPr>
            <p:cNvGrpSpPr/>
            <p:nvPr/>
          </p:nvGrpSpPr>
          <p:grpSpPr>
            <a:xfrm>
              <a:off x="8298379" y="3527791"/>
              <a:ext cx="2520000" cy="714744"/>
              <a:chOff x="7949420" y="3654973"/>
              <a:chExt cx="2520000" cy="714744"/>
            </a:xfrm>
          </p:grpSpPr>
          <p:sp>
            <p:nvSpPr>
              <p:cNvPr id="66" name="右矢印 45">
                <a:extLst>
                  <a:ext uri="{FF2B5EF4-FFF2-40B4-BE49-F238E27FC236}">
                    <a16:creationId xmlns:a16="http://schemas.microsoft.com/office/drawing/2014/main" id="{CF5EC9B5-8C03-4178-A88B-AD285ABE5943}"/>
                  </a:ext>
                </a:extLst>
              </p:cNvPr>
              <p:cNvSpPr/>
              <p:nvPr/>
            </p:nvSpPr>
            <p:spPr>
              <a:xfrm rot="5400000">
                <a:off x="8949541" y="3697209"/>
                <a:ext cx="378042" cy="966974"/>
              </a:xfrm>
              <a:prstGeom prst="rightArrow">
                <a:avLst/>
              </a:prstGeom>
              <a:solidFill>
                <a:srgbClr val="E917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角丸四角形 56">
                <a:extLst>
                  <a:ext uri="{FF2B5EF4-FFF2-40B4-BE49-F238E27FC236}">
                    <a16:creationId xmlns:a16="http://schemas.microsoft.com/office/drawing/2014/main" id="{4547289C-7746-4645-8D67-4E8FE8C0A1E0}"/>
                  </a:ext>
                </a:extLst>
              </p:cNvPr>
              <p:cNvSpPr/>
              <p:nvPr/>
            </p:nvSpPr>
            <p:spPr>
              <a:xfrm>
                <a:off x="7949420" y="3654973"/>
                <a:ext cx="2520000" cy="342750"/>
              </a:xfrm>
              <a:prstGeom prst="roundRect">
                <a:avLst/>
              </a:prstGeom>
              <a:solidFill>
                <a:srgbClr val="E9176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你懂</a:t>
                </a:r>
                <a:r>
                  <a:rPr lang="en-US" altLang="zh-CN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IT</a:t>
                </a:r>
                <a:r>
                  <a:rPr lang="zh-CN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吗？</a:t>
                </a:r>
                <a:r>
                  <a:rPr lang="ja-JP" altLang="en-US" sz="1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！</a:t>
                </a:r>
              </a:p>
            </p:txBody>
          </p:sp>
        </p:grpSp>
        <p:pic>
          <p:nvPicPr>
            <p:cNvPr id="16" name="図 1">
              <a:extLst>
                <a:ext uri="{FF2B5EF4-FFF2-40B4-BE49-F238E27FC236}">
                  <a16:creationId xmlns:a16="http://schemas.microsoft.com/office/drawing/2014/main" id="{45BBC5B3-845C-4995-8672-77D1FB26B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0599" y="4323616"/>
              <a:ext cx="748770" cy="516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7" name="グループ化 10">
              <a:extLst>
                <a:ext uri="{FF2B5EF4-FFF2-40B4-BE49-F238E27FC236}">
                  <a16:creationId xmlns:a16="http://schemas.microsoft.com/office/drawing/2014/main" id="{064D5505-72B9-4C67-AE53-A4A36E879E68}"/>
                </a:ext>
              </a:extLst>
            </p:cNvPr>
            <p:cNvGrpSpPr/>
            <p:nvPr/>
          </p:nvGrpSpPr>
          <p:grpSpPr>
            <a:xfrm>
              <a:off x="1386141" y="1621066"/>
              <a:ext cx="2417615" cy="1758338"/>
              <a:chOff x="2469720" y="1836763"/>
              <a:chExt cx="2417615" cy="1758338"/>
            </a:xfrm>
          </p:grpSpPr>
          <p:pic>
            <p:nvPicPr>
              <p:cNvPr id="62" name="Picture 40" descr="雲が浮かぶ青空のイラスト（背景素材）">
                <a:extLst>
                  <a:ext uri="{FF2B5EF4-FFF2-40B4-BE49-F238E27FC236}">
                    <a16:creationId xmlns:a16="http://schemas.microsoft.com/office/drawing/2014/main" id="{9E8245F9-06A7-4CD6-B5FA-B2FED8018E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79996" y="1962993"/>
                <a:ext cx="2407339" cy="13561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3" name="グループ化 6">
                <a:extLst>
                  <a:ext uri="{FF2B5EF4-FFF2-40B4-BE49-F238E27FC236}">
                    <a16:creationId xmlns:a16="http://schemas.microsoft.com/office/drawing/2014/main" id="{6ECDAB46-A6DB-4EBF-B22F-3AC2047D260D}"/>
                  </a:ext>
                </a:extLst>
              </p:cNvPr>
              <p:cNvGrpSpPr/>
              <p:nvPr/>
            </p:nvGrpSpPr>
            <p:grpSpPr>
              <a:xfrm>
                <a:off x="2469720" y="1836763"/>
                <a:ext cx="2306700" cy="1758338"/>
                <a:chOff x="2251157" y="1720085"/>
                <a:chExt cx="2306700" cy="1758338"/>
              </a:xfrm>
            </p:grpSpPr>
            <p:pic>
              <p:nvPicPr>
                <p:cNvPr id="64" name="Picture 6" descr="飛んで行くお金のイラスト（円）">
                  <a:extLst>
                    <a:ext uri="{FF2B5EF4-FFF2-40B4-BE49-F238E27FC236}">
                      <a16:creationId xmlns:a16="http://schemas.microsoft.com/office/drawing/2014/main" id="{DD8F632E-79A0-4CD5-9E63-ACAFDFAE2C0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51157" y="1720085"/>
                  <a:ext cx="1428007" cy="125307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5" name="Picture 6" descr="飛んで行くお金のイラスト（円）">
                  <a:extLst>
                    <a:ext uri="{FF2B5EF4-FFF2-40B4-BE49-F238E27FC236}">
                      <a16:creationId xmlns:a16="http://schemas.microsoft.com/office/drawing/2014/main" id="{0D3E71F6-36A9-40BC-9A1C-AC1BB6DAC6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25399" y="1870441"/>
                  <a:ext cx="1832458" cy="16079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8" name="グループ化 7">
              <a:extLst>
                <a:ext uri="{FF2B5EF4-FFF2-40B4-BE49-F238E27FC236}">
                  <a16:creationId xmlns:a16="http://schemas.microsoft.com/office/drawing/2014/main" id="{84FD7555-9874-44BE-917E-29A812D2F418}"/>
                </a:ext>
              </a:extLst>
            </p:cNvPr>
            <p:cNvGrpSpPr/>
            <p:nvPr/>
          </p:nvGrpSpPr>
          <p:grpSpPr>
            <a:xfrm>
              <a:off x="8232097" y="1560991"/>
              <a:ext cx="2510849" cy="1964187"/>
              <a:chOff x="8439543" y="1748153"/>
              <a:chExt cx="2510849" cy="1964187"/>
            </a:xfrm>
          </p:grpSpPr>
          <p:pic>
            <p:nvPicPr>
              <p:cNvPr id="59" name="Picture 12" descr="システムインテグレーションのイラスト">
                <a:extLst>
                  <a:ext uri="{FF2B5EF4-FFF2-40B4-BE49-F238E27FC236}">
                    <a16:creationId xmlns:a16="http://schemas.microsoft.com/office/drawing/2014/main" id="{B08B1C3A-4968-4975-AD2B-B1D401D00A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82099" y="1748153"/>
                <a:ext cx="1168293" cy="11682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18" descr="ブルースクリーンのイラスト">
                <a:extLst>
                  <a:ext uri="{FF2B5EF4-FFF2-40B4-BE49-F238E27FC236}">
                    <a16:creationId xmlns:a16="http://schemas.microsoft.com/office/drawing/2014/main" id="{F08EF2E8-C50E-413F-AAF4-075170FCD0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39543" y="2223405"/>
                <a:ext cx="1487160" cy="11228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16" descr="パソコンのマニュアルを読む男性のイラスト">
                <a:extLst>
                  <a:ext uri="{FF2B5EF4-FFF2-40B4-BE49-F238E27FC236}">
                    <a16:creationId xmlns:a16="http://schemas.microsoft.com/office/drawing/2014/main" id="{9C26A0BA-6525-4612-8431-801695B98D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92662" y="2347993"/>
                <a:ext cx="1459195" cy="13643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9" name="グループ化 15">
              <a:extLst>
                <a:ext uri="{FF2B5EF4-FFF2-40B4-BE49-F238E27FC236}">
                  <a16:creationId xmlns:a16="http://schemas.microsoft.com/office/drawing/2014/main" id="{ACC62F53-CD4F-4C51-8DEC-C8E63B990145}"/>
                </a:ext>
              </a:extLst>
            </p:cNvPr>
            <p:cNvGrpSpPr/>
            <p:nvPr/>
          </p:nvGrpSpPr>
          <p:grpSpPr>
            <a:xfrm>
              <a:off x="8634521" y="4227161"/>
              <a:ext cx="1706000" cy="1354941"/>
              <a:chOff x="9278683" y="3789211"/>
              <a:chExt cx="1706000" cy="1354941"/>
            </a:xfrm>
          </p:grpSpPr>
          <p:pic>
            <p:nvPicPr>
              <p:cNvPr id="57" name="Picture 22" descr="インターネットを使いながら歓喜する人のイラスト1">
                <a:extLst>
                  <a:ext uri="{FF2B5EF4-FFF2-40B4-BE49-F238E27FC236}">
                    <a16:creationId xmlns:a16="http://schemas.microsoft.com/office/drawing/2014/main" id="{B1126A6E-605F-4A5C-A4CA-785B499144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6149" y="4210296"/>
                <a:ext cx="1108534" cy="933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24" descr="インターネットを使いながら歓喜する人のイラスト2">
                <a:extLst>
                  <a:ext uri="{FF2B5EF4-FFF2-40B4-BE49-F238E27FC236}">
                    <a16:creationId xmlns:a16="http://schemas.microsoft.com/office/drawing/2014/main" id="{64709887-B9F1-4774-AB60-3F51E759CA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78683" y="3789211"/>
                <a:ext cx="1045416" cy="13233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" name="グループ化 17">
              <a:extLst>
                <a:ext uri="{FF2B5EF4-FFF2-40B4-BE49-F238E27FC236}">
                  <a16:creationId xmlns:a16="http://schemas.microsoft.com/office/drawing/2014/main" id="{D1AD1EC7-D2C3-4070-95A6-B8CCB6714689}"/>
                </a:ext>
              </a:extLst>
            </p:cNvPr>
            <p:cNvGrpSpPr/>
            <p:nvPr/>
          </p:nvGrpSpPr>
          <p:grpSpPr>
            <a:xfrm>
              <a:off x="5123685" y="4098010"/>
              <a:ext cx="2114934" cy="1441736"/>
              <a:chOff x="5660409" y="4375888"/>
              <a:chExt cx="2114934" cy="1441736"/>
            </a:xfrm>
          </p:grpSpPr>
          <p:pic>
            <p:nvPicPr>
              <p:cNvPr id="54" name="Picture 30" descr="戦略・策略のイラスト（女性）">
                <a:extLst>
                  <a:ext uri="{FF2B5EF4-FFF2-40B4-BE49-F238E27FC236}">
                    <a16:creationId xmlns:a16="http://schemas.microsoft.com/office/drawing/2014/main" id="{F5D6E186-A003-4BC4-9FBA-D00E1682EA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75998" y="4375888"/>
                <a:ext cx="999345" cy="941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36" descr="商談のイラスト">
                <a:extLst>
                  <a:ext uri="{FF2B5EF4-FFF2-40B4-BE49-F238E27FC236}">
                    <a16:creationId xmlns:a16="http://schemas.microsoft.com/office/drawing/2014/main" id="{991BD159-BDE1-42A7-BED9-5B17B6A929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0409" y="4512535"/>
                <a:ext cx="1004342" cy="8369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34" descr="電話をしながらガッツポーズをしているサラリーマンのイラスト">
                <a:extLst>
                  <a:ext uri="{FF2B5EF4-FFF2-40B4-BE49-F238E27FC236}">
                    <a16:creationId xmlns:a16="http://schemas.microsoft.com/office/drawing/2014/main" id="{199DF413-8887-4163-8E9D-57B3E59BE8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63410" y="4732764"/>
                <a:ext cx="941116" cy="10848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1" name="グループ化 16">
              <a:extLst>
                <a:ext uri="{FF2B5EF4-FFF2-40B4-BE49-F238E27FC236}">
                  <a16:creationId xmlns:a16="http://schemas.microsoft.com/office/drawing/2014/main" id="{D9E05855-0343-41F3-B7A6-D886D89E8951}"/>
                </a:ext>
              </a:extLst>
            </p:cNvPr>
            <p:cNvGrpSpPr/>
            <p:nvPr/>
          </p:nvGrpSpPr>
          <p:grpSpPr>
            <a:xfrm>
              <a:off x="4921381" y="1745480"/>
              <a:ext cx="2349239" cy="1677407"/>
              <a:chOff x="5511926" y="1815681"/>
              <a:chExt cx="2349239" cy="1677407"/>
            </a:xfrm>
          </p:grpSpPr>
          <p:pic>
            <p:nvPicPr>
              <p:cNvPr id="50" name="Picture 38" descr="卓上カレンダーのイラスト">
                <a:extLst>
                  <a:ext uri="{FF2B5EF4-FFF2-40B4-BE49-F238E27FC236}">
                    <a16:creationId xmlns:a16="http://schemas.microsoft.com/office/drawing/2014/main" id="{DCD6CE3F-F9D4-489F-BCB0-1EDD4F2D0A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90532" y="1823462"/>
                <a:ext cx="1230061" cy="11255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10" descr="キッチンタイマーのイラスト">
                <a:extLst>
                  <a:ext uri="{FF2B5EF4-FFF2-40B4-BE49-F238E27FC236}">
                    <a16:creationId xmlns:a16="http://schemas.microsoft.com/office/drawing/2014/main" id="{A69947B6-7D9F-4368-80A1-A21D334BAA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11926" y="1815681"/>
                <a:ext cx="984858" cy="9873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8" descr="過労のイラスト（男性）">
                <a:extLst>
                  <a:ext uri="{FF2B5EF4-FFF2-40B4-BE49-F238E27FC236}">
                    <a16:creationId xmlns:a16="http://schemas.microsoft.com/office/drawing/2014/main" id="{4F62B8F9-6687-4CA4-932C-DF19428456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24899" y="2237014"/>
                <a:ext cx="1183850" cy="12560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44" descr="イライラと待つ人のイラスト">
                <a:extLst>
                  <a:ext uri="{FF2B5EF4-FFF2-40B4-BE49-F238E27FC236}">
                    <a16:creationId xmlns:a16="http://schemas.microsoft.com/office/drawing/2014/main" id="{CB2C1953-237D-457E-A539-EAF8586016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60292" y="1947118"/>
                <a:ext cx="1000873" cy="12795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7" name="グループ化 18">
              <a:extLst>
                <a:ext uri="{FF2B5EF4-FFF2-40B4-BE49-F238E27FC236}">
                  <a16:creationId xmlns:a16="http://schemas.microsoft.com/office/drawing/2014/main" id="{2D3CAF24-C6DE-4C64-855D-90A6E8F412F1}"/>
                </a:ext>
              </a:extLst>
            </p:cNvPr>
            <p:cNvGrpSpPr/>
            <p:nvPr/>
          </p:nvGrpSpPr>
          <p:grpSpPr>
            <a:xfrm>
              <a:off x="1541807" y="4241731"/>
              <a:ext cx="2008869" cy="1153457"/>
              <a:chOff x="1710621" y="4512535"/>
              <a:chExt cx="2008869" cy="1153457"/>
            </a:xfrm>
          </p:grpSpPr>
          <p:pic>
            <p:nvPicPr>
              <p:cNvPr id="31" name="Picture 20" descr="喜ぶ会社員たちのイラスト">
                <a:extLst>
                  <a:ext uri="{FF2B5EF4-FFF2-40B4-BE49-F238E27FC236}">
                    <a16:creationId xmlns:a16="http://schemas.microsoft.com/office/drawing/2014/main" id="{D678F74C-5296-4660-867C-C05C54D335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0621" y="4512535"/>
                <a:ext cx="1097319" cy="10698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2" name="グループ化 11">
                <a:extLst>
                  <a:ext uri="{FF2B5EF4-FFF2-40B4-BE49-F238E27FC236}">
                    <a16:creationId xmlns:a16="http://schemas.microsoft.com/office/drawing/2014/main" id="{10BEBE34-63D4-4F70-BC4A-120684C5852C}"/>
                  </a:ext>
                </a:extLst>
              </p:cNvPr>
              <p:cNvGrpSpPr/>
              <p:nvPr/>
            </p:nvGrpSpPr>
            <p:grpSpPr>
              <a:xfrm>
                <a:off x="2618515" y="4574352"/>
                <a:ext cx="1100975" cy="1091640"/>
                <a:chOff x="2285151" y="4527706"/>
                <a:chExt cx="1720829" cy="1706239"/>
              </a:xfrm>
            </p:grpSpPr>
            <p:grpSp>
              <p:nvGrpSpPr>
                <p:cNvPr id="33" name="グループ化 9">
                  <a:extLst>
                    <a:ext uri="{FF2B5EF4-FFF2-40B4-BE49-F238E27FC236}">
                      <a16:creationId xmlns:a16="http://schemas.microsoft.com/office/drawing/2014/main" id="{A2CAADA0-492D-4F9C-A3E8-BCBC2D09755B}"/>
                    </a:ext>
                  </a:extLst>
                </p:cNvPr>
                <p:cNvGrpSpPr/>
                <p:nvPr/>
              </p:nvGrpSpPr>
              <p:grpSpPr>
                <a:xfrm>
                  <a:off x="2626705" y="4527706"/>
                  <a:ext cx="1379275" cy="1247039"/>
                  <a:chOff x="697461" y="4437056"/>
                  <a:chExt cx="1379275" cy="1247039"/>
                </a:xfrm>
              </p:grpSpPr>
              <p:pic>
                <p:nvPicPr>
                  <p:cNvPr id="43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A99BA598-98DD-4DEB-AC01-18319E2AEB6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93582" y="4437056"/>
                    <a:ext cx="606624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4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BD66FA27-E1D7-469D-A439-A217038C0E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53830" y="4663729"/>
                    <a:ext cx="606624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5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2C38C897-297E-4147-B197-67261B6AFFE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323790" y="4887528"/>
                    <a:ext cx="606624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6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590283D7-CD1B-401A-8495-0055CC42740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97461" y="4622643"/>
                    <a:ext cx="606624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7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D0343B41-939E-4DBF-B450-BDA8AE61AE2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11444" y="4781449"/>
                    <a:ext cx="606624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6E5438C2-4C1F-4A66-8C3B-0EB211DF19E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24587" y="5013941"/>
                    <a:ext cx="606622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9" name="Picture 2" descr="百円玉のイラスト（お金・硬貨）">
                    <a:extLst>
                      <a:ext uri="{FF2B5EF4-FFF2-40B4-BE49-F238E27FC236}">
                        <a16:creationId xmlns:a16="http://schemas.microsoft.com/office/drawing/2014/main" id="{724DBC60-5829-4C5F-BABF-B97D85DBF5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470112" y="5077471"/>
                    <a:ext cx="606624" cy="6066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4" name="グループ化 8">
                  <a:extLst>
                    <a:ext uri="{FF2B5EF4-FFF2-40B4-BE49-F238E27FC236}">
                      <a16:creationId xmlns:a16="http://schemas.microsoft.com/office/drawing/2014/main" id="{78A3AC54-4CD1-492D-9A5D-078039247BB5}"/>
                    </a:ext>
                  </a:extLst>
                </p:cNvPr>
                <p:cNvGrpSpPr/>
                <p:nvPr/>
              </p:nvGrpSpPr>
              <p:grpSpPr>
                <a:xfrm>
                  <a:off x="2285151" y="5039740"/>
                  <a:ext cx="1249205" cy="1194205"/>
                  <a:chOff x="266982" y="4822393"/>
                  <a:chExt cx="1249205" cy="1194205"/>
                </a:xfrm>
              </p:grpSpPr>
              <p:pic>
                <p:nvPicPr>
                  <p:cNvPr id="35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051DC976-869E-4F26-8C37-353ED83952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34390" y="4822393"/>
                    <a:ext cx="531790" cy="5358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6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E740BE7A-D7B9-4A0C-9175-F1CE87C06A6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59095" y="4972498"/>
                    <a:ext cx="531790" cy="5358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54582C0F-349A-4F36-83F4-C467FB60161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31997" y="5128376"/>
                    <a:ext cx="531790" cy="5358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8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DE7DA866-FFBD-4AD8-9D6B-1EDEAB91799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84397" y="5280776"/>
                    <a:ext cx="531790" cy="5358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9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53614F38-08BF-463A-835F-477FC03485D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66982" y="5039141"/>
                    <a:ext cx="531790" cy="5358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0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8E4E6325-A99E-4FA2-B615-2397C6DD156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6302" y="5183891"/>
                    <a:ext cx="531790" cy="53580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1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C90C5674-2613-46EF-A812-A2F2429A210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03720" y="5306479"/>
                    <a:ext cx="531790" cy="5358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2" name="Picture 4" descr="十円玉のイラスト（お金・硬貨）">
                    <a:extLst>
                      <a:ext uri="{FF2B5EF4-FFF2-40B4-BE49-F238E27FC236}">
                        <a16:creationId xmlns:a16="http://schemas.microsoft.com/office/drawing/2014/main" id="{96D5FC68-60AC-41A3-8166-1AF0A213AFE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63685" y="5480791"/>
                    <a:ext cx="531790" cy="53580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pic>
          <p:nvPicPr>
            <p:cNvPr id="29" name="図 75">
              <a:extLst>
                <a:ext uri="{FF2B5EF4-FFF2-40B4-BE49-F238E27FC236}">
                  <a16:creationId xmlns:a16="http://schemas.microsoft.com/office/drawing/2014/main" id="{444666D4-7D22-4BDE-B022-58A301A58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0751" y="4310259"/>
              <a:ext cx="748770" cy="516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0" name="図 76">
              <a:extLst>
                <a:ext uri="{FF2B5EF4-FFF2-40B4-BE49-F238E27FC236}">
                  <a16:creationId xmlns:a16="http://schemas.microsoft.com/office/drawing/2014/main" id="{47017DD3-49FD-4648-8856-029B125C6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700" y="4323616"/>
              <a:ext cx="748770" cy="51665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74" name="タイトル 1">
            <a:extLst>
              <a:ext uri="{FF2B5EF4-FFF2-40B4-BE49-F238E27FC236}">
                <a16:creationId xmlns:a16="http://schemas.microsoft.com/office/drawing/2014/main" id="{63FC2F7F-A4A7-4BAC-AC75-B8B0B97797C4}"/>
              </a:ext>
            </a:extLst>
          </p:cNvPr>
          <p:cNvSpPr txBox="1">
            <a:spLocks/>
          </p:cNvSpPr>
          <p:nvPr/>
        </p:nvSpPr>
        <p:spPr bwMode="auto">
          <a:xfrm>
            <a:off x="431540" y="830354"/>
            <a:ext cx="838835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它是云端服务，可以迅速制作，供团队使用的业务系统</a:t>
            </a:r>
            <a:r>
              <a:rPr lang="ja-JP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379E93-BDFC-4EAA-BB7B-94A0331611D9}"/>
              </a:ext>
            </a:extLst>
          </p:cNvPr>
          <p:cNvSpPr txBox="1"/>
          <p:nvPr/>
        </p:nvSpPr>
        <p:spPr>
          <a:xfrm>
            <a:off x="139238" y="2106216"/>
            <a:ext cx="1217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普通系统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CC1F7FF-4207-4B85-8935-140ADBC6DF94}"/>
              </a:ext>
            </a:extLst>
          </p:cNvPr>
          <p:cNvSpPr txBox="1"/>
          <p:nvPr/>
        </p:nvSpPr>
        <p:spPr>
          <a:xfrm>
            <a:off x="154943" y="3654318"/>
            <a:ext cx="1002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kintone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14708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5AF05324-0DAF-4D1C-9423-196C8A7F3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189020"/>
              </p:ext>
            </p:extLst>
          </p:nvPr>
        </p:nvGraphicFramePr>
        <p:xfrm>
          <a:off x="1111975" y="816555"/>
          <a:ext cx="6970415" cy="394950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342342">
                  <a:extLst>
                    <a:ext uri="{9D8B030D-6E8A-4147-A177-3AD203B41FA5}">
                      <a16:colId xmlns:a16="http://schemas.microsoft.com/office/drawing/2014/main" val="272232752"/>
                    </a:ext>
                  </a:extLst>
                </a:gridCol>
                <a:gridCol w="1875585">
                  <a:extLst>
                    <a:ext uri="{9D8B030D-6E8A-4147-A177-3AD203B41FA5}">
                      <a16:colId xmlns:a16="http://schemas.microsoft.com/office/drawing/2014/main" val="4160722829"/>
                    </a:ext>
                  </a:extLst>
                </a:gridCol>
                <a:gridCol w="1876904">
                  <a:extLst>
                    <a:ext uri="{9D8B030D-6E8A-4147-A177-3AD203B41FA5}">
                      <a16:colId xmlns:a16="http://schemas.microsoft.com/office/drawing/2014/main" val="587983653"/>
                    </a:ext>
                  </a:extLst>
                </a:gridCol>
                <a:gridCol w="1875584">
                  <a:extLst>
                    <a:ext uri="{9D8B030D-6E8A-4147-A177-3AD203B41FA5}">
                      <a16:colId xmlns:a16="http://schemas.microsoft.com/office/drawing/2014/main" val="3669209005"/>
                    </a:ext>
                  </a:extLst>
                </a:gridCol>
              </a:tblGrid>
              <a:tr h="14210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メイリオ" pitchFamily="50" charset="-128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9092D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数据库</a:t>
                      </a:r>
                      <a:endParaRPr kumimoji="1" lang="ja-JP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026" marR="76026" marT="37981" marB="37981" horzOverflow="overflow">
                    <a:solidFill>
                      <a:srgbClr val="9092D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流程管理</a:t>
                      </a:r>
                      <a:endParaRPr kumimoji="1" lang="ja-JP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026" marR="76026" marT="37981" marB="37981" horzOverflow="overflow">
                    <a:solidFill>
                      <a:srgbClr val="9092D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交流</a:t>
                      </a:r>
                      <a:endParaRPr kumimoji="1" lang="ja-JP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026" marR="76026" marT="37981" marB="37981" horzOverflow="overflow">
                    <a:solidFill>
                      <a:srgbClr val="909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829979"/>
                  </a:ext>
                </a:extLst>
              </a:tr>
              <a:tr h="8428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メイリオ" pitchFamily="50" charset="-128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メイリオ" pitchFamily="50" charset="-128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メイリオ" pitchFamily="50" charset="-128"/>
                        <a:cs typeface="+mn-cs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メイリオ" pitchFamily="50" charset="-128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16262"/>
                  </a:ext>
                </a:extLst>
              </a:tr>
              <a:tr h="8428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1" lang="en-US" altLang="ja-JP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ERP</a:t>
                      </a:r>
                      <a:r>
                        <a:rPr kumimoji="1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等</a:t>
                      </a:r>
                      <a:endParaRPr kumimoji="1" lang="en-US" altLang="zh-CN" sz="160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业务系统</a:t>
                      </a:r>
                      <a:endParaRPr kumimoji="1" lang="en-US" altLang="ja-JP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メイリオ" pitchFamily="50" charset="-128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メイリオ" pitchFamily="50" charset="-128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メイリオ" pitchFamily="50" charset="-128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279989"/>
                  </a:ext>
                </a:extLst>
              </a:tr>
              <a:tr h="8428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ja-JP" sz="16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ja-JP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Excel</a:t>
                      </a: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メイリオ" pitchFamily="50" charset="-128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メイリオ" pitchFamily="50" charset="-128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4BACC6"/>
                        </a:buClr>
                        <a:buSzPct val="5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メイリオ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ja-JP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メイリオ" pitchFamily="50" charset="-128"/>
                        <a:cs typeface="Arial" panose="020B0604020202020204" pitchFamily="34" charset="0"/>
                      </a:endParaRPr>
                    </a:p>
                  </a:txBody>
                  <a:tcPr marL="76026" marR="76026" marT="37981" marB="37981" horzOverflow="overflow">
                    <a:solidFill>
                      <a:srgbClr val="E9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305860"/>
                  </a:ext>
                </a:extLst>
              </a:tr>
            </a:tbl>
          </a:graphicData>
        </a:graphic>
      </p:graphicFrame>
      <p:pic>
        <p:nvPicPr>
          <p:cNvPr id="6" name="図 12" descr="icon_6m_192.png">
            <a:extLst>
              <a:ext uri="{FF2B5EF4-FFF2-40B4-BE49-F238E27FC236}">
                <a16:creationId xmlns:a16="http://schemas.microsoft.com/office/drawing/2014/main" id="{FBD52450-8728-4680-B696-2CE02D558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517" y="864629"/>
            <a:ext cx="834179" cy="83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図形グループ 10">
            <a:extLst>
              <a:ext uri="{FF2B5EF4-FFF2-40B4-BE49-F238E27FC236}">
                <a16:creationId xmlns:a16="http://schemas.microsoft.com/office/drawing/2014/main" id="{B8686F03-B85D-49D0-9E65-B855AEBBD481}"/>
              </a:ext>
            </a:extLst>
          </p:cNvPr>
          <p:cNvGrpSpPr>
            <a:grpSpLocks/>
          </p:cNvGrpSpPr>
          <p:nvPr/>
        </p:nvGrpSpPr>
        <p:grpSpPr bwMode="auto">
          <a:xfrm>
            <a:off x="6521709" y="1010371"/>
            <a:ext cx="1350262" cy="754986"/>
            <a:chOff x="6300788" y="2325688"/>
            <a:chExt cx="2354262" cy="1316037"/>
          </a:xfrm>
        </p:grpSpPr>
        <p:pic>
          <p:nvPicPr>
            <p:cNvPr id="8" name="図 13">
              <a:extLst>
                <a:ext uri="{FF2B5EF4-FFF2-40B4-BE49-F238E27FC236}">
                  <a16:creationId xmlns:a16="http://schemas.microsoft.com/office/drawing/2014/main" id="{A4ADD0BC-EBDB-45ED-AA7A-628FD89EC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3250" y="2325688"/>
              <a:ext cx="719138" cy="719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図 14">
              <a:extLst>
                <a:ext uri="{FF2B5EF4-FFF2-40B4-BE49-F238E27FC236}">
                  <a16:creationId xmlns:a16="http://schemas.microsoft.com/office/drawing/2014/main" id="{388F0FEE-0223-4F11-9D49-DB4C81BF9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72388" y="2659063"/>
              <a:ext cx="982662" cy="98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図 15">
              <a:extLst>
                <a:ext uri="{FF2B5EF4-FFF2-40B4-BE49-F238E27FC236}">
                  <a16:creationId xmlns:a16="http://schemas.microsoft.com/office/drawing/2014/main" id="{2C6EEF5F-5981-4367-B571-52F70ED5C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0788" y="2655888"/>
              <a:ext cx="985837" cy="985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図 16">
              <a:extLst>
                <a:ext uri="{FF2B5EF4-FFF2-40B4-BE49-F238E27FC236}">
                  <a16:creationId xmlns:a16="http://schemas.microsoft.com/office/drawing/2014/main" id="{69E69013-6AAF-430A-9CCA-0405576B6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269163" y="2543175"/>
              <a:ext cx="722312" cy="72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" name="図 11" descr="color9_mat.png">
            <a:extLst>
              <a:ext uri="{FF2B5EF4-FFF2-40B4-BE49-F238E27FC236}">
                <a16:creationId xmlns:a16="http://schemas.microsoft.com/office/drawing/2014/main" id="{A1890BA9-E410-45B6-89B0-7BCEFDF8A16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494" y="2301720"/>
            <a:ext cx="997848" cy="69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hape 62">
            <a:extLst>
              <a:ext uri="{FF2B5EF4-FFF2-40B4-BE49-F238E27FC236}">
                <a16:creationId xmlns:a16="http://schemas.microsoft.com/office/drawing/2014/main" id="{F0A3BE60-19C8-4154-A5A6-F78106972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609" y="2301720"/>
            <a:ext cx="589997" cy="70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4050" b="1" dirty="0">
                <a:solidFill>
                  <a:srgbClr val="6769C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〇</a:t>
            </a:r>
          </a:p>
        </p:txBody>
      </p:sp>
      <p:sp>
        <p:nvSpPr>
          <p:cNvPr id="15" name="Shape 62">
            <a:extLst>
              <a:ext uri="{FF2B5EF4-FFF2-40B4-BE49-F238E27FC236}">
                <a16:creationId xmlns:a16="http://schemas.microsoft.com/office/drawing/2014/main" id="{EF2F293C-BC77-4697-A645-1ECAE6BC1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661" y="2968954"/>
            <a:ext cx="589997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5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×</a:t>
            </a:r>
          </a:p>
        </p:txBody>
      </p:sp>
      <p:sp>
        <p:nvSpPr>
          <p:cNvPr id="16" name="Shape 62">
            <a:extLst>
              <a:ext uri="{FF2B5EF4-FFF2-40B4-BE49-F238E27FC236}">
                <a16:creationId xmlns:a16="http://schemas.microsoft.com/office/drawing/2014/main" id="{118111CC-6313-4843-B347-8CFB67B9B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045" y="3156815"/>
            <a:ext cx="589997" cy="70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4050" b="1" dirty="0">
                <a:solidFill>
                  <a:srgbClr val="6769C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〇</a:t>
            </a:r>
          </a:p>
        </p:txBody>
      </p:sp>
      <p:sp>
        <p:nvSpPr>
          <p:cNvPr id="17" name="Shape 62">
            <a:extLst>
              <a:ext uri="{FF2B5EF4-FFF2-40B4-BE49-F238E27FC236}">
                <a16:creationId xmlns:a16="http://schemas.microsoft.com/office/drawing/2014/main" id="{2243318B-18E3-4198-A98F-5B8CA5BF4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045" y="2301720"/>
            <a:ext cx="589997" cy="70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4050" b="1" dirty="0">
                <a:solidFill>
                  <a:srgbClr val="6769C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〇</a:t>
            </a:r>
          </a:p>
        </p:txBody>
      </p:sp>
      <p:sp>
        <p:nvSpPr>
          <p:cNvPr id="18" name="Shape 62">
            <a:extLst>
              <a:ext uri="{FF2B5EF4-FFF2-40B4-BE49-F238E27FC236}">
                <a16:creationId xmlns:a16="http://schemas.microsoft.com/office/drawing/2014/main" id="{22A995E9-3330-4559-8876-34B05AE02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661" y="2301720"/>
            <a:ext cx="589997" cy="70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4050" b="1" dirty="0">
                <a:solidFill>
                  <a:srgbClr val="6769C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〇</a:t>
            </a:r>
          </a:p>
        </p:txBody>
      </p:sp>
      <p:sp>
        <p:nvSpPr>
          <p:cNvPr id="19" name="Shape 62">
            <a:extLst>
              <a:ext uri="{FF2B5EF4-FFF2-40B4-BE49-F238E27FC236}">
                <a16:creationId xmlns:a16="http://schemas.microsoft.com/office/drawing/2014/main" id="{835426AA-9C79-435E-AAF9-61DCA2EC3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609" y="3156815"/>
            <a:ext cx="589997" cy="70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4050" b="1" dirty="0">
                <a:solidFill>
                  <a:srgbClr val="6769C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〇</a:t>
            </a:r>
          </a:p>
        </p:txBody>
      </p:sp>
      <p:sp>
        <p:nvSpPr>
          <p:cNvPr id="20" name="Shape 62">
            <a:extLst>
              <a:ext uri="{FF2B5EF4-FFF2-40B4-BE49-F238E27FC236}">
                <a16:creationId xmlns:a16="http://schemas.microsoft.com/office/drawing/2014/main" id="{7C1067E6-2D44-4F68-BF33-DB0466023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609" y="3986793"/>
            <a:ext cx="589997" cy="700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4050" b="1" dirty="0">
                <a:solidFill>
                  <a:srgbClr val="6769C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〇</a:t>
            </a:r>
          </a:p>
        </p:txBody>
      </p:sp>
      <p:sp>
        <p:nvSpPr>
          <p:cNvPr id="21" name="テキスト ボックス 24">
            <a:extLst>
              <a:ext uri="{FF2B5EF4-FFF2-40B4-BE49-F238E27FC236}">
                <a16:creationId xmlns:a16="http://schemas.microsoft.com/office/drawing/2014/main" id="{D352980D-1C49-46A9-BA3C-12ACB8DA9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225" y="3651870"/>
            <a:ext cx="11701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以邮件等方式进行</a:t>
            </a:r>
            <a:endParaRPr lang="ja-JP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Shape 62">
            <a:extLst>
              <a:ext uri="{FF2B5EF4-FFF2-40B4-BE49-F238E27FC236}">
                <a16:creationId xmlns:a16="http://schemas.microsoft.com/office/drawing/2014/main" id="{9120FCDA-C32F-460E-A3B0-9A5E6CD5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6661" y="3779044"/>
            <a:ext cx="589997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5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×</a:t>
            </a:r>
          </a:p>
        </p:txBody>
      </p:sp>
      <p:sp>
        <p:nvSpPr>
          <p:cNvPr id="23" name="テキスト ボックス 26">
            <a:extLst>
              <a:ext uri="{FF2B5EF4-FFF2-40B4-BE49-F238E27FC236}">
                <a16:creationId xmlns:a16="http://schemas.microsoft.com/office/drawing/2014/main" id="{E37DF31E-FD16-43CB-9326-1E0842529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225" y="4501158"/>
            <a:ext cx="117013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以邮件等方式进行</a:t>
            </a:r>
            <a:endParaRPr lang="ja-JP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62">
            <a:extLst>
              <a:ext uri="{FF2B5EF4-FFF2-40B4-BE49-F238E27FC236}">
                <a16:creationId xmlns:a16="http://schemas.microsoft.com/office/drawing/2014/main" id="{AF1082DF-7A86-40B6-AED5-A11FA68CD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045" y="3779044"/>
            <a:ext cx="589997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38100" tIns="38100" rIns="38100" bIns="38100" anchor="ctr">
            <a:spAutoFit/>
          </a:bodyPr>
          <a:lstStyle>
            <a:lvl1pPr defTabSz="457200"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5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" panose="020B0604020202020204" pitchFamily="34" charset="0"/>
              </a:rPr>
              <a:t>×</a:t>
            </a:r>
          </a:p>
        </p:txBody>
      </p:sp>
      <p:sp>
        <p:nvSpPr>
          <p:cNvPr id="25" name="テキスト ボックス 28">
            <a:extLst>
              <a:ext uri="{FF2B5EF4-FFF2-40B4-BE49-F238E27FC236}">
                <a16:creationId xmlns:a16="http://schemas.microsoft.com/office/drawing/2014/main" id="{E77657D5-3D82-4741-BB55-3AFB784FE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015" y="4501158"/>
            <a:ext cx="111545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BACC6"/>
              </a:buClr>
              <a:buSzPct val="55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メイリオ" pitchFamily="50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以邮件方式等进行</a:t>
            </a:r>
            <a:endParaRPr lang="ja-JP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B221B94C-BDF4-4FCF-92E4-EED1B1555809}"/>
              </a:ext>
            </a:extLst>
          </p:cNvPr>
          <p:cNvSpPr txBox="1"/>
          <p:nvPr/>
        </p:nvSpPr>
        <p:spPr>
          <a:xfrm>
            <a:off x="476520" y="174870"/>
            <a:ext cx="59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和熟知工具的对比</a:t>
            </a:r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C39AC1F2-1C80-4F07-B211-D1A7710D5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7025" y="864629"/>
            <a:ext cx="1025441" cy="868317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194640588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圆角矩形 27"/>
          <p:cNvSpPr/>
          <p:nvPr/>
        </p:nvSpPr>
        <p:spPr>
          <a:xfrm>
            <a:off x="853070" y="1612058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3538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76150" y="1612058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826717" y="2001201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35388B"/>
                </a:solidFill>
              </a:rPr>
              <a:t>营业业务：客户管理、商谈报告、日报等</a:t>
            </a:r>
          </a:p>
        </p:txBody>
      </p:sp>
      <p:pic>
        <p:nvPicPr>
          <p:cNvPr id="34" name="Picture 4" descr="C:\Documents and Settings\Administrator\桌面\图标\ico\verified-us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85" y="1758246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圆角矩形 35"/>
          <p:cNvSpPr/>
          <p:nvPr/>
        </p:nvSpPr>
        <p:spPr>
          <a:xfrm>
            <a:off x="853070" y="2737183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6769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776150" y="2737183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1826717" y="3066805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6769C5"/>
                </a:solidFill>
              </a:rPr>
              <a:t>店铺管理：店铺报告、通知、来电询问等</a:t>
            </a:r>
          </a:p>
        </p:txBody>
      </p:sp>
      <p:sp>
        <p:nvSpPr>
          <p:cNvPr id="42" name="圆角矩形 41"/>
          <p:cNvSpPr/>
          <p:nvPr/>
        </p:nvSpPr>
        <p:spPr>
          <a:xfrm>
            <a:off x="853070" y="3862308"/>
            <a:ext cx="7409340" cy="959692"/>
          </a:xfrm>
          <a:prstGeom prst="roundRect">
            <a:avLst>
              <a:gd name="adj" fmla="val 9001"/>
            </a:avLst>
          </a:prstGeom>
          <a:solidFill>
            <a:srgbClr val="3538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1776150" y="3862308"/>
            <a:ext cx="6306262" cy="9596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1826717" y="4244193"/>
            <a:ext cx="4104456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35388B"/>
                </a:solidFill>
              </a:rPr>
              <a:t>电子申请：休假申请、经费申请等</a:t>
            </a:r>
          </a:p>
        </p:txBody>
      </p:sp>
      <p:pic>
        <p:nvPicPr>
          <p:cNvPr id="55" name="Picture 3" descr="C:\Documents and Settings\Administrator\桌面\图标\ico\cloud-queu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45" y="2883371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C:\Documents and Settings\Administrator\桌面\图标\ico\vpn-lock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44" y="4008496"/>
            <a:ext cx="667315" cy="66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A7B3226C-C32D-4838-8E1B-8A07949C45D5}"/>
              </a:ext>
            </a:extLst>
          </p:cNvPr>
          <p:cNvSpPr txBox="1"/>
          <p:nvPr/>
        </p:nvSpPr>
        <p:spPr>
          <a:xfrm>
            <a:off x="476520" y="174870"/>
            <a:ext cx="59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的业务范围</a:t>
            </a:r>
          </a:p>
        </p:txBody>
      </p:sp>
      <p:sp>
        <p:nvSpPr>
          <p:cNvPr id="16" name="テキスト ボックス 3">
            <a:extLst>
              <a:ext uri="{FF2B5EF4-FFF2-40B4-BE49-F238E27FC236}">
                <a16:creationId xmlns:a16="http://schemas.microsoft.com/office/drawing/2014/main" id="{29B167C8-1F15-41F8-9F06-E0D9AB0C41F6}"/>
              </a:ext>
            </a:extLst>
          </p:cNvPr>
          <p:cNvSpPr txBox="1"/>
          <p:nvPr/>
        </p:nvSpPr>
        <p:spPr>
          <a:xfrm>
            <a:off x="0" y="95157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可以实现</a:t>
            </a:r>
            <a:r>
              <a:rPr lang="zh-CN" altLang="en-US" sz="2000" b="1" dirty="0">
                <a:solidFill>
                  <a:srgbClr val="C00000"/>
                </a:solidFill>
                <a:latin typeface="Impact" pitchFamily="34" charset="0"/>
              </a:rPr>
              <a:t>各个行业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的业务改善，</a:t>
            </a:r>
            <a:r>
              <a:rPr lang="zh-CN" altLang="en-US" b="1" dirty="0"/>
              <a:t>普遍的业务流程有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01183142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DCB13974-CC14-4E71-A688-0AB99195A7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7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453" y="1531189"/>
            <a:ext cx="2843707" cy="2840761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9182685-FBE5-481E-AFAD-A690C693E67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93" t="19012" r="33123" b="11796"/>
          <a:stretch/>
        </p:blipFill>
        <p:spPr>
          <a:xfrm>
            <a:off x="5743484" y="3651870"/>
            <a:ext cx="1258786" cy="1186301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458FB16-3416-48EA-875B-000784FF5B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81" t="-1168" r="17735" b="1168"/>
          <a:stretch/>
        </p:blipFill>
        <p:spPr>
          <a:xfrm>
            <a:off x="2207825" y="3553577"/>
            <a:ext cx="1118921" cy="1524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0FD8BD-7D3D-4E5F-98AC-0F7026BAB5C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57" r="49999"/>
          <a:stretch/>
        </p:blipFill>
        <p:spPr>
          <a:xfrm>
            <a:off x="6510399" y="2043812"/>
            <a:ext cx="867537" cy="142875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19108BFA-97FA-4B5D-B98E-4410A899B39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78" r="1438"/>
          <a:stretch/>
        </p:blipFill>
        <p:spPr>
          <a:xfrm>
            <a:off x="1796793" y="1818318"/>
            <a:ext cx="1398651" cy="19050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13416FD9-727D-49FB-9A3F-00EE81F4EF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1" r="64845"/>
          <a:stretch/>
        </p:blipFill>
        <p:spPr>
          <a:xfrm>
            <a:off x="5546608" y="482520"/>
            <a:ext cx="1188853" cy="16192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6C12BF6-027F-423A-841F-5BB0CC3039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882" b="10455"/>
          <a:stretch/>
        </p:blipFill>
        <p:spPr>
          <a:xfrm>
            <a:off x="2510080" y="863520"/>
            <a:ext cx="1183604" cy="1108793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3203344" y="1570272"/>
            <a:ext cx="2745305" cy="274530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870856" y="2221870"/>
            <a:ext cx="146386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kintone</a:t>
            </a:r>
          </a:p>
          <a:p>
            <a:pPr lvl="0"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可以做</a:t>
            </a:r>
            <a:endParaRPr lang="en-US" altLang="zh-CN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直接连接符 9"/>
          <p:cNvCxnSpPr>
            <a:cxnSpLocks/>
            <a:stCxn id="20" idx="7"/>
          </p:cNvCxnSpPr>
          <p:nvPr/>
        </p:nvCxnSpPr>
        <p:spPr>
          <a:xfrm flipV="1">
            <a:off x="5546608" y="1705703"/>
            <a:ext cx="234903" cy="26661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0" idx="1"/>
          </p:cNvCxnSpPr>
          <p:nvPr/>
        </p:nvCxnSpPr>
        <p:spPr>
          <a:xfrm flipH="1" flipV="1">
            <a:off x="3479775" y="1868852"/>
            <a:ext cx="125610" cy="10346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/>
            <a:stCxn id="20" idx="2"/>
          </p:cNvCxnSpPr>
          <p:nvPr/>
        </p:nvCxnSpPr>
        <p:spPr>
          <a:xfrm flipH="1" flipV="1">
            <a:off x="3012214" y="2931461"/>
            <a:ext cx="191130" cy="11464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cxnSpLocks/>
            <a:stCxn id="20" idx="5"/>
          </p:cNvCxnSpPr>
          <p:nvPr/>
        </p:nvCxnSpPr>
        <p:spPr>
          <a:xfrm>
            <a:off x="5546608" y="3913536"/>
            <a:ext cx="310904" cy="28804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cxnSpLocks/>
            <a:stCxn id="20" idx="3"/>
          </p:cNvCxnSpPr>
          <p:nvPr/>
        </p:nvCxnSpPr>
        <p:spPr>
          <a:xfrm flipH="1">
            <a:off x="3195444" y="3913536"/>
            <a:ext cx="409941" cy="40987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/>
            <a:stCxn id="20" idx="6"/>
          </p:cNvCxnSpPr>
          <p:nvPr/>
        </p:nvCxnSpPr>
        <p:spPr>
          <a:xfrm flipV="1">
            <a:off x="5948649" y="2942792"/>
            <a:ext cx="596616" cy="13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6">
            <a:extLst>
              <a:ext uri="{FF2B5EF4-FFF2-40B4-BE49-F238E27FC236}">
                <a16:creationId xmlns:a16="http://schemas.microsoft.com/office/drawing/2014/main" id="{F84DB699-FEB8-4E38-80F6-AFE4C7F93D03}"/>
              </a:ext>
            </a:extLst>
          </p:cNvPr>
          <p:cNvSpPr txBox="1"/>
          <p:nvPr/>
        </p:nvSpPr>
        <p:spPr>
          <a:xfrm>
            <a:off x="476520" y="17487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用 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可以做</a:t>
            </a:r>
          </a:p>
        </p:txBody>
      </p:sp>
    </p:spTree>
    <p:extLst>
      <p:ext uri="{BB962C8B-B14F-4D97-AF65-F5344CB8AC3E}">
        <p14:creationId xmlns:p14="http://schemas.microsoft.com/office/powerpoint/2010/main" val="351987391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CD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2166704"/>
            <a:ext cx="9144000" cy="450051"/>
          </a:xfrm>
          <a:prstGeom prst="rect">
            <a:avLst/>
          </a:prstGeom>
          <a:solidFill>
            <a:srgbClr val="4BB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6495" y="-1433695"/>
            <a:ext cx="3531736" cy="8094524"/>
          </a:xfrm>
          <a:prstGeom prst="rect">
            <a:avLst/>
          </a:prstGeom>
          <a:noFill/>
          <a:effectLst>
            <a:outerShdw blurRad="165100" dist="76200" dir="1200000" algn="tl" rotWithShape="0">
              <a:prstClr val="black">
                <a:alpha val="1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52000" dirty="0">
                <a:solidFill>
                  <a:schemeClr val="bg1"/>
                </a:solidFill>
                <a:latin typeface="+mj-lt"/>
              </a:rPr>
              <a:t>2</a:t>
            </a:r>
            <a:endParaRPr lang="zh-CN" altLang="en-US" sz="5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79089" y="2166705"/>
            <a:ext cx="5178376" cy="441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3000"/>
              </a:lnSpc>
            </a:pPr>
            <a:r>
              <a:rPr lang="zh-CN" altLang="en-US" sz="2000" dirty="0">
                <a:solidFill>
                  <a:schemeClr val="bg1"/>
                </a:solidFill>
              </a:rPr>
              <a:t>实际操作如何使用</a:t>
            </a:r>
            <a:r>
              <a:rPr lang="en-US" altLang="zh-CN" sz="2000" dirty="0">
                <a:solidFill>
                  <a:schemeClr val="bg1"/>
                </a:solidFill>
              </a:rPr>
              <a:t>kintone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44285" y="1397264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zh-CN" altLang="en-US" sz="4400" b="1" dirty="0">
                <a:solidFill>
                  <a:schemeClr val="bg1"/>
                </a:solidFill>
                <a:latin typeface="Impact"/>
              </a:rPr>
              <a:t>实践</a:t>
            </a:r>
          </a:p>
        </p:txBody>
      </p:sp>
      <p:sp>
        <p:nvSpPr>
          <p:cNvPr id="25" name="矩形 24"/>
          <p:cNvSpPr/>
          <p:nvPr/>
        </p:nvSpPr>
        <p:spPr>
          <a:xfrm>
            <a:off x="3536885" y="2691666"/>
            <a:ext cx="5220580" cy="1387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u="sng" dirty="0">
                <a:solidFill>
                  <a:schemeClr val="bg1"/>
                </a:solidFill>
                <a:hlinkClick r:id="rId3"/>
              </a:rPr>
              <a:t>https://devcamp.cybozu.cn/k/#/portal</a:t>
            </a:r>
            <a:endParaRPr lang="en-US" altLang="zh-CN" sz="24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用户名和密码请查看签到时分发的纸张</a:t>
            </a:r>
            <a:endParaRPr lang="en-US" altLang="zh-CN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（本次账号</a:t>
            </a:r>
            <a:r>
              <a:rPr lang="zh-CN" altLang="en-US" sz="1600" dirty="0">
                <a:solidFill>
                  <a:srgbClr val="FDA907"/>
                </a:solidFill>
                <a:latin typeface="+mn-ea"/>
              </a:rPr>
              <a:t>有效期</a:t>
            </a:r>
            <a:r>
              <a:rPr lang="en-US" altLang="zh-CN" sz="1600" dirty="0">
                <a:solidFill>
                  <a:srgbClr val="FDA907"/>
                </a:solidFill>
                <a:latin typeface="+mn-ea"/>
              </a:rPr>
              <a:t>2</a:t>
            </a:r>
            <a:r>
              <a:rPr lang="zh-CN" altLang="en-US" sz="1600" dirty="0">
                <a:solidFill>
                  <a:srgbClr val="FDA907"/>
                </a:solidFill>
                <a:latin typeface="+mn-ea"/>
              </a:rPr>
              <a:t>周</a:t>
            </a:r>
            <a:r>
              <a:rPr lang="zh-CN" altLang="en-US" sz="1600" dirty="0">
                <a:solidFill>
                  <a:schemeClr val="bg1"/>
                </a:solidFill>
                <a:latin typeface="+mn-ea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31044D-8E54-4EAA-B965-53777B6E1426}"/>
              </a:ext>
            </a:extLst>
          </p:cNvPr>
          <p:cNvSpPr txBox="1"/>
          <p:nvPr/>
        </p:nvSpPr>
        <p:spPr>
          <a:xfrm>
            <a:off x="3552480" y="4157497"/>
            <a:ext cx="5030177" cy="511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课后如想继续使用</a:t>
            </a: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kintone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环境，可获取</a:t>
            </a: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30</a:t>
            </a:r>
            <a:r>
              <a:rPr lang="zh-CN" altLang="en-US" sz="1100" dirty="0">
                <a:solidFill>
                  <a:schemeClr val="bg1"/>
                </a:solidFill>
                <a:latin typeface="+mn-ea"/>
              </a:rPr>
              <a:t>天免费试用环境：</a:t>
            </a:r>
            <a:endParaRPr lang="en-US" altLang="zh-CN" sz="1100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+mn-ea"/>
              </a:rPr>
              <a:t>https://www.cybozu.cn/contact/</a:t>
            </a:r>
            <a:endParaRPr lang="zh-CN" altLang="en-US" sz="11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688876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D410F1E-3BDD-46BE-9706-4D033712F92B}"/>
              </a:ext>
            </a:extLst>
          </p:cNvPr>
          <p:cNvSpPr txBox="1"/>
          <p:nvPr/>
        </p:nvSpPr>
        <p:spPr>
          <a:xfrm>
            <a:off x="476520" y="14148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界面介绍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A80743-C052-4896-BD86-547FBD4F0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735" y="1025058"/>
            <a:ext cx="4745693" cy="39769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739BD41-CA6A-4E14-93D4-AF067BEED2A8}"/>
              </a:ext>
            </a:extLst>
          </p:cNvPr>
          <p:cNvSpPr/>
          <p:nvPr/>
        </p:nvSpPr>
        <p:spPr>
          <a:xfrm>
            <a:off x="2186735" y="1312725"/>
            <a:ext cx="3350540" cy="207387"/>
          </a:xfrm>
          <a:prstGeom prst="rect">
            <a:avLst/>
          </a:prstGeom>
          <a:noFill/>
          <a:ln w="2540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D6E358-55C9-4326-9DDC-9BD40DF136E4}"/>
              </a:ext>
            </a:extLst>
          </p:cNvPr>
          <p:cNvSpPr/>
          <p:nvPr/>
        </p:nvSpPr>
        <p:spPr>
          <a:xfrm>
            <a:off x="5048534" y="1864271"/>
            <a:ext cx="1818724" cy="465932"/>
          </a:xfrm>
          <a:prstGeom prst="rect">
            <a:avLst/>
          </a:prstGeom>
          <a:noFill/>
          <a:ln w="2540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23E78C-A086-4B9E-BDB8-CFF0E0BD956D}"/>
              </a:ext>
            </a:extLst>
          </p:cNvPr>
          <p:cNvSpPr/>
          <p:nvPr/>
        </p:nvSpPr>
        <p:spPr>
          <a:xfrm>
            <a:off x="5048531" y="2417891"/>
            <a:ext cx="1818726" cy="648914"/>
          </a:xfrm>
          <a:prstGeom prst="rect">
            <a:avLst/>
          </a:prstGeom>
          <a:noFill/>
          <a:ln w="2540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7B88AE-F124-48CC-AF1B-5710D3F55D5B}"/>
              </a:ext>
            </a:extLst>
          </p:cNvPr>
          <p:cNvSpPr/>
          <p:nvPr/>
        </p:nvSpPr>
        <p:spPr>
          <a:xfrm>
            <a:off x="5068700" y="3120247"/>
            <a:ext cx="1818725" cy="1881773"/>
          </a:xfrm>
          <a:prstGeom prst="rect">
            <a:avLst/>
          </a:prstGeom>
          <a:noFill/>
          <a:ln w="2540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2C9E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F9343C-C3C2-468D-868D-9662AEB23D30}"/>
              </a:ext>
            </a:extLst>
          </p:cNvPr>
          <p:cNvSpPr/>
          <p:nvPr/>
        </p:nvSpPr>
        <p:spPr>
          <a:xfrm>
            <a:off x="2231740" y="1851005"/>
            <a:ext cx="2751620" cy="749228"/>
          </a:xfrm>
          <a:prstGeom prst="rect">
            <a:avLst/>
          </a:prstGeom>
          <a:noFill/>
          <a:ln w="2540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9A98951-C7E6-4301-998B-8D8D6DA8E2FC}"/>
              </a:ext>
            </a:extLst>
          </p:cNvPr>
          <p:cNvSpPr/>
          <p:nvPr/>
        </p:nvSpPr>
        <p:spPr>
          <a:xfrm>
            <a:off x="393322" y="681540"/>
            <a:ext cx="92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4BB968"/>
                </a:solidFill>
              </a:rPr>
              <a:t>导航条</a:t>
            </a:r>
            <a:endParaRPr lang="en-US" altLang="zh-CN" sz="1400" b="1" dirty="0">
              <a:solidFill>
                <a:srgbClr val="4BB968"/>
              </a:solidFill>
              <a:latin typeface="+mj-ea"/>
              <a:ea typeface="+mj-ea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92AE82EA-D311-4126-A835-E7A2F54DF9C9}"/>
              </a:ext>
            </a:extLst>
          </p:cNvPr>
          <p:cNvSpPr txBox="1"/>
          <p:nvPr/>
        </p:nvSpPr>
        <p:spPr>
          <a:xfrm>
            <a:off x="476520" y="1063002"/>
            <a:ext cx="1845205" cy="1681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侧边菜单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门户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通知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书签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设置菜单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帮助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05B8ECA7-5D03-4CE4-9E54-EC2ED4B011CC}"/>
              </a:ext>
            </a:extLst>
          </p:cNvPr>
          <p:cNvSpPr txBox="1"/>
          <p:nvPr/>
        </p:nvSpPr>
        <p:spPr>
          <a:xfrm>
            <a:off x="116505" y="3156815"/>
            <a:ext cx="1746247" cy="160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显示未读通知。在下拉菜单中可选择“与我相关”的通知。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如需再次查看已读通知，请点击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已读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切换显示。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1934AE5-6DD5-42D8-A5E9-04BB22434B15}"/>
              </a:ext>
            </a:extLst>
          </p:cNvPr>
          <p:cNvSpPr/>
          <p:nvPr/>
        </p:nvSpPr>
        <p:spPr>
          <a:xfrm>
            <a:off x="391347" y="2817425"/>
            <a:ext cx="794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</a:rPr>
              <a:t>通知</a:t>
            </a:r>
            <a:endParaRPr lang="en-US" altLang="zh-CN" sz="1400" b="1" dirty="0">
              <a:solidFill>
                <a:srgbClr val="62C9E2"/>
              </a:solidFill>
              <a:latin typeface="+mj-ea"/>
              <a:ea typeface="+mj-ea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790FF75-8145-4CCF-9DE2-DF8D5707A270}"/>
              </a:ext>
            </a:extLst>
          </p:cNvPr>
          <p:cNvGrpSpPr/>
          <p:nvPr/>
        </p:nvGrpSpPr>
        <p:grpSpPr>
          <a:xfrm flipV="1">
            <a:off x="161667" y="2533551"/>
            <a:ext cx="2287051" cy="616029"/>
            <a:chOff x="755576" y="1779662"/>
            <a:chExt cx="2880320" cy="360040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396E98F-D2AF-4A68-80A2-10FA6F722C3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62C9E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A17FDEB-BD78-499F-9780-3F775D226156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62C9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81F4538-7155-4A05-A490-605F2D0BECCD}"/>
              </a:ext>
            </a:extLst>
          </p:cNvPr>
          <p:cNvGrpSpPr/>
          <p:nvPr/>
        </p:nvGrpSpPr>
        <p:grpSpPr>
          <a:xfrm flipH="1">
            <a:off x="6507215" y="1235641"/>
            <a:ext cx="2287051" cy="616029"/>
            <a:chOff x="755576" y="1779662"/>
            <a:chExt cx="2880320" cy="360040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072B3AF2-21A9-4C12-9F5B-7C730724EF10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C9404B1-1190-4D2F-B20F-9145D0638285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5E49104-A23B-46C7-8A7A-E630AC12C8EB}"/>
              </a:ext>
            </a:extLst>
          </p:cNvPr>
          <p:cNvGrpSpPr/>
          <p:nvPr/>
        </p:nvGrpSpPr>
        <p:grpSpPr>
          <a:xfrm flipH="1" flipV="1">
            <a:off x="6507215" y="3860311"/>
            <a:ext cx="2287051" cy="616029"/>
            <a:chOff x="755576" y="1779662"/>
            <a:chExt cx="2880320" cy="360040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39529B3-0276-4B5B-A224-3084F4DEC8F2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62C9E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0A48F935-1B49-40F9-849C-22B642CD8EE2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62C9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0C130F3E-C528-427A-B025-442C4E7AD7F2}"/>
              </a:ext>
            </a:extLst>
          </p:cNvPr>
          <p:cNvSpPr/>
          <p:nvPr/>
        </p:nvSpPr>
        <p:spPr>
          <a:xfrm>
            <a:off x="7507875" y="875174"/>
            <a:ext cx="10695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4BB968"/>
                </a:solidFill>
              </a:rPr>
              <a:t>未处理</a:t>
            </a:r>
            <a:endParaRPr lang="en-US" altLang="zh-CN" sz="1400" b="1" dirty="0">
              <a:solidFill>
                <a:srgbClr val="4BB968"/>
              </a:solidFill>
            </a:endParaRP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BDA68FD-534E-449A-A735-2BD26639BC9F}"/>
              </a:ext>
            </a:extLst>
          </p:cNvPr>
          <p:cNvSpPr txBox="1"/>
          <p:nvPr/>
        </p:nvSpPr>
        <p:spPr>
          <a:xfrm>
            <a:off x="7198643" y="1257925"/>
            <a:ext cx="1636723" cy="5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显示用户尚未执行的任务。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C224382-AB31-4787-88DD-68DC26248E58}"/>
              </a:ext>
            </a:extLst>
          </p:cNvPr>
          <p:cNvGrpSpPr/>
          <p:nvPr/>
        </p:nvGrpSpPr>
        <p:grpSpPr>
          <a:xfrm flipH="1">
            <a:off x="6525289" y="2115138"/>
            <a:ext cx="2287051" cy="616029"/>
            <a:chOff x="755576" y="1779662"/>
            <a:chExt cx="2880320" cy="360040"/>
          </a:xfrm>
        </p:grpSpPr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E4F28E14-897E-42C9-A52C-844BF99BC1CC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FDA907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EF1BF17C-62A7-497A-ACD8-D04E856A76CC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FDA90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3C244E64-FD08-407C-9454-5F1CE9D823AE}"/>
              </a:ext>
            </a:extLst>
          </p:cNvPr>
          <p:cNvSpPr/>
          <p:nvPr/>
        </p:nvSpPr>
        <p:spPr>
          <a:xfrm>
            <a:off x="7518670" y="4483546"/>
            <a:ext cx="794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</a:rPr>
              <a:t>应用</a:t>
            </a:r>
            <a:endParaRPr lang="en-US" altLang="zh-CN" sz="1400" b="1" dirty="0">
              <a:solidFill>
                <a:srgbClr val="62C9E2"/>
              </a:solidFill>
            </a:endParaRPr>
          </a:p>
        </p:txBody>
      </p:sp>
      <p:sp>
        <p:nvSpPr>
          <p:cNvPr id="63" name="TextBox 16">
            <a:extLst>
              <a:ext uri="{FF2B5EF4-FFF2-40B4-BE49-F238E27FC236}">
                <a16:creationId xmlns:a16="http://schemas.microsoft.com/office/drawing/2014/main" id="{0B9B2491-65C0-4648-A136-CEC5FC3B9973}"/>
              </a:ext>
            </a:extLst>
          </p:cNvPr>
          <p:cNvSpPr txBox="1"/>
          <p:nvPr/>
        </p:nvSpPr>
        <p:spPr>
          <a:xfrm>
            <a:off x="7198643" y="2134183"/>
            <a:ext cx="194535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通过空间可方便与其他用户交流及共享数据等。点击下拉菜单则可切换列表查看其他空间。点击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(+)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可创建新空间。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F4F02DC-0C59-48FF-9D0E-86B2C5B3729D}"/>
              </a:ext>
            </a:extLst>
          </p:cNvPr>
          <p:cNvSpPr/>
          <p:nvPr/>
        </p:nvSpPr>
        <p:spPr>
          <a:xfrm>
            <a:off x="7555931" y="1774143"/>
            <a:ext cx="7943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DA907"/>
                </a:solidFill>
              </a:rPr>
              <a:t>空间</a:t>
            </a:r>
            <a:endParaRPr lang="en-US" altLang="zh-CN" sz="1400" b="1" dirty="0">
              <a:solidFill>
                <a:srgbClr val="FDA907"/>
              </a:solidFill>
            </a:endParaRPr>
          </a:p>
        </p:txBody>
      </p:sp>
      <p:sp>
        <p:nvSpPr>
          <p:cNvPr id="66" name="TextBox 16">
            <a:extLst>
              <a:ext uri="{FF2B5EF4-FFF2-40B4-BE49-F238E27FC236}">
                <a16:creationId xmlns:a16="http://schemas.microsoft.com/office/drawing/2014/main" id="{7B5CA2CA-633B-4947-8F4D-855A359BDAF2}"/>
              </a:ext>
            </a:extLst>
          </p:cNvPr>
          <p:cNvSpPr txBox="1"/>
          <p:nvPr/>
        </p:nvSpPr>
        <p:spPr>
          <a:xfrm>
            <a:off x="7199079" y="3426845"/>
            <a:ext cx="1873421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显示应用列表。点击下拉菜单则可切换显示所有应用和收藏的应用。点击 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(+) 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可创建新应用。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AD4CBCF-CEA2-426E-839E-F0173D869EE5}"/>
              </a:ext>
            </a:extLst>
          </p:cNvPr>
          <p:cNvSpPr/>
          <p:nvPr/>
        </p:nvSpPr>
        <p:spPr>
          <a:xfrm>
            <a:off x="6642230" y="3156816"/>
            <a:ext cx="180020" cy="1800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1DC9E1B-8696-4576-B068-A3063F449AEF}"/>
              </a:ext>
            </a:extLst>
          </p:cNvPr>
          <p:cNvSpPr/>
          <p:nvPr/>
        </p:nvSpPr>
        <p:spPr>
          <a:xfrm>
            <a:off x="6642230" y="2436735"/>
            <a:ext cx="180020" cy="1800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0AAC1C-C78A-44B2-9338-E3D2A9DEFA74}"/>
              </a:ext>
            </a:extLst>
          </p:cNvPr>
          <p:cNvSpPr/>
          <p:nvPr/>
        </p:nvSpPr>
        <p:spPr>
          <a:xfrm>
            <a:off x="5562110" y="1041321"/>
            <a:ext cx="1239970" cy="271404"/>
          </a:xfrm>
          <a:prstGeom prst="rect">
            <a:avLst/>
          </a:prstGeom>
          <a:noFill/>
          <a:ln w="2540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C706CC0-4467-4812-A36E-1F954407C905}"/>
              </a:ext>
            </a:extLst>
          </p:cNvPr>
          <p:cNvGrpSpPr/>
          <p:nvPr/>
        </p:nvGrpSpPr>
        <p:grpSpPr>
          <a:xfrm flipH="1">
            <a:off x="5652093" y="681540"/>
            <a:ext cx="1629749" cy="759784"/>
            <a:chOff x="755576" y="1779662"/>
            <a:chExt cx="2880320" cy="360040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0B2632A-E774-454C-A807-B8F9BE5E858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92BC49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6E8A38E-BB6D-4305-A101-2B6485992D53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92BC4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08696689-3E60-4B16-8FB2-DC83EDA33730}"/>
              </a:ext>
            </a:extLst>
          </p:cNvPr>
          <p:cNvSpPr/>
          <p:nvPr/>
        </p:nvSpPr>
        <p:spPr>
          <a:xfrm>
            <a:off x="6311827" y="400200"/>
            <a:ext cx="10054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92BC49"/>
                </a:solidFill>
              </a:rPr>
              <a:t>搜索</a:t>
            </a:r>
            <a:endParaRPr lang="en-US" altLang="zh-CN" sz="1400" b="1" dirty="0">
              <a:solidFill>
                <a:srgbClr val="92BC4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39D73-11F4-4FD5-B4ED-5C0171C29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22" y="1152949"/>
            <a:ext cx="152381" cy="152381"/>
          </a:xfrm>
          <a:prstGeom prst="rect">
            <a:avLst/>
          </a:prstGeom>
        </p:spPr>
      </p:pic>
      <p:grpSp>
        <p:nvGrpSpPr>
          <p:cNvPr id="47" name="组合 46">
            <a:extLst>
              <a:ext uri="{FF2B5EF4-FFF2-40B4-BE49-F238E27FC236}">
                <a16:creationId xmlns:a16="http://schemas.microsoft.com/office/drawing/2014/main" id="{7C4FA74D-BC9D-4C50-B9E5-17F8DFB01BE1}"/>
              </a:ext>
            </a:extLst>
          </p:cNvPr>
          <p:cNvGrpSpPr/>
          <p:nvPr/>
        </p:nvGrpSpPr>
        <p:grpSpPr>
          <a:xfrm>
            <a:off x="266868" y="996575"/>
            <a:ext cx="1964872" cy="529248"/>
            <a:chOff x="755576" y="1779662"/>
            <a:chExt cx="2880320" cy="36004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854F99D-0D34-44CF-82C6-CFA92AAAC86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EC00F89A-C361-41A2-8970-3E6485D2F728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41CDF7F-0174-42FE-BC9C-575741C3F2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1399478"/>
            <a:ext cx="182880" cy="1828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393510D-F5A0-4AC8-B9C7-D601E324DF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1680653"/>
            <a:ext cx="182880" cy="18288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62E3777-DE41-4845-A4EA-0A274ABB05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1943463"/>
            <a:ext cx="182880" cy="18288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32B2467-E74E-40D9-8B58-F194B5B33E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2240272"/>
            <a:ext cx="182880" cy="18288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B41ABAE-BF3F-42A3-8AB4-BE78EE44D9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1" y="2498521"/>
            <a:ext cx="182880" cy="18288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5B0B0B1D-A736-42AC-9F0E-CEB5B2A37192}"/>
              </a:ext>
            </a:extLst>
          </p:cNvPr>
          <p:cNvSpPr txBox="1"/>
          <p:nvPr/>
        </p:nvSpPr>
        <p:spPr>
          <a:xfrm>
            <a:off x="2984613" y="3180593"/>
            <a:ext cx="18174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可跳转至自己的个人资料页面。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sz="1200" dirty="0"/>
              <a:t>可进行账号设置、以及退出</a:t>
            </a:r>
            <a:r>
              <a:rPr lang="en-US" altLang="zh-CN" sz="1200" dirty="0"/>
              <a:t>kintone</a:t>
            </a:r>
            <a:r>
              <a:rPr lang="zh-CN" altLang="en-US" sz="1200" dirty="0"/>
              <a:t>。</a:t>
            </a: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8153D77A-03C0-4ED8-B248-FB16F939C546}"/>
              </a:ext>
            </a:extLst>
          </p:cNvPr>
          <p:cNvGrpSpPr/>
          <p:nvPr/>
        </p:nvGrpSpPr>
        <p:grpSpPr>
          <a:xfrm flipV="1">
            <a:off x="2375246" y="1253666"/>
            <a:ext cx="3237841" cy="1801923"/>
            <a:chOff x="755576" y="1779662"/>
            <a:chExt cx="2880320" cy="360040"/>
          </a:xfrm>
        </p:grpSpPr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456B012-26A4-4B7F-BC03-56103F73BFCC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FDA907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30588C2-99E5-4C4E-951A-979737C721F8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FDA90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矩形 75">
            <a:extLst>
              <a:ext uri="{FF2B5EF4-FFF2-40B4-BE49-F238E27FC236}">
                <a16:creationId xmlns:a16="http://schemas.microsoft.com/office/drawing/2014/main" id="{7A698DC8-A0AB-4454-BA7B-54D32BCB2B6F}"/>
              </a:ext>
            </a:extLst>
          </p:cNvPr>
          <p:cNvSpPr/>
          <p:nvPr/>
        </p:nvSpPr>
        <p:spPr>
          <a:xfrm>
            <a:off x="2677298" y="2714023"/>
            <a:ext cx="11899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DA907"/>
                </a:solidFill>
              </a:rPr>
              <a:t>个人设置</a:t>
            </a:r>
            <a:endParaRPr lang="en-US" altLang="zh-CN" sz="1400" b="1" dirty="0">
              <a:solidFill>
                <a:srgbClr val="FDA907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258762B-C29A-404E-8ABA-08FEBEDA1C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33" y="3243856"/>
            <a:ext cx="696608" cy="185959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9E84D44-5F80-451F-A523-6E45474C8D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94" y="3741390"/>
            <a:ext cx="191619" cy="266601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B2D43DC-F4CE-461E-8B50-4D1A2F25238D}"/>
              </a:ext>
            </a:extLst>
          </p:cNvPr>
          <p:cNvSpPr txBox="1"/>
          <p:nvPr/>
        </p:nvSpPr>
        <p:spPr>
          <a:xfrm>
            <a:off x="6209309" y="68154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可全文检索。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77CD19F-7FCF-4163-A4D7-32B7DDEFA9FE}"/>
              </a:ext>
            </a:extLst>
          </p:cNvPr>
          <p:cNvSpPr/>
          <p:nvPr/>
        </p:nvSpPr>
        <p:spPr>
          <a:xfrm>
            <a:off x="5562110" y="1332332"/>
            <a:ext cx="1239970" cy="187769"/>
          </a:xfrm>
          <a:prstGeom prst="rect">
            <a:avLst/>
          </a:prstGeom>
          <a:noFill/>
          <a:ln w="25400">
            <a:solidFill>
              <a:srgbClr val="92BC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BC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87865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14148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界面介绍：空间</a:t>
            </a:r>
          </a:p>
        </p:txBody>
      </p:sp>
      <p:sp>
        <p:nvSpPr>
          <p:cNvPr id="57" name="矩形 56"/>
          <p:cNvSpPr/>
          <p:nvPr/>
        </p:nvSpPr>
        <p:spPr>
          <a:xfrm>
            <a:off x="431541" y="861560"/>
            <a:ext cx="2340258" cy="307296"/>
          </a:xfrm>
          <a:prstGeom prst="rect">
            <a:avLst/>
          </a:prstGeom>
          <a:solidFill>
            <a:srgbClr val="4BB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空间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31540" y="1219683"/>
            <a:ext cx="2340259" cy="1849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用于团队内部进行交流的功能。选择成员后创建空间，成员之间可进行内部讨论及信息共享。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空间内可创建与空间相关的应用。可通过该应用对空间内交流所需的信息、文件以及</a:t>
            </a:r>
            <a:r>
              <a:rPr lang="en-US" altLang="zh-CN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ToDo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等内容进行管理。</a:t>
            </a:r>
          </a:p>
        </p:txBody>
      </p:sp>
      <p:sp>
        <p:nvSpPr>
          <p:cNvPr id="59" name="矩形 58"/>
          <p:cNvSpPr/>
          <p:nvPr/>
        </p:nvSpPr>
        <p:spPr>
          <a:xfrm>
            <a:off x="431542" y="3066805"/>
            <a:ext cx="2340257" cy="307296"/>
          </a:xfrm>
          <a:prstGeom prst="rect">
            <a:avLst/>
          </a:prstGeom>
          <a:solidFill>
            <a:srgbClr val="7DCD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来宾空间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31541" y="3424928"/>
            <a:ext cx="2340259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非该企业用户也可作为来宾加入该空间。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创建来宾空间后，空间功能还可作为不同企业间共同项目的联络场所使用。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D393FC67-0E55-4910-8081-2D0D356EC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845" y="735299"/>
            <a:ext cx="5375296" cy="39966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2144899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520" y="141480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kintone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界面介绍：应用</a:t>
            </a:r>
          </a:p>
        </p:txBody>
      </p:sp>
      <p:sp>
        <p:nvSpPr>
          <p:cNvPr id="57" name="矩形 56"/>
          <p:cNvSpPr/>
          <p:nvPr/>
        </p:nvSpPr>
        <p:spPr>
          <a:xfrm>
            <a:off x="6282192" y="1257633"/>
            <a:ext cx="2340258" cy="307296"/>
          </a:xfrm>
          <a:prstGeom prst="rect">
            <a:avLst/>
          </a:prstGeom>
          <a:solidFill>
            <a:srgbClr val="7DCD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应用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282191" y="1615756"/>
            <a:ext cx="2340259" cy="232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应用是指通过创建业务应用，对数据及业务流程进行管理的功能。可对销售信息、客户信息、咨询回复历史记录、</a:t>
            </a:r>
            <a:r>
              <a:rPr lang="en-US" altLang="zh-CN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ToDo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、报告、文件等各类数据进行管理。此外，还可灵活构建与这些数据相关的业务流程。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无需编程即可创建应用，非常简单。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5967155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D393FC67-0E55-4910-8081-2D0D356EC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20" y="1063289"/>
            <a:ext cx="5175576" cy="30466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2718939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84C738-3EA8-426B-AD36-E4397332B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111" y="2795932"/>
            <a:ext cx="1676435" cy="2222251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2031980"/>
            <a:ext cx="9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让我们来看看如何创建应用！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4A22C7-A93A-42B7-8912-525CE1B1B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3111810"/>
            <a:ext cx="4381500" cy="92392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924099DC-B525-46B1-940E-46B8FAFDEFF5}"/>
              </a:ext>
            </a:extLst>
          </p:cNvPr>
          <p:cNvSpPr/>
          <p:nvPr/>
        </p:nvSpPr>
        <p:spPr>
          <a:xfrm>
            <a:off x="6237185" y="3156815"/>
            <a:ext cx="450049" cy="4050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FD3D6E4-5CCF-46B7-9B60-FC388BD7BCF2}"/>
              </a:ext>
            </a:extLst>
          </p:cNvPr>
          <p:cNvGrpSpPr/>
          <p:nvPr/>
        </p:nvGrpSpPr>
        <p:grpSpPr>
          <a:xfrm flipV="1">
            <a:off x="1781688" y="2751056"/>
            <a:ext cx="5445605" cy="45719"/>
            <a:chOff x="566555" y="877035"/>
            <a:chExt cx="2340260" cy="16454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48CBED7-FECC-47B3-AE2F-6FEFFCE40371}"/>
                </a:ext>
              </a:extLst>
            </p:cNvPr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3538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3D88FD1-F18D-49C0-8E84-A2534A2BFB3C}"/>
                </a:ext>
              </a:extLst>
            </p:cNvPr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7DCD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46E11EC-030A-4587-946B-FAF6EA6C6ED2}"/>
                </a:ext>
              </a:extLst>
            </p:cNvPr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6D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05C815D-5FFC-4DD1-A773-C92DA8297F35}"/>
                </a:ext>
              </a:extLst>
            </p:cNvPr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F454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6871128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33" y="671109"/>
            <a:ext cx="7706402" cy="4150891"/>
          </a:xfrm>
          <a:prstGeom prst="rect">
            <a:avLst/>
          </a:prstGeom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146415"/>
            <a:ext cx="3870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E98110-CD4F-4958-AC3C-94AB481A33F0}"/>
              </a:ext>
            </a:extLst>
          </p:cNvPr>
          <p:cNvSpPr/>
          <p:nvPr/>
        </p:nvSpPr>
        <p:spPr>
          <a:xfrm>
            <a:off x="2051720" y="2436735"/>
            <a:ext cx="1350150" cy="4050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08986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D393FC67-0E55-4910-8081-2D0D356EC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470" y="733514"/>
            <a:ext cx="4984573" cy="426850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7EA6DD3-6FEB-4131-9710-AFAC7A5E3F62}"/>
              </a:ext>
            </a:extLst>
          </p:cNvPr>
          <p:cNvSpPr/>
          <p:nvPr/>
        </p:nvSpPr>
        <p:spPr>
          <a:xfrm>
            <a:off x="2820974" y="1446625"/>
            <a:ext cx="2430270" cy="360040"/>
          </a:xfrm>
          <a:prstGeom prst="rect">
            <a:avLst/>
          </a:prstGeom>
          <a:noFill/>
          <a:ln w="2540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701541-C0FC-45DB-BF06-3E48981BBB11}"/>
              </a:ext>
            </a:extLst>
          </p:cNvPr>
          <p:cNvSpPr/>
          <p:nvPr/>
        </p:nvSpPr>
        <p:spPr>
          <a:xfrm>
            <a:off x="2415929" y="1446625"/>
            <a:ext cx="361253" cy="360040"/>
          </a:xfrm>
          <a:prstGeom prst="rect">
            <a:avLst/>
          </a:prstGeom>
          <a:noFill/>
          <a:ln w="2540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11214A-1CC2-4384-BF8E-FD395CE35A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78" y="2372087"/>
            <a:ext cx="1470049" cy="12302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459D01A-1C0B-4B6E-BFA2-A5FDF9C47478}"/>
              </a:ext>
            </a:extLst>
          </p:cNvPr>
          <p:cNvSpPr/>
          <p:nvPr/>
        </p:nvSpPr>
        <p:spPr>
          <a:xfrm>
            <a:off x="2505939" y="2481739"/>
            <a:ext cx="1585260" cy="2520281"/>
          </a:xfrm>
          <a:prstGeom prst="rect">
            <a:avLst/>
          </a:prstGeom>
          <a:noFill/>
          <a:ln w="2540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C49A56-194E-4208-B362-C6FE05444E5D}"/>
              </a:ext>
            </a:extLst>
          </p:cNvPr>
          <p:cNvSpPr/>
          <p:nvPr/>
        </p:nvSpPr>
        <p:spPr>
          <a:xfrm>
            <a:off x="4171124" y="2256716"/>
            <a:ext cx="1125125" cy="990110"/>
          </a:xfrm>
          <a:prstGeom prst="rect">
            <a:avLst/>
          </a:prstGeom>
          <a:noFill/>
          <a:ln w="2540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15C8CD34-04C6-4DD5-A1E9-3B42766F2C71}"/>
              </a:ext>
            </a:extLst>
          </p:cNvPr>
          <p:cNvCxnSpPr>
            <a:cxnSpLocks/>
            <a:stCxn id="10" idx="0"/>
            <a:endCxn id="11" idx="0"/>
          </p:cNvCxnSpPr>
          <p:nvPr/>
        </p:nvCxnSpPr>
        <p:spPr>
          <a:xfrm rot="5400000" flipH="1" flipV="1">
            <a:off x="3903617" y="1651669"/>
            <a:ext cx="225023" cy="1435118"/>
          </a:xfrm>
          <a:prstGeom prst="bentConnector3">
            <a:avLst>
              <a:gd name="adj1" fmla="val 201590"/>
            </a:avLst>
          </a:prstGeom>
          <a:ln w="9525">
            <a:solidFill>
              <a:srgbClr val="62C9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2DCC809-2B1D-4533-83BE-B5D4F1719812}"/>
              </a:ext>
            </a:extLst>
          </p:cNvPr>
          <p:cNvGrpSpPr/>
          <p:nvPr/>
        </p:nvGrpSpPr>
        <p:grpSpPr>
          <a:xfrm flipH="1" flipV="1">
            <a:off x="5251244" y="1530829"/>
            <a:ext cx="2506256" cy="675073"/>
            <a:chOff x="755576" y="1779662"/>
            <a:chExt cx="2880320" cy="360040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4D46CDD-285F-4701-87DB-41DC6E818247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BA7D70F-5171-4F9B-89E5-F5D94AB34F26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3">
            <a:extLst>
              <a:ext uri="{FF2B5EF4-FFF2-40B4-BE49-F238E27FC236}">
                <a16:creationId xmlns:a16="http://schemas.microsoft.com/office/drawing/2014/main" id="{E6956DC7-1E34-4C44-80F0-92FBE71113ED}"/>
              </a:ext>
            </a:extLst>
          </p:cNvPr>
          <p:cNvSpPr/>
          <p:nvPr/>
        </p:nvSpPr>
        <p:spPr>
          <a:xfrm>
            <a:off x="6198120" y="1850181"/>
            <a:ext cx="12984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B050"/>
                </a:solidFill>
                <a:latin typeface="+mj-ea"/>
                <a:ea typeface="+mj-ea"/>
              </a:rPr>
              <a:t>修改应用名称</a:t>
            </a:r>
            <a:endParaRPr lang="en-US" altLang="zh-CN" sz="1400" b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EE635B9-1B9C-42D8-AD99-6FCDA4ABDB10}"/>
              </a:ext>
            </a:extLst>
          </p:cNvPr>
          <p:cNvGrpSpPr/>
          <p:nvPr/>
        </p:nvGrpSpPr>
        <p:grpSpPr>
          <a:xfrm>
            <a:off x="648341" y="1248320"/>
            <a:ext cx="1771608" cy="477191"/>
            <a:chOff x="755576" y="1779662"/>
            <a:chExt cx="2880320" cy="360040"/>
          </a:xfrm>
        </p:grpSpPr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F18CC0EF-9DD1-4E9C-B9E9-15F1F37DDBAC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4C97C37-A2B0-495A-9E32-6AB0633D1AB8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0D679765-1CB4-4A5B-9370-98D0E9BF49F1}"/>
              </a:ext>
            </a:extLst>
          </p:cNvPr>
          <p:cNvSpPr/>
          <p:nvPr/>
        </p:nvSpPr>
        <p:spPr>
          <a:xfrm>
            <a:off x="648341" y="917127"/>
            <a:ext cx="13055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B050"/>
                </a:solidFill>
                <a:latin typeface="+mj-ea"/>
                <a:ea typeface="+mj-ea"/>
              </a:rPr>
              <a:t>修改应用图标</a:t>
            </a:r>
            <a:endParaRPr lang="en-US" altLang="zh-CN" sz="1400" b="1" dirty="0">
              <a:solidFill>
                <a:srgbClr val="00B050"/>
              </a:solidFill>
              <a:latin typeface="+mj-ea"/>
              <a:ea typeface="+mj-ea"/>
            </a:endParaRP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C59C4EEF-36D3-482D-B35B-FC452CEFC951}"/>
              </a:ext>
            </a:extLst>
          </p:cNvPr>
          <p:cNvSpPr txBox="1"/>
          <p:nvPr/>
        </p:nvSpPr>
        <p:spPr>
          <a:xfrm>
            <a:off x="622217" y="1266605"/>
            <a:ext cx="1298228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点击应用图标，即显示选择图标的页面，可更改图标。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四角形: 角を丸くする 9">
            <a:extLst>
              <a:ext uri="{FF2B5EF4-FFF2-40B4-BE49-F238E27FC236}">
                <a16:creationId xmlns:a16="http://schemas.microsoft.com/office/drawing/2014/main" id="{B2721F79-3528-45EA-8956-CD4733260C51}"/>
              </a:ext>
            </a:extLst>
          </p:cNvPr>
          <p:cNvSpPr/>
          <p:nvPr/>
        </p:nvSpPr>
        <p:spPr>
          <a:xfrm>
            <a:off x="6044447" y="2290106"/>
            <a:ext cx="1688320" cy="77920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Meiryo" charset="-128"/>
              </a:rPr>
              <a:t>打开应用的设置页面即可更改应用名称。</a:t>
            </a:r>
            <a:endParaRPr kumimoji="1" lang="en-US" altLang="zh-CN" sz="1200" dirty="0">
              <a:solidFill>
                <a:schemeClr val="tx1"/>
              </a:solidFill>
              <a:latin typeface="+mn-ea"/>
              <a:cs typeface="Meiryo" charset="-128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452025-D3DC-497A-8D2A-6931136685EA}"/>
              </a:ext>
            </a:extLst>
          </p:cNvPr>
          <p:cNvSpPr txBox="1"/>
          <p:nvPr/>
        </p:nvSpPr>
        <p:spPr>
          <a:xfrm>
            <a:off x="3441843" y="2105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拖动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30FE3C0-8AF7-4005-83F2-323D55B55F41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</p:spTree>
    <p:extLst>
      <p:ext uri="{BB962C8B-B14F-4D97-AF65-F5344CB8AC3E}">
        <p14:creationId xmlns:p14="http://schemas.microsoft.com/office/powerpoint/2010/main" val="256198157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07" y="716114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A9400B-DFBD-48B1-99D6-D0ABC3CDA054}"/>
              </a:ext>
            </a:extLst>
          </p:cNvPr>
          <p:cNvSpPr/>
          <p:nvPr/>
        </p:nvSpPr>
        <p:spPr>
          <a:xfrm>
            <a:off x="3225610" y="1846211"/>
            <a:ext cx="2201486" cy="450050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3CCA8-5CE6-463E-89EC-68411EAF69E9}"/>
              </a:ext>
            </a:extLst>
          </p:cNvPr>
          <p:cNvSpPr/>
          <p:nvPr/>
        </p:nvSpPr>
        <p:spPr>
          <a:xfrm>
            <a:off x="3232799" y="1670945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DD76F2-C673-4106-A619-F290221D6B33}"/>
              </a:ext>
            </a:extLst>
          </p:cNvPr>
          <p:cNvSpPr/>
          <p:nvPr/>
        </p:nvSpPr>
        <p:spPr>
          <a:xfrm>
            <a:off x="1697463" y="1923283"/>
            <a:ext cx="675075" cy="135014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4B3589-7613-4B6A-B545-66486FD707EA}"/>
              </a:ext>
            </a:extLst>
          </p:cNvPr>
          <p:cNvSpPr/>
          <p:nvPr/>
        </p:nvSpPr>
        <p:spPr>
          <a:xfrm>
            <a:off x="3238123" y="2466566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B8C63E-286A-4CD2-84C0-F16CACA103CF}"/>
              </a:ext>
            </a:extLst>
          </p:cNvPr>
          <p:cNvSpPr/>
          <p:nvPr/>
        </p:nvSpPr>
        <p:spPr>
          <a:xfrm>
            <a:off x="2411760" y="1921931"/>
            <a:ext cx="675075" cy="135014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91B8A1-E704-435C-B61D-D67A60C2F4B5}"/>
              </a:ext>
            </a:extLst>
          </p:cNvPr>
          <p:cNvSpPr/>
          <p:nvPr/>
        </p:nvSpPr>
        <p:spPr>
          <a:xfrm>
            <a:off x="2411760" y="2215603"/>
            <a:ext cx="675075" cy="136943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C57806-7D99-48D9-B3F5-9B98E83670D2}"/>
              </a:ext>
            </a:extLst>
          </p:cNvPr>
          <p:cNvSpPr/>
          <p:nvPr/>
        </p:nvSpPr>
        <p:spPr>
          <a:xfrm>
            <a:off x="4565768" y="3070642"/>
            <a:ext cx="861328" cy="333395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27FACB-553A-49C0-9E2B-104FDF8EE036}"/>
              </a:ext>
            </a:extLst>
          </p:cNvPr>
          <p:cNvSpPr/>
          <p:nvPr/>
        </p:nvSpPr>
        <p:spPr>
          <a:xfrm>
            <a:off x="3237392" y="3648843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8969B2-8D18-4044-B529-2552782A96CB}"/>
              </a:ext>
            </a:extLst>
          </p:cNvPr>
          <p:cNvSpPr/>
          <p:nvPr/>
        </p:nvSpPr>
        <p:spPr>
          <a:xfrm>
            <a:off x="1684718" y="2661759"/>
            <a:ext cx="675075" cy="136943"/>
          </a:xfrm>
          <a:prstGeom prst="rect">
            <a:avLst/>
          </a:prstGeom>
          <a:noFill/>
          <a:ln w="19050">
            <a:solidFill>
              <a:srgbClr val="F89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CCE037-EB1E-460A-A35F-66D8AB43205F}"/>
              </a:ext>
            </a:extLst>
          </p:cNvPr>
          <p:cNvSpPr/>
          <p:nvPr/>
        </p:nvSpPr>
        <p:spPr>
          <a:xfrm>
            <a:off x="3237392" y="2667297"/>
            <a:ext cx="1559634" cy="338502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A28AE8-E3A6-4071-8FCF-012355477127}"/>
              </a:ext>
            </a:extLst>
          </p:cNvPr>
          <p:cNvSpPr/>
          <p:nvPr/>
        </p:nvSpPr>
        <p:spPr>
          <a:xfrm>
            <a:off x="1693758" y="2389802"/>
            <a:ext cx="675075" cy="136943"/>
          </a:xfrm>
          <a:prstGeom prst="rect">
            <a:avLst/>
          </a:prstGeom>
          <a:noFill/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08CE96-EFAE-4801-A3EF-A12AB35E27A2}"/>
              </a:ext>
            </a:extLst>
          </p:cNvPr>
          <p:cNvSpPr/>
          <p:nvPr/>
        </p:nvSpPr>
        <p:spPr>
          <a:xfrm>
            <a:off x="3237392" y="3070642"/>
            <a:ext cx="1289604" cy="333395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73AB02-82A9-4EEF-A75E-CEBF24013DB3}"/>
              </a:ext>
            </a:extLst>
          </p:cNvPr>
          <p:cNvSpPr/>
          <p:nvPr/>
        </p:nvSpPr>
        <p:spPr>
          <a:xfrm>
            <a:off x="1693757" y="2215603"/>
            <a:ext cx="675075" cy="136943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0BFD5E-46F2-49F7-868F-AB438D64FC4C}"/>
              </a:ext>
            </a:extLst>
          </p:cNvPr>
          <p:cNvSpPr/>
          <p:nvPr/>
        </p:nvSpPr>
        <p:spPr>
          <a:xfrm>
            <a:off x="3261947" y="4042027"/>
            <a:ext cx="442494" cy="213839"/>
          </a:xfrm>
          <a:prstGeom prst="rect">
            <a:avLst/>
          </a:prstGeom>
          <a:noFill/>
          <a:ln w="19050">
            <a:solidFill>
              <a:srgbClr val="F892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D04C46-A4A0-4430-8277-E2197F6321E8}"/>
              </a:ext>
            </a:extLst>
          </p:cNvPr>
          <p:cNvSpPr/>
          <p:nvPr/>
        </p:nvSpPr>
        <p:spPr>
          <a:xfrm>
            <a:off x="3756195" y="4042028"/>
            <a:ext cx="809573" cy="21383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36A297-52BA-4212-80BD-FDEC216F38B4}"/>
              </a:ext>
            </a:extLst>
          </p:cNvPr>
          <p:cNvSpPr/>
          <p:nvPr/>
        </p:nvSpPr>
        <p:spPr>
          <a:xfrm>
            <a:off x="2411760" y="2521190"/>
            <a:ext cx="675075" cy="13694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3214770" y="3831890"/>
            <a:ext cx="1447240" cy="49213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23DB72-176B-4C85-822E-0F9752173965}"/>
              </a:ext>
            </a:extLst>
          </p:cNvPr>
          <p:cNvSpPr/>
          <p:nvPr/>
        </p:nvSpPr>
        <p:spPr>
          <a:xfrm>
            <a:off x="4820222" y="3904687"/>
            <a:ext cx="1335829" cy="461665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4BB968"/>
                </a:solidFill>
                <a:latin typeface="+mn-ea"/>
              </a:rPr>
              <a:t>表格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  <a:p>
            <a:pPr algn="ctr"/>
            <a:r>
              <a:rPr lang="en-US" altLang="zh-CN" sz="1200" b="1" dirty="0">
                <a:solidFill>
                  <a:srgbClr val="4BB968"/>
                </a:solidFill>
                <a:latin typeface="+mn-ea"/>
              </a:rPr>
              <a:t>subtable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443D608-4373-4E65-88D4-6D2F665502A7}"/>
              </a:ext>
            </a:extLst>
          </p:cNvPr>
          <p:cNvGrpSpPr/>
          <p:nvPr/>
        </p:nvGrpSpPr>
        <p:grpSpPr>
          <a:xfrm flipH="1" flipV="1">
            <a:off x="4681972" y="4065323"/>
            <a:ext cx="1263615" cy="340361"/>
            <a:chOff x="755576" y="1779662"/>
            <a:chExt cx="2880320" cy="360040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052CA7D-E476-4E78-A1A1-9EA463C5C4A3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73DAD22-0A6A-4ECF-8C71-5AF72B6E5446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2414205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15" y="733514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3CCA8-5CE6-463E-89EC-68411EAF69E9}"/>
              </a:ext>
            </a:extLst>
          </p:cNvPr>
          <p:cNvSpPr/>
          <p:nvPr/>
        </p:nvSpPr>
        <p:spPr>
          <a:xfrm>
            <a:off x="2191901" y="1689343"/>
            <a:ext cx="450048" cy="124406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DD76F2-C673-4106-A619-F290221D6B33}"/>
              </a:ext>
            </a:extLst>
          </p:cNvPr>
          <p:cNvSpPr/>
          <p:nvPr/>
        </p:nvSpPr>
        <p:spPr>
          <a:xfrm>
            <a:off x="656565" y="1941681"/>
            <a:ext cx="675075" cy="135014"/>
          </a:xfrm>
          <a:prstGeom prst="rect">
            <a:avLst/>
          </a:prstGeom>
          <a:noFill/>
          <a:ln w="19050">
            <a:solidFill>
              <a:srgbClr val="1A7B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246E04-188E-414F-B5AD-165EC26AC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530" y="1051394"/>
            <a:ext cx="1028700" cy="1476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F94E67C-CDCF-4888-9EEE-F3660ECE9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403" y="728579"/>
            <a:ext cx="3400905" cy="2220280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193957C-A813-4811-A9E0-0FD5E3710067}"/>
              </a:ext>
            </a:extLst>
          </p:cNvPr>
          <p:cNvCxnSpPr/>
          <p:nvPr/>
        </p:nvCxnSpPr>
        <p:spPr>
          <a:xfrm>
            <a:off x="2659292" y="1751546"/>
            <a:ext cx="370989" cy="0"/>
          </a:xfrm>
          <a:prstGeom prst="straightConnector1">
            <a:avLst/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731919-1D60-41C4-8840-58FA9825337F}"/>
              </a:ext>
            </a:extLst>
          </p:cNvPr>
          <p:cNvCxnSpPr/>
          <p:nvPr/>
        </p:nvCxnSpPr>
        <p:spPr>
          <a:xfrm>
            <a:off x="4142822" y="1747492"/>
            <a:ext cx="370989" cy="0"/>
          </a:xfrm>
          <a:prstGeom prst="straightConnector1">
            <a:avLst/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/>
          <p:nvPr/>
        </p:nvCxnSpPr>
        <p:spPr>
          <a:xfrm>
            <a:off x="5112060" y="1760984"/>
            <a:ext cx="370989" cy="0"/>
          </a:xfrm>
          <a:prstGeom prst="straightConnector1">
            <a:avLst/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1A84FD6-4EB6-4BD6-876B-9ABD4D14FDF7}"/>
              </a:ext>
            </a:extLst>
          </p:cNvPr>
          <p:cNvSpPr txBox="1"/>
          <p:nvPr/>
        </p:nvSpPr>
        <p:spPr>
          <a:xfrm>
            <a:off x="5658787" y="156193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1A7BAE"/>
                </a:solidFill>
              </a:rPr>
              <a:t>顾客信息</a:t>
            </a: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D053ED3-275C-4BE1-85F5-941A69B78EDB}"/>
              </a:ext>
            </a:extLst>
          </p:cNvPr>
          <p:cNvCxnSpPr>
            <a:stCxn id="7" idx="0"/>
            <a:endCxn id="6" idx="0"/>
          </p:cNvCxnSpPr>
          <p:nvPr/>
        </p:nvCxnSpPr>
        <p:spPr>
          <a:xfrm rot="5400000" flipH="1" flipV="1">
            <a:off x="1579345" y="1104101"/>
            <a:ext cx="252338" cy="1422822"/>
          </a:xfrm>
          <a:prstGeom prst="bentConnector3">
            <a:avLst>
              <a:gd name="adj1" fmla="val 190593"/>
            </a:avLst>
          </a:prstGeom>
          <a:ln w="19050">
            <a:solidFill>
              <a:srgbClr val="1A7B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06618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07" y="716114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D58C6E-DF5A-45D4-82DC-467ADB0731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7" t="11691" r="43790" b="13548"/>
          <a:stretch/>
        </p:blipFill>
        <p:spPr>
          <a:xfrm>
            <a:off x="5607114" y="703404"/>
            <a:ext cx="2205246" cy="41636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C4FD109A-0690-4170-AE0C-B0B4B708D2B0}"/>
              </a:ext>
            </a:extLst>
          </p:cNvPr>
          <p:cNvSpPr/>
          <p:nvPr/>
        </p:nvSpPr>
        <p:spPr>
          <a:xfrm>
            <a:off x="3756195" y="4042028"/>
            <a:ext cx="809573" cy="21383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52AA574-4644-4388-8BEC-7CA183E8ED23}"/>
              </a:ext>
            </a:extLst>
          </p:cNvPr>
          <p:cNvSpPr/>
          <p:nvPr/>
        </p:nvSpPr>
        <p:spPr>
          <a:xfrm>
            <a:off x="2411760" y="2521190"/>
            <a:ext cx="675075" cy="13694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8254543-406B-41CC-8966-A7B5090E7A52}"/>
              </a:ext>
            </a:extLst>
          </p:cNvPr>
          <p:cNvCxnSpPr>
            <a:cxnSpLocks/>
          </p:cNvCxnSpPr>
          <p:nvPr/>
        </p:nvCxnSpPr>
        <p:spPr>
          <a:xfrm>
            <a:off x="4634233" y="4146925"/>
            <a:ext cx="882872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74AA1A9C-6096-45F3-B63E-FA723733547E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086835" y="2589662"/>
            <a:ext cx="1093731" cy="1452366"/>
          </a:xfrm>
          <a:prstGeom prst="bentConnector2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0438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15" y="733514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2731919-1D60-41C4-8840-58FA9825337F}"/>
              </a:ext>
            </a:extLst>
          </p:cNvPr>
          <p:cNvCxnSpPr/>
          <p:nvPr/>
        </p:nvCxnSpPr>
        <p:spPr>
          <a:xfrm>
            <a:off x="3485215" y="2076695"/>
            <a:ext cx="370989" cy="0"/>
          </a:xfrm>
          <a:prstGeom prst="straightConnector1">
            <a:avLst/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AB2B73-CA08-4105-8822-FE9B6FD5C82F}"/>
              </a:ext>
            </a:extLst>
          </p:cNvPr>
          <p:cNvCxnSpPr/>
          <p:nvPr/>
        </p:nvCxnSpPr>
        <p:spPr>
          <a:xfrm>
            <a:off x="5191121" y="2076693"/>
            <a:ext cx="370989" cy="0"/>
          </a:xfrm>
          <a:prstGeom prst="straightConnector1">
            <a:avLst/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C105BCA-A2A7-4378-B02E-EF1D9DADCE44}"/>
              </a:ext>
            </a:extLst>
          </p:cNvPr>
          <p:cNvSpPr/>
          <p:nvPr/>
        </p:nvSpPr>
        <p:spPr>
          <a:xfrm>
            <a:off x="2236417" y="1851669"/>
            <a:ext cx="1248798" cy="450049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BC1A7A-6129-473E-B98C-509AA9C2A42B}"/>
              </a:ext>
            </a:extLst>
          </p:cNvPr>
          <p:cNvSpPr/>
          <p:nvPr/>
        </p:nvSpPr>
        <p:spPr>
          <a:xfrm>
            <a:off x="1376645" y="1931263"/>
            <a:ext cx="675075" cy="145432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1A1A7F-D5D0-42AE-9BB5-2DF1C4605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926" y="1635323"/>
            <a:ext cx="1280934" cy="10441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1D71E0-39D7-48FA-8F28-D232A9992C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96" y="996575"/>
            <a:ext cx="3009596" cy="3150348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3565ADA2-DDFE-4899-BF71-F0202CEE64B6}"/>
              </a:ext>
            </a:extLst>
          </p:cNvPr>
          <p:cNvSpPr/>
          <p:nvPr/>
        </p:nvSpPr>
        <p:spPr>
          <a:xfrm>
            <a:off x="5742131" y="1454982"/>
            <a:ext cx="945105" cy="406806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858CF4F-3E52-4FEB-A55E-494611AE2BB7}"/>
              </a:ext>
            </a:extLst>
          </p:cNvPr>
          <p:cNvSpPr/>
          <p:nvPr/>
        </p:nvSpPr>
        <p:spPr>
          <a:xfrm>
            <a:off x="6991346" y="1150298"/>
            <a:ext cx="16436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4BB968"/>
                </a:solidFill>
                <a:latin typeface="+mj-ea"/>
                <a:ea typeface="+mj-ea"/>
              </a:rPr>
              <a:t>字段名称</a:t>
            </a:r>
            <a:endParaRPr lang="en-US" altLang="zh-CN" sz="1400" b="1" dirty="0">
              <a:solidFill>
                <a:srgbClr val="4BB968"/>
              </a:solidFill>
              <a:latin typeface="+mj-ea"/>
              <a:ea typeface="+mj-ea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9C52ADB-DF82-453A-B506-01F863606FA1}"/>
              </a:ext>
            </a:extLst>
          </p:cNvPr>
          <p:cNvSpPr/>
          <p:nvPr/>
        </p:nvSpPr>
        <p:spPr>
          <a:xfrm>
            <a:off x="5734741" y="3238380"/>
            <a:ext cx="945105" cy="366756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932FB3-2C39-4E31-98DC-F30DFA1B42AB}"/>
              </a:ext>
            </a:extLst>
          </p:cNvPr>
          <p:cNvSpPr/>
          <p:nvPr/>
        </p:nvSpPr>
        <p:spPr>
          <a:xfrm>
            <a:off x="7007395" y="2841780"/>
            <a:ext cx="16436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  <a:latin typeface="+mj-ea"/>
                <a:ea typeface="+mj-ea"/>
              </a:rPr>
              <a:t>字段代码</a:t>
            </a:r>
            <a:endParaRPr lang="en-US" altLang="zh-CN" sz="1400" b="1" dirty="0">
              <a:solidFill>
                <a:srgbClr val="62C9E2"/>
              </a:solidFill>
              <a:latin typeface="+mj-ea"/>
              <a:ea typeface="+mj-ea"/>
            </a:endParaRPr>
          </a:p>
        </p:txBody>
      </p:sp>
      <p:sp>
        <p:nvSpPr>
          <p:cNvPr id="32" name="四角形: 角を丸くする 9">
            <a:extLst>
              <a:ext uri="{FF2B5EF4-FFF2-40B4-BE49-F238E27FC236}">
                <a16:creationId xmlns:a16="http://schemas.microsoft.com/office/drawing/2014/main" id="{9B1AF721-4935-4B0C-83CB-86D97777C729}"/>
              </a:ext>
            </a:extLst>
          </p:cNvPr>
          <p:cNvSpPr/>
          <p:nvPr/>
        </p:nvSpPr>
        <p:spPr>
          <a:xfrm>
            <a:off x="6878212" y="3130916"/>
            <a:ext cx="1356020" cy="745979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1200" dirty="0">
                <a:solidFill>
                  <a:schemeClr val="tx1"/>
                </a:solidFill>
                <a:latin typeface="+mn-ea"/>
                <a:cs typeface="Meiryo" charset="-128"/>
              </a:rPr>
              <a:t>值为唯一。用于自动计算或者自定义编程时使用。</a:t>
            </a:r>
            <a:endParaRPr kumimoji="1" lang="en-US" altLang="zh-CN" sz="1200" dirty="0">
              <a:solidFill>
                <a:schemeClr val="tx1"/>
              </a:solidFill>
              <a:latin typeface="+mn-ea"/>
              <a:cs typeface="Meiryo" charset="-128"/>
            </a:endParaRPr>
          </a:p>
        </p:txBody>
      </p:sp>
      <p:sp>
        <p:nvSpPr>
          <p:cNvPr id="33" name="四角形: 角を丸くする 9">
            <a:extLst>
              <a:ext uri="{FF2B5EF4-FFF2-40B4-BE49-F238E27FC236}">
                <a16:creationId xmlns:a16="http://schemas.microsoft.com/office/drawing/2014/main" id="{84AFBE0E-BCDB-4AD5-88C4-0BC334BDFFD7}"/>
              </a:ext>
            </a:extLst>
          </p:cNvPr>
          <p:cNvSpPr/>
          <p:nvPr/>
        </p:nvSpPr>
        <p:spPr>
          <a:xfrm>
            <a:off x="6907583" y="1542099"/>
            <a:ext cx="1202557" cy="569432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zh-CN" altLang="en-US" sz="1200" dirty="0">
                <a:solidFill>
                  <a:schemeClr val="tx1"/>
                </a:solidFill>
                <a:latin typeface="+mn-ea"/>
              </a:rPr>
              <a:t>显示在应用中的名称。可以重复。</a:t>
            </a:r>
            <a:endParaRPr kumimoji="1" lang="en-US" altLang="zh-CN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7EEFB429-6076-4803-B38C-654D523F4211}"/>
              </a:ext>
            </a:extLst>
          </p:cNvPr>
          <p:cNvCxnSpPr>
            <a:endCxn id="15" idx="0"/>
          </p:cNvCxnSpPr>
          <p:nvPr/>
        </p:nvCxnSpPr>
        <p:spPr>
          <a:xfrm flipV="1">
            <a:off x="1691680" y="1851669"/>
            <a:ext cx="1169136" cy="79594"/>
          </a:xfrm>
          <a:prstGeom prst="bentConnector4">
            <a:avLst>
              <a:gd name="adj1" fmla="val 511"/>
              <a:gd name="adj2" fmla="val 387208"/>
            </a:avLst>
          </a:prstGeom>
          <a:ln w="19050">
            <a:solidFill>
              <a:srgbClr val="FDA9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435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07" y="716115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08CE96-EFAE-4801-A3EF-A12AB35E27A2}"/>
              </a:ext>
            </a:extLst>
          </p:cNvPr>
          <p:cNvSpPr/>
          <p:nvPr/>
        </p:nvSpPr>
        <p:spPr>
          <a:xfrm>
            <a:off x="3251502" y="3069341"/>
            <a:ext cx="1297995" cy="333395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8E8FB0C-3004-4107-BC6B-DEECC4677A41}"/>
              </a:ext>
            </a:extLst>
          </p:cNvPr>
          <p:cNvSpPr/>
          <p:nvPr/>
        </p:nvSpPr>
        <p:spPr>
          <a:xfrm>
            <a:off x="1693757" y="2215603"/>
            <a:ext cx="675075" cy="136943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5FF3C1D-F0C8-481D-B9C0-999549536656}"/>
              </a:ext>
            </a:extLst>
          </p:cNvPr>
          <p:cNvSpPr/>
          <p:nvPr/>
        </p:nvSpPr>
        <p:spPr>
          <a:xfrm>
            <a:off x="2411747" y="2215603"/>
            <a:ext cx="675075" cy="136943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BE55E12-B3C6-4D98-A809-2CE0E233E9BC}"/>
              </a:ext>
            </a:extLst>
          </p:cNvPr>
          <p:cNvGrpSpPr/>
          <p:nvPr/>
        </p:nvGrpSpPr>
        <p:grpSpPr>
          <a:xfrm>
            <a:off x="3128215" y="1409447"/>
            <a:ext cx="2685054" cy="1320750"/>
            <a:chOff x="4121950" y="2571750"/>
            <a:chExt cx="1395155" cy="686262"/>
          </a:xfrm>
        </p:grpSpPr>
        <p:sp>
          <p:nvSpPr>
            <p:cNvPr id="56" name="吹き出し: 四角形 4">
              <a:extLst>
                <a:ext uri="{FF2B5EF4-FFF2-40B4-BE49-F238E27FC236}">
                  <a16:creationId xmlns:a16="http://schemas.microsoft.com/office/drawing/2014/main" id="{6D974153-0622-4541-9475-616A2FCEE2E1}"/>
                </a:ext>
              </a:extLst>
            </p:cNvPr>
            <p:cNvSpPr/>
            <p:nvPr/>
          </p:nvSpPr>
          <p:spPr>
            <a:xfrm>
              <a:off x="4121950" y="2571750"/>
              <a:ext cx="1395155" cy="686262"/>
            </a:xfrm>
            <a:prstGeom prst="wedgeRectCallout">
              <a:avLst>
                <a:gd name="adj1" fmla="val -42007"/>
                <a:gd name="adj2" fmla="val 7704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4800" b="1" dirty="0">
                <a:latin typeface="Meiryo" charset="-128"/>
                <a:ea typeface="Meiryo" charset="-128"/>
                <a:cs typeface="Meiryo" charset="-128"/>
              </a:endParaRPr>
            </a:p>
          </p:txBody>
        </p:sp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759B91D3-7A77-461D-9B5C-7E2F916E0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1326" y="2661760"/>
              <a:ext cx="915739" cy="381000"/>
            </a:xfrm>
            <a:prstGeom prst="rect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E525F4AC-A5FD-4140-8B5F-F18903D17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608" y="2881742"/>
              <a:ext cx="534181" cy="266700"/>
            </a:xfrm>
            <a:prstGeom prst="rect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404DDA4-381C-4433-9211-5BFC72026D1B}"/>
              </a:ext>
            </a:extLst>
          </p:cNvPr>
          <p:cNvGrpSpPr/>
          <p:nvPr/>
        </p:nvGrpSpPr>
        <p:grpSpPr>
          <a:xfrm>
            <a:off x="2017743" y="3741880"/>
            <a:ext cx="2467518" cy="1213746"/>
            <a:chOff x="3851920" y="3974073"/>
            <a:chExt cx="1395155" cy="686262"/>
          </a:xfrm>
        </p:grpSpPr>
        <p:sp>
          <p:nvSpPr>
            <p:cNvPr id="57" name="吹き出し: 四角形 4">
              <a:extLst>
                <a:ext uri="{FF2B5EF4-FFF2-40B4-BE49-F238E27FC236}">
                  <a16:creationId xmlns:a16="http://schemas.microsoft.com/office/drawing/2014/main" id="{6ECEDBF6-62E4-491F-8A37-FE3B0932EACF}"/>
                </a:ext>
              </a:extLst>
            </p:cNvPr>
            <p:cNvSpPr/>
            <p:nvPr/>
          </p:nvSpPr>
          <p:spPr>
            <a:xfrm rot="10800000">
              <a:off x="3851920" y="3974073"/>
              <a:ext cx="1395155" cy="686262"/>
            </a:xfrm>
            <a:prstGeom prst="wedgeRectCallout">
              <a:avLst>
                <a:gd name="adj1" fmla="val -42007"/>
                <a:gd name="adj2" fmla="val 7704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4800" b="1" dirty="0">
                <a:latin typeface="Meiryo" charset="-128"/>
                <a:ea typeface="Meiryo" charset="-128"/>
                <a:cs typeface="Meiryo" charset="-128"/>
              </a:endParaRP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7F158E15-9872-4CED-B93A-415969AEF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7604" y="4065288"/>
              <a:ext cx="914400" cy="381000"/>
            </a:xfrm>
            <a:prstGeom prst="rect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3B30FC29-55F0-494C-96FF-A4A916307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6607" y="4285270"/>
              <a:ext cx="533400" cy="266700"/>
            </a:xfrm>
            <a:prstGeom prst="rect">
              <a:avLst/>
            </a:prstGeom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</p:pic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6D163237-FAE5-4D30-A0CB-760E7DD3BAC4}"/>
              </a:ext>
            </a:extLst>
          </p:cNvPr>
          <p:cNvSpPr/>
          <p:nvPr/>
        </p:nvSpPr>
        <p:spPr>
          <a:xfrm>
            <a:off x="4583746" y="3069341"/>
            <a:ext cx="810606" cy="333395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0" name="吹き出し: 四角形 4">
            <a:extLst>
              <a:ext uri="{FF2B5EF4-FFF2-40B4-BE49-F238E27FC236}">
                <a16:creationId xmlns:a16="http://schemas.microsoft.com/office/drawing/2014/main" id="{5B3BD954-CB52-495C-90D3-4308C298DEE2}"/>
              </a:ext>
            </a:extLst>
          </p:cNvPr>
          <p:cNvSpPr/>
          <p:nvPr/>
        </p:nvSpPr>
        <p:spPr>
          <a:xfrm>
            <a:off x="5956125" y="1582676"/>
            <a:ext cx="2351289" cy="1106119"/>
          </a:xfrm>
          <a:prstGeom prst="wedgeRectCallout">
            <a:avLst>
              <a:gd name="adj1" fmla="val -74616"/>
              <a:gd name="adj2" fmla="val 89590"/>
            </a:avLst>
          </a:prstGeom>
          <a:solidFill>
            <a:srgbClr val="62C9E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4800" b="1" dirty="0">
              <a:latin typeface="Meiryo" charset="-128"/>
              <a:ea typeface="Meiryo" charset="-128"/>
              <a:cs typeface="Meiryo" charset="-128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9A112973-25C9-494F-BFF7-9DBAEDA72B6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77"/>
          <a:stretch/>
        </p:blipFill>
        <p:spPr>
          <a:xfrm>
            <a:off x="6053983" y="1673254"/>
            <a:ext cx="2163422" cy="943501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227908624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07" y="806125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AC6D63-452E-49EB-9E23-631CDAEBCE01}"/>
              </a:ext>
            </a:extLst>
          </p:cNvPr>
          <p:cNvSpPr/>
          <p:nvPr/>
        </p:nvSpPr>
        <p:spPr>
          <a:xfrm>
            <a:off x="3186945" y="3878003"/>
            <a:ext cx="1469973" cy="551960"/>
          </a:xfrm>
          <a:prstGeom prst="rect">
            <a:avLst/>
          </a:prstGeom>
          <a:noFill/>
          <a:ln w="571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8344C1-99AA-4C75-B4F5-0061BC320A7D}"/>
              </a:ext>
            </a:extLst>
          </p:cNvPr>
          <p:cNvSpPr/>
          <p:nvPr/>
        </p:nvSpPr>
        <p:spPr>
          <a:xfrm>
            <a:off x="4837053" y="3968297"/>
            <a:ext cx="13358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4BB968"/>
                </a:solidFill>
                <a:latin typeface="+mn-ea"/>
              </a:rPr>
              <a:t>表格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  <a:p>
            <a:pPr algn="ctr"/>
            <a:r>
              <a:rPr lang="en-US" altLang="zh-CN" sz="1200" b="1" dirty="0">
                <a:solidFill>
                  <a:srgbClr val="4BB968"/>
                </a:solidFill>
                <a:latin typeface="+mn-ea"/>
              </a:rPr>
              <a:t>subtable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F641128-5AFB-4589-98E7-ACBE2DCFD54E}"/>
              </a:ext>
            </a:extLst>
          </p:cNvPr>
          <p:cNvGrpSpPr/>
          <p:nvPr/>
        </p:nvGrpSpPr>
        <p:grpSpPr>
          <a:xfrm flipH="1" flipV="1">
            <a:off x="4670796" y="4089602"/>
            <a:ext cx="1263615" cy="340361"/>
            <a:chOff x="755576" y="1779662"/>
            <a:chExt cx="2880320" cy="36004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0C6F5A5-6F5D-42C3-9D35-206FF8046908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C33E4D2-110E-4EF5-83E2-E89E12EA9A79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直角三角形 3">
            <a:extLst>
              <a:ext uri="{FF2B5EF4-FFF2-40B4-BE49-F238E27FC236}">
                <a16:creationId xmlns:a16="http://schemas.microsoft.com/office/drawing/2014/main" id="{7E84345F-C04C-411E-B581-5395C08DC828}"/>
              </a:ext>
            </a:extLst>
          </p:cNvPr>
          <p:cNvSpPr/>
          <p:nvPr/>
        </p:nvSpPr>
        <p:spPr>
          <a:xfrm flipH="1">
            <a:off x="4334849" y="3640910"/>
            <a:ext cx="315035" cy="214596"/>
          </a:xfrm>
          <a:prstGeom prst="rtTriangle">
            <a:avLst/>
          </a:prstGeom>
          <a:solidFill>
            <a:srgbClr val="4BB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451DCF4-C5AC-4194-8E24-72C566BACD93}"/>
              </a:ext>
            </a:extLst>
          </p:cNvPr>
          <p:cNvGrpSpPr/>
          <p:nvPr/>
        </p:nvGrpSpPr>
        <p:grpSpPr>
          <a:xfrm>
            <a:off x="4656918" y="827069"/>
            <a:ext cx="2873558" cy="1489600"/>
            <a:chOff x="3003587" y="691426"/>
            <a:chExt cx="2873558" cy="1489600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320036D8-54F4-4D48-9D57-8F9364C2E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587" y="718356"/>
              <a:ext cx="2845482" cy="1462670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3A01721-741E-42A6-ABE4-6E91E6C15A32}"/>
                </a:ext>
              </a:extLst>
            </p:cNvPr>
            <p:cNvSpPr/>
            <p:nvPr/>
          </p:nvSpPr>
          <p:spPr>
            <a:xfrm>
              <a:off x="3003587" y="691426"/>
              <a:ext cx="2873558" cy="1489599"/>
            </a:xfrm>
            <a:prstGeom prst="rect">
              <a:avLst/>
            </a:prstGeom>
            <a:noFill/>
            <a:ln w="57150">
              <a:solidFill>
                <a:srgbClr val="4BB9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7800A5-0B98-4C7A-9B41-7382434D80BB}"/>
              </a:ext>
            </a:extLst>
          </p:cNvPr>
          <p:cNvSpPr txBox="1"/>
          <p:nvPr/>
        </p:nvSpPr>
        <p:spPr>
          <a:xfrm>
            <a:off x="2697355" y="38743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6E7BF0A-37BE-484E-B9FB-8877C9CBAD68}"/>
              </a:ext>
            </a:extLst>
          </p:cNvPr>
          <p:cNvGrpSpPr/>
          <p:nvPr/>
        </p:nvGrpSpPr>
        <p:grpSpPr>
          <a:xfrm>
            <a:off x="2577444" y="2951107"/>
            <a:ext cx="4892232" cy="692929"/>
            <a:chOff x="2591780" y="2823922"/>
            <a:chExt cx="4892232" cy="692929"/>
          </a:xfrm>
        </p:grpSpPr>
        <p:sp>
          <p:nvSpPr>
            <p:cNvPr id="56" name="吹き出し: 四角形 4">
              <a:extLst>
                <a:ext uri="{FF2B5EF4-FFF2-40B4-BE49-F238E27FC236}">
                  <a16:creationId xmlns:a16="http://schemas.microsoft.com/office/drawing/2014/main" id="{6D974153-0622-4541-9475-616A2FCEE2E1}"/>
                </a:ext>
              </a:extLst>
            </p:cNvPr>
            <p:cNvSpPr/>
            <p:nvPr/>
          </p:nvSpPr>
          <p:spPr>
            <a:xfrm flipV="1">
              <a:off x="2591780" y="2823922"/>
              <a:ext cx="4892232" cy="692929"/>
            </a:xfrm>
            <a:prstGeom prst="wedgeRectCallout">
              <a:avLst>
                <a:gd name="adj1" fmla="val -44628"/>
                <a:gd name="adj2" fmla="val 105930"/>
              </a:avLst>
            </a:prstGeom>
            <a:solidFill>
              <a:srgbClr val="4BB96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4800" b="1" dirty="0">
                <a:latin typeface="Meiryo" charset="-128"/>
                <a:ea typeface="Meiryo" charset="-128"/>
                <a:cs typeface="Meiryo" charset="-128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87EED6D-96E2-4724-948B-941FFD4D6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6785" y="2882563"/>
              <a:ext cx="4797851" cy="589287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676EFCF-1583-4579-A01C-8C285FF4EFB3}"/>
                </a:ext>
              </a:extLst>
            </p:cNvPr>
            <p:cNvSpPr/>
            <p:nvPr/>
          </p:nvSpPr>
          <p:spPr>
            <a:xfrm>
              <a:off x="6954824" y="3061469"/>
              <a:ext cx="497496" cy="41038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B0B5DD6-D7D9-40D6-9500-9FBC4E67B875}"/>
                </a:ext>
              </a:extLst>
            </p:cNvPr>
            <p:cNvSpPr txBox="1"/>
            <p:nvPr/>
          </p:nvSpPr>
          <p:spPr>
            <a:xfrm>
              <a:off x="6159971" y="3007684"/>
              <a:ext cx="415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Verdana" panose="020B0604030504040204" pitchFamily="34" charset="0"/>
                </a:rPr>
                <a:t>➁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D865950-F79A-4BD1-94FD-D8EEF310ADFF}"/>
              </a:ext>
            </a:extLst>
          </p:cNvPr>
          <p:cNvGrpSpPr/>
          <p:nvPr/>
        </p:nvGrpSpPr>
        <p:grpSpPr>
          <a:xfrm>
            <a:off x="1580761" y="1245111"/>
            <a:ext cx="2897828" cy="1305143"/>
            <a:chOff x="1601670" y="1107022"/>
            <a:chExt cx="2897828" cy="1305143"/>
          </a:xfrm>
        </p:grpSpPr>
        <p:sp>
          <p:nvSpPr>
            <p:cNvPr id="21" name="吹き出し: 四角形 4">
              <a:extLst>
                <a:ext uri="{FF2B5EF4-FFF2-40B4-BE49-F238E27FC236}">
                  <a16:creationId xmlns:a16="http://schemas.microsoft.com/office/drawing/2014/main" id="{CFBF88FA-2E49-40ED-BFEE-EFCD896E6768}"/>
                </a:ext>
              </a:extLst>
            </p:cNvPr>
            <p:cNvSpPr/>
            <p:nvPr/>
          </p:nvSpPr>
          <p:spPr>
            <a:xfrm flipH="1" flipV="1">
              <a:off x="1601670" y="1107022"/>
              <a:ext cx="2897828" cy="1305143"/>
            </a:xfrm>
            <a:prstGeom prst="wedgeRectCallout">
              <a:avLst>
                <a:gd name="adj1" fmla="val -42007"/>
                <a:gd name="adj2" fmla="val 77044"/>
              </a:avLst>
            </a:prstGeom>
            <a:solidFill>
              <a:srgbClr val="4BB968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sz="4800" b="1" dirty="0">
                <a:latin typeface="Meiryo" charset="-128"/>
                <a:ea typeface="Meiryo" charset="-128"/>
                <a:cs typeface="Meiryo" charset="-128"/>
              </a:endParaRPr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9A112973-25C9-494F-BFF7-9DBAEDA72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8981" y="1166206"/>
              <a:ext cx="2807742" cy="1186778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B0560A2-DE90-4723-9304-3F4471093E63}"/>
                </a:ext>
              </a:extLst>
            </p:cNvPr>
            <p:cNvSpPr/>
            <p:nvPr/>
          </p:nvSpPr>
          <p:spPr>
            <a:xfrm>
              <a:off x="1739590" y="1481242"/>
              <a:ext cx="703140" cy="27003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14C4953-535F-4B67-9620-590E76E0F89B}"/>
                </a:ext>
              </a:extLst>
            </p:cNvPr>
            <p:cNvSpPr txBox="1"/>
            <p:nvPr/>
          </p:nvSpPr>
          <p:spPr>
            <a:xfrm>
              <a:off x="3135211" y="149087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Verdana" panose="020B0604030504040204" pitchFamily="34" charset="0"/>
                </a:rPr>
                <a:t>➂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6E2C4C40-C56B-4402-804A-BCB87B3D21BA}"/>
              </a:ext>
            </a:extLst>
          </p:cNvPr>
          <p:cNvSpPr/>
          <p:nvPr/>
        </p:nvSpPr>
        <p:spPr>
          <a:xfrm>
            <a:off x="6079659" y="125963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83797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07" y="716114"/>
            <a:ext cx="630465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F01D9E-91C9-4BFE-ABEC-704BF22C09E8}"/>
              </a:ext>
            </a:extLst>
          </p:cNvPr>
          <p:cNvSpPr/>
          <p:nvPr/>
        </p:nvSpPr>
        <p:spPr>
          <a:xfrm>
            <a:off x="1556665" y="1581640"/>
            <a:ext cx="990110" cy="31543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752F4F6-392D-48CE-927A-319F72AD3DCC}"/>
              </a:ext>
            </a:extLst>
          </p:cNvPr>
          <p:cNvSpPr txBox="1"/>
          <p:nvPr/>
        </p:nvSpPr>
        <p:spPr>
          <a:xfrm>
            <a:off x="1025319" y="153663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B0C483-EEB3-492E-B092-AEC43F96A3B0}"/>
              </a:ext>
            </a:extLst>
          </p:cNvPr>
          <p:cNvSpPr/>
          <p:nvPr/>
        </p:nvSpPr>
        <p:spPr>
          <a:xfrm>
            <a:off x="4211961" y="1311206"/>
            <a:ext cx="938566" cy="315439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12DC5F0-0E45-4D78-BFB2-159FCF0413A3}"/>
              </a:ext>
            </a:extLst>
          </p:cNvPr>
          <p:cNvSpPr txBox="1"/>
          <p:nvPr/>
        </p:nvSpPr>
        <p:spPr>
          <a:xfrm>
            <a:off x="5191617" y="12550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4BB9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7628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84FF3A-B482-4DF6-ACB6-766F56E79D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78"/>
          <a:stretch/>
        </p:blipFill>
        <p:spPr>
          <a:xfrm>
            <a:off x="1676601" y="906566"/>
            <a:ext cx="5820724" cy="39055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4CA8867-0BA4-4A03-B461-9D1383D6841D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10334-8666-4BDD-9303-65C3612961EE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设置权限</a:t>
            </a:r>
            <a:endParaRPr lang="zh-CN" altLang="en-US" sz="1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F3D13D-E166-4395-B86F-6C604B5C3CF8}"/>
              </a:ext>
            </a:extLst>
          </p:cNvPr>
          <p:cNvSpPr/>
          <p:nvPr/>
        </p:nvSpPr>
        <p:spPr>
          <a:xfrm>
            <a:off x="3761910" y="3471850"/>
            <a:ext cx="360766" cy="257689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31987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84FF3A-B482-4DF6-ACB6-766F56E79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1041580"/>
            <a:ext cx="8091461" cy="29833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4CA8867-0BA4-4A03-B461-9D1383D6841D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10334-8666-4BDD-9303-65C3612961EE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设置权限</a:t>
            </a:r>
            <a:endParaRPr lang="zh-CN" altLang="en-US" sz="1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F3D13D-E166-4395-B86F-6C604B5C3CF8}"/>
              </a:ext>
            </a:extLst>
          </p:cNvPr>
          <p:cNvSpPr/>
          <p:nvPr/>
        </p:nvSpPr>
        <p:spPr>
          <a:xfrm>
            <a:off x="701570" y="3201820"/>
            <a:ext cx="5850650" cy="27003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吹き出し: 四角形 4">
            <a:extLst>
              <a:ext uri="{FF2B5EF4-FFF2-40B4-BE49-F238E27FC236}">
                <a16:creationId xmlns:a16="http://schemas.microsoft.com/office/drawing/2014/main" id="{5EFDF409-EEC9-476A-AE8E-0C54BF35AEA8}"/>
              </a:ext>
            </a:extLst>
          </p:cNvPr>
          <p:cNvSpPr/>
          <p:nvPr/>
        </p:nvSpPr>
        <p:spPr>
          <a:xfrm flipV="1">
            <a:off x="1136762" y="3910291"/>
            <a:ext cx="6630593" cy="506664"/>
          </a:xfrm>
          <a:prstGeom prst="wedgeRectCallout">
            <a:avLst>
              <a:gd name="adj1" fmla="val -37419"/>
              <a:gd name="adj2" fmla="val 138758"/>
            </a:avLst>
          </a:prstGeom>
          <a:solidFill>
            <a:srgbClr val="4BB96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4800" b="1" dirty="0">
              <a:latin typeface="Meiryo" charset="-128"/>
              <a:ea typeface="Meiryo" charset="-128"/>
              <a:cs typeface="Meiryo" charset="-128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FEFC087-946B-4EFA-9A3E-6E846C0DA1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2" t="72394" r="20400" b="18557"/>
          <a:stretch/>
        </p:blipFill>
        <p:spPr>
          <a:xfrm>
            <a:off x="1391718" y="4035124"/>
            <a:ext cx="6120680" cy="27003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AA26A35-1D65-4FF7-B7FA-4E1DACAE34B8}"/>
              </a:ext>
            </a:extLst>
          </p:cNvPr>
          <p:cNvSpPr/>
          <p:nvPr/>
        </p:nvSpPr>
        <p:spPr>
          <a:xfrm>
            <a:off x="502291" y="1970053"/>
            <a:ext cx="668587" cy="410381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46BE93-7D58-43C1-8C53-24A8A5163178}"/>
              </a:ext>
            </a:extLst>
          </p:cNvPr>
          <p:cNvSpPr txBox="1"/>
          <p:nvPr/>
        </p:nvSpPr>
        <p:spPr>
          <a:xfrm>
            <a:off x="148569" y="2011102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C73503B-C749-4557-A3AB-8CFEFB0DB0F5}"/>
              </a:ext>
            </a:extLst>
          </p:cNvPr>
          <p:cNvSpPr txBox="1"/>
          <p:nvPr/>
        </p:nvSpPr>
        <p:spPr>
          <a:xfrm>
            <a:off x="721263" y="403512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4BB9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3602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917" y="716114"/>
            <a:ext cx="469063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9C57806-7D99-48D9-B3F5-9B98E83670D2}"/>
              </a:ext>
            </a:extLst>
          </p:cNvPr>
          <p:cNvSpPr/>
          <p:nvPr/>
        </p:nvSpPr>
        <p:spPr>
          <a:xfrm>
            <a:off x="2268929" y="1378298"/>
            <a:ext cx="2699402" cy="31543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6102170" y="1353113"/>
            <a:ext cx="786467" cy="330127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设置完成，公开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948F03-2DD3-45A4-82A4-51B66DA62F2B}"/>
              </a:ext>
            </a:extLst>
          </p:cNvPr>
          <p:cNvSpPr txBox="1"/>
          <p:nvPr/>
        </p:nvSpPr>
        <p:spPr>
          <a:xfrm>
            <a:off x="1736685" y="13116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6DEC5C-6FCC-444D-A779-65B660C53FBD}"/>
              </a:ext>
            </a:extLst>
          </p:cNvPr>
          <p:cNvSpPr txBox="1"/>
          <p:nvPr/>
        </p:nvSpPr>
        <p:spPr>
          <a:xfrm>
            <a:off x="6966467" y="13116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4BB9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000160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89C2452A-94F2-4BE1-BE87-C02FF17D88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07"/>
          <a:stretch/>
        </p:blipFill>
        <p:spPr>
          <a:xfrm>
            <a:off x="1016605" y="1058101"/>
            <a:ext cx="7070785" cy="36109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添加数据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7DC6E8C-4243-4094-99A5-189638AA1F82}"/>
              </a:ext>
            </a:extLst>
          </p:cNvPr>
          <p:cNvGrpSpPr/>
          <p:nvPr/>
        </p:nvGrpSpPr>
        <p:grpSpPr>
          <a:xfrm>
            <a:off x="5697125" y="2211710"/>
            <a:ext cx="1419117" cy="748700"/>
            <a:chOff x="5742130" y="2571750"/>
            <a:chExt cx="1419117" cy="7487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9C57806-7D99-48D9-B3F5-9B98E83670D2}"/>
                </a:ext>
              </a:extLst>
            </p:cNvPr>
            <p:cNvSpPr/>
            <p:nvPr/>
          </p:nvSpPr>
          <p:spPr>
            <a:xfrm>
              <a:off x="6846211" y="3005011"/>
              <a:ext cx="315036" cy="315439"/>
            </a:xfrm>
            <a:prstGeom prst="rect">
              <a:avLst/>
            </a:prstGeom>
            <a:noFill/>
            <a:ln w="19050">
              <a:solidFill>
                <a:srgbClr val="62C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AF66A54-8D9B-466C-AC21-6FB041843C93}"/>
                </a:ext>
              </a:extLst>
            </p:cNvPr>
            <p:cNvGrpSpPr/>
            <p:nvPr/>
          </p:nvGrpSpPr>
          <p:grpSpPr>
            <a:xfrm>
              <a:off x="5763935" y="2863593"/>
              <a:ext cx="1082276" cy="291516"/>
              <a:chOff x="755576" y="1779662"/>
              <a:chExt cx="2880320" cy="360040"/>
            </a:xfrm>
          </p:grpSpPr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93A079FB-B785-497D-B307-43F99475B162}"/>
                  </a:ext>
                </a:extLst>
              </p:cNvPr>
              <p:cNvCxnSpPr/>
              <p:nvPr/>
            </p:nvCxnSpPr>
            <p:spPr>
              <a:xfrm>
                <a:off x="755576" y="1779663"/>
                <a:ext cx="1957772" cy="0"/>
              </a:xfrm>
              <a:prstGeom prst="line">
                <a:avLst/>
              </a:prstGeom>
              <a:ln w="19050">
                <a:solidFill>
                  <a:srgbClr val="62C9E2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170152EC-B885-4E02-9907-6813C9C75FD1}"/>
                  </a:ext>
                </a:extLst>
              </p:cNvPr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 w="19050">
                <a:solidFill>
                  <a:srgbClr val="62C9E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EA81CF4-86B1-4AB7-BAB4-BD9C8BC53AAD}"/>
                </a:ext>
              </a:extLst>
            </p:cNvPr>
            <p:cNvSpPr/>
            <p:nvPr/>
          </p:nvSpPr>
          <p:spPr>
            <a:xfrm>
              <a:off x="5742130" y="2571750"/>
              <a:ext cx="1305525" cy="276999"/>
            </a:xfrm>
            <a:prstGeom prst="rect">
              <a:avLst/>
            </a:prstGeom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solidFill>
                    <a:srgbClr val="62C9E2"/>
                  </a:solidFill>
                  <a:latin typeface="+mj-ea"/>
                  <a:ea typeface="+mj-ea"/>
                </a:rPr>
                <a:t>添加数据</a:t>
              </a:r>
              <a:endParaRPr lang="en-US" altLang="zh-CN" sz="1200" b="1" dirty="0">
                <a:solidFill>
                  <a:srgbClr val="62C9E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271277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745" y="757210"/>
            <a:ext cx="4635515" cy="41403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9C57806-7D99-48D9-B3F5-9B98E83670D2}"/>
              </a:ext>
            </a:extLst>
          </p:cNvPr>
          <p:cNvSpPr/>
          <p:nvPr/>
        </p:nvSpPr>
        <p:spPr>
          <a:xfrm>
            <a:off x="3761910" y="3561860"/>
            <a:ext cx="945105" cy="405045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添加数据</a:t>
            </a:r>
            <a:endParaRPr lang="zh-CN" altLang="en-US" sz="12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A81CF4-86B1-4AB7-BAB4-BD9C8BC53AAD}"/>
              </a:ext>
            </a:extLst>
          </p:cNvPr>
          <p:cNvSpPr/>
          <p:nvPr/>
        </p:nvSpPr>
        <p:spPr>
          <a:xfrm>
            <a:off x="5263115" y="3733134"/>
            <a:ext cx="5775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62C9E2"/>
                </a:solidFill>
                <a:latin typeface="+mj-ea"/>
                <a:ea typeface="+mj-ea"/>
              </a:rPr>
              <a:t>计算</a:t>
            </a:r>
            <a:endParaRPr lang="en-US" altLang="zh-CN" sz="1400" b="1" dirty="0">
              <a:solidFill>
                <a:srgbClr val="62C9E2"/>
              </a:solidFill>
              <a:latin typeface="+mj-ea"/>
              <a:ea typeface="+mj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8D6B0C-694B-4F44-BC00-60A824F574F4}"/>
              </a:ext>
            </a:extLst>
          </p:cNvPr>
          <p:cNvSpPr/>
          <p:nvPr/>
        </p:nvSpPr>
        <p:spPr>
          <a:xfrm>
            <a:off x="3131840" y="1716655"/>
            <a:ext cx="900100" cy="357671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5ADE385-48D4-4760-B9DA-7942A4FE7D5C}"/>
              </a:ext>
            </a:extLst>
          </p:cNvPr>
          <p:cNvGrpSpPr/>
          <p:nvPr/>
        </p:nvGrpSpPr>
        <p:grpSpPr>
          <a:xfrm flipH="1" flipV="1">
            <a:off x="4707015" y="3763886"/>
            <a:ext cx="1308621" cy="352484"/>
            <a:chOff x="755576" y="1779662"/>
            <a:chExt cx="2880320" cy="360040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5BABD03-F76C-4630-80AF-548B4C464115}"/>
                </a:ext>
              </a:extLst>
            </p:cNvPr>
            <p:cNvCxnSpPr/>
            <p:nvPr/>
          </p:nvCxnSpPr>
          <p:spPr>
            <a:xfrm>
              <a:off x="755576" y="1779662"/>
              <a:ext cx="1957772" cy="0"/>
            </a:xfrm>
            <a:prstGeom prst="line">
              <a:avLst/>
            </a:prstGeom>
            <a:ln w="19050">
              <a:solidFill>
                <a:srgbClr val="62C9E2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2960DA3C-25AA-4420-845C-95A3D2067C6B}"/>
                </a:ext>
              </a:extLst>
            </p:cNvPr>
            <p:cNvCxnSpPr/>
            <p:nvPr/>
          </p:nvCxnSpPr>
          <p:spPr>
            <a:xfrm>
              <a:off x="2713348" y="1779662"/>
              <a:ext cx="922548" cy="360040"/>
            </a:xfrm>
            <a:prstGeom prst="line">
              <a:avLst/>
            </a:prstGeom>
            <a:ln w="19050">
              <a:solidFill>
                <a:srgbClr val="62C9E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28">
            <a:extLst>
              <a:ext uri="{FF2B5EF4-FFF2-40B4-BE49-F238E27FC236}">
                <a16:creationId xmlns:a16="http://schemas.microsoft.com/office/drawing/2014/main" id="{D242D053-8325-4187-96F2-072B0203E0ED}"/>
              </a:ext>
            </a:extLst>
          </p:cNvPr>
          <p:cNvSpPr txBox="1"/>
          <p:nvPr/>
        </p:nvSpPr>
        <p:spPr>
          <a:xfrm>
            <a:off x="5102255" y="4220741"/>
            <a:ext cx="1044919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无法编辑，自动计算。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370300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85" y="744966"/>
            <a:ext cx="4754779" cy="41175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2" name="TextBox 6">
            <a:extLst>
              <a:ext uri="{FF2B5EF4-FFF2-40B4-BE49-F238E27FC236}">
                <a16:creationId xmlns:a16="http://schemas.microsoft.com/office/drawing/2014/main" id="{BA606A3B-DE7C-4AB0-B567-01E8B237F9B8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69C667-7C2C-4817-BFE0-B4C84017910D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详细页面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80985312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D84FF3A-B482-4DF6-ACB6-766F56E79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394" y="826456"/>
            <a:ext cx="5727904" cy="39856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84CA8867-0BA4-4A03-B461-9D1383D6841D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动手制作应用（实例：业务管理）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10334-8666-4BDD-9303-65C3612961EE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添加完数据后的列表页面</a:t>
            </a:r>
            <a:endParaRPr lang="zh-CN" altLang="en-US" sz="1200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A252C6-E2DC-46FE-852D-B66B0D8F9134}"/>
              </a:ext>
            </a:extLst>
          </p:cNvPr>
          <p:cNvSpPr/>
          <p:nvPr/>
        </p:nvSpPr>
        <p:spPr>
          <a:xfrm>
            <a:off x="6938561" y="3561860"/>
            <a:ext cx="243729" cy="258462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62F1B69-BDDA-4C3E-87D8-1B2E3971BCB1}"/>
              </a:ext>
            </a:extLst>
          </p:cNvPr>
          <p:cNvGrpSpPr/>
          <p:nvPr/>
        </p:nvGrpSpPr>
        <p:grpSpPr>
          <a:xfrm>
            <a:off x="2573763" y="2609337"/>
            <a:ext cx="4815535" cy="765085"/>
            <a:chOff x="2501769" y="2481740"/>
            <a:chExt cx="4815535" cy="765085"/>
          </a:xfrm>
        </p:grpSpPr>
        <p:sp>
          <p:nvSpPr>
            <p:cNvPr id="19" name="对话气泡: 矩形 18">
              <a:extLst>
                <a:ext uri="{FF2B5EF4-FFF2-40B4-BE49-F238E27FC236}">
                  <a16:creationId xmlns:a16="http://schemas.microsoft.com/office/drawing/2014/main" id="{03E93B13-7EF9-4AA3-A181-BDEFC52975FF}"/>
                </a:ext>
              </a:extLst>
            </p:cNvPr>
            <p:cNvSpPr/>
            <p:nvPr/>
          </p:nvSpPr>
          <p:spPr>
            <a:xfrm flipH="1">
              <a:off x="2501769" y="2481740"/>
              <a:ext cx="4815535" cy="765085"/>
            </a:xfrm>
            <a:prstGeom prst="wedgeRectCallout">
              <a:avLst>
                <a:gd name="adj1" fmla="val -36775"/>
                <a:gd name="adj2" fmla="val 70068"/>
              </a:avLst>
            </a:prstGeom>
            <a:solidFill>
              <a:srgbClr val="66D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D41FB53-2180-4671-8B14-8567582FDA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940" b="12408"/>
            <a:stretch/>
          </p:blipFill>
          <p:spPr>
            <a:xfrm>
              <a:off x="2568767" y="2570084"/>
              <a:ext cx="4681538" cy="60759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66D5F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917875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71500" y="693516"/>
            <a:ext cx="9001000" cy="3228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Bold ITC" panose="020B0907030504020204" pitchFamily="34" charset="0"/>
                <a:ea typeface="+mj-ea"/>
              </a:rPr>
              <a:t>Great!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Bold ITC" panose="020B0907030504020204" pitchFamily="34" charset="0"/>
                <a:ea typeface="+mj-ea"/>
              </a:rPr>
              <a:t> </a:t>
            </a:r>
            <a:endParaRPr lang="en-US" altLang="zh-CN" sz="4400" b="1" dirty="0">
              <a:solidFill>
                <a:schemeClr val="tx1">
                  <a:lumMod val="85000"/>
                  <a:lumOff val="15000"/>
                </a:schemeClr>
              </a:solidFill>
              <a:latin typeface="Eras Bold ITC" panose="020B0907030504020204" pitchFamily="34" charset="0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这个应用创建完成了！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是不是很简单？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要不要继续接受挑战呢？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  <a:ea typeface="+mj-ea"/>
            </a:endParaRPr>
          </a:p>
          <a:p>
            <a:pPr algn="ctr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下面我们来创建关联应用吧！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F19768-9C32-48C1-B4A3-DA4E8BE506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315" y="2571750"/>
            <a:ext cx="1121721" cy="216670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37CD1B76-61D7-4D6F-8187-08108A2891DB}"/>
              </a:ext>
            </a:extLst>
          </p:cNvPr>
          <p:cNvGrpSpPr/>
          <p:nvPr/>
        </p:nvGrpSpPr>
        <p:grpSpPr>
          <a:xfrm flipV="1">
            <a:off x="1781688" y="4191930"/>
            <a:ext cx="5445605" cy="45719"/>
            <a:chOff x="566555" y="877035"/>
            <a:chExt cx="2340260" cy="16454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91817C2-85AC-4B1C-B8D0-21AA803AF5FF}"/>
                </a:ext>
              </a:extLst>
            </p:cNvPr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3538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0A4D074-2000-4D3B-872A-33A28F5D6483}"/>
                </a:ext>
              </a:extLst>
            </p:cNvPr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7DCD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E3026865-A268-4096-A209-7EB607087BF5}"/>
                </a:ext>
              </a:extLst>
            </p:cNvPr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6D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51E890F-3847-4CD3-AFDD-9CCC26C0F089}"/>
                </a:ext>
              </a:extLst>
            </p:cNvPr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F454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97516854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19142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关联记录列表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0627C7-22CA-45E8-BC8D-36DE6A87AC18}"/>
              </a:ext>
            </a:extLst>
          </p:cNvPr>
          <p:cNvSpPr/>
          <p:nvPr/>
        </p:nvSpPr>
        <p:spPr>
          <a:xfrm>
            <a:off x="431541" y="861560"/>
            <a:ext cx="2340258" cy="307296"/>
          </a:xfrm>
          <a:prstGeom prst="rect">
            <a:avLst/>
          </a:prstGeom>
          <a:solidFill>
            <a:srgbClr val="4BB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关联记录列表</a:t>
            </a:r>
            <a:endParaRPr lang="en-US" altLang="zh-CN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760260-5636-4FB7-82B7-92FF7E45F6FA}"/>
              </a:ext>
            </a:extLst>
          </p:cNvPr>
          <p:cNvSpPr/>
          <p:nvPr/>
        </p:nvSpPr>
        <p:spPr>
          <a:xfrm>
            <a:off x="431540" y="1219683"/>
            <a:ext cx="2340259" cy="2709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zh-CN" altLang="en-US" sz="1200" dirty="0"/>
              <a:t>“关联记录列表”是指在表单内显示符合指定条件的记录的字段。不仅可显示同一应用中的记录，也可显示其他应用的记录。</a:t>
            </a:r>
            <a:endParaRPr lang="en-US" altLang="zh-CN" sz="1200" dirty="0"/>
          </a:p>
          <a:p>
            <a:pPr fontAlgn="base">
              <a:lnSpc>
                <a:spcPct val="130000"/>
              </a:lnSpc>
            </a:pPr>
            <a:endParaRPr lang="en-US" altLang="zh-CN" sz="1200" dirty="0"/>
          </a:p>
          <a:p>
            <a:pPr fontAlgn="base">
              <a:lnSpc>
                <a:spcPct val="130000"/>
              </a:lnSpc>
            </a:pPr>
            <a:r>
              <a:rPr lang="zh-CN" altLang="en-US" sz="1200" dirty="0"/>
              <a:t>分别选择以下两种字段来设置要显示的记录。</a:t>
            </a:r>
            <a:endParaRPr lang="en-US" altLang="zh-CN" sz="1200" dirty="0"/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当前应用中的字段</a:t>
            </a:r>
          </a:p>
          <a:p>
            <a:pPr marL="171450" indent="-171450" fontAlgn="base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要引用的应用中的字段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两个字段的值一致的记录将显示在关联记录列表中。</a:t>
            </a:r>
            <a:endParaRPr lang="en-US" altLang="zh-CN" sz="1200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62E9D08-B541-4E67-995C-962CFFEA2FAF}"/>
              </a:ext>
            </a:extLst>
          </p:cNvPr>
          <p:cNvCxnSpPr/>
          <p:nvPr/>
        </p:nvCxnSpPr>
        <p:spPr>
          <a:xfrm>
            <a:off x="2951820" y="1041580"/>
            <a:ext cx="0" cy="30603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1387069D-E8F1-48F7-B313-C7BDF76DC5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52"/>
          <a:stretch/>
        </p:blipFill>
        <p:spPr>
          <a:xfrm>
            <a:off x="3176845" y="1491630"/>
            <a:ext cx="5375296" cy="29047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2B18675-2E61-4768-837B-12CF67DD0C4C}"/>
              </a:ext>
            </a:extLst>
          </p:cNvPr>
          <p:cNvSpPr txBox="1"/>
          <p:nvPr/>
        </p:nvSpPr>
        <p:spPr>
          <a:xfrm>
            <a:off x="3676447" y="9841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62C9E2"/>
                </a:solidFill>
              </a:rPr>
              <a:t>客户信息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E597ED-8483-4449-BAF9-A7BC80184836}"/>
              </a:ext>
            </a:extLst>
          </p:cNvPr>
          <p:cNvSpPr txBox="1"/>
          <p:nvPr/>
        </p:nvSpPr>
        <p:spPr>
          <a:xfrm>
            <a:off x="6390297" y="96880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62C9E2"/>
                </a:solidFill>
              </a:rPr>
              <a:t>销售管理表</a:t>
            </a:r>
          </a:p>
        </p:txBody>
      </p:sp>
    </p:spTree>
    <p:extLst>
      <p:ext uri="{BB962C8B-B14F-4D97-AF65-F5344CB8AC3E}">
        <p14:creationId xmlns:p14="http://schemas.microsoft.com/office/powerpoint/2010/main" val="2833755599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392" y="716114"/>
            <a:ext cx="5003683" cy="41508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（实例：客户列表）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D3CCA8-5CE6-463E-89EC-68411EAF69E9}"/>
              </a:ext>
            </a:extLst>
          </p:cNvPr>
          <p:cNvSpPr/>
          <p:nvPr/>
        </p:nvSpPr>
        <p:spPr>
          <a:xfrm>
            <a:off x="4076687" y="1936635"/>
            <a:ext cx="1118021" cy="402767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B8C63E-286A-4CD2-84C0-F16CACA103CF}"/>
              </a:ext>
            </a:extLst>
          </p:cNvPr>
          <p:cNvSpPr/>
          <p:nvPr/>
        </p:nvSpPr>
        <p:spPr>
          <a:xfrm>
            <a:off x="3117837" y="2234707"/>
            <a:ext cx="779088" cy="135014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A28AE8-E3A6-4071-8FCF-012355477127}"/>
              </a:ext>
            </a:extLst>
          </p:cNvPr>
          <p:cNvSpPr/>
          <p:nvPr/>
        </p:nvSpPr>
        <p:spPr>
          <a:xfrm>
            <a:off x="2366755" y="3660025"/>
            <a:ext cx="751082" cy="136943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4076688" y="2369721"/>
            <a:ext cx="900358" cy="51706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23DB72-176B-4C85-822E-0F9752173965}"/>
              </a:ext>
            </a:extLst>
          </p:cNvPr>
          <p:cNvSpPr/>
          <p:nvPr/>
        </p:nvSpPr>
        <p:spPr>
          <a:xfrm>
            <a:off x="5443303" y="2571750"/>
            <a:ext cx="11089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4BB968"/>
                </a:solidFill>
                <a:latin typeface="+mn-ea"/>
              </a:rPr>
              <a:t>关联记录列表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443D608-4373-4E65-88D4-6D2F665502A7}"/>
              </a:ext>
            </a:extLst>
          </p:cNvPr>
          <p:cNvGrpSpPr/>
          <p:nvPr/>
        </p:nvGrpSpPr>
        <p:grpSpPr>
          <a:xfrm flipH="1" flipV="1">
            <a:off x="4981682" y="2436734"/>
            <a:ext cx="1572112" cy="423456"/>
            <a:chOff x="1587067" y="1643935"/>
            <a:chExt cx="2880319" cy="360040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0052CA7D-E476-4E78-A1A1-9EA463C5C4A3}"/>
                </a:ext>
              </a:extLst>
            </p:cNvPr>
            <p:cNvCxnSpPr/>
            <p:nvPr/>
          </p:nvCxnSpPr>
          <p:spPr>
            <a:xfrm>
              <a:off x="1587067" y="1643935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73DAD22-0A6A-4ECF-8C71-5AF72B6E5446}"/>
                </a:ext>
              </a:extLst>
            </p:cNvPr>
            <p:cNvCxnSpPr/>
            <p:nvPr/>
          </p:nvCxnSpPr>
          <p:spPr>
            <a:xfrm>
              <a:off x="3544839" y="1643935"/>
              <a:ext cx="922547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392774413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392" y="716114"/>
            <a:ext cx="500368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（实例：客户列表）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058523372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798" y="726545"/>
            <a:ext cx="4626870" cy="41508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客户列表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08CE96-EFAE-4801-A3EF-A12AB35E27A2}"/>
              </a:ext>
            </a:extLst>
          </p:cNvPr>
          <p:cNvSpPr/>
          <p:nvPr/>
        </p:nvSpPr>
        <p:spPr>
          <a:xfrm>
            <a:off x="3217769" y="1664734"/>
            <a:ext cx="1309226" cy="318790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A68814-C05A-4945-B9AF-66A662990A46}"/>
              </a:ext>
            </a:extLst>
          </p:cNvPr>
          <p:cNvSpPr/>
          <p:nvPr/>
        </p:nvSpPr>
        <p:spPr>
          <a:xfrm>
            <a:off x="3222922" y="2031691"/>
            <a:ext cx="1619108" cy="345724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FD4E91-151E-4145-A20A-A53029351917}"/>
              </a:ext>
            </a:extLst>
          </p:cNvPr>
          <p:cNvSpPr/>
          <p:nvPr/>
        </p:nvSpPr>
        <p:spPr>
          <a:xfrm>
            <a:off x="3188169" y="2841780"/>
            <a:ext cx="810092" cy="630071"/>
          </a:xfrm>
          <a:prstGeom prst="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993452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392" y="716114"/>
            <a:ext cx="5003683" cy="41508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（实例：客户列表）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BD93A7-1178-4E71-BD3F-6B894A89AF99}"/>
              </a:ext>
            </a:extLst>
          </p:cNvPr>
          <p:cNvSpPr/>
          <p:nvPr/>
        </p:nvSpPr>
        <p:spPr>
          <a:xfrm>
            <a:off x="5233450" y="1572348"/>
            <a:ext cx="900358" cy="369332"/>
          </a:xfrm>
          <a:prstGeom prst="rect">
            <a:avLst/>
          </a:prstGeom>
          <a:noFill/>
          <a:ln w="19050">
            <a:solidFill>
              <a:srgbClr val="FDA90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应用设置</a:t>
            </a:r>
            <a:endParaRPr lang="zh-CN" altLang="en-US" sz="1200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65A356-7637-40D6-AB27-D302110D120A}"/>
              </a:ext>
            </a:extLst>
          </p:cNvPr>
          <p:cNvSpPr/>
          <p:nvPr/>
        </p:nvSpPr>
        <p:spPr>
          <a:xfrm>
            <a:off x="2257988" y="1155571"/>
            <a:ext cx="1314171" cy="315439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CC26AE-3BB4-4388-9A2B-F3B9C3B50F6A}"/>
              </a:ext>
            </a:extLst>
          </p:cNvPr>
          <p:cNvSpPr/>
          <p:nvPr/>
        </p:nvSpPr>
        <p:spPr>
          <a:xfrm>
            <a:off x="6192180" y="1161503"/>
            <a:ext cx="864297" cy="330127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189EC4-D324-490F-ADAB-18055D39982D}"/>
              </a:ext>
            </a:extLst>
          </p:cNvPr>
          <p:cNvSpPr txBox="1"/>
          <p:nvPr/>
        </p:nvSpPr>
        <p:spPr>
          <a:xfrm>
            <a:off x="5485219" y="19303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DA907"/>
                </a:solidFill>
                <a:latin typeface="Verdana" panose="020B0604030504040204" pitchFamily="34" charset="0"/>
              </a:rPr>
              <a:t>➀</a:t>
            </a:r>
            <a:endParaRPr lang="zh-CN" altLang="en-US" dirty="0">
              <a:solidFill>
                <a:srgbClr val="FDA907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417F44-3EB6-4C0A-A187-0C352916D32B}"/>
              </a:ext>
            </a:extLst>
          </p:cNvPr>
          <p:cNvSpPr txBox="1"/>
          <p:nvPr/>
        </p:nvSpPr>
        <p:spPr>
          <a:xfrm>
            <a:off x="1672025" y="110167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62C9E2"/>
                </a:solidFill>
                <a:latin typeface="Verdana" panose="020B0604030504040204" pitchFamily="34" charset="0"/>
              </a:rPr>
              <a:t>➁</a:t>
            </a:r>
            <a:endParaRPr lang="zh-CN" altLang="en-US" dirty="0">
              <a:solidFill>
                <a:srgbClr val="62C9E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B03213-C743-4FD1-8947-0C52EDEB17A7}"/>
              </a:ext>
            </a:extLst>
          </p:cNvPr>
          <p:cNvSpPr txBox="1"/>
          <p:nvPr/>
        </p:nvSpPr>
        <p:spPr>
          <a:xfrm>
            <a:off x="7134130" y="110112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4BB968"/>
                </a:solidFill>
                <a:latin typeface="Verdana" panose="020B0604030504040204" pitchFamily="34" charset="0"/>
              </a:rPr>
              <a:t>➂</a:t>
            </a:r>
            <a:endParaRPr lang="zh-CN" altLang="en-US" dirty="0">
              <a:solidFill>
                <a:srgbClr val="4BB968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525A22-442E-4F74-BB52-41DF53530414}"/>
              </a:ext>
            </a:extLst>
          </p:cNvPr>
          <p:cNvSpPr/>
          <p:nvPr/>
        </p:nvSpPr>
        <p:spPr>
          <a:xfrm>
            <a:off x="4076688" y="2346725"/>
            <a:ext cx="900358" cy="517064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22C604-C7B5-4813-A248-5033A4CB9CF4}"/>
              </a:ext>
            </a:extLst>
          </p:cNvPr>
          <p:cNvSpPr/>
          <p:nvPr/>
        </p:nvSpPr>
        <p:spPr>
          <a:xfrm>
            <a:off x="5443303" y="2548754"/>
            <a:ext cx="110891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4BB968"/>
                </a:solidFill>
                <a:latin typeface="+mn-ea"/>
              </a:rPr>
              <a:t>关联记录列表</a:t>
            </a:r>
            <a:endParaRPr lang="en-US" altLang="zh-CN" sz="1200" b="1" dirty="0">
              <a:solidFill>
                <a:srgbClr val="4BB968"/>
              </a:solidFill>
              <a:latin typeface="+mn-ea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510B3F1-C349-4AFA-ADB5-84AEE5C35E9D}"/>
              </a:ext>
            </a:extLst>
          </p:cNvPr>
          <p:cNvGrpSpPr/>
          <p:nvPr/>
        </p:nvGrpSpPr>
        <p:grpSpPr>
          <a:xfrm flipH="1" flipV="1">
            <a:off x="4981682" y="2413738"/>
            <a:ext cx="1572112" cy="423456"/>
            <a:chOff x="1587067" y="1643935"/>
            <a:chExt cx="2880319" cy="360040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8318A6F-AADB-4DFE-977C-407A492AB9ED}"/>
                </a:ext>
              </a:extLst>
            </p:cNvPr>
            <p:cNvCxnSpPr/>
            <p:nvPr/>
          </p:nvCxnSpPr>
          <p:spPr>
            <a:xfrm>
              <a:off x="1587067" y="1643935"/>
              <a:ext cx="1957772" cy="0"/>
            </a:xfrm>
            <a:prstGeom prst="line">
              <a:avLst/>
            </a:prstGeom>
            <a:ln w="19050">
              <a:solidFill>
                <a:srgbClr val="4BB968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83CA385-7560-44DC-8521-400FA57F3283}"/>
                </a:ext>
              </a:extLst>
            </p:cNvPr>
            <p:cNvCxnSpPr/>
            <p:nvPr/>
          </p:nvCxnSpPr>
          <p:spPr>
            <a:xfrm>
              <a:off x="3544839" y="1643935"/>
              <a:ext cx="922547" cy="360040"/>
            </a:xfrm>
            <a:prstGeom prst="line">
              <a:avLst/>
            </a:prstGeom>
            <a:ln w="19050">
              <a:solidFill>
                <a:srgbClr val="4BB96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638F0A82-F892-4B5A-A7E5-EE1E9F6237B0}"/>
              </a:ext>
            </a:extLst>
          </p:cNvPr>
          <p:cNvSpPr/>
          <p:nvPr/>
        </p:nvSpPr>
        <p:spPr>
          <a:xfrm>
            <a:off x="6152486" y="1653376"/>
            <a:ext cx="23402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DA907"/>
                </a:solidFill>
                <a:latin typeface="+mn-ea"/>
              </a:rPr>
              <a:t>设置权限请参考本文档</a:t>
            </a:r>
            <a:r>
              <a:rPr lang="en-US" altLang="zh-CN" sz="1200" b="1" dirty="0">
                <a:solidFill>
                  <a:srgbClr val="FDA907"/>
                </a:solidFill>
                <a:latin typeface="+mn-ea"/>
              </a:rPr>
              <a:t>P27~28</a:t>
            </a:r>
          </a:p>
        </p:txBody>
      </p:sp>
    </p:spTree>
    <p:extLst>
      <p:ext uri="{BB962C8B-B14F-4D97-AF65-F5344CB8AC3E}">
        <p14:creationId xmlns:p14="http://schemas.microsoft.com/office/powerpoint/2010/main" val="1913263195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10BA2C-089C-477A-9719-D67DCCA17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55" y="861561"/>
            <a:ext cx="6283824" cy="40075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（实例：客户列表）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添加数据</a:t>
            </a:r>
            <a:endParaRPr lang="zh-CN" altLang="en-US" sz="1200" b="1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388C04-FEF4-41F2-9B12-653F28BC420A}"/>
              </a:ext>
            </a:extLst>
          </p:cNvPr>
          <p:cNvGrpSpPr/>
          <p:nvPr/>
        </p:nvGrpSpPr>
        <p:grpSpPr>
          <a:xfrm>
            <a:off x="5205133" y="1806665"/>
            <a:ext cx="1419117" cy="748700"/>
            <a:chOff x="5742130" y="2571750"/>
            <a:chExt cx="1419117" cy="7487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79DACA7-DD84-424A-AE6F-1E50BA336542}"/>
                </a:ext>
              </a:extLst>
            </p:cNvPr>
            <p:cNvSpPr/>
            <p:nvPr/>
          </p:nvSpPr>
          <p:spPr>
            <a:xfrm>
              <a:off x="6846211" y="3005011"/>
              <a:ext cx="315036" cy="315439"/>
            </a:xfrm>
            <a:prstGeom prst="rect">
              <a:avLst/>
            </a:prstGeom>
            <a:noFill/>
            <a:ln w="19050">
              <a:solidFill>
                <a:srgbClr val="62C9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40067A2D-09BB-4351-AC2A-018C505725B8}"/>
                </a:ext>
              </a:extLst>
            </p:cNvPr>
            <p:cNvGrpSpPr/>
            <p:nvPr/>
          </p:nvGrpSpPr>
          <p:grpSpPr>
            <a:xfrm>
              <a:off x="5763935" y="2863593"/>
              <a:ext cx="1082276" cy="291516"/>
              <a:chOff x="755576" y="1779662"/>
              <a:chExt cx="2880320" cy="36004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DE0528E3-02FF-4723-8CB3-CBCAEE938803}"/>
                  </a:ext>
                </a:extLst>
              </p:cNvPr>
              <p:cNvCxnSpPr/>
              <p:nvPr/>
            </p:nvCxnSpPr>
            <p:spPr>
              <a:xfrm>
                <a:off x="755576" y="1779663"/>
                <a:ext cx="1957772" cy="0"/>
              </a:xfrm>
              <a:prstGeom prst="line">
                <a:avLst/>
              </a:prstGeom>
              <a:ln w="19050">
                <a:solidFill>
                  <a:srgbClr val="62C9E2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B0938C1C-F0E7-46E2-B9A5-A92C1AE84234}"/>
                  </a:ext>
                </a:extLst>
              </p:cNvPr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 w="19050">
                <a:solidFill>
                  <a:srgbClr val="62C9E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9D4C736-B233-42B7-A2A9-D19AB78888FF}"/>
                </a:ext>
              </a:extLst>
            </p:cNvPr>
            <p:cNvSpPr/>
            <p:nvPr/>
          </p:nvSpPr>
          <p:spPr>
            <a:xfrm>
              <a:off x="5742130" y="2571750"/>
              <a:ext cx="1305525" cy="276999"/>
            </a:xfrm>
            <a:prstGeom prst="rect">
              <a:avLst/>
            </a:prstGeom>
            <a:ln w="19050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b="1" dirty="0">
                  <a:solidFill>
                    <a:srgbClr val="62C9E2"/>
                  </a:solidFill>
                  <a:latin typeface="+mj-ea"/>
                  <a:ea typeface="+mj-ea"/>
                </a:rPr>
                <a:t>添加数据</a:t>
              </a:r>
              <a:endParaRPr lang="en-US" altLang="zh-CN" sz="1200" b="1" dirty="0">
                <a:solidFill>
                  <a:srgbClr val="62C9E2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1166853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客户列表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CF3E26-CFDE-4550-8E6B-E162BBA87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40" y="1082448"/>
            <a:ext cx="6949436" cy="36945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453947E-AD97-4795-88F1-BF895622774D}"/>
              </a:ext>
            </a:extLst>
          </p:cNvPr>
          <p:cNvSpPr/>
          <p:nvPr/>
        </p:nvSpPr>
        <p:spPr>
          <a:xfrm>
            <a:off x="926812" y="3201821"/>
            <a:ext cx="2303008" cy="630070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425A9D-333B-4A46-AC0E-7A4BCF75CC26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添加数据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48147888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9200D185-C29F-4593-AE0E-DADAC376E002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客户列表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6CD3E8C-C590-4866-9425-5D58DF450110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详细画面</a:t>
            </a:r>
            <a:endParaRPr lang="zh-CN" altLang="en-US" sz="1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CF3E26-CFDE-4550-8E6B-E162BBA87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79" y="816555"/>
            <a:ext cx="6683376" cy="39154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24BD582-AD54-4203-9A59-192F5A1602D0}"/>
              </a:ext>
            </a:extLst>
          </p:cNvPr>
          <p:cNvSpPr/>
          <p:nvPr/>
        </p:nvSpPr>
        <p:spPr>
          <a:xfrm>
            <a:off x="1097813" y="3651870"/>
            <a:ext cx="1493967" cy="945105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2534596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CCF3E26-CFDE-4550-8E6B-E162BBA87B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06"/>
          <a:stretch/>
        </p:blipFill>
        <p:spPr>
          <a:xfrm>
            <a:off x="1365831" y="816555"/>
            <a:ext cx="6345705" cy="40543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453947E-AD97-4795-88F1-BF895622774D}"/>
              </a:ext>
            </a:extLst>
          </p:cNvPr>
          <p:cNvSpPr/>
          <p:nvPr/>
        </p:nvSpPr>
        <p:spPr>
          <a:xfrm>
            <a:off x="1448497" y="3193803"/>
            <a:ext cx="1847194" cy="548276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6CD74D-634A-4209-9C65-B46103489101}"/>
              </a:ext>
            </a:extLst>
          </p:cNvPr>
          <p:cNvSpPr/>
          <p:nvPr/>
        </p:nvSpPr>
        <p:spPr>
          <a:xfrm>
            <a:off x="1432816" y="3996355"/>
            <a:ext cx="1444571" cy="665243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01201D3-28AA-485E-B24E-D39C5E0BAD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707" y="816555"/>
            <a:ext cx="4681773" cy="40543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四角形: 角を丸くする 9">
            <a:extLst>
              <a:ext uri="{FF2B5EF4-FFF2-40B4-BE49-F238E27FC236}">
                <a16:creationId xmlns:a16="http://schemas.microsoft.com/office/drawing/2014/main" id="{9B7DD95A-07FE-4DB2-A9C8-4E9C8B964772}"/>
              </a:ext>
            </a:extLst>
          </p:cNvPr>
          <p:cNvSpPr/>
          <p:nvPr/>
        </p:nvSpPr>
        <p:spPr>
          <a:xfrm>
            <a:off x="7721086" y="1134410"/>
            <a:ext cx="1051017" cy="60791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业务管理</a:t>
            </a:r>
            <a:endParaRPr kumimoji="1" lang="en-US" altLang="zh-CN" sz="1200" b="1" dirty="0">
              <a:solidFill>
                <a:schemeClr val="bg1"/>
              </a:solidFill>
              <a:latin typeface="+mn-ea"/>
              <a:cs typeface="Meiryo" charset="-128"/>
            </a:endParaRPr>
          </a:p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详细画面</a:t>
            </a:r>
            <a:endParaRPr kumimoji="1" lang="en-US" altLang="zh-CN" sz="1200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8F621A-B90A-4888-9421-E5DFCA378965}"/>
              </a:ext>
            </a:extLst>
          </p:cNvPr>
          <p:cNvSpPr/>
          <p:nvPr/>
        </p:nvSpPr>
        <p:spPr>
          <a:xfrm>
            <a:off x="4261200" y="2436735"/>
            <a:ext cx="1390920" cy="325312"/>
          </a:xfrm>
          <a:prstGeom prst="rect">
            <a:avLst/>
          </a:prstGeom>
          <a:noFill/>
          <a:ln w="19050"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480A7DBE-C41F-4B75-9F7B-E0C3FCE00BBE}"/>
              </a:ext>
            </a:extLst>
          </p:cNvPr>
          <p:cNvCxnSpPr>
            <a:cxnSpLocks/>
          </p:cNvCxnSpPr>
          <p:nvPr/>
        </p:nvCxnSpPr>
        <p:spPr>
          <a:xfrm flipV="1">
            <a:off x="3323650" y="2599391"/>
            <a:ext cx="932126" cy="754702"/>
          </a:xfrm>
          <a:prstGeom prst="bentConnector3">
            <a:avLst/>
          </a:prstGeom>
          <a:ln w="19050">
            <a:solidFill>
              <a:srgbClr val="62C9E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角を丸くする 9">
            <a:extLst>
              <a:ext uri="{FF2B5EF4-FFF2-40B4-BE49-F238E27FC236}">
                <a16:creationId xmlns:a16="http://schemas.microsoft.com/office/drawing/2014/main" id="{7D4457DB-8456-4860-ACEA-762854AB6EB9}"/>
              </a:ext>
            </a:extLst>
          </p:cNvPr>
          <p:cNvSpPr/>
          <p:nvPr/>
        </p:nvSpPr>
        <p:spPr>
          <a:xfrm>
            <a:off x="537327" y="771700"/>
            <a:ext cx="1053529" cy="62700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客户列表</a:t>
            </a:r>
            <a:endParaRPr kumimoji="1" lang="en-US" altLang="zh-CN" sz="1200" b="1" dirty="0">
              <a:solidFill>
                <a:schemeClr val="bg1"/>
              </a:solidFill>
              <a:latin typeface="+mn-ea"/>
              <a:cs typeface="Meiryo" charset="-128"/>
            </a:endParaRPr>
          </a:p>
          <a:p>
            <a:pPr algn="ctr"/>
            <a:r>
              <a:rPr kumimoji="1" lang="zh-CN" altLang="en-US" sz="1200" b="1" dirty="0">
                <a:solidFill>
                  <a:schemeClr val="bg1"/>
                </a:solidFill>
                <a:latin typeface="+mn-ea"/>
                <a:cs typeface="Meiryo" charset="-128"/>
              </a:rPr>
              <a:t>详细画面</a:t>
            </a:r>
            <a:endParaRPr kumimoji="1" lang="en-US" altLang="zh-CN" sz="1200" b="1" dirty="0">
              <a:solidFill>
                <a:schemeClr val="bg1"/>
              </a:solidFill>
              <a:latin typeface="+mn-ea"/>
              <a:cs typeface="Meiryo" charset="-128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248492-71C7-43AF-822D-369409DD7BEA}"/>
              </a:ext>
            </a:extLst>
          </p:cNvPr>
          <p:cNvSpPr/>
          <p:nvPr/>
        </p:nvSpPr>
        <p:spPr>
          <a:xfrm>
            <a:off x="4265326" y="3134945"/>
            <a:ext cx="1800200" cy="31649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6789BE0-180E-4845-97B8-5226E943985D}"/>
              </a:ext>
            </a:extLst>
          </p:cNvPr>
          <p:cNvSpPr/>
          <p:nvPr/>
        </p:nvSpPr>
        <p:spPr>
          <a:xfrm>
            <a:off x="5028393" y="3471850"/>
            <a:ext cx="693870" cy="316490"/>
          </a:xfrm>
          <a:prstGeom prst="rect">
            <a:avLst/>
          </a:prstGeom>
          <a:noFill/>
          <a:ln w="19050">
            <a:solidFill>
              <a:srgbClr val="4BB9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对话气泡: 矩形 34">
            <a:extLst>
              <a:ext uri="{FF2B5EF4-FFF2-40B4-BE49-F238E27FC236}">
                <a16:creationId xmlns:a16="http://schemas.microsoft.com/office/drawing/2014/main" id="{AFB882FB-252F-4CD3-9B72-1A9888AA135E}"/>
              </a:ext>
            </a:extLst>
          </p:cNvPr>
          <p:cNvSpPr/>
          <p:nvPr/>
        </p:nvSpPr>
        <p:spPr>
          <a:xfrm flipH="1">
            <a:off x="162600" y="3213980"/>
            <a:ext cx="1202065" cy="955164"/>
          </a:xfrm>
          <a:prstGeom prst="wedgeRectCallout">
            <a:avLst>
              <a:gd name="adj1" fmla="val -58004"/>
              <a:gd name="adj2" fmla="val 69326"/>
            </a:avLst>
          </a:prstGeom>
          <a:solidFill>
            <a:srgbClr val="4BB9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D49C2C68-2BAC-47AF-A275-004C056DF17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5" t="50959" r="62780" b="33289"/>
          <a:stretch/>
        </p:blipFill>
        <p:spPr>
          <a:xfrm>
            <a:off x="233129" y="3266458"/>
            <a:ext cx="1079539" cy="810372"/>
          </a:xfrm>
          <a:prstGeom prst="rect">
            <a:avLst/>
          </a:prstGeom>
          <a:ln>
            <a:noFill/>
          </a:ln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E0B4A1BA-190E-4610-BAA3-50E2B8236686}"/>
              </a:ext>
            </a:extLst>
          </p:cNvPr>
          <p:cNvGrpSpPr/>
          <p:nvPr/>
        </p:nvGrpSpPr>
        <p:grpSpPr>
          <a:xfrm>
            <a:off x="818627" y="1986641"/>
            <a:ext cx="2109253" cy="1010334"/>
            <a:chOff x="1562645" y="1977071"/>
            <a:chExt cx="2109253" cy="1010334"/>
          </a:xfrm>
        </p:grpSpPr>
        <p:sp>
          <p:nvSpPr>
            <p:cNvPr id="21" name="对话气泡: 矩形 20">
              <a:extLst>
                <a:ext uri="{FF2B5EF4-FFF2-40B4-BE49-F238E27FC236}">
                  <a16:creationId xmlns:a16="http://schemas.microsoft.com/office/drawing/2014/main" id="{C8C37883-D9A5-4BFE-B034-618B915FCA5C}"/>
                </a:ext>
              </a:extLst>
            </p:cNvPr>
            <p:cNvSpPr/>
            <p:nvPr/>
          </p:nvSpPr>
          <p:spPr>
            <a:xfrm flipH="1">
              <a:off x="1562645" y="1977071"/>
              <a:ext cx="2109253" cy="1010334"/>
            </a:xfrm>
            <a:prstGeom prst="wedgeRectCallout">
              <a:avLst>
                <a:gd name="adj1" fmla="val -36775"/>
                <a:gd name="adj2" fmla="val 70068"/>
              </a:avLst>
            </a:prstGeom>
            <a:solidFill>
              <a:srgbClr val="66D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82EA3674-D309-4946-B368-4C50E306EF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28" t="21804" r="46082" b="60719"/>
            <a:stretch/>
          </p:blipFill>
          <p:spPr>
            <a:xfrm>
              <a:off x="1608869" y="2047694"/>
              <a:ext cx="2018026" cy="899103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E5BBA502-D63D-4DF3-B128-79477DBB992A}"/>
              </a:ext>
            </a:extLst>
          </p:cNvPr>
          <p:cNvCxnSpPr>
            <a:cxnSpLocks/>
          </p:cNvCxnSpPr>
          <p:nvPr/>
        </p:nvCxnSpPr>
        <p:spPr>
          <a:xfrm flipV="1">
            <a:off x="2844787" y="3402193"/>
            <a:ext cx="1426505" cy="926783"/>
          </a:xfrm>
          <a:prstGeom prst="bentConnector3">
            <a:avLst/>
          </a:prstGeom>
          <a:ln w="19050">
            <a:solidFill>
              <a:srgbClr val="4BB96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2FD0C65B-5FE3-445B-9CBD-42EA5A83766F}"/>
              </a:ext>
            </a:extLst>
          </p:cNvPr>
          <p:cNvSpPr txBox="1"/>
          <p:nvPr/>
        </p:nvSpPr>
        <p:spPr>
          <a:xfrm>
            <a:off x="476520" y="51470"/>
            <a:ext cx="5400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关联记录列表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（实例：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客户列表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  <a:ea typeface="+mj-ea"/>
              </a:rPr>
              <a:t>）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70445D-3AB0-4D2D-8CAA-3AB3E2E5787B}"/>
              </a:ext>
            </a:extLst>
          </p:cNvPr>
          <p:cNvSpPr/>
          <p:nvPr/>
        </p:nvSpPr>
        <p:spPr>
          <a:xfrm>
            <a:off x="476520" y="456515"/>
            <a:ext cx="38704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应用列表和详细画面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69741361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>
            <a:extLst>
              <a:ext uri="{FF2B5EF4-FFF2-40B4-BE49-F238E27FC236}">
                <a16:creationId xmlns:a16="http://schemas.microsoft.com/office/drawing/2014/main" id="{C0CBBBBB-6A8C-4CE2-840B-AB60043A1E50}"/>
              </a:ext>
            </a:extLst>
          </p:cNvPr>
          <p:cNvSpPr txBox="1"/>
          <p:nvPr/>
        </p:nvSpPr>
        <p:spPr>
          <a:xfrm>
            <a:off x="899209" y="1806665"/>
            <a:ext cx="5940660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太好了，这样就完成了！</a:t>
            </a:r>
            <a:endParaRPr lang="en-US" altLang="zh-CN" sz="3200" b="1" dirty="0">
              <a:solidFill>
                <a:schemeClr val="tx1">
                  <a:lumMod val="85000"/>
                  <a:lumOff val="15000"/>
                </a:schemeClr>
              </a:solidFill>
              <a:latin typeface="Impact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Impact" pitchFamily="34" charset="0"/>
              </a:rPr>
              <a:t>你学会了吗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?</a:t>
            </a: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C74B5C-5CD5-49EA-8890-BE4DACB3E4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824" y="1446625"/>
            <a:ext cx="1602561" cy="257175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06D4FC84-670B-466C-9D67-72523F04CB67}"/>
              </a:ext>
            </a:extLst>
          </p:cNvPr>
          <p:cNvGrpSpPr/>
          <p:nvPr/>
        </p:nvGrpSpPr>
        <p:grpSpPr>
          <a:xfrm>
            <a:off x="1709299" y="3111096"/>
            <a:ext cx="4005446" cy="45719"/>
            <a:chOff x="566555" y="877035"/>
            <a:chExt cx="2340260" cy="16454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8D52779-7CB2-4BDF-80BA-7ADFAD93DFA8}"/>
                </a:ext>
              </a:extLst>
            </p:cNvPr>
            <p:cNvSpPr/>
            <p:nvPr/>
          </p:nvSpPr>
          <p:spPr>
            <a:xfrm>
              <a:off x="566555" y="877035"/>
              <a:ext cx="585065" cy="164545"/>
            </a:xfrm>
            <a:prstGeom prst="rect">
              <a:avLst/>
            </a:prstGeom>
            <a:solidFill>
              <a:srgbClr val="3538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DA6FE5C-F541-4BD7-9236-AB7A1D77EDF9}"/>
                </a:ext>
              </a:extLst>
            </p:cNvPr>
            <p:cNvSpPr/>
            <p:nvPr/>
          </p:nvSpPr>
          <p:spPr>
            <a:xfrm>
              <a:off x="1151620" y="877035"/>
              <a:ext cx="585065" cy="164545"/>
            </a:xfrm>
            <a:prstGeom prst="rect">
              <a:avLst/>
            </a:prstGeom>
            <a:solidFill>
              <a:srgbClr val="7DCD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44FBDF0-F09C-4BE1-B5C8-83D7F708A369}"/>
                </a:ext>
              </a:extLst>
            </p:cNvPr>
            <p:cNvSpPr/>
            <p:nvPr/>
          </p:nvSpPr>
          <p:spPr>
            <a:xfrm>
              <a:off x="1736685" y="877035"/>
              <a:ext cx="585065" cy="164545"/>
            </a:xfrm>
            <a:prstGeom prst="rect">
              <a:avLst/>
            </a:prstGeom>
            <a:solidFill>
              <a:srgbClr val="F6D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CD1017D-0F43-471E-BDDD-749B44AB91B5}"/>
                </a:ext>
              </a:extLst>
            </p:cNvPr>
            <p:cNvSpPr/>
            <p:nvPr/>
          </p:nvSpPr>
          <p:spPr>
            <a:xfrm>
              <a:off x="2321750" y="877035"/>
              <a:ext cx="585065" cy="164545"/>
            </a:xfrm>
            <a:prstGeom prst="rect">
              <a:avLst/>
            </a:prstGeom>
            <a:solidFill>
              <a:srgbClr val="F454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8160495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2518647" y="908114"/>
            <a:ext cx="5895655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rgbClr val="35388B"/>
                </a:solidFill>
              </a:rPr>
              <a:t>THANKS</a:t>
            </a:r>
            <a:r>
              <a:rPr lang="en-US" altLang="zh-CN" sz="2800" dirty="0">
                <a:solidFill>
                  <a:srgbClr val="BF3420"/>
                </a:solidFill>
              </a:rPr>
              <a:t> </a:t>
            </a:r>
            <a:r>
              <a:rPr lang="en-US" altLang="zh-CN" sz="2800" dirty="0">
                <a:solidFill>
                  <a:srgbClr val="7DCD92"/>
                </a:solidFill>
              </a:rPr>
              <a:t>FOR</a:t>
            </a:r>
            <a:r>
              <a:rPr lang="zh-CN" altLang="en-US" sz="2800" dirty="0">
                <a:solidFill>
                  <a:srgbClr val="1A7BAE"/>
                </a:solidFill>
              </a:rPr>
              <a:t> </a:t>
            </a:r>
            <a:r>
              <a:rPr lang="en-US" altLang="zh-CN" sz="2800" dirty="0">
                <a:solidFill>
                  <a:srgbClr val="F6D970"/>
                </a:solidFill>
              </a:rPr>
              <a:t>YOUR</a:t>
            </a:r>
            <a:r>
              <a:rPr lang="en-US" altLang="zh-CN" sz="2800" dirty="0">
                <a:solidFill>
                  <a:srgbClr val="1A7BAE"/>
                </a:solidFill>
              </a:rPr>
              <a:t> </a:t>
            </a:r>
            <a:r>
              <a:rPr lang="en-US" altLang="zh-CN" sz="2800" dirty="0">
                <a:solidFill>
                  <a:srgbClr val="F45450"/>
                </a:solidFill>
              </a:rPr>
              <a:t>WATCHING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CC379998-9E3D-42DA-87A5-2F3CF1FB0D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4726649"/>
              </p:ext>
            </p:extLst>
          </p:nvPr>
        </p:nvGraphicFramePr>
        <p:xfrm>
          <a:off x="656565" y="1986685"/>
          <a:ext cx="7695855" cy="1187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D8EF27B-2954-4949-9D83-2463ADAECEE6}"/>
              </a:ext>
            </a:extLst>
          </p:cNvPr>
          <p:cNvSpPr/>
          <p:nvPr/>
        </p:nvSpPr>
        <p:spPr>
          <a:xfrm>
            <a:off x="649048" y="2481740"/>
            <a:ext cx="2355291" cy="2355289"/>
          </a:xfrm>
          <a:prstGeom prst="rect">
            <a:avLst/>
          </a:prstGeom>
          <a:solidFill>
            <a:schemeClr val="bg1"/>
          </a:solidFill>
          <a:ln>
            <a:solidFill>
              <a:srgbClr val="62C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2FBEEB1-F743-476B-B877-48D6DB44BE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58" y="2571750"/>
            <a:ext cx="2175269" cy="2175269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45B80D0E-9898-45A3-8E32-20F174D9257C}"/>
              </a:ext>
            </a:extLst>
          </p:cNvPr>
          <p:cNvGrpSpPr/>
          <p:nvPr/>
        </p:nvGrpSpPr>
        <p:grpSpPr>
          <a:xfrm>
            <a:off x="6004645" y="2484868"/>
            <a:ext cx="2347776" cy="2355289"/>
            <a:chOff x="3326846" y="2175471"/>
            <a:chExt cx="2355291" cy="2355289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0F14B5D-52E9-47B4-A7D8-8573A55660DE}"/>
                </a:ext>
              </a:extLst>
            </p:cNvPr>
            <p:cNvSpPr/>
            <p:nvPr/>
          </p:nvSpPr>
          <p:spPr>
            <a:xfrm>
              <a:off x="3326846" y="2175471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DA9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A237405-3CC6-42ED-ADD6-CFC536583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6856" y="2265481"/>
              <a:ext cx="2175269" cy="2175269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055AD31-61A3-44FF-826E-A096C6E49019}"/>
              </a:ext>
            </a:extLst>
          </p:cNvPr>
          <p:cNvGrpSpPr/>
          <p:nvPr/>
        </p:nvGrpSpPr>
        <p:grpSpPr>
          <a:xfrm>
            <a:off x="3326846" y="2481740"/>
            <a:ext cx="2370279" cy="2355289"/>
            <a:chOff x="4917010" y="1266605"/>
            <a:chExt cx="2355291" cy="2355289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360F9E-A2C7-490B-9C4B-C4CF57B81C99}"/>
                </a:ext>
              </a:extLst>
            </p:cNvPr>
            <p:cNvSpPr/>
            <p:nvPr/>
          </p:nvSpPr>
          <p:spPr>
            <a:xfrm>
              <a:off x="4917010" y="1266605"/>
              <a:ext cx="2355291" cy="235528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BB9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6F8EEA0-4CE7-4A79-AE72-A688685B6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986" y="1296581"/>
              <a:ext cx="2310284" cy="2310284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CE1D91A-9830-4EBF-8016-31C7F1BE1CA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88" y="182692"/>
            <a:ext cx="1663059" cy="15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2243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字体2">
      <a:majorFont>
        <a:latin typeface="Impact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A7BAE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16070</TotalTime>
  <Words>4657</Words>
  <Application>Microsoft Office PowerPoint</Application>
  <PresentationFormat>全屏显示(16:9)</PresentationFormat>
  <Paragraphs>485</Paragraphs>
  <Slides>44</Slides>
  <Notes>44</Notes>
  <HiddenSlides>20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7" baseType="lpstr">
      <vt:lpstr>メイリオ</vt:lpstr>
      <vt:lpstr>メイリオ</vt:lpstr>
      <vt:lpstr>ヒラギノ角ゴ Pro W3</vt:lpstr>
      <vt:lpstr>宋体</vt:lpstr>
      <vt:lpstr>微软雅黑</vt:lpstr>
      <vt:lpstr>Arial</vt:lpstr>
      <vt:lpstr>Calibri</vt:lpstr>
      <vt:lpstr>Eras Bold ITC</vt:lpstr>
      <vt:lpstr>Helvetica</vt:lpstr>
      <vt:lpstr>Impact</vt:lpstr>
      <vt:lpstr>Verdana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严 蓓琦 (Yan BeiQi)</dc:creator>
  <cp:lastModifiedBy>厳 蓓琪 (Yan BeiQi)</cp:lastModifiedBy>
  <cp:revision>1004</cp:revision>
  <dcterms:modified xsi:type="dcterms:W3CDTF">2018-04-18T01:22:07Z</dcterms:modified>
</cp:coreProperties>
</file>