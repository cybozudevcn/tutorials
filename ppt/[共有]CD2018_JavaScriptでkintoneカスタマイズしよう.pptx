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7"/>
  </p:notesMasterIdLst>
  <p:handoutMasterIdLst>
    <p:handoutMasterId r:id="rId88"/>
  </p:handoutMasterIdLst>
  <p:sldIdLst>
    <p:sldId id="342" r:id="rId2"/>
    <p:sldId id="343" r:id="rId3"/>
    <p:sldId id="344" r:id="rId4"/>
    <p:sldId id="285" r:id="rId5"/>
    <p:sldId id="286" r:id="rId6"/>
    <p:sldId id="332" r:id="rId7"/>
    <p:sldId id="299" r:id="rId8"/>
    <p:sldId id="258" r:id="rId9"/>
    <p:sldId id="300" r:id="rId10"/>
    <p:sldId id="301" r:id="rId11"/>
    <p:sldId id="282" r:id="rId12"/>
    <p:sldId id="287" r:id="rId13"/>
    <p:sldId id="257" r:id="rId14"/>
    <p:sldId id="260" r:id="rId15"/>
    <p:sldId id="329" r:id="rId16"/>
    <p:sldId id="330" r:id="rId17"/>
    <p:sldId id="259" r:id="rId18"/>
    <p:sldId id="281" r:id="rId19"/>
    <p:sldId id="302" r:id="rId20"/>
    <p:sldId id="289" r:id="rId21"/>
    <p:sldId id="303" r:id="rId22"/>
    <p:sldId id="291" r:id="rId23"/>
    <p:sldId id="348" r:id="rId24"/>
    <p:sldId id="304" r:id="rId25"/>
    <p:sldId id="261" r:id="rId26"/>
    <p:sldId id="349" r:id="rId27"/>
    <p:sldId id="305" r:id="rId28"/>
    <p:sldId id="288" r:id="rId29"/>
    <p:sldId id="350" r:id="rId30"/>
    <p:sldId id="306" r:id="rId31"/>
    <p:sldId id="290" r:id="rId32"/>
    <p:sldId id="328" r:id="rId33"/>
    <p:sldId id="308" r:id="rId34"/>
    <p:sldId id="351" r:id="rId35"/>
    <p:sldId id="309" r:id="rId36"/>
    <p:sldId id="310" r:id="rId37"/>
    <p:sldId id="292" r:id="rId38"/>
    <p:sldId id="355" r:id="rId39"/>
    <p:sldId id="356" r:id="rId40"/>
    <p:sldId id="357" r:id="rId41"/>
    <p:sldId id="293" r:id="rId42"/>
    <p:sldId id="354" r:id="rId43"/>
    <p:sldId id="263" r:id="rId44"/>
    <p:sldId id="333" r:id="rId45"/>
    <p:sldId id="312" r:id="rId46"/>
    <p:sldId id="334" r:id="rId47"/>
    <p:sldId id="268" r:id="rId48"/>
    <p:sldId id="327" r:id="rId49"/>
    <p:sldId id="269" r:id="rId50"/>
    <p:sldId id="335" r:id="rId51"/>
    <p:sldId id="264" r:id="rId52"/>
    <p:sldId id="352" r:id="rId53"/>
    <p:sldId id="314" r:id="rId54"/>
    <p:sldId id="270" r:id="rId55"/>
    <p:sldId id="353" r:id="rId56"/>
    <p:sldId id="315" r:id="rId57"/>
    <p:sldId id="265" r:id="rId58"/>
    <p:sldId id="266" r:id="rId59"/>
    <p:sldId id="271" r:id="rId60"/>
    <p:sldId id="318" r:id="rId61"/>
    <p:sldId id="277" r:id="rId62"/>
    <p:sldId id="336" r:id="rId63"/>
    <p:sldId id="276" r:id="rId64"/>
    <p:sldId id="278" r:id="rId65"/>
    <p:sldId id="358" r:id="rId66"/>
    <p:sldId id="262" r:id="rId67"/>
    <p:sldId id="337" r:id="rId68"/>
    <p:sldId id="272" r:id="rId69"/>
    <p:sldId id="338" r:id="rId70"/>
    <p:sldId id="317" r:id="rId71"/>
    <p:sldId id="345" r:id="rId72"/>
    <p:sldId id="340" r:id="rId73"/>
    <p:sldId id="346" r:id="rId74"/>
    <p:sldId id="341" r:id="rId75"/>
    <p:sldId id="347" r:id="rId76"/>
    <p:sldId id="283" r:id="rId77"/>
    <p:sldId id="273" r:id="rId78"/>
    <p:sldId id="274" r:id="rId79"/>
    <p:sldId id="275" r:id="rId80"/>
    <p:sldId id="294" r:id="rId81"/>
    <p:sldId id="322" r:id="rId82"/>
    <p:sldId id="324" r:id="rId83"/>
    <p:sldId id="323" r:id="rId84"/>
    <p:sldId id="295" r:id="rId85"/>
    <p:sldId id="296" r:id="rId86"/>
  </p:sldIdLst>
  <p:sldSz cx="12192000" cy="6858000"/>
  <p:notesSz cx="9144000" cy="6858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8FA1"/>
    <a:srgbClr val="FF33CC"/>
    <a:srgbClr val="E8AF18"/>
    <a:srgbClr val="5B8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00" autoAdjust="0"/>
    <p:restoredTop sz="71684" autoAdjust="0"/>
  </p:normalViewPr>
  <p:slideViewPr>
    <p:cSldViewPr snapToGrid="0">
      <p:cViewPr varScale="1">
        <p:scale>
          <a:sx n="70" d="100"/>
          <a:sy n="70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4DBBCD-58B5-4ACF-A30F-07FB1D5BECDC}" type="doc">
      <dgm:prSet loTypeId="urn:microsoft.com/office/officeart/2005/8/layout/cycle6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kumimoji="1" lang="ja-JP" altLang="en-US"/>
        </a:p>
      </dgm:t>
    </dgm:pt>
    <dgm:pt modelId="{94462DCD-BA6C-4F89-9D47-3CC86BC3082F}">
      <dgm:prSet phldrT="[テキスト]" custT="1"/>
      <dgm:spPr/>
      <dgm:t>
        <a:bodyPr/>
        <a:lstStyle/>
        <a:p>
          <a:r>
            <a:rPr kumimoji="1" lang="en-US" altLang="ja-JP" sz="1800" b="0" i="0" dirty="0">
              <a:latin typeface="GenEi Gothic P" panose="020B0500000000000000" pitchFamily="34" charset="-128"/>
              <a:ea typeface="GenEi Gothic P" panose="020B0500000000000000" pitchFamily="34" charset="-128"/>
            </a:rPr>
            <a:t>HTML</a:t>
          </a:r>
          <a:r>
            <a:rPr kumimoji="1" lang="ja-JP" altLang="en-US" sz="1400" b="0" i="0">
              <a:latin typeface="GenEi Gothic P" panose="020B0500000000000000" pitchFamily="34" charset="-128"/>
              <a:ea typeface="GenEi Gothic P" panose="020B0500000000000000" pitchFamily="34" charset="-128"/>
            </a:rPr>
            <a:t>（構造）</a:t>
          </a:r>
        </a:p>
      </dgm:t>
    </dgm:pt>
    <dgm:pt modelId="{6A0AD0DE-B756-45E3-B17B-E3E2C228F592}" type="parTrans" cxnId="{16E78E48-205E-48DD-8B4E-E03FBCB3BDC9}">
      <dgm:prSet/>
      <dgm:spPr/>
      <dgm:t>
        <a:bodyPr/>
        <a:lstStyle/>
        <a:p>
          <a:endParaRPr kumimoji="1" lang="ja-JP" altLang="en-US"/>
        </a:p>
      </dgm:t>
    </dgm:pt>
    <dgm:pt modelId="{BDC8ACB9-C5DD-4314-9A92-6AAA088C6651}" type="sibTrans" cxnId="{16E78E48-205E-48DD-8B4E-E03FBCB3BDC9}">
      <dgm:prSet/>
      <dgm:spPr/>
      <dgm:t>
        <a:bodyPr/>
        <a:lstStyle/>
        <a:p>
          <a:endParaRPr kumimoji="1" lang="ja-JP" altLang="en-US"/>
        </a:p>
      </dgm:t>
    </dgm:pt>
    <dgm:pt modelId="{EA1B6E82-C9A7-483E-83DA-5E8F0196DF4D}">
      <dgm:prSet phldrT="[テキスト]" custT="1"/>
      <dgm:spPr/>
      <dgm:t>
        <a:bodyPr/>
        <a:lstStyle/>
        <a:p>
          <a:r>
            <a:rPr kumimoji="1" lang="en-US" altLang="ja-JP" sz="1800" b="0" i="0" dirty="0">
              <a:latin typeface="GenEi Gothic P" panose="020B0500000000000000" pitchFamily="34" charset="-128"/>
              <a:ea typeface="GenEi Gothic P" panose="020B0500000000000000" pitchFamily="34" charset="-128"/>
            </a:rPr>
            <a:t>JavaScript</a:t>
          </a:r>
          <a:r>
            <a:rPr kumimoji="1" lang="ja-JP" altLang="en-US" sz="1400" b="0" i="0">
              <a:latin typeface="GenEi Gothic P" panose="020B0500000000000000" pitchFamily="34" charset="-128"/>
              <a:ea typeface="GenEi Gothic P" panose="020B0500000000000000" pitchFamily="34" charset="-128"/>
            </a:rPr>
            <a:t>（動き）</a:t>
          </a:r>
        </a:p>
      </dgm:t>
    </dgm:pt>
    <dgm:pt modelId="{8FA62E1C-A439-43FC-9D66-157BACA8066E}" type="parTrans" cxnId="{97B44DD1-7869-4A23-A0E5-E567DD2A8407}">
      <dgm:prSet/>
      <dgm:spPr/>
      <dgm:t>
        <a:bodyPr/>
        <a:lstStyle/>
        <a:p>
          <a:endParaRPr kumimoji="1" lang="ja-JP" altLang="en-US"/>
        </a:p>
      </dgm:t>
    </dgm:pt>
    <dgm:pt modelId="{9D1A653E-3CBB-4E79-A040-DE579C789FFF}" type="sibTrans" cxnId="{97B44DD1-7869-4A23-A0E5-E567DD2A8407}">
      <dgm:prSet/>
      <dgm:spPr/>
      <dgm:t>
        <a:bodyPr/>
        <a:lstStyle/>
        <a:p>
          <a:endParaRPr kumimoji="1" lang="ja-JP" altLang="en-US"/>
        </a:p>
      </dgm:t>
    </dgm:pt>
    <dgm:pt modelId="{A46ADC27-A74B-4B10-A321-3BB1F844425D}">
      <dgm:prSet phldrT="[テキスト]" custT="1"/>
      <dgm:spPr/>
      <dgm:t>
        <a:bodyPr/>
        <a:lstStyle/>
        <a:p>
          <a:r>
            <a:rPr kumimoji="1" lang="en-US" altLang="ja-JP" sz="1800" b="0" i="0" dirty="0">
              <a:latin typeface="GenEi Gothic P" panose="020B0500000000000000" pitchFamily="34" charset="-128"/>
              <a:ea typeface="GenEi Gothic P" panose="020B0500000000000000" pitchFamily="34" charset="-128"/>
            </a:rPr>
            <a:t>CSS</a:t>
          </a:r>
          <a:r>
            <a:rPr kumimoji="1" lang="ja-JP" altLang="en-US" sz="1400" b="0" i="0">
              <a:latin typeface="GenEi Gothic P" panose="020B0500000000000000" pitchFamily="34" charset="-128"/>
              <a:ea typeface="GenEi Gothic P" panose="020B0500000000000000" pitchFamily="34" charset="-128"/>
            </a:rPr>
            <a:t>（デザイン）</a:t>
          </a:r>
        </a:p>
      </dgm:t>
    </dgm:pt>
    <dgm:pt modelId="{F98F9920-5A20-424E-855C-575E277F98C5}" type="parTrans" cxnId="{3D7DA9BC-A97A-40FA-8238-F9A9B01B8AE1}">
      <dgm:prSet/>
      <dgm:spPr/>
      <dgm:t>
        <a:bodyPr/>
        <a:lstStyle/>
        <a:p>
          <a:endParaRPr kumimoji="1" lang="ja-JP" altLang="en-US"/>
        </a:p>
      </dgm:t>
    </dgm:pt>
    <dgm:pt modelId="{1D88AA09-C9C6-46A2-8D51-19E16980565A}" type="sibTrans" cxnId="{3D7DA9BC-A97A-40FA-8238-F9A9B01B8AE1}">
      <dgm:prSet/>
      <dgm:spPr/>
      <dgm:t>
        <a:bodyPr/>
        <a:lstStyle/>
        <a:p>
          <a:endParaRPr kumimoji="1" lang="ja-JP" altLang="en-US"/>
        </a:p>
      </dgm:t>
    </dgm:pt>
    <dgm:pt modelId="{B908FD2E-C72D-4BCE-A3A6-21B67A3B5339}" type="pres">
      <dgm:prSet presAssocID="{074DBBCD-58B5-4ACF-A30F-07FB1D5BECDC}" presName="cycle" presStyleCnt="0">
        <dgm:presLayoutVars>
          <dgm:dir/>
          <dgm:resizeHandles val="exact"/>
        </dgm:presLayoutVars>
      </dgm:prSet>
      <dgm:spPr/>
    </dgm:pt>
    <dgm:pt modelId="{BBEED933-2C99-4B47-8E03-F4E43CCFC390}" type="pres">
      <dgm:prSet presAssocID="{94462DCD-BA6C-4F89-9D47-3CC86BC3082F}" presName="node" presStyleLbl="node1" presStyleIdx="0" presStyleCnt="3" custScaleX="80944" custScaleY="48770">
        <dgm:presLayoutVars>
          <dgm:bulletEnabled val="1"/>
        </dgm:presLayoutVars>
      </dgm:prSet>
      <dgm:spPr/>
    </dgm:pt>
    <dgm:pt modelId="{3DFA5ADE-90B2-47DE-BBAF-F0283E7A15A7}" type="pres">
      <dgm:prSet presAssocID="{94462DCD-BA6C-4F89-9D47-3CC86BC3082F}" presName="spNode" presStyleCnt="0"/>
      <dgm:spPr/>
    </dgm:pt>
    <dgm:pt modelId="{7364A2AF-B671-4F15-8B87-1EA03490CB54}" type="pres">
      <dgm:prSet presAssocID="{BDC8ACB9-C5DD-4314-9A92-6AAA088C6651}" presName="sibTrans" presStyleLbl="sibTrans1D1" presStyleIdx="0" presStyleCnt="3"/>
      <dgm:spPr/>
    </dgm:pt>
    <dgm:pt modelId="{2BE63316-7517-44CB-BCC2-92C65337378A}" type="pres">
      <dgm:prSet presAssocID="{EA1B6E82-C9A7-483E-83DA-5E8F0196DF4D}" presName="node" presStyleLbl="node1" presStyleIdx="1" presStyleCnt="3" custScaleX="92871" custScaleY="48770">
        <dgm:presLayoutVars>
          <dgm:bulletEnabled val="1"/>
        </dgm:presLayoutVars>
      </dgm:prSet>
      <dgm:spPr/>
    </dgm:pt>
    <dgm:pt modelId="{F7D8DB35-F9FC-495A-982E-006B63A94BFA}" type="pres">
      <dgm:prSet presAssocID="{EA1B6E82-C9A7-483E-83DA-5E8F0196DF4D}" presName="spNode" presStyleCnt="0"/>
      <dgm:spPr/>
    </dgm:pt>
    <dgm:pt modelId="{85789903-50C8-4C9C-8FF2-140921534A33}" type="pres">
      <dgm:prSet presAssocID="{9D1A653E-3CBB-4E79-A040-DE579C789FFF}" presName="sibTrans" presStyleLbl="sibTrans1D1" presStyleIdx="1" presStyleCnt="3"/>
      <dgm:spPr/>
    </dgm:pt>
    <dgm:pt modelId="{98F0992D-F505-4F72-A196-FDD9469D9E67}" type="pres">
      <dgm:prSet presAssocID="{A46ADC27-A74B-4B10-A321-3BB1F844425D}" presName="node" presStyleLbl="node1" presStyleIdx="2" presStyleCnt="3" custScaleX="79334" custScaleY="48770">
        <dgm:presLayoutVars>
          <dgm:bulletEnabled val="1"/>
        </dgm:presLayoutVars>
      </dgm:prSet>
      <dgm:spPr/>
    </dgm:pt>
    <dgm:pt modelId="{058F4802-1576-4B43-84D3-87BE66B03744}" type="pres">
      <dgm:prSet presAssocID="{A46ADC27-A74B-4B10-A321-3BB1F844425D}" presName="spNode" presStyleCnt="0"/>
      <dgm:spPr/>
    </dgm:pt>
    <dgm:pt modelId="{2592911D-294F-4213-944D-9E8A48FEABAA}" type="pres">
      <dgm:prSet presAssocID="{1D88AA09-C9C6-46A2-8D51-19E16980565A}" presName="sibTrans" presStyleLbl="sibTrans1D1" presStyleIdx="2" presStyleCnt="3"/>
      <dgm:spPr/>
    </dgm:pt>
  </dgm:ptLst>
  <dgm:cxnLst>
    <dgm:cxn modelId="{9F677900-D3CB-4B14-9514-2F4F24C6605A}" type="presOf" srcId="{074DBBCD-58B5-4ACF-A30F-07FB1D5BECDC}" destId="{B908FD2E-C72D-4BCE-A3A6-21B67A3B5339}" srcOrd="0" destOrd="0" presId="urn:microsoft.com/office/officeart/2005/8/layout/cycle6"/>
    <dgm:cxn modelId="{3C401026-AB68-4AB8-86AA-F2690E1BCF64}" type="presOf" srcId="{EA1B6E82-C9A7-483E-83DA-5E8F0196DF4D}" destId="{2BE63316-7517-44CB-BCC2-92C65337378A}" srcOrd="0" destOrd="0" presId="urn:microsoft.com/office/officeart/2005/8/layout/cycle6"/>
    <dgm:cxn modelId="{16E78E48-205E-48DD-8B4E-E03FBCB3BDC9}" srcId="{074DBBCD-58B5-4ACF-A30F-07FB1D5BECDC}" destId="{94462DCD-BA6C-4F89-9D47-3CC86BC3082F}" srcOrd="0" destOrd="0" parTransId="{6A0AD0DE-B756-45E3-B17B-E3E2C228F592}" sibTransId="{BDC8ACB9-C5DD-4314-9A92-6AAA088C6651}"/>
    <dgm:cxn modelId="{7E0A3249-84FA-42CE-94A5-71D76F293A52}" type="presOf" srcId="{BDC8ACB9-C5DD-4314-9A92-6AAA088C6651}" destId="{7364A2AF-B671-4F15-8B87-1EA03490CB54}" srcOrd="0" destOrd="0" presId="urn:microsoft.com/office/officeart/2005/8/layout/cycle6"/>
    <dgm:cxn modelId="{45757A54-FE4D-40FA-ADE9-D4DE014DE4B9}" type="presOf" srcId="{1D88AA09-C9C6-46A2-8D51-19E16980565A}" destId="{2592911D-294F-4213-944D-9E8A48FEABAA}" srcOrd="0" destOrd="0" presId="urn:microsoft.com/office/officeart/2005/8/layout/cycle6"/>
    <dgm:cxn modelId="{9C45F46A-1362-46F2-A7BA-BDBD3C9184C2}" type="presOf" srcId="{A46ADC27-A74B-4B10-A321-3BB1F844425D}" destId="{98F0992D-F505-4F72-A196-FDD9469D9E67}" srcOrd="0" destOrd="0" presId="urn:microsoft.com/office/officeart/2005/8/layout/cycle6"/>
    <dgm:cxn modelId="{71696484-5D11-4F86-9B8E-AA290150BB35}" type="presOf" srcId="{94462DCD-BA6C-4F89-9D47-3CC86BC3082F}" destId="{BBEED933-2C99-4B47-8E03-F4E43CCFC390}" srcOrd="0" destOrd="0" presId="urn:microsoft.com/office/officeart/2005/8/layout/cycle6"/>
    <dgm:cxn modelId="{3D7DA9BC-A97A-40FA-8238-F9A9B01B8AE1}" srcId="{074DBBCD-58B5-4ACF-A30F-07FB1D5BECDC}" destId="{A46ADC27-A74B-4B10-A321-3BB1F844425D}" srcOrd="2" destOrd="0" parTransId="{F98F9920-5A20-424E-855C-575E277F98C5}" sibTransId="{1D88AA09-C9C6-46A2-8D51-19E16980565A}"/>
    <dgm:cxn modelId="{97B44DD1-7869-4A23-A0E5-E567DD2A8407}" srcId="{074DBBCD-58B5-4ACF-A30F-07FB1D5BECDC}" destId="{EA1B6E82-C9A7-483E-83DA-5E8F0196DF4D}" srcOrd="1" destOrd="0" parTransId="{8FA62E1C-A439-43FC-9D66-157BACA8066E}" sibTransId="{9D1A653E-3CBB-4E79-A040-DE579C789FFF}"/>
    <dgm:cxn modelId="{914B43E5-D283-4C9D-B811-762244E5C436}" type="presOf" srcId="{9D1A653E-3CBB-4E79-A040-DE579C789FFF}" destId="{85789903-50C8-4C9C-8FF2-140921534A33}" srcOrd="0" destOrd="0" presId="urn:microsoft.com/office/officeart/2005/8/layout/cycle6"/>
    <dgm:cxn modelId="{A828AAE6-26D0-4C90-9D67-FA2ADB81E1A0}" type="presParOf" srcId="{B908FD2E-C72D-4BCE-A3A6-21B67A3B5339}" destId="{BBEED933-2C99-4B47-8E03-F4E43CCFC390}" srcOrd="0" destOrd="0" presId="urn:microsoft.com/office/officeart/2005/8/layout/cycle6"/>
    <dgm:cxn modelId="{8BC09EF5-D045-4314-B33F-B09664880AB5}" type="presParOf" srcId="{B908FD2E-C72D-4BCE-A3A6-21B67A3B5339}" destId="{3DFA5ADE-90B2-47DE-BBAF-F0283E7A15A7}" srcOrd="1" destOrd="0" presId="urn:microsoft.com/office/officeart/2005/8/layout/cycle6"/>
    <dgm:cxn modelId="{AC46B89C-7B37-4695-AF74-F64E3E0F81A4}" type="presParOf" srcId="{B908FD2E-C72D-4BCE-A3A6-21B67A3B5339}" destId="{7364A2AF-B671-4F15-8B87-1EA03490CB54}" srcOrd="2" destOrd="0" presId="urn:microsoft.com/office/officeart/2005/8/layout/cycle6"/>
    <dgm:cxn modelId="{EF7E6445-0EE9-4516-A9A8-8172F29A7A94}" type="presParOf" srcId="{B908FD2E-C72D-4BCE-A3A6-21B67A3B5339}" destId="{2BE63316-7517-44CB-BCC2-92C65337378A}" srcOrd="3" destOrd="0" presId="urn:microsoft.com/office/officeart/2005/8/layout/cycle6"/>
    <dgm:cxn modelId="{6CB57FE3-3E79-4804-A35A-D3EA738B8D66}" type="presParOf" srcId="{B908FD2E-C72D-4BCE-A3A6-21B67A3B5339}" destId="{F7D8DB35-F9FC-495A-982E-006B63A94BFA}" srcOrd="4" destOrd="0" presId="urn:microsoft.com/office/officeart/2005/8/layout/cycle6"/>
    <dgm:cxn modelId="{AB283C10-BF32-408B-BCAE-5D3E0D605B86}" type="presParOf" srcId="{B908FD2E-C72D-4BCE-A3A6-21B67A3B5339}" destId="{85789903-50C8-4C9C-8FF2-140921534A33}" srcOrd="5" destOrd="0" presId="urn:microsoft.com/office/officeart/2005/8/layout/cycle6"/>
    <dgm:cxn modelId="{009214D5-5B86-4E10-B1DB-EE9699D74B91}" type="presParOf" srcId="{B908FD2E-C72D-4BCE-A3A6-21B67A3B5339}" destId="{98F0992D-F505-4F72-A196-FDD9469D9E67}" srcOrd="6" destOrd="0" presId="urn:microsoft.com/office/officeart/2005/8/layout/cycle6"/>
    <dgm:cxn modelId="{8EA10734-4E52-4F69-8427-3169EFFFF049}" type="presParOf" srcId="{B908FD2E-C72D-4BCE-A3A6-21B67A3B5339}" destId="{058F4802-1576-4B43-84D3-87BE66B03744}" srcOrd="7" destOrd="0" presId="urn:microsoft.com/office/officeart/2005/8/layout/cycle6"/>
    <dgm:cxn modelId="{50748873-E620-4FF1-906E-2FBE11F2E3E5}" type="presParOf" srcId="{B908FD2E-C72D-4BCE-A3A6-21B67A3B5339}" destId="{2592911D-294F-4213-944D-9E8A48FEABAA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ED933-2C99-4B47-8E03-F4E43CCFC390}">
      <dsp:nvSpPr>
        <dsp:cNvPr id="0" name=""/>
        <dsp:cNvSpPr/>
      </dsp:nvSpPr>
      <dsp:spPr>
        <a:xfrm>
          <a:off x="2401071" y="180839"/>
          <a:ext cx="1738908" cy="68101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0" i="0" kern="1200" dirty="0">
              <a:latin typeface="GenEi Gothic P" panose="020B0500000000000000" pitchFamily="34" charset="-128"/>
              <a:ea typeface="GenEi Gothic P" panose="020B0500000000000000" pitchFamily="34" charset="-128"/>
            </a:rPr>
            <a:t>HTML</a:t>
          </a:r>
          <a:r>
            <a:rPr kumimoji="1" lang="ja-JP" altLang="en-US" sz="1400" b="0" i="0" kern="1200">
              <a:latin typeface="GenEi Gothic P" panose="020B0500000000000000" pitchFamily="34" charset="-128"/>
              <a:ea typeface="GenEi Gothic P" panose="020B0500000000000000" pitchFamily="34" charset="-128"/>
            </a:rPr>
            <a:t>（構造）</a:t>
          </a:r>
        </a:p>
      </dsp:txBody>
      <dsp:txXfrm>
        <a:off x="2434316" y="214084"/>
        <a:ext cx="1672418" cy="614527"/>
      </dsp:txXfrm>
    </dsp:sp>
    <dsp:sp modelId="{7364A2AF-B671-4F15-8B87-1EA03490CB54}">
      <dsp:nvSpPr>
        <dsp:cNvPr id="0" name=""/>
        <dsp:cNvSpPr/>
      </dsp:nvSpPr>
      <dsp:spPr>
        <a:xfrm>
          <a:off x="1407366" y="521348"/>
          <a:ext cx="3726317" cy="3726317"/>
        </a:xfrm>
        <a:custGeom>
          <a:avLst/>
          <a:gdLst/>
          <a:ahLst/>
          <a:cxnLst/>
          <a:rect l="0" t="0" r="0" b="0"/>
          <a:pathLst>
            <a:path>
              <a:moveTo>
                <a:pt x="2753872" y="226702"/>
              </a:moveTo>
              <a:arcTo wR="1863158" hR="1863158" stAng="17913553" swAng="4751711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63316-7517-44CB-BCC2-92C65337378A}">
      <dsp:nvSpPr>
        <dsp:cNvPr id="0" name=""/>
        <dsp:cNvSpPr/>
      </dsp:nvSpPr>
      <dsp:spPr>
        <a:xfrm>
          <a:off x="3886500" y="2975577"/>
          <a:ext cx="1995134" cy="68101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0" i="0" kern="1200" dirty="0">
              <a:latin typeface="GenEi Gothic P" panose="020B0500000000000000" pitchFamily="34" charset="-128"/>
              <a:ea typeface="GenEi Gothic P" panose="020B0500000000000000" pitchFamily="34" charset="-128"/>
            </a:rPr>
            <a:t>JavaScript</a:t>
          </a:r>
          <a:r>
            <a:rPr kumimoji="1" lang="ja-JP" altLang="en-US" sz="1400" b="0" i="0" kern="1200">
              <a:latin typeface="GenEi Gothic P" panose="020B0500000000000000" pitchFamily="34" charset="-128"/>
              <a:ea typeface="GenEi Gothic P" panose="020B0500000000000000" pitchFamily="34" charset="-128"/>
            </a:rPr>
            <a:t>（動き）</a:t>
          </a:r>
        </a:p>
      </dsp:txBody>
      <dsp:txXfrm>
        <a:off x="3919745" y="3008822"/>
        <a:ext cx="1928644" cy="614527"/>
      </dsp:txXfrm>
    </dsp:sp>
    <dsp:sp modelId="{85789903-50C8-4C9C-8FF2-140921534A33}">
      <dsp:nvSpPr>
        <dsp:cNvPr id="0" name=""/>
        <dsp:cNvSpPr/>
      </dsp:nvSpPr>
      <dsp:spPr>
        <a:xfrm>
          <a:off x="1407366" y="521348"/>
          <a:ext cx="3726317" cy="3726317"/>
        </a:xfrm>
        <a:custGeom>
          <a:avLst/>
          <a:gdLst/>
          <a:ahLst/>
          <a:cxnLst/>
          <a:rect l="0" t="0" r="0" b="0"/>
          <a:pathLst>
            <a:path>
              <a:moveTo>
                <a:pt x="3205730" y="3155002"/>
              </a:moveTo>
              <a:arcTo wR="1863158" hR="1863158" stAng="2633812" swAng="5532377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992D-F505-4F72-A196-FDD9469D9E67}">
      <dsp:nvSpPr>
        <dsp:cNvPr id="0" name=""/>
        <dsp:cNvSpPr/>
      </dsp:nvSpPr>
      <dsp:spPr>
        <a:xfrm>
          <a:off x="804822" y="2975577"/>
          <a:ext cx="1704320" cy="68101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0" i="0" kern="1200" dirty="0">
              <a:latin typeface="GenEi Gothic P" panose="020B0500000000000000" pitchFamily="34" charset="-128"/>
              <a:ea typeface="GenEi Gothic P" panose="020B0500000000000000" pitchFamily="34" charset="-128"/>
            </a:rPr>
            <a:t>CSS</a:t>
          </a:r>
          <a:r>
            <a:rPr kumimoji="1" lang="ja-JP" altLang="en-US" sz="1400" b="0" i="0" kern="1200">
              <a:latin typeface="GenEi Gothic P" panose="020B0500000000000000" pitchFamily="34" charset="-128"/>
              <a:ea typeface="GenEi Gothic P" panose="020B0500000000000000" pitchFamily="34" charset="-128"/>
            </a:rPr>
            <a:t>（デザイン）</a:t>
          </a:r>
        </a:p>
      </dsp:txBody>
      <dsp:txXfrm>
        <a:off x="838067" y="3008822"/>
        <a:ext cx="1637830" cy="614527"/>
      </dsp:txXfrm>
    </dsp:sp>
    <dsp:sp modelId="{2592911D-294F-4213-944D-9E8A48FEABAA}">
      <dsp:nvSpPr>
        <dsp:cNvPr id="0" name=""/>
        <dsp:cNvSpPr/>
      </dsp:nvSpPr>
      <dsp:spPr>
        <a:xfrm>
          <a:off x="1407366" y="521348"/>
          <a:ext cx="3726317" cy="3726317"/>
        </a:xfrm>
        <a:custGeom>
          <a:avLst/>
          <a:gdLst/>
          <a:ahLst/>
          <a:cxnLst/>
          <a:rect l="0" t="0" r="0" b="0"/>
          <a:pathLst>
            <a:path>
              <a:moveTo>
                <a:pt x="88737" y="2431305"/>
              </a:moveTo>
              <a:arcTo wR="1863158" hR="1863158" stAng="9734736" swAng="4751711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732C84E-EA18-4517-8DC4-DE4DE2353A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CACE6C8-5252-4C00-A216-F6C8450E14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5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7AD618-FBD1-42C1-B882-6B021BB1DABC}" type="datetimeFigureOut">
              <a:rPr kumimoji="1" lang="ja-JP" altLang="en-US" smtClean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2018/11/9</a:t>
            </a:fld>
            <a:endParaRPr kumimoji="1" lang="ja-JP" altLang="en-US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0B1CF1-3DEB-438F-8713-6088E5A26F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513911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39F534-E602-4BEC-9D24-B897B49695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5" y="6513911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4565A-B68C-498F-A537-9F525E9AD962}" type="slidenum">
              <a:rPr kumimoji="1" lang="ja-JP" altLang="en-US" smtClean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‹#›</a:t>
            </a:fld>
            <a:endParaRPr kumimoji="1" lang="ja-JP" altLang="en-US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709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5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fld id="{9FB39F18-71C0-4173-99BC-F740FF07D99A}" type="datetimeFigureOut">
              <a:rPr kumimoji="1" lang="ja-JP" altLang="en-US" smtClean="0"/>
              <a:pPr/>
              <a:t>2018/11/9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513911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5" y="6513911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fld id="{8EAA0D9C-08B8-48BD-BAF4-623142EF853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37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ＭＳ Ｐゴシック" panose="020B0600070205080204" pitchFamily="50" charset="-128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071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95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226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8839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735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497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353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9890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162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569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058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442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863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322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293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104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074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079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306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3158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6431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1429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694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1395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452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945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1361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43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003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pPr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14913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70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7472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71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5763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72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6599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73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1386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74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4595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0D9C-08B8-48BD-BAF4-623142EF853F}" type="slidenum">
              <a:rPr kumimoji="1" lang="ja-JP" altLang="en-US" smtClean="0"/>
              <a:t>75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0368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BA7A56-2C50-4E1A-AD0E-0C2D5B70F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077FBA0-BCF8-45BA-98F7-D6A516C6D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E69F92C6-F70E-E845-8A68-A862EDF38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3552" y="64277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 i="0">
                <a:latin typeface="GenEi Gothic P" panose="020B0500000000000000" pitchFamily="34" charset="-128"/>
                <a:ea typeface="GenEi Gothic P" panose="020B0500000000000000" pitchFamily="34" charset="-128"/>
              </a:defRPr>
            </a:lvl1pPr>
          </a:lstStyle>
          <a:p>
            <a:fld id="{5171BEA9-A5F1-4E4B-A8F4-6C845932369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8499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BA7A56-2C50-4E1A-AD0E-0C2D5B70F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077FBA0-BCF8-45BA-98F7-D6A516C6D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3F9D41-1DBA-4CA8-98BD-7D3F9D97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7EE0AC-E960-4DF4-BA9A-5B7144FC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ED7472-6606-4950-98E9-29831F7F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ED0FE7A-EC35-4777-9CE5-63DC9A11D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2325"/>
            <a:ext cx="12192000" cy="350996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92EBC69-D6F8-4146-BA86-3DED5F213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12192000" cy="3509963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C761DC6-456B-4FF0-94FE-EDA79FA7071C}"/>
              </a:ext>
            </a:extLst>
          </p:cNvPr>
          <p:cNvSpPr/>
          <p:nvPr/>
        </p:nvSpPr>
        <p:spPr>
          <a:xfrm>
            <a:off x="1654465" y="416419"/>
            <a:ext cx="8883068" cy="8898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68C704E-9750-4A68-936F-D753BE10CF04}"/>
              </a:ext>
            </a:extLst>
          </p:cNvPr>
          <p:cNvSpPr txBox="1"/>
          <p:nvPr/>
        </p:nvSpPr>
        <p:spPr>
          <a:xfrm>
            <a:off x="2905550" y="446713"/>
            <a:ext cx="6380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b="1" dirty="0" err="1"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源暎ゴシックP Heavy" panose="020B0A00000000000000" pitchFamily="34" charset="-128"/>
                <a:ea typeface="源暎ゴシックP Heavy" panose="020B0A00000000000000" pitchFamily="34" charset="-128"/>
              </a:rPr>
              <a:t>kintone</a:t>
            </a:r>
            <a:r>
              <a:rPr kumimoji="1" lang="en-US" altLang="ja-JP" sz="4800" b="1" dirty="0"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源暎ゴシックP Heavy" panose="020B0A00000000000000" pitchFamily="34" charset="-128"/>
                <a:ea typeface="源暎ゴシックP Heavy" panose="020B0A00000000000000" pitchFamily="34" charset="-128"/>
              </a:rPr>
              <a:t> </a:t>
            </a:r>
            <a:r>
              <a:rPr kumimoji="1" lang="en-US" altLang="ja-JP" sz="4800" b="1" dirty="0" err="1"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源暎ゴシックP Heavy" panose="020B0A00000000000000" pitchFamily="34" charset="-128"/>
                <a:ea typeface="源暎ゴシックP Heavy" panose="020B0A00000000000000" pitchFamily="34" charset="-128"/>
              </a:rPr>
              <a:t>devCamp</a:t>
            </a:r>
            <a:r>
              <a:rPr kumimoji="1" lang="en-US" altLang="ja-JP" sz="4800" b="1" dirty="0"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源暎ゴシックP Heavy" panose="020B0A00000000000000" pitchFamily="34" charset="-128"/>
                <a:ea typeface="源暎ゴシックP Heavy" panose="020B0A00000000000000" pitchFamily="34" charset="-128"/>
              </a:rPr>
              <a:t>  </a:t>
            </a:r>
            <a:endParaRPr kumimoji="1" lang="ja-JP" altLang="en-US" sz="4800" b="1" dirty="0"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源暎ゴシックP Heavy" panose="020B0A00000000000000" pitchFamily="34" charset="-128"/>
              <a:ea typeface="源暎ゴシックP Heavy" panose="020B0A00000000000000" pitchFamily="34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F9F501F-4051-438E-8B53-D0273EB65E98}"/>
              </a:ext>
            </a:extLst>
          </p:cNvPr>
          <p:cNvSpPr/>
          <p:nvPr/>
        </p:nvSpPr>
        <p:spPr>
          <a:xfrm>
            <a:off x="688769" y="1686296"/>
            <a:ext cx="10877797" cy="4670054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A37BC4F-7CEA-0E49-823B-F406006421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24" y="5265450"/>
            <a:ext cx="1451338" cy="871481"/>
          </a:xfrm>
          <a:prstGeom prst="rect">
            <a:avLst/>
          </a:prstGeom>
        </p:spPr>
      </p:pic>
      <p:sp>
        <p:nvSpPr>
          <p:cNvPr id="18" name="スライド番号プレースホルダー 5">
            <a:extLst>
              <a:ext uri="{FF2B5EF4-FFF2-40B4-BE49-F238E27FC236}">
                <a16:creationId xmlns:a16="http://schemas.microsoft.com/office/drawing/2014/main" id="{AFAABA4C-C40F-BC4F-9D36-DE5BF75D622E}"/>
              </a:ext>
            </a:extLst>
          </p:cNvPr>
          <p:cNvSpPr txBox="1">
            <a:spLocks/>
          </p:cNvSpPr>
          <p:nvPr userDrawn="1"/>
        </p:nvSpPr>
        <p:spPr>
          <a:xfrm>
            <a:off x="9353552" y="641350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r" defTabSz="914400" rtl="0" eaLnBrk="1" latinLnBrk="0" hangingPunct="1">
              <a:defRPr kumimoji="1" sz="1800" b="1" i="0" kern="120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329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BA7A56-2C50-4E1A-AD0E-0C2D5B70F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5966" y="92048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077FBA0-BCF8-45BA-98F7-D6A516C6D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966" y="340015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C761DC6-456B-4FF0-94FE-EDA79FA7071C}"/>
              </a:ext>
            </a:extLst>
          </p:cNvPr>
          <p:cNvSpPr/>
          <p:nvPr/>
        </p:nvSpPr>
        <p:spPr>
          <a:xfrm>
            <a:off x="721743" y="416419"/>
            <a:ext cx="10748513" cy="889867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5DD27AC0-6A17-4716-8058-6E56C4669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498" y="5036204"/>
            <a:ext cx="1258582" cy="753141"/>
          </a:xfrm>
          <a:prstGeom prst="rect">
            <a:avLst/>
          </a:prstGeom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F9F501F-4051-438E-8B53-D0273EB65E98}"/>
              </a:ext>
            </a:extLst>
          </p:cNvPr>
          <p:cNvSpPr/>
          <p:nvPr/>
        </p:nvSpPr>
        <p:spPr>
          <a:xfrm>
            <a:off x="651834" y="1119291"/>
            <a:ext cx="10877797" cy="4670054"/>
          </a:xfrm>
          <a:prstGeom prst="round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B5D20C1-9C10-D84C-B789-88122A8CA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163" y="4666358"/>
            <a:ext cx="1451338" cy="871481"/>
          </a:xfrm>
          <a:prstGeom prst="rect">
            <a:avLst/>
          </a:prstGeom>
        </p:spPr>
      </p:pic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609E265B-787D-E040-9930-C20829E25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3552" y="64277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 i="0">
                <a:latin typeface="GenEi Gothic P" panose="020B0500000000000000" pitchFamily="34" charset="-128"/>
                <a:ea typeface="GenEi Gothic P" panose="020B0500000000000000" pitchFamily="34" charset="-128"/>
              </a:defRPr>
            </a:lvl1pPr>
          </a:lstStyle>
          <a:p>
            <a:fld id="{5171BEA9-A5F1-4E4B-A8F4-6C845932369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0484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8">
            <a:extLst>
              <a:ext uri="{FF2B5EF4-FFF2-40B4-BE49-F238E27FC236}">
                <a16:creationId xmlns:a16="http://schemas.microsoft.com/office/drawing/2014/main" id="{6689D022-8756-9147-874C-A50F50B83C69}"/>
              </a:ext>
            </a:extLst>
          </p:cNvPr>
          <p:cNvSpPr/>
          <p:nvPr/>
        </p:nvSpPr>
        <p:spPr>
          <a:xfrm>
            <a:off x="698048" y="415077"/>
            <a:ext cx="10843403" cy="891209"/>
          </a:xfrm>
          <a:prstGeom prst="roundRect">
            <a:avLst/>
          </a:prstGeom>
          <a:noFill/>
          <a:ln w="57150">
            <a:solidFill>
              <a:srgbClr val="3E8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20084111-C5C0-8945-AAA0-57831CB4C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7666"/>
            <a:ext cx="12192000" cy="5461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C9B45E7-9DCB-5A49-9D77-67204F68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265" y="6424938"/>
            <a:ext cx="2221186" cy="350474"/>
          </a:xfrm>
          <a:prstGeom prst="rect">
            <a:avLst/>
          </a:prstGeom>
        </p:spPr>
      </p:pic>
      <p:sp>
        <p:nvSpPr>
          <p:cNvPr id="5" name="タイトル 1">
            <a:extLst>
              <a:ext uri="{FF2B5EF4-FFF2-40B4-BE49-F238E27FC236}">
                <a16:creationId xmlns:a16="http://schemas.microsoft.com/office/drawing/2014/main" id="{C51C6A55-1F19-564C-8736-03ACD33B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397"/>
            <a:ext cx="10515600" cy="1325563"/>
          </a:xfrm>
        </p:spPr>
        <p:txBody>
          <a:bodyPr/>
          <a:lstStyle>
            <a:lvl1pPr>
              <a:defRPr b="1" i="0">
                <a:latin typeface="GenEi Gothic P" panose="020B0500000000000000" pitchFamily="34" charset="-128"/>
                <a:ea typeface="GenEi Gothic P" panose="020B05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9CFBCF14-C4C9-464D-8D82-110DED07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27DB2024-7D5A-4B40-B94D-0DF271A96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3552" y="64277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 i="0">
                <a:latin typeface="GenEi Gothic P" panose="020B0500000000000000" pitchFamily="34" charset="-128"/>
                <a:ea typeface="GenEi Gothic P" panose="020B0500000000000000" pitchFamily="34" charset="-128"/>
              </a:defRPr>
            </a:lvl1pPr>
          </a:lstStyle>
          <a:p>
            <a:fld id="{5171BEA9-A5F1-4E4B-A8F4-6C845932369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624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0084111-C5C0-8945-AAA0-57831CB4C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7666"/>
            <a:ext cx="12192000" cy="5461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C9B45E7-9DCB-5A49-9D77-67204F689D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265" y="6424938"/>
            <a:ext cx="2221186" cy="350474"/>
          </a:xfrm>
          <a:prstGeom prst="rect">
            <a:avLst/>
          </a:prstGeom>
        </p:spPr>
      </p:pic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DB543B80-60B7-EB46-B1FC-CFF6CD3B6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874050D1-4066-044F-81D5-A7B13D037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3552" y="64277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 i="0">
                <a:latin typeface="GenEi Gothic P" panose="020B0500000000000000" pitchFamily="34" charset="-128"/>
                <a:ea typeface="GenEi Gothic P" panose="020B0500000000000000" pitchFamily="34" charset="-128"/>
              </a:defRPr>
            </a:lvl1pPr>
          </a:lstStyle>
          <a:p>
            <a:fld id="{5171BEA9-A5F1-4E4B-A8F4-6C845932369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6709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BA7A56-2C50-4E1A-AD0E-0C2D5B70F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077FBA0-BCF8-45BA-98F7-D6A516C6D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3F9D41-1DBA-4CA8-98BD-7D3F9D97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7EE0AC-E960-4DF4-BA9A-5B7144FC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ED7472-6606-4950-98E9-29831F7F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9CA503B-2CB6-0948-981E-95B9A5F58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9963"/>
            <a:ext cx="12192000" cy="334803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28E7740-DC70-044A-A341-021440074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1"/>
            <a:ext cx="12192000" cy="3509963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C761DC6-456B-4FF0-94FE-EDA79FA7071C}"/>
              </a:ext>
            </a:extLst>
          </p:cNvPr>
          <p:cNvSpPr/>
          <p:nvPr/>
        </p:nvSpPr>
        <p:spPr>
          <a:xfrm>
            <a:off x="697993" y="2321356"/>
            <a:ext cx="10748513" cy="218868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68C704E-9750-4A68-936F-D753BE10CF04}"/>
              </a:ext>
            </a:extLst>
          </p:cNvPr>
          <p:cNvSpPr txBox="1"/>
          <p:nvPr/>
        </p:nvSpPr>
        <p:spPr>
          <a:xfrm>
            <a:off x="1080135" y="2921168"/>
            <a:ext cx="10031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源暎ゴシックP Heavy" panose="020B0A00000000000000" pitchFamily="34" charset="-128"/>
                <a:ea typeface="源暎ゴシックP Heavy" panose="020B0A00000000000000" pitchFamily="34" charset="-128"/>
              </a:rPr>
              <a:t>ご清聴</a:t>
            </a:r>
            <a:r>
              <a:rPr kumimoji="1" lang="ja-JP" altLang="en-US" sz="6000" b="1">
                <a:blipFill dpi="0"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源暎ゴシックP Heavy" panose="020B0A00000000000000" pitchFamily="34" charset="-128"/>
                <a:ea typeface="源暎ゴシックP Heavy" panose="020B0A00000000000000" pitchFamily="34" charset="-128"/>
              </a:rPr>
              <a:t>ありがとうございました</a:t>
            </a:r>
            <a:endParaRPr kumimoji="1" lang="ja-JP" altLang="en-US" sz="6000" b="1" dirty="0"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源暎ゴシックP Heavy" panose="020B0A00000000000000" pitchFamily="34" charset="-128"/>
              <a:ea typeface="源暎ゴシックP Heavy" panose="020B0A00000000000000" pitchFamily="34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6D124DF4-1472-3F4E-89CF-59E8F0395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365" y="5865760"/>
            <a:ext cx="1451338" cy="87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2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7D27E-2DC9-4CEA-98C6-F906DB9C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1DEEFF-5FC5-40B9-BDFC-C93B72921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9D7CF1-2CD3-4A5A-A1A2-21142F01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760682-B5B3-497A-83FE-3DD11710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433135-B8AD-45C3-ADC1-C670215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B06F9E-67C4-4DBF-8E02-C13F4860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254F3A5-A201-5D47-9CD0-79229EF77BE6}"/>
              </a:ext>
            </a:extLst>
          </p:cNvPr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7805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2F565-88AF-4D27-8338-CB723BAF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CF9FB5-4C50-493B-AC96-AFAC64088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7475875-0B33-486C-82A4-A00462996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AC002A3-ACE1-434C-B311-A6FAEB0D3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1D6A1A-DEE4-4A3F-A551-DAD2F470E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0CA041-D12A-4DC7-890A-00E73CEE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2F3C086-6DB5-4EC3-AA73-DAD4DEC1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02B9EE3-31D8-4823-89E7-A6E30DA2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02559A8-AFD2-894D-A738-DAB9AA69D429}"/>
              </a:ext>
            </a:extLst>
          </p:cNvPr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006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946A8-FC84-489A-AE5D-280FD37F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19CE22-2B64-4261-B859-9D781953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909CBA-315D-4E5D-8103-76D6BAC0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0424040-8F4B-4B3E-974C-1DC648CD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4684D-E585-864A-AB34-AFC4B6542966}"/>
              </a:ext>
            </a:extLst>
          </p:cNvPr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320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A5F5306-7286-46AA-8BC2-A381C9288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727485-8540-4FAD-8368-F774D8F8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25B075-6471-4395-B46F-B9E9C149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8B8441-101C-7245-BA82-2FE447819088}"/>
              </a:ext>
            </a:extLst>
          </p:cNvPr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973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14F17B-1EFD-4FD6-9F24-D1380737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A30F4A-5DD3-4FBB-A70A-F18A6622C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16352B-7AB0-48C4-B995-F68107BDC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19F255-33B5-411B-8178-AFE0CB09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5E1BF4F-B8E1-4B1B-B0BD-BE8118A7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70AA6C-697E-459C-978A-AAFA1100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563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F37EC-38AE-4286-B4C2-45A39CFF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370753E-CF79-47E1-9270-643C188DC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15BAB1-774F-4D0C-ADBB-CFEC83CF8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76B352-CC51-4772-8FD9-57C251E3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6D4F09-33A7-4F42-A940-FFB97EF1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BF927C-FDB2-41C7-95ED-771A16C2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5873BC-641C-2E40-91CF-44660DEA05A7}"/>
              </a:ext>
            </a:extLst>
          </p:cNvPr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0215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7F5173-28F1-44A6-BF4A-ED9C75C8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32F627-454D-4FDD-A48B-706A394FB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A53086-688D-4CAC-A6C1-80A1A2D3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8FE414-6217-4130-B7BC-FDBFBE8F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1F5840-266A-4915-9BC8-31CE6E70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000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65FCDE2-3F3F-49A7-9162-5E65E1579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ABB518-16C4-4689-B768-DC12B76B5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3D1F2-3655-4F5B-9C28-23201C97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44AE41-3B40-46D4-BC75-B9B51F74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0EC4D1-244A-451C-8C46-CC902825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C73A0E-B813-5345-9459-A92EB316048D}"/>
              </a:ext>
            </a:extLst>
          </p:cNvPr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4549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3745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71BEA9-A5F1-4E4B-A8F4-6C845932369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ＭＳ Ｐゴシック" panose="020B0600070205080204" pitchFamily="50" charset="-128"/>
              </a:rPr>
              <a:pPr/>
              <a:t>‹#›</a:t>
            </a:fld>
            <a:endParaRPr kumimoji="1" lang="ja-JP" altLang="en-US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7521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3085407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71BEA9-A5F1-4E4B-A8F4-6C845932369B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44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2431197-0E85-4C9C-90DD-6AB19AF6F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E18DE1-515F-4852-8A5A-D235279D2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EB6759-323A-2E40-B1B7-982E4D84644F}"/>
              </a:ext>
            </a:extLst>
          </p:cNvPr>
          <p:cNvSpPr/>
          <p:nvPr userDrawn="1"/>
        </p:nvSpPr>
        <p:spPr>
          <a:xfrm>
            <a:off x="0" y="6400412"/>
            <a:ext cx="12192000" cy="45758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ＭＳ Ｐゴシック" panose="020B060007020508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AE0B00-088E-3F4E-9516-947D66553D7D}"/>
              </a:ext>
            </a:extLst>
          </p:cNvPr>
          <p:cNvSpPr txBox="1"/>
          <p:nvPr userDrawn="1"/>
        </p:nvSpPr>
        <p:spPr>
          <a:xfrm>
            <a:off x="734964" y="6503648"/>
            <a:ext cx="2855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b="1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Consolas" charset="0"/>
              </a:rPr>
              <a:t>JavaScript</a:t>
            </a:r>
            <a:r>
              <a:rPr kumimoji="1" lang="ja-JP" altLang="en-US" sz="1200" b="1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Consolas" charset="0"/>
              </a:rPr>
              <a:t>で</a:t>
            </a:r>
            <a:r>
              <a:rPr kumimoji="1" lang="en-US" altLang="ja-JP" sz="1200" b="1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Consolas" charset="0"/>
              </a:rPr>
              <a:t>kintone</a:t>
            </a:r>
            <a:r>
              <a:rPr kumimoji="1" lang="ja-JP" altLang="en-US" sz="1200" b="1" dirty="0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Consolas" charset="0"/>
              </a:rPr>
              <a:t>カスタマイズしよう！ </a:t>
            </a:r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85D9A867-EBE6-D442-8B2C-A40863BC8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3552" y="642779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b="1" i="0">
                <a:latin typeface="GenEi Gothic P" panose="020B0500000000000000" pitchFamily="34" charset="-128"/>
                <a:ea typeface="GenEi Gothic P" panose="020B0500000000000000" pitchFamily="34" charset="-128"/>
              </a:defRPr>
            </a:lvl1pPr>
          </a:lstStyle>
          <a:p>
            <a:fld id="{5171BEA9-A5F1-4E4B-A8F4-6C845932369B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907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48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0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i="0" kern="1200">
          <a:solidFill>
            <a:schemeClr val="tx1"/>
          </a:solidFill>
          <a:latin typeface="GenEi Gothic P Heavy" panose="020B0500000000000000" pitchFamily="34" charset="-128"/>
          <a:ea typeface="GenEi Gothic P Heavy" panose="020B05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b="0" i="0" kern="1200">
          <a:solidFill>
            <a:schemeClr val="tx1"/>
          </a:solidFill>
          <a:latin typeface="GenEi Gothic P" panose="020B0500000000000000" pitchFamily="34" charset="-128"/>
          <a:ea typeface="GenEi Gothic P" panose="020B05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GenEi Gothic P" panose="020B0500000000000000" pitchFamily="34" charset="-128"/>
          <a:ea typeface="GenEi Gothic P" panose="020B05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GenEi Gothic P" panose="020B0500000000000000" pitchFamily="34" charset="-128"/>
          <a:ea typeface="GenEi Gothic P" panose="020B05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GenEi Gothic P" panose="020B0500000000000000" pitchFamily="34" charset="-128"/>
          <a:ea typeface="GenEi Gothic P" panose="020B05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GenEi Gothic P" panose="020B0500000000000000" pitchFamily="34" charset="-128"/>
          <a:ea typeface="GenEi Gothic P" panose="020B05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cd2018-devcamp1-j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eloper.cybozu.io/hc/ja/articles/360000361686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cybozu.io/hc/ja/articles/360000361686" TargetMode="Externa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tif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8.tiff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ode.visualstudio.com/" TargetMode="External"/><Relationship Id="rId5" Type="http://schemas.openxmlformats.org/officeDocument/2006/relationships/hyperlink" Target="https://atom.io/" TargetMode="External"/><Relationship Id="rId4" Type="http://schemas.openxmlformats.org/officeDocument/2006/relationships/hyperlink" Target="https://www.sublimetext.com/" TargetMode="Externa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cybozu.io/hc/ja" TargetMode="Externa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hyperlink" Target="https://developer.cybozu.io/hc/ja/articles/202960194" TargetMode="Externa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developer.cybozu.io/hc/ja/articles/205452653" TargetMode="Externa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09AF7A81-B5BD-504B-B7DB-01FCD1A23BA9}"/>
              </a:ext>
            </a:extLst>
          </p:cNvPr>
          <p:cNvSpPr/>
          <p:nvPr/>
        </p:nvSpPr>
        <p:spPr>
          <a:xfrm>
            <a:off x="391384" y="345360"/>
            <a:ext cx="5488973" cy="2116410"/>
          </a:xfrm>
          <a:prstGeom prst="roundRect">
            <a:avLst>
              <a:gd name="adj" fmla="val 3391"/>
            </a:avLst>
          </a:prstGeom>
          <a:ln w="57150">
            <a:solidFill>
              <a:srgbClr val="3E8F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n-ea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B78CC59-87D2-5147-A4A7-605B05E9D2AA}"/>
              </a:ext>
            </a:extLst>
          </p:cNvPr>
          <p:cNvSpPr/>
          <p:nvPr/>
        </p:nvSpPr>
        <p:spPr>
          <a:xfrm>
            <a:off x="391384" y="2793241"/>
            <a:ext cx="11231112" cy="3292246"/>
          </a:xfrm>
          <a:prstGeom prst="roundRect">
            <a:avLst>
              <a:gd name="adj" fmla="val 3391"/>
            </a:avLst>
          </a:prstGeom>
          <a:ln w="57150">
            <a:solidFill>
              <a:srgbClr val="3E8F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n-ea"/>
            </a:endParaRPr>
          </a:p>
        </p:txBody>
      </p:sp>
      <p:sp>
        <p:nvSpPr>
          <p:cNvPr id="5" name="四角形: 角を丸くする 7">
            <a:extLst>
              <a:ext uri="{FF2B5EF4-FFF2-40B4-BE49-F238E27FC236}">
                <a16:creationId xmlns:a16="http://schemas.microsoft.com/office/drawing/2014/main" id="{890DD79B-57BD-7D4B-9B43-15925418DD15}"/>
              </a:ext>
            </a:extLst>
          </p:cNvPr>
          <p:cNvSpPr/>
          <p:nvPr/>
        </p:nvSpPr>
        <p:spPr>
          <a:xfrm>
            <a:off x="6133523" y="345360"/>
            <a:ext cx="5488973" cy="2116410"/>
          </a:xfrm>
          <a:prstGeom prst="roundRect">
            <a:avLst>
              <a:gd name="adj" fmla="val 3391"/>
            </a:avLst>
          </a:prstGeom>
          <a:ln w="57150">
            <a:solidFill>
              <a:srgbClr val="3E8F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n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43F4F0-0F96-FA4B-A133-F84C7110A321}"/>
              </a:ext>
            </a:extLst>
          </p:cNvPr>
          <p:cNvSpPr txBox="1"/>
          <p:nvPr/>
        </p:nvSpPr>
        <p:spPr>
          <a:xfrm>
            <a:off x="6781817" y="1382206"/>
            <a:ext cx="44504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SSID</a:t>
            </a:r>
            <a:r>
              <a:rPr lang="ja-JP" altLang="en-US" sz="320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：</a:t>
            </a:r>
            <a:r>
              <a:rPr lang="en-US" altLang="ja-JP" sz="32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KANGAROO</a:t>
            </a:r>
          </a:p>
          <a:p>
            <a:r>
              <a:rPr lang="en-US" altLang="ja-JP" sz="32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PW  </a:t>
            </a:r>
            <a:r>
              <a:rPr lang="ja-JP" altLang="en-US" sz="320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：</a:t>
            </a:r>
            <a:r>
              <a:rPr lang="en-US" altLang="ja-JP" sz="32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OYAKODAYO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633DA9-50F4-C246-BD01-8F3ED7D3DC7D}"/>
              </a:ext>
            </a:extLst>
          </p:cNvPr>
          <p:cNvSpPr txBox="1"/>
          <p:nvPr/>
        </p:nvSpPr>
        <p:spPr>
          <a:xfrm>
            <a:off x="790290" y="3664744"/>
            <a:ext cx="79916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ja-JP" altLang="en-US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資料のダウンロード</a:t>
            </a:r>
            <a:b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</a:br>
            <a:r>
              <a:rPr lang="en-US" altLang="ja-JP" sz="2800" u="sng" dirty="0">
                <a:latin typeface="GenEi Gothic P" panose="020B0500000000000000" pitchFamily="34" charset="-128"/>
                <a:ea typeface="GenEi Gothic P" panose="020B0500000000000000" pitchFamily="34" charset="-128"/>
                <a:hlinkClick r:id="rId3"/>
              </a:rPr>
              <a:t>http://bit.ly/cd2018-devcamp1</a:t>
            </a:r>
            <a:endParaRPr lang="en-US" altLang="ja-JP" sz="4000" dirty="0">
              <a:latin typeface="GenEi Gothic P" panose="020B0500000000000000" pitchFamily="34" charset="-128"/>
              <a:ea typeface="GenEi Gothic P" panose="020B0500000000000000" pitchFamily="34" charset="-128"/>
              <a:cs typeface="Consolas" panose="020B0609020204030204" pitchFamily="49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Chrome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ブラウザを開く </a:t>
            </a: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(</a:t>
            </a:r>
            <a:r>
              <a:rPr lang="ja-JP" altLang="en-US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無ければ</a:t>
            </a: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IE)</a:t>
            </a:r>
          </a:p>
          <a:p>
            <a:pPr marL="742950" indent="-742950">
              <a:buFont typeface="+mj-lt"/>
              <a:buAutoNum type="arabicPeriod"/>
            </a:pP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自分の </a:t>
            </a:r>
            <a:r>
              <a:rPr lang="en-US" altLang="ja-JP" sz="2800" dirty="0" err="1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kintone</a:t>
            </a: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環境</a:t>
            </a:r>
            <a:r>
              <a:rPr lang="ja-JP" altLang="en-US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にログインする</a:t>
            </a:r>
            <a:endParaRPr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  <a:cs typeface="Consolas" panose="020B0609020204030204" pitchFamily="49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ja-JP" altLang="en-US" sz="28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テキストエディタを開く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F6DB0F6-0BDC-0B44-B0C0-783A71200D0F}"/>
              </a:ext>
            </a:extLst>
          </p:cNvPr>
          <p:cNvSpPr txBox="1"/>
          <p:nvPr/>
        </p:nvSpPr>
        <p:spPr>
          <a:xfrm>
            <a:off x="473111" y="1340599"/>
            <a:ext cx="53599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charset="0"/>
              </a:rPr>
              <a:t>JavaScript</a:t>
            </a:r>
            <a:r>
              <a:rPr lang="ja-JP" altLang="en-US" sz="3200">
                <a:latin typeface="GenEi Gothic P" panose="020B0500000000000000" pitchFamily="34" charset="-128"/>
                <a:ea typeface="GenEi Gothic P" panose="020B0500000000000000" pitchFamily="34" charset="-128"/>
                <a:cs typeface="Consolas" charset="0"/>
              </a:rPr>
              <a:t>で</a:t>
            </a:r>
            <a:endParaRPr lang="en-US" altLang="ja-JP" sz="3200" dirty="0">
              <a:latin typeface="GenEi Gothic P" panose="020B0500000000000000" pitchFamily="34" charset="-128"/>
              <a:ea typeface="GenEi Gothic P" panose="020B0500000000000000" pitchFamily="34" charset="-128"/>
              <a:cs typeface="Consolas" charset="0"/>
            </a:endParaRPr>
          </a:p>
          <a:p>
            <a:pPr algn="ctr"/>
            <a:r>
              <a:rPr lang="en-US" altLang="ja-JP" sz="3200" dirty="0" err="1">
                <a:latin typeface="GenEi Gothic P" panose="020B0500000000000000" pitchFamily="34" charset="-128"/>
                <a:ea typeface="GenEi Gothic P" panose="020B0500000000000000" pitchFamily="34" charset="-128"/>
                <a:cs typeface="Consolas" charset="0"/>
              </a:rPr>
              <a:t>kintone</a:t>
            </a:r>
            <a:r>
              <a:rPr lang="ja-JP" altLang="en-US" sz="3200">
                <a:latin typeface="GenEi Gothic P" panose="020B0500000000000000" pitchFamily="34" charset="-128"/>
                <a:ea typeface="GenEi Gothic P" panose="020B0500000000000000" pitchFamily="34" charset="-128"/>
                <a:cs typeface="Consolas" charset="0"/>
              </a:rPr>
              <a:t>カスタマイズしよう</a:t>
            </a:r>
            <a:endParaRPr lang="ja-JP" altLang="en-US" sz="3200" dirty="0">
              <a:latin typeface="GenEi Gothic P" panose="020B0500000000000000" pitchFamily="34" charset="-128"/>
              <a:ea typeface="GenEi Gothic P" panose="020B0500000000000000" pitchFamily="34" charset="-128"/>
              <a:cs typeface="Consolas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9ADB4B9-EB73-284B-84D9-CC491FC8E15F}"/>
              </a:ext>
            </a:extLst>
          </p:cNvPr>
          <p:cNvSpPr txBox="1"/>
          <p:nvPr/>
        </p:nvSpPr>
        <p:spPr>
          <a:xfrm>
            <a:off x="7553768" y="498342"/>
            <a:ext cx="26484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400" b="1" dirty="0" err="1">
                <a:solidFill>
                  <a:srgbClr val="357C89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Wifi</a:t>
            </a:r>
            <a:r>
              <a:rPr lang="en-US" altLang="ja-JP" sz="4400" b="1" dirty="0">
                <a:solidFill>
                  <a:srgbClr val="357C89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 </a:t>
            </a:r>
            <a:r>
              <a:rPr lang="ja-JP" altLang="en-US" sz="4400" b="1">
                <a:solidFill>
                  <a:srgbClr val="357C89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情報</a:t>
            </a:r>
            <a:endParaRPr lang="ja-JP" altLang="en-US" sz="4400" b="1" dirty="0">
              <a:solidFill>
                <a:srgbClr val="357C89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6029382-2841-5540-8D59-9440D48E8627}"/>
              </a:ext>
            </a:extLst>
          </p:cNvPr>
          <p:cNvSpPr txBox="1"/>
          <p:nvPr/>
        </p:nvSpPr>
        <p:spPr>
          <a:xfrm>
            <a:off x="1506076" y="534750"/>
            <a:ext cx="32592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400" b="1" dirty="0">
                <a:solidFill>
                  <a:srgbClr val="357C89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セッション名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BACCFD-C24C-C040-8CCA-29EBC9D87785}"/>
              </a:ext>
            </a:extLst>
          </p:cNvPr>
          <p:cNvSpPr txBox="1"/>
          <p:nvPr/>
        </p:nvSpPr>
        <p:spPr>
          <a:xfrm>
            <a:off x="4786093" y="2862501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400" b="1" dirty="0">
                <a:solidFill>
                  <a:srgbClr val="357C89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事前準備</a:t>
            </a: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63B997A8-8026-784F-802B-A0E7A7C6E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17094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72D23-095A-4A7C-BDF0-CB944A0BF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0612"/>
            <a:ext cx="9144000" cy="1710047"/>
          </a:xfrm>
        </p:spPr>
        <p:txBody>
          <a:bodyPr>
            <a:normAutofit/>
          </a:bodyPr>
          <a:lstStyle/>
          <a:p>
            <a:r>
              <a:rPr lang="en-US" altLang="ja-JP" sz="5400" b="1" dirty="0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JavaScript</a:t>
            </a:r>
            <a:r>
              <a:rPr lang="ja-JP" altLang="en-US" sz="54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で</a:t>
            </a:r>
            <a:br>
              <a:rPr lang="en-US" altLang="ja-JP" sz="5400" b="1" dirty="0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</a:br>
            <a:r>
              <a:rPr lang="en-US" altLang="ja-JP" sz="5400" b="1" dirty="0" err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kintone</a:t>
            </a:r>
            <a:r>
              <a:rPr lang="ja-JP" altLang="en-US" sz="54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カスタマイズしよう</a:t>
            </a:r>
            <a:endParaRPr kumimoji="1" lang="ja-JP" altLang="en-US" sz="5400" b="1" dirty="0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3E7EBC4-C44B-4A4E-A9D7-6FFFA39A9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749" y="5680112"/>
            <a:ext cx="4406502" cy="101025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13B3479-FC11-DE4D-A917-14F8C82CE7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56" t="60690"/>
          <a:stretch/>
        </p:blipFill>
        <p:spPr>
          <a:xfrm>
            <a:off x="11160926" y="167637"/>
            <a:ext cx="589640" cy="1294490"/>
          </a:xfrm>
          <a:prstGeom prst="rect">
            <a:avLst/>
          </a:prstGeom>
        </p:spPr>
      </p:pic>
      <p:sp>
        <p:nvSpPr>
          <p:cNvPr id="5" name="字幕 2">
            <a:extLst>
              <a:ext uri="{FF2B5EF4-FFF2-40B4-BE49-F238E27FC236}">
                <a16:creationId xmlns:a16="http://schemas.microsoft.com/office/drawing/2014/main" id="{DD5F8B92-E372-FB4F-8BDF-C599633A0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53093"/>
            <a:ext cx="9144000" cy="1076218"/>
          </a:xfrm>
        </p:spPr>
        <p:txBody>
          <a:bodyPr/>
          <a:lstStyle/>
          <a:p>
            <a:r>
              <a:rPr lang="en-US" altLang="ja-JP" b="1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2018/11/7</a:t>
            </a:r>
          </a:p>
          <a:p>
            <a:r>
              <a:rPr lang="ja-JP" altLang="en-US" b="1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三宅</a:t>
            </a:r>
            <a:r>
              <a:rPr lang="en-US" altLang="ja-JP" b="1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lang="ja-JP" altLang="en-US" b="1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智子</a:t>
            </a:r>
            <a:endParaRPr kumimoji="1" lang="ja-JP" altLang="en-US" b="1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054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06CF4FA9-6FB9-3D4B-AB9D-3AC8C403E7A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600" b="1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『JavaScript</a:t>
            </a:r>
            <a:r>
              <a:rPr lang="ja-JP" altLang="en-US" sz="3600" b="1">
                <a:latin typeface="GenEi Gothic P" panose="020B0500000000000000" pitchFamily="34" charset="-128"/>
                <a:ea typeface="GenEi Gothic P" panose="020B0500000000000000" pitchFamily="34" charset="-128"/>
              </a:rPr>
              <a:t>で</a:t>
            </a:r>
            <a:r>
              <a:rPr lang="en-US" altLang="ja-JP" sz="3600" b="1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lang="ja-JP" altLang="en-US" sz="3600" b="1">
                <a:latin typeface="GenEi Gothic P" panose="020B0500000000000000" pitchFamily="34" charset="-128"/>
                <a:ea typeface="GenEi Gothic P" panose="020B0500000000000000" pitchFamily="34" charset="-128"/>
              </a:rPr>
              <a:t>カスタマイズをしよう</a:t>
            </a:r>
            <a:r>
              <a:rPr lang="en-US" altLang="ja-JP" sz="3600" b="1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br>
              <a:rPr lang="en-US" altLang="ja-JP" sz="3600" b="1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ja-JP" altLang="en-US" sz="3600" b="1">
                <a:latin typeface="GenEi Gothic P" panose="020B0500000000000000" pitchFamily="34" charset="-128"/>
                <a:ea typeface="GenEi Gothic P" panose="020B0500000000000000" pitchFamily="34" charset="-128"/>
              </a:rPr>
              <a:t>のセッションへようこそ！</a:t>
            </a:r>
            <a:endParaRPr lang="ja-JP" altLang="en-US" sz="3600" b="1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6" name="コンテンツ プレースホルダー 4">
            <a:extLst>
              <a:ext uri="{FF2B5EF4-FFF2-40B4-BE49-F238E27FC236}">
                <a16:creationId xmlns:a16="http://schemas.microsoft.com/office/drawing/2014/main" id="{DE17887F-B61A-F442-BB84-DD606A50B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208" y="3552862"/>
            <a:ext cx="2759490" cy="2552528"/>
          </a:xfrm>
          <a:prstGeom prst="rect">
            <a:avLst/>
          </a:prstGeom>
        </p:spPr>
      </p:pic>
      <p:pic>
        <p:nvPicPr>
          <p:cNvPr id="7" name="Picture 2" descr="https://3.bp.blogspot.com/-Sfnr59bSe0M/VuIN_AvpqMI/AAAAAAAA4uY/81t-5A8UtFotGgw6TNTZauvW3ol5QnbIg/s800/school_sensei_kokuban_woman.png">
            <a:extLst>
              <a:ext uri="{FF2B5EF4-FFF2-40B4-BE49-F238E27FC236}">
                <a16:creationId xmlns:a16="http://schemas.microsoft.com/office/drawing/2014/main" id="{6EC67D9D-B4DF-AF46-9E0E-6ABA6B970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709" y="1877501"/>
            <a:ext cx="5810418" cy="443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4268F1-DE8A-5143-9A66-3401AC305CCF}"/>
              </a:ext>
            </a:extLst>
          </p:cNvPr>
          <p:cNvSpPr txBox="1"/>
          <p:nvPr/>
        </p:nvSpPr>
        <p:spPr>
          <a:xfrm rot="20767072">
            <a:off x="897748" y="3741515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ワーイ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A4FE201-8B3A-EC4A-AFA9-7C4BB94D7D85}"/>
              </a:ext>
            </a:extLst>
          </p:cNvPr>
          <p:cNvSpPr txBox="1"/>
          <p:nvPr/>
        </p:nvSpPr>
        <p:spPr>
          <a:xfrm rot="1043209">
            <a:off x="2355574" y="3459394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センセーおしえてー</a:t>
            </a: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9A0E6E3E-A02C-6348-B7CA-2C24E4B1AC54}"/>
              </a:ext>
            </a:extLst>
          </p:cNvPr>
          <p:cNvSpPr txBox="1">
            <a:spLocks/>
          </p:cNvSpPr>
          <p:nvPr/>
        </p:nvSpPr>
        <p:spPr>
          <a:xfrm>
            <a:off x="4940709" y="2523503"/>
            <a:ext cx="50168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6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lang="ja-JP" altLang="en-US" sz="36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カスタマイズ</a:t>
            </a:r>
            <a:endParaRPr lang="en-US" altLang="ja-JP" sz="36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endParaRPr lang="en-US" altLang="ja-JP" sz="36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lang="en-US" altLang="ja-JP" sz="36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   </a:t>
            </a:r>
            <a:r>
              <a:rPr lang="ja-JP" altLang="en-US" sz="36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キンカス</a:t>
            </a:r>
            <a:endParaRPr lang="ja-JP" altLang="en-US" sz="36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1AD9D85C-7785-BA46-9D71-85462B53A19B}"/>
              </a:ext>
            </a:extLst>
          </p:cNvPr>
          <p:cNvSpPr txBox="1">
            <a:spLocks/>
          </p:cNvSpPr>
          <p:nvPr/>
        </p:nvSpPr>
        <p:spPr>
          <a:xfrm rot="5400000">
            <a:off x="5093109" y="2455185"/>
            <a:ext cx="50168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3600" b="1">
                <a:solidFill>
                  <a:schemeClr val="bg1"/>
                </a:solidFill>
              </a:rPr>
              <a:t>＝</a:t>
            </a:r>
            <a:endParaRPr lang="en-US" altLang="ja-JP" sz="3600" b="1" dirty="0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D8297E-94A0-FD42-986B-555053966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8180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4">
            <a:extLst>
              <a:ext uri="{FF2B5EF4-FFF2-40B4-BE49-F238E27FC236}">
                <a16:creationId xmlns:a16="http://schemas.microsoft.com/office/drawing/2014/main" id="{7749C7F5-B64B-204D-A14C-2DBC0D4EBE5D}"/>
              </a:ext>
            </a:extLst>
          </p:cNvPr>
          <p:cNvSpPr/>
          <p:nvPr/>
        </p:nvSpPr>
        <p:spPr>
          <a:xfrm>
            <a:off x="1477107" y="4222894"/>
            <a:ext cx="4665321" cy="1932810"/>
          </a:xfrm>
          <a:prstGeom prst="roundRect">
            <a:avLst/>
          </a:prstGeom>
          <a:solidFill>
            <a:srgbClr val="FFC000"/>
          </a:solidFill>
          <a:ln w="38100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 altLang="ja-JP" sz="1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sz="1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sz="1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四角形: 角を丸くする 5">
            <a:extLst>
              <a:ext uri="{FF2B5EF4-FFF2-40B4-BE49-F238E27FC236}">
                <a16:creationId xmlns:a16="http://schemas.microsoft.com/office/drawing/2014/main" id="{0D06F6C5-FF7F-3E4C-9766-6C30DC0AE702}"/>
              </a:ext>
            </a:extLst>
          </p:cNvPr>
          <p:cNvSpPr/>
          <p:nvPr/>
        </p:nvSpPr>
        <p:spPr>
          <a:xfrm>
            <a:off x="6438292" y="2013655"/>
            <a:ext cx="4692007" cy="1338109"/>
          </a:xfrm>
          <a:prstGeom prst="roundRect">
            <a:avLst/>
          </a:prstGeom>
          <a:solidFill>
            <a:srgbClr val="FFC000"/>
          </a:solidFill>
          <a:ln w="38100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2015</a:t>
            </a:r>
            <a:r>
              <a:rPr kumimoji="1"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年 </a:t>
            </a:r>
            <a:r>
              <a:rPr kumimoji="1"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4</a:t>
            </a:r>
            <a:r>
              <a:rPr kumimoji="1"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月新卒入社</a:t>
            </a:r>
            <a:endParaRPr kumimoji="1" lang="en-US" altLang="ja-JP" sz="24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今年で </a:t>
            </a:r>
            <a:r>
              <a:rPr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4</a:t>
            </a:r>
            <a:r>
              <a:rPr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年目</a:t>
            </a:r>
            <a:endParaRPr kumimoji="1" lang="ja-JP" altLang="en-US" sz="24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0" name="四角形: 角を丸くする 6">
            <a:extLst>
              <a:ext uri="{FF2B5EF4-FFF2-40B4-BE49-F238E27FC236}">
                <a16:creationId xmlns:a16="http://schemas.microsoft.com/office/drawing/2014/main" id="{4F9F4377-2D54-B04C-BF57-5B22C0B0844F}"/>
              </a:ext>
            </a:extLst>
          </p:cNvPr>
          <p:cNvSpPr/>
          <p:nvPr/>
        </p:nvSpPr>
        <p:spPr>
          <a:xfrm>
            <a:off x="1477108" y="2013655"/>
            <a:ext cx="4612177" cy="1956681"/>
          </a:xfrm>
          <a:prstGeom prst="roundRect">
            <a:avLst/>
          </a:prstGeom>
          <a:solidFill>
            <a:srgbClr val="FFC000"/>
          </a:solidFill>
          <a:ln w="38100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 altLang="ja-JP" sz="1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sz="1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kumimoji="1" lang="en-US" altLang="ja-JP" sz="1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endParaRPr lang="en-US" altLang="ja-JP" sz="18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四角形: 角を丸くする 16">
            <a:extLst>
              <a:ext uri="{FF2B5EF4-FFF2-40B4-BE49-F238E27FC236}">
                <a16:creationId xmlns:a16="http://schemas.microsoft.com/office/drawing/2014/main" id="{91E21EAE-3743-5D49-A211-BB62E7D8AF92}"/>
              </a:ext>
            </a:extLst>
          </p:cNvPr>
          <p:cNvSpPr/>
          <p:nvPr/>
        </p:nvSpPr>
        <p:spPr>
          <a:xfrm>
            <a:off x="6438292" y="3605213"/>
            <a:ext cx="4692007" cy="2550491"/>
          </a:xfrm>
          <a:prstGeom prst="roundRect">
            <a:avLst>
              <a:gd name="adj" fmla="val 8587"/>
            </a:avLst>
          </a:prstGeom>
          <a:solidFill>
            <a:srgbClr val="FFC000"/>
          </a:solidFill>
          <a:ln w="38100">
            <a:noFill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kumimoji="1"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　</a:t>
            </a:r>
            <a:r>
              <a:rPr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・イベント企画</a:t>
            </a:r>
            <a:r>
              <a:rPr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/</a:t>
            </a:r>
            <a:r>
              <a:rPr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運営</a:t>
            </a:r>
            <a:endParaRPr lang="en-US" altLang="ja-JP" sz="24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　・</a:t>
            </a:r>
            <a:r>
              <a:rPr kumimoji="1"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US</a:t>
            </a:r>
            <a:r>
              <a:rPr kumimoji="1"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案件支援</a:t>
            </a:r>
            <a:endParaRPr kumimoji="1" lang="en-US" altLang="ja-JP" sz="24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　・</a:t>
            </a:r>
            <a:r>
              <a:rPr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developer network</a:t>
            </a:r>
            <a:br>
              <a:rPr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　　記事執筆</a:t>
            </a:r>
            <a:endParaRPr lang="en-US" altLang="ja-JP" sz="24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2" name="コンテンツ プレースホルダー 3">
            <a:extLst>
              <a:ext uri="{FF2B5EF4-FFF2-40B4-BE49-F238E27FC236}">
                <a16:creationId xmlns:a16="http://schemas.microsoft.com/office/drawing/2014/main" id="{96C73ABB-82A0-3A4E-8D74-66631AFC96D3}"/>
              </a:ext>
            </a:extLst>
          </p:cNvPr>
          <p:cNvSpPr txBox="1">
            <a:spLocks/>
          </p:cNvSpPr>
          <p:nvPr/>
        </p:nvSpPr>
        <p:spPr>
          <a:xfrm>
            <a:off x="1067072" y="1453583"/>
            <a:ext cx="4595446" cy="5883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3200" b="1">
                <a:latin typeface="GenEi Gothic P" panose="020B0500000000000000" pitchFamily="34" charset="-128"/>
                <a:ea typeface="GenEi Gothic P" panose="020B0500000000000000" pitchFamily="34" charset="-128"/>
              </a:rPr>
              <a:t>ミケ（三宅</a:t>
            </a:r>
            <a:r>
              <a:rPr lang="en-US" altLang="ja-JP" sz="3200" b="1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lang="ja-JP" altLang="en-US" sz="3200" b="1">
                <a:latin typeface="GenEi Gothic P" panose="020B0500000000000000" pitchFamily="34" charset="-128"/>
                <a:ea typeface="GenEi Gothic P" panose="020B0500000000000000" pitchFamily="34" charset="-128"/>
              </a:rPr>
              <a:t>智子）</a:t>
            </a:r>
            <a:endParaRPr lang="en-US" altLang="ja-JP" sz="3200" b="1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EA076E59-2AF0-B14B-A881-C01F964BFA3C}"/>
              </a:ext>
            </a:extLst>
          </p:cNvPr>
          <p:cNvSpPr/>
          <p:nvPr/>
        </p:nvSpPr>
        <p:spPr>
          <a:xfrm>
            <a:off x="3151033" y="2938710"/>
            <a:ext cx="253753" cy="27740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B0E43068-FA30-9544-8E5C-34C9A3ECAE17}"/>
              </a:ext>
            </a:extLst>
          </p:cNvPr>
          <p:cNvSpPr/>
          <p:nvPr/>
        </p:nvSpPr>
        <p:spPr>
          <a:xfrm>
            <a:off x="4402087" y="2925209"/>
            <a:ext cx="253753" cy="277403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3CEDE810-F05D-BD42-A71D-B42B2808ADDC}"/>
              </a:ext>
            </a:extLst>
          </p:cNvPr>
          <p:cNvSpPr/>
          <p:nvPr/>
        </p:nvSpPr>
        <p:spPr>
          <a:xfrm>
            <a:off x="1217059" y="2605412"/>
            <a:ext cx="435034" cy="666597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出身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96CAC08B-40AE-ED4B-A8A2-D679ABADB3E1}"/>
              </a:ext>
            </a:extLst>
          </p:cNvPr>
          <p:cNvSpPr/>
          <p:nvPr/>
        </p:nvSpPr>
        <p:spPr>
          <a:xfrm>
            <a:off x="1217059" y="4835198"/>
            <a:ext cx="435034" cy="666597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趣味</a:t>
            </a:r>
            <a:endParaRPr kumimoji="1" lang="ja-JP" altLang="en-US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501EF3B6-168B-D541-B206-363AE95440CE}"/>
              </a:ext>
            </a:extLst>
          </p:cNvPr>
          <p:cNvSpPr/>
          <p:nvPr/>
        </p:nvSpPr>
        <p:spPr>
          <a:xfrm>
            <a:off x="6281345" y="2276641"/>
            <a:ext cx="435034" cy="666597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経歴</a:t>
            </a:r>
            <a:endParaRPr kumimoji="1" lang="ja-JP" altLang="en-US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9A7387DF-32A9-7941-9A60-E12B7929C91C}"/>
              </a:ext>
            </a:extLst>
          </p:cNvPr>
          <p:cNvSpPr/>
          <p:nvPr/>
        </p:nvSpPr>
        <p:spPr>
          <a:xfrm>
            <a:off x="6329721" y="4506423"/>
            <a:ext cx="435034" cy="666597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仕事</a:t>
            </a:r>
            <a:endParaRPr kumimoji="1" lang="ja-JP" altLang="en-US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22" name="Picture 2" descr="桃太郎のイラスト「犬猿雉をつれた桃太郎」">
            <a:extLst>
              <a:ext uri="{FF2B5EF4-FFF2-40B4-BE49-F238E27FC236}">
                <a16:creationId xmlns:a16="http://schemas.microsoft.com/office/drawing/2014/main" id="{F6C62CDE-9BB6-E14F-BD25-B2FE7D004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572" y="2513150"/>
            <a:ext cx="1338683" cy="103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東京スカイツリーのイラスト">
            <a:extLst>
              <a:ext uri="{FF2B5EF4-FFF2-40B4-BE49-F238E27FC236}">
                <a16:creationId xmlns:a16="http://schemas.microsoft.com/office/drawing/2014/main" id="{6FA89378-ABDC-5E42-968B-55618D78A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949" y="2356561"/>
            <a:ext cx="939015" cy="11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祇園祭の山鉾のイラスト">
            <a:extLst>
              <a:ext uri="{FF2B5EF4-FFF2-40B4-BE49-F238E27FC236}">
                <a16:creationId xmlns:a16="http://schemas.microsoft.com/office/drawing/2014/main" id="{7ECB0F83-D0E2-A94C-9A35-CF6BD009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109" y="2465317"/>
            <a:ext cx="843691" cy="108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自転車に乗るぴょこのイラスト">
            <a:extLst>
              <a:ext uri="{FF2B5EF4-FFF2-40B4-BE49-F238E27FC236}">
                <a16:creationId xmlns:a16="http://schemas.microsoft.com/office/drawing/2014/main" id="{4DB11673-C646-8545-BD5C-1AB611B3E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389" y="4627690"/>
            <a:ext cx="1214290" cy="112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漫符「焦った汗」">
            <a:extLst>
              <a:ext uri="{FF2B5EF4-FFF2-40B4-BE49-F238E27FC236}">
                <a16:creationId xmlns:a16="http://schemas.microsoft.com/office/drawing/2014/main" id="{75B52A3E-A69C-4347-B0E3-9D6148B79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5099">
            <a:off x="3084498" y="4538908"/>
            <a:ext cx="552165" cy="45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6AA001C7-5156-694C-9D52-4A7EC4A078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21791">
            <a:off x="10274304" y="4721874"/>
            <a:ext cx="1559841" cy="155984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BF78E0E-13B6-FC47-BAC6-C24BF2C6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自己紹介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F45A7E-6C3C-1C4C-844F-9C5BAC7A8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</a:t>
            </a:fld>
            <a:endParaRPr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801EA1CF-F9D9-BD49-9AEB-D61FE6496E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2044">
            <a:off x="4088262" y="4209622"/>
            <a:ext cx="1513413" cy="2017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38741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EBFF89-D421-4E77-A2E0-A3CAF353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+mj-ea"/>
              </a:rPr>
              <a:t>本日の内容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E3D650-91BB-F947-B4D4-4CA44F782BDA}"/>
              </a:ext>
            </a:extLst>
          </p:cNvPr>
          <p:cNvSpPr/>
          <p:nvPr/>
        </p:nvSpPr>
        <p:spPr>
          <a:xfrm>
            <a:off x="838200" y="1780311"/>
            <a:ext cx="7239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 の </a:t>
            </a: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カスタマイズとは</a:t>
            </a:r>
            <a:endParaRPr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とは</a:t>
            </a:r>
            <a:endParaRPr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の実行方法</a:t>
            </a:r>
            <a:endParaRPr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上での </a:t>
            </a: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の実行方法</a:t>
            </a:r>
            <a:endParaRPr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API </a:t>
            </a: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ドキュメントの確認方法</a:t>
            </a:r>
            <a:endParaRPr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>
                <a:latin typeface="GenEi Gothic P" panose="020B0500000000000000" pitchFamily="34" charset="-128"/>
                <a:ea typeface="GenEi Gothic P" panose="020B0500000000000000" pitchFamily="34" charset="-128"/>
              </a:rPr>
              <a:t>最後に</a:t>
            </a:r>
            <a:endParaRPr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2A611D2-C0F6-6049-9AE7-C08F3A27C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2887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FB942D4A-70C6-D142-9565-F597FF5D1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5043"/>
            <a:ext cx="9144000" cy="1907914"/>
          </a:xfrm>
        </p:spPr>
        <p:txBody>
          <a:bodyPr/>
          <a:lstStyle/>
          <a:p>
            <a:r>
              <a:rPr lang="en-US" altLang="ja-JP" dirty="0" err="1">
                <a:solidFill>
                  <a:schemeClr val="bg1"/>
                </a:solidFill>
              </a:rPr>
              <a:t>kintone</a:t>
            </a:r>
            <a:r>
              <a:rPr lang="ja-JP" altLang="en-US">
                <a:solidFill>
                  <a:schemeClr val="bg1"/>
                </a:solidFill>
              </a:rPr>
              <a:t>の</a:t>
            </a:r>
            <a:r>
              <a:rPr lang="en-US" altLang="ja-JP" dirty="0">
                <a:solidFill>
                  <a:schemeClr val="bg1"/>
                </a:solidFill>
              </a:rPr>
              <a:t>JavaScript</a:t>
            </a:r>
            <a:br>
              <a:rPr lang="en-US" altLang="ja-JP" dirty="0">
                <a:solidFill>
                  <a:schemeClr val="bg1"/>
                </a:solidFill>
              </a:rPr>
            </a:br>
            <a:r>
              <a:rPr lang="ja-JP" altLang="en-US">
                <a:solidFill>
                  <a:schemeClr val="bg1"/>
                </a:solidFill>
              </a:rPr>
              <a:t>カスタマイズとは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35AD89-DF0F-B244-8108-E909DE080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4942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764BE22-7C8D-49DA-B514-3C5B88773E75}"/>
              </a:ext>
            </a:extLst>
          </p:cNvPr>
          <p:cNvSpPr/>
          <p:nvPr/>
        </p:nvSpPr>
        <p:spPr>
          <a:xfrm>
            <a:off x="5993438" y="2718197"/>
            <a:ext cx="3953164" cy="3583709"/>
          </a:xfrm>
          <a:prstGeom prst="rect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C5269A3-D43C-4E11-A9A1-96A4B116D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kintone API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D93095-3FF6-4270-8154-6AB398A89C7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60198"/>
            <a:ext cx="10515600" cy="4351338"/>
          </a:xfrm>
        </p:spPr>
        <p:txBody>
          <a:bodyPr/>
          <a:lstStyle/>
          <a:p>
            <a:r>
              <a:rPr lang="en-US" altLang="ja-JP" dirty="0" err="1"/>
              <a:t>kintone</a:t>
            </a:r>
            <a:r>
              <a:rPr lang="en-US" altLang="ja-JP" dirty="0"/>
              <a:t> </a:t>
            </a:r>
            <a:r>
              <a:rPr lang="ja-JP" altLang="en-US"/>
              <a:t>では大きく分けて </a:t>
            </a:r>
            <a:r>
              <a:rPr lang="en-US" altLang="ja-JP" dirty="0"/>
              <a:t>2</a:t>
            </a:r>
            <a:r>
              <a:rPr lang="ja-JP" altLang="en-US"/>
              <a:t>種類の </a:t>
            </a:r>
            <a:r>
              <a:rPr lang="en-US" altLang="ja-JP" dirty="0"/>
              <a:t>API </a:t>
            </a:r>
            <a:r>
              <a:rPr lang="ja-JP" altLang="en-US"/>
              <a:t>を</a:t>
            </a:r>
            <a:r>
              <a:rPr lang="ja-JP" altLang="en-US" dirty="0"/>
              <a:t>用意</a:t>
            </a:r>
            <a:r>
              <a:rPr lang="ja-JP" altLang="en-US"/>
              <a:t>しています。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4" name="図 3" descr="スクリーンショット 2014-06-13 11.22.26.png">
            <a:extLst>
              <a:ext uri="{FF2B5EF4-FFF2-40B4-BE49-F238E27FC236}">
                <a16:creationId xmlns:a16="http://schemas.microsoft.com/office/drawing/2014/main" id="{8616DFA0-0E25-421A-AA85-3A16F048BB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54" r="64494"/>
          <a:stretch/>
        </p:blipFill>
        <p:spPr>
          <a:xfrm>
            <a:off x="6150456" y="3657602"/>
            <a:ext cx="3301132" cy="2123102"/>
          </a:xfrm>
          <a:prstGeom prst="rect">
            <a:avLst/>
          </a:prstGeom>
        </p:spPr>
      </p:pic>
      <p:pic>
        <p:nvPicPr>
          <p:cNvPr id="5" name="図 4" descr="スクリーンショット 2014-06-13 11.22.26.png">
            <a:extLst>
              <a:ext uri="{FF2B5EF4-FFF2-40B4-BE49-F238E27FC236}">
                <a16:creationId xmlns:a16="http://schemas.microsoft.com/office/drawing/2014/main" id="{EAF2FC72-8B99-4C62-AE32-4A9C5355DE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94" b="49280"/>
          <a:stretch/>
        </p:blipFill>
        <p:spPr>
          <a:xfrm>
            <a:off x="2085862" y="3633333"/>
            <a:ext cx="3244248" cy="2123102"/>
          </a:xfrm>
          <a:prstGeom prst="rect">
            <a:avLst/>
          </a:prstGeom>
        </p:spPr>
      </p:pic>
      <p:sp>
        <p:nvSpPr>
          <p:cNvPr id="6" name="角丸四角形 5">
            <a:extLst>
              <a:ext uri="{FF2B5EF4-FFF2-40B4-BE49-F238E27FC236}">
                <a16:creationId xmlns:a16="http://schemas.microsoft.com/office/drawing/2014/main" id="{672B0D8A-5C1A-4222-904B-98D5E6E9E7AA}"/>
              </a:ext>
            </a:extLst>
          </p:cNvPr>
          <p:cNvSpPr/>
          <p:nvPr/>
        </p:nvSpPr>
        <p:spPr>
          <a:xfrm>
            <a:off x="2471301" y="2839600"/>
            <a:ext cx="2473376" cy="748768"/>
          </a:xfrm>
          <a:prstGeom prst="roundRect">
            <a:avLst>
              <a:gd name="adj" fmla="val 50000"/>
            </a:avLst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8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Segoe UI" panose="020B0502040204020203" pitchFamily="34" charset="0"/>
              </a:rPr>
              <a:t>REST</a:t>
            </a:r>
            <a:r>
              <a:rPr lang="ja-JP" altLang="en-US" sz="28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Segoe UI" panose="020B0502040204020203" pitchFamily="34" charset="0"/>
              </a:rPr>
              <a:t> </a:t>
            </a:r>
            <a:r>
              <a:rPr lang="en-US" altLang="ja-JP" sz="28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Segoe UI" panose="020B0502040204020203" pitchFamily="34" charset="0"/>
              </a:rPr>
              <a:t>API</a:t>
            </a:r>
            <a:endParaRPr lang="ja-JP" altLang="en-US" sz="28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F4907B-7BFA-4838-ADF8-5C53D1BDA819}"/>
              </a:ext>
            </a:extLst>
          </p:cNvPr>
          <p:cNvSpPr txBox="1"/>
          <p:nvPr/>
        </p:nvSpPr>
        <p:spPr>
          <a:xfrm>
            <a:off x="2949605" y="5784006"/>
            <a:ext cx="1661032" cy="461665"/>
          </a:xfrm>
          <a:prstGeom prst="rect">
            <a:avLst/>
          </a:prstGeom>
        </p:spPr>
        <p:txBody>
          <a:bodyPr wrap="non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データ連携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0F5BC4C-E5E3-4F7E-A44D-C993F345B34D}"/>
              </a:ext>
            </a:extLst>
          </p:cNvPr>
          <p:cNvSpPr txBox="1"/>
          <p:nvPr/>
        </p:nvSpPr>
        <p:spPr>
          <a:xfrm>
            <a:off x="6587388" y="5780704"/>
            <a:ext cx="2760692" cy="461665"/>
          </a:xfrm>
          <a:prstGeom prst="rect">
            <a:avLst/>
          </a:prstGeom>
        </p:spPr>
        <p:txBody>
          <a:bodyPr wrap="non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画面のカスタマイズ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EF2126B1-EC3F-4E65-8FF7-9067002EFE3B}"/>
              </a:ext>
            </a:extLst>
          </p:cNvPr>
          <p:cNvSpPr/>
          <p:nvPr/>
        </p:nvSpPr>
        <p:spPr>
          <a:xfrm>
            <a:off x="6564333" y="2839600"/>
            <a:ext cx="3008292" cy="748768"/>
          </a:xfrm>
          <a:prstGeom prst="roundRect">
            <a:avLst>
              <a:gd name="adj" fmla="val 50000"/>
            </a:avLst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8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Segoe UI" panose="020B0502040204020203" pitchFamily="34" charset="0"/>
              </a:rPr>
              <a:t>JavaScript API</a:t>
            </a:r>
            <a:endParaRPr lang="ja-JP" altLang="en-US" sz="28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3A9A7583-ACA0-3246-9B8E-09BA7747B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9600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55101A-AB3A-4CB4-B850-0EDC377C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JavaScript</a:t>
            </a:r>
            <a:r>
              <a:rPr lang="ja-JP" altLang="en-US"/>
              <a:t> カスタマイズ例</a:t>
            </a:r>
            <a:r>
              <a:rPr lang="ja-JP" altLang="en-US" dirty="0"/>
              <a:t>：初級編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14D4254-DB16-4773-B50F-ACD1C2224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724" y="1575197"/>
            <a:ext cx="3805881" cy="39842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B24BC38-24A5-4127-8C2D-B47064473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529" y="1575198"/>
            <a:ext cx="3768699" cy="39842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18DEF0A-4151-4BFC-97EE-672E84E41D60}"/>
              </a:ext>
            </a:extLst>
          </p:cNvPr>
          <p:cNvSpPr txBox="1"/>
          <p:nvPr/>
        </p:nvSpPr>
        <p:spPr>
          <a:xfrm>
            <a:off x="2062789" y="5795319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フィールド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の表示</a:t>
            </a:r>
            <a: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/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非表示</a:t>
            </a:r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の制御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B3EF98-F006-4375-B7F1-97EAB838E811}"/>
              </a:ext>
            </a:extLst>
          </p:cNvPr>
          <p:cNvSpPr txBox="1"/>
          <p:nvPr/>
        </p:nvSpPr>
        <p:spPr>
          <a:xfrm>
            <a:off x="6676870" y="5795319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文字数カウントとフィールドへの入力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334FC5-BB64-A84D-A70F-D4C80CF9A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3186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55101A-AB3A-4CB4-B850-0EDC377C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JavaScript </a:t>
            </a:r>
            <a:r>
              <a:rPr lang="ja-JP" altLang="en-US"/>
              <a:t>カスタマイズ例</a:t>
            </a:r>
            <a:r>
              <a:rPr lang="ja-JP" altLang="en-US" dirty="0"/>
              <a:t>：中級編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775DEDB4-AE2A-43B6-972C-C53693F8F2F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285" y="1900237"/>
            <a:ext cx="5324475" cy="33623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AutoShape 2" descr="https://developer.cybozu.io/hc/ja/article_attachments/206051946/osm03.jpg">
            <a:extLst>
              <a:ext uri="{FF2B5EF4-FFF2-40B4-BE49-F238E27FC236}">
                <a16:creationId xmlns:a16="http://schemas.microsoft.com/office/drawing/2014/main" id="{DF6B9696-B243-4EA7-8044-887A674DC6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+mj-ea"/>
              <a:ea typeface="+mj-ea"/>
            </a:endParaRPr>
          </a:p>
        </p:txBody>
      </p:sp>
      <p:sp>
        <p:nvSpPr>
          <p:cNvPr id="18" name="AutoShape 4" descr="https://1.bp.blogspot.com/-TKjTYaM3rk8/WLEuop1AmWI/AAAAAAABCFw/syyafF_VhcwrIjov-ieSP59D9rBsS6MUwCLcB/s800/computer05_businessman.png">
            <a:extLst>
              <a:ext uri="{FF2B5EF4-FFF2-40B4-BE49-F238E27FC236}">
                <a16:creationId xmlns:a16="http://schemas.microsoft.com/office/drawing/2014/main" id="{A6ECAB29-FE7D-429F-BF78-33F377EE12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6400800" y="5414195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レコードの詳細画面内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にマップを表示</a:t>
            </a:r>
            <a:endParaRPr kumimoji="1"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1075240" y="2783012"/>
            <a:ext cx="4082142" cy="1754619"/>
          </a:xfrm>
          <a:prstGeom prst="round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の標準機能では用意されていないものを表現することができる！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5101198-0E0E-1240-90D6-48A69B7AD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879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55101A-AB3A-4CB4-B850-0EDC377C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JavaScript </a:t>
            </a:r>
            <a:r>
              <a:rPr lang="ja-JP" altLang="en-US"/>
              <a:t>カスタマイズ例</a:t>
            </a:r>
            <a:r>
              <a:rPr lang="ja-JP" altLang="en-US" dirty="0"/>
              <a:t>：上級編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F52D08A-F8DB-4F55-8611-1269BE0895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0" t="15182" r="63302" b="5330"/>
          <a:stretch/>
        </p:blipFill>
        <p:spPr>
          <a:xfrm>
            <a:off x="3559671" y="2365265"/>
            <a:ext cx="4017819" cy="30842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ED0590A-CA6B-4DD3-A30E-2725389087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817" t="15147" r="30446" b="5154"/>
          <a:stretch/>
        </p:blipFill>
        <p:spPr>
          <a:xfrm>
            <a:off x="7837122" y="2357102"/>
            <a:ext cx="3639986" cy="30842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E37E4A-5A4A-41B9-98E9-1F9A21E1B284}"/>
              </a:ext>
            </a:extLst>
          </p:cNvPr>
          <p:cNvSpPr txBox="1"/>
          <p:nvPr/>
        </p:nvSpPr>
        <p:spPr>
          <a:xfrm>
            <a:off x="3559671" y="5564247"/>
            <a:ext cx="3917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レコード内の情報を</a:t>
            </a:r>
            <a:endParaRPr kumimoji="1"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かっこいいグラフで表示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BD2BBF7-6499-456B-B8A6-203C818DE85B}"/>
              </a:ext>
            </a:extLst>
          </p:cNvPr>
          <p:cNvSpPr txBox="1"/>
          <p:nvPr/>
        </p:nvSpPr>
        <p:spPr>
          <a:xfrm>
            <a:off x="8438004" y="5564247"/>
            <a:ext cx="266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レコード内の情報を</a:t>
            </a:r>
            <a:endParaRPr kumimoji="1"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ガントチャートとして表示</a:t>
            </a:r>
          </a:p>
        </p:txBody>
      </p:sp>
      <p:sp>
        <p:nvSpPr>
          <p:cNvPr id="3" name="角丸四角形 2"/>
          <p:cNvSpPr/>
          <p:nvPr/>
        </p:nvSpPr>
        <p:spPr>
          <a:xfrm>
            <a:off x="781050" y="3216729"/>
            <a:ext cx="2305050" cy="1143000"/>
          </a:xfrm>
          <a:prstGeom prst="round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en-US" altLang="ja-JP" sz="24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では</a:t>
            </a:r>
            <a:endParaRPr kumimoji="1" lang="en-US" altLang="ja-JP" sz="24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kumimoji="1" lang="ja-JP" altLang="en-US" sz="24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ないみたい！</a:t>
            </a:r>
            <a:endParaRPr kumimoji="1" lang="ja-JP" altLang="en-US" sz="2400" dirty="0">
              <a:solidFill>
                <a:schemeClr val="bg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0BF045-7659-8746-8D6F-4DA238042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43609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>
          <a:xfrm>
            <a:off x="1524000" y="2846521"/>
            <a:ext cx="9144000" cy="1164958"/>
          </a:xfrm>
        </p:spPr>
        <p:txBody>
          <a:bodyPr/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Java</a:t>
            </a:r>
            <a:r>
              <a:rPr lang="en-US" altLang="ja-JP" dirty="0">
                <a:solidFill>
                  <a:schemeClr val="bg1"/>
                </a:solidFill>
              </a:rPr>
              <a:t>Script </a:t>
            </a:r>
            <a:r>
              <a:rPr lang="ja-JP" altLang="en-US">
                <a:solidFill>
                  <a:schemeClr val="bg1"/>
                </a:solidFill>
              </a:rPr>
              <a:t>とは</a:t>
            </a:r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03F562-BAE4-A749-B0E3-C5EB3B422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56181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図表 5"/>
          <p:cNvGraphicFramePr/>
          <p:nvPr>
            <p:extLst>
              <p:ext uri="{D42A27DB-BD31-4B8C-83A1-F6EECF244321}">
                <p14:modId xmlns:p14="http://schemas.microsoft.com/office/powerpoint/2010/main" val="3095269052"/>
              </p:ext>
            </p:extLst>
          </p:nvPr>
        </p:nvGraphicFramePr>
        <p:xfrm>
          <a:off x="16421" y="1828797"/>
          <a:ext cx="6686457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71A518B6-8288-4FFB-83CD-34DC82A9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JavaScript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85D683-7877-4247-B259-411582072A3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0240" y="1473310"/>
            <a:ext cx="10515600" cy="53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2400" dirty="0"/>
              <a:t>JavaScript </a:t>
            </a:r>
            <a:r>
              <a:rPr lang="ja-JP" altLang="en-US" sz="2400" dirty="0"/>
              <a:t>は</a:t>
            </a:r>
            <a:r>
              <a:rPr lang="ja-JP" altLang="en-US" sz="2400"/>
              <a:t>ブラウザで使用されるプログラミング言語です。</a:t>
            </a:r>
            <a:endParaRPr lang="en-US" altLang="ja-JP" sz="2400" dirty="0"/>
          </a:p>
        </p:txBody>
      </p:sp>
      <p:pic>
        <p:nvPicPr>
          <p:cNvPr id="1026" name="Picture 2" descr="https://3.bp.blogspot.com/-zvcrx_RHrCE/WnkML3pRIjI/AAAAAAABJ_Q/lc_Wh-Lpysst3Bvuk0FDI9TbacV9hhQUQCLcBGAs/s800/computer_internet_sns.png">
            <a:extLst>
              <a:ext uri="{FF2B5EF4-FFF2-40B4-BE49-F238E27FC236}">
                <a16:creationId xmlns:a16="http://schemas.microsoft.com/office/drawing/2014/main" id="{D6CB707B-7FB6-4FB5-8A7A-0D2FD9711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182" y="3090100"/>
            <a:ext cx="2087851" cy="178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4CCD7C9-65FB-467F-AA4E-1FA0CD32D2C6}"/>
              </a:ext>
            </a:extLst>
          </p:cNvPr>
          <p:cNvSpPr txBox="1"/>
          <p:nvPr/>
        </p:nvSpPr>
        <p:spPr>
          <a:xfrm>
            <a:off x="6083783" y="2992984"/>
            <a:ext cx="56033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ウェブページは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HTML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と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CSS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で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見た目を整え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kumimoji="1" lang="en-US" altLang="ja-JP" sz="2400" b="1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kumimoji="1" lang="ja-JP" altLang="en-US" sz="2400" b="1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で</a:t>
            </a:r>
            <a:r>
              <a:rPr kumimoji="1" lang="ja-JP" altLang="en-US" sz="2400" b="1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画面の動き等</a:t>
            </a:r>
            <a:r>
              <a:rPr kumimoji="1" lang="ja-JP" altLang="en-US" sz="2400" b="1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を制御</a:t>
            </a:r>
            <a:r>
              <a:rPr kumimoji="1" lang="ja-JP" altLang="en-US" sz="240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して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いる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活用することによって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kumimoji="1" lang="en-US" altLang="ja-JP" sz="2400" b="1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UX </a:t>
            </a:r>
            <a:r>
              <a:rPr kumimoji="1" lang="ja-JP" altLang="en-US" sz="2400" b="1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の</a:t>
            </a:r>
            <a:r>
              <a:rPr kumimoji="1" lang="ja-JP" altLang="en-US" sz="2400" b="1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大幅</a:t>
            </a:r>
            <a:r>
              <a:rPr kumimoji="1" lang="ja-JP" altLang="en-US" sz="2400" b="1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な向上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期待出来る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924C4D5-A6A8-4BA6-8D02-C9BFC2FBDDA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19" y="3587104"/>
            <a:ext cx="965759" cy="632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7" name="テキスト ボックス 16"/>
          <p:cNvSpPr txBox="1"/>
          <p:nvPr/>
        </p:nvSpPr>
        <p:spPr>
          <a:xfrm>
            <a:off x="2634248" y="2846221"/>
            <a:ext cx="148590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Web 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ページ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AD658C-1301-E44C-BC01-D5BB3B64A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35206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7C9A668-6FC9-48FA-9320-C9ABC2BCDEC5}"/>
              </a:ext>
            </a:extLst>
          </p:cNvPr>
          <p:cNvSpPr/>
          <p:nvPr/>
        </p:nvSpPr>
        <p:spPr>
          <a:xfrm>
            <a:off x="451345" y="1551709"/>
            <a:ext cx="5375564" cy="4616929"/>
          </a:xfrm>
          <a:prstGeom prst="roundRect">
            <a:avLst>
              <a:gd name="adj" fmla="val 3685"/>
            </a:avLst>
          </a:prstGeom>
          <a:ln w="57150">
            <a:solidFill>
              <a:srgbClr val="3E8FA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F189E793-0625-4348-94A7-4273C1D52334}"/>
              </a:ext>
            </a:extLst>
          </p:cNvPr>
          <p:cNvSpPr/>
          <p:nvPr/>
        </p:nvSpPr>
        <p:spPr>
          <a:xfrm>
            <a:off x="6282536" y="1540309"/>
            <a:ext cx="5375564" cy="4627481"/>
          </a:xfrm>
          <a:prstGeom prst="roundRect">
            <a:avLst>
              <a:gd name="adj" fmla="val 3685"/>
            </a:avLst>
          </a:prstGeom>
          <a:ln w="57150">
            <a:solidFill>
              <a:srgbClr val="3E8FA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47D3D0-5327-447D-A4D7-83715705F4FE}"/>
              </a:ext>
            </a:extLst>
          </p:cNvPr>
          <p:cNvSpPr/>
          <p:nvPr/>
        </p:nvSpPr>
        <p:spPr>
          <a:xfrm rot="20915416">
            <a:off x="1833462" y="2103376"/>
            <a:ext cx="304916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8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GenEi Gothic P" panose="020B0500000000000000" pitchFamily="34" charset="-128"/>
                <a:ea typeface="GenEi Gothic P" panose="020B0500000000000000" pitchFamily="34" charset="-128"/>
              </a:rPr>
              <a:t>JAVA</a:t>
            </a:r>
            <a:endParaRPr lang="ja-JP" altLang="en-US" sz="8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乗算記号 5">
            <a:extLst>
              <a:ext uri="{FF2B5EF4-FFF2-40B4-BE49-F238E27FC236}">
                <a16:creationId xmlns:a16="http://schemas.microsoft.com/office/drawing/2014/main" id="{97AB6714-AE23-4C7F-BE0B-9E329C06052D}"/>
              </a:ext>
            </a:extLst>
          </p:cNvPr>
          <p:cNvSpPr/>
          <p:nvPr/>
        </p:nvSpPr>
        <p:spPr>
          <a:xfrm>
            <a:off x="1729948" y="1393909"/>
            <a:ext cx="2981813" cy="2838876"/>
          </a:xfrm>
          <a:prstGeom prst="mathMultiply">
            <a:avLst>
              <a:gd name="adj1" fmla="val 676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3B141FC-3EF5-452E-A948-127B7B8C2494}"/>
              </a:ext>
            </a:extLst>
          </p:cNvPr>
          <p:cNvSpPr txBox="1"/>
          <p:nvPr/>
        </p:nvSpPr>
        <p:spPr>
          <a:xfrm rot="20756054" flipH="1">
            <a:off x="6837590" y="2687012"/>
            <a:ext cx="1453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Mocha?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  <a:cs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A83DD3B-4C5C-4F28-97E7-48F1D28446E5}"/>
              </a:ext>
            </a:extLst>
          </p:cNvPr>
          <p:cNvSpPr txBox="1"/>
          <p:nvPr/>
        </p:nvSpPr>
        <p:spPr>
          <a:xfrm rot="749415" flipH="1">
            <a:off x="9834886" y="2106209"/>
            <a:ext cx="1829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Livescript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?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  <a:cs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0C4D6D-3AB8-4B36-BCCC-66DC55EE8255}"/>
              </a:ext>
            </a:extLst>
          </p:cNvPr>
          <p:cNvSpPr txBox="1"/>
          <p:nvPr/>
        </p:nvSpPr>
        <p:spPr>
          <a:xfrm rot="21400758" flipH="1">
            <a:off x="7455804" y="1957316"/>
            <a:ext cx="1993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JavaScript?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  <a:cs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89A942-8D0E-4659-9FA4-52447A0CBA76}"/>
              </a:ext>
            </a:extLst>
          </p:cNvPr>
          <p:cNvSpPr txBox="1"/>
          <p:nvPr/>
        </p:nvSpPr>
        <p:spPr>
          <a:xfrm flipH="1">
            <a:off x="8764127" y="2409394"/>
            <a:ext cx="1457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JScript?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  <a:cs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CDFFFD-9E89-4D3A-9AF9-4635E7FDFCD0}"/>
              </a:ext>
            </a:extLst>
          </p:cNvPr>
          <p:cNvSpPr txBox="1"/>
          <p:nvPr/>
        </p:nvSpPr>
        <p:spPr>
          <a:xfrm rot="446120" flipH="1">
            <a:off x="9185079" y="3057706"/>
            <a:ext cx="2177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ecmaScript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830C30D-64B9-454F-A390-D6BE50922387}"/>
              </a:ext>
            </a:extLst>
          </p:cNvPr>
          <p:cNvSpPr txBox="1"/>
          <p:nvPr/>
        </p:nvSpPr>
        <p:spPr>
          <a:xfrm rot="20719511" flipH="1">
            <a:off x="7955818" y="2989143"/>
            <a:ext cx="934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ES6?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B1B591-34B1-4732-A589-1040E6F52309}"/>
              </a:ext>
            </a:extLst>
          </p:cNvPr>
          <p:cNvSpPr txBox="1"/>
          <p:nvPr/>
        </p:nvSpPr>
        <p:spPr>
          <a:xfrm>
            <a:off x="393061" y="3737795"/>
            <a:ext cx="5375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　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は</a:t>
            </a:r>
            <a:r>
              <a:rPr kumimoji="1" lang="ja-JP" altLang="en-US" sz="2400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en-US" altLang="ja-JP" sz="2400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Java </a:t>
            </a:r>
            <a:r>
              <a:rPr kumimoji="1" lang="ja-JP" altLang="en-US" sz="2400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ではありません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7406BF-A472-414E-992E-DC134EFE0621}"/>
              </a:ext>
            </a:extLst>
          </p:cNvPr>
          <p:cNvSpPr txBox="1"/>
          <p:nvPr/>
        </p:nvSpPr>
        <p:spPr>
          <a:xfrm>
            <a:off x="544883" y="1593931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b="1" dirty="0">
                <a:latin typeface="+mj-ea"/>
                <a:ea typeface="+mj-ea"/>
              </a:rPr>
              <a:t>①</a:t>
            </a:r>
            <a:endParaRPr kumimoji="1" lang="en-US" altLang="ja-JP" sz="5400" b="1" dirty="0">
              <a:latin typeface="+mj-ea"/>
              <a:ea typeface="+mj-ea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E4EEE33-DEC8-4A06-A48A-6820D25CC69C}"/>
              </a:ext>
            </a:extLst>
          </p:cNvPr>
          <p:cNvSpPr txBox="1"/>
          <p:nvPr/>
        </p:nvSpPr>
        <p:spPr>
          <a:xfrm>
            <a:off x="6484949" y="1593931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b="1" dirty="0">
                <a:latin typeface="+mj-ea"/>
                <a:ea typeface="+mj-ea"/>
              </a:rPr>
              <a:t>②</a:t>
            </a:r>
            <a:endParaRPr kumimoji="1" lang="en-US" altLang="ja-JP" sz="5400" b="1" dirty="0">
              <a:latin typeface="+mj-ea"/>
              <a:ea typeface="+mj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25D1351-1F91-42FB-951D-FD57A1EC28D9}"/>
              </a:ext>
            </a:extLst>
          </p:cNvPr>
          <p:cNvSpPr txBox="1"/>
          <p:nvPr/>
        </p:nvSpPr>
        <p:spPr>
          <a:xfrm>
            <a:off x="6377669" y="3713830"/>
            <a:ext cx="5142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　ウェブ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で調べると色々な名前が出てきますが、基本的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に全部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の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ことを指しています。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3AA404-EBB2-425E-BC7A-ACD148C01AE9}"/>
              </a:ext>
            </a:extLst>
          </p:cNvPr>
          <p:cNvSpPr txBox="1"/>
          <p:nvPr/>
        </p:nvSpPr>
        <p:spPr>
          <a:xfrm>
            <a:off x="6346818" y="4928245"/>
            <a:ext cx="5173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kumimoji="1" sz="2400"/>
            </a:lvl1pPr>
          </a:lstStyle>
          <a:p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　ただし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lang="en-US" altLang="ja-JP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Java Script 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でも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なく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lang="en-US" altLang="ja-JP" dirty="0" err="1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</a:t>
            </a:r>
            <a:r>
              <a:rPr lang="en-US" altLang="ja-JP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でもなく </a:t>
            </a:r>
            <a:r>
              <a:rPr lang="en-US" altLang="ja-JP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J</a:t>
            </a:r>
            <a:r>
              <a:rPr lang="en-US" altLang="ja-JP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ava</a:t>
            </a:r>
            <a:r>
              <a:rPr lang="en-US" altLang="ja-JP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S</a:t>
            </a:r>
            <a:r>
              <a:rPr lang="en-US" altLang="ja-JP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cript 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だと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いうことを覚えましょう。</a:t>
            </a:r>
          </a:p>
        </p:txBody>
      </p:sp>
      <p:sp>
        <p:nvSpPr>
          <p:cNvPr id="27" name="タイトル 1">
            <a:extLst>
              <a:ext uri="{FF2B5EF4-FFF2-40B4-BE49-F238E27FC236}">
                <a16:creationId xmlns:a16="http://schemas.microsoft.com/office/drawing/2014/main" id="{71A518B6-8288-4FFB-83CD-34DC82A9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JavaScript</a:t>
            </a:r>
            <a:r>
              <a:rPr lang="ja-JP" altLang="en-US"/>
              <a:t> に関連する、よくある疑問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FB702280-E996-284F-AE0C-EB1BD28A2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023" y="5006945"/>
            <a:ext cx="957053" cy="96244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1CEA4E2-4903-3F4D-9705-CF0B00A5B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523" y="5019196"/>
            <a:ext cx="1055387" cy="993077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B3BE543-763F-EC43-8D79-C42B35541506}"/>
              </a:ext>
            </a:extLst>
          </p:cNvPr>
          <p:cNvSpPr txBox="1"/>
          <p:nvPr/>
        </p:nvSpPr>
        <p:spPr>
          <a:xfrm>
            <a:off x="2918650" y="5060371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>
                <a:solidFill>
                  <a:schemeClr val="accent6"/>
                </a:solidFill>
              </a:rPr>
              <a:t>≠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F3ED912-15ED-0042-A133-728C5DE14276}"/>
              </a:ext>
            </a:extLst>
          </p:cNvPr>
          <p:cNvSpPr txBox="1"/>
          <p:nvPr/>
        </p:nvSpPr>
        <p:spPr>
          <a:xfrm>
            <a:off x="640036" y="4254617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C000"/>
                </a:solidFill>
              </a:rPr>
              <a:t>ハム</a:t>
            </a:r>
            <a:r>
              <a:rPr kumimoji="1" lang="ja-JP" altLang="en-US" sz="2400" dirty="0"/>
              <a:t>と</a:t>
            </a:r>
            <a:r>
              <a:rPr kumimoji="1" lang="ja-JP" altLang="en-US" sz="2400" b="1" dirty="0">
                <a:solidFill>
                  <a:srgbClr val="FF33CC"/>
                </a:solidFill>
              </a:rPr>
              <a:t>ハムスター</a:t>
            </a:r>
            <a:r>
              <a:rPr kumimoji="1" lang="ja-JP" altLang="en-US" sz="2400" dirty="0"/>
              <a:t>くらい違います。</a:t>
            </a:r>
            <a:endParaRPr kumimoji="1" lang="en-US" altLang="ja-JP" sz="2400" dirty="0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8A055EE1-EBE5-4E42-B88A-517CE3108A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0" y="69503"/>
            <a:ext cx="1071082" cy="1142487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F7457344-4500-9248-BE3B-B35E82186F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959" y="5128245"/>
            <a:ext cx="1164282" cy="1233677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0890A0-772D-AC49-B442-DB07A3155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4116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/>
      <p:bldP spid="10" grpId="0"/>
      <p:bldP spid="11" grpId="0"/>
      <p:bldP spid="12" grpId="0"/>
      <p:bldP spid="13" grpId="0"/>
      <p:bldP spid="14" grpId="0"/>
      <p:bldP spid="3" grpId="0"/>
      <p:bldP spid="21" grpId="0"/>
      <p:bldP spid="4" grpId="0"/>
      <p:bldP spid="3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JavaScript </a:t>
            </a:r>
            <a:r>
              <a:rPr kumimoji="1" lang="ja-JP" altLang="en-US"/>
              <a:t>の基本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E82D0A-60F5-430D-9808-643B003A42E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653988" y="1579536"/>
            <a:ext cx="9036050" cy="10493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kumimoji="1" lang="en-US" altLang="ja-JP" dirty="0"/>
              <a:t>&lt;</a:t>
            </a:r>
            <a:r>
              <a:rPr kumimoji="1" lang="ja-JP" altLang="en-US"/>
              <a:t>関数</a:t>
            </a:r>
            <a:r>
              <a:rPr kumimoji="1" lang="en-US" altLang="ja-JP" dirty="0"/>
              <a:t>&gt;</a:t>
            </a:r>
            <a:br>
              <a:rPr kumimoji="1" lang="en-US" altLang="ja-JP" dirty="0"/>
            </a:br>
            <a:r>
              <a:rPr kumimoji="1" lang="ja-JP" altLang="en-US"/>
              <a:t>　呼び出す</a:t>
            </a:r>
            <a:r>
              <a:rPr kumimoji="1" lang="ja-JP" altLang="en-US" dirty="0"/>
              <a:t>と、様々な処理を行ってくれる。</a:t>
            </a:r>
            <a:endParaRPr kumimoji="1" lang="en-US" altLang="ja-JP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858ABA76-60A0-4620-84D2-43DFFE302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731" y="2913206"/>
            <a:ext cx="867710" cy="867710"/>
          </a:xfrm>
          <a:prstGeom prst="rect">
            <a:avLst/>
          </a:prstGeom>
        </p:spPr>
      </p:pic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9BCE2417-4B76-48E0-929B-A7AED2C76365}"/>
              </a:ext>
            </a:extLst>
          </p:cNvPr>
          <p:cNvSpPr txBox="1">
            <a:spLocks/>
          </p:cNvSpPr>
          <p:nvPr/>
        </p:nvSpPr>
        <p:spPr>
          <a:xfrm>
            <a:off x="2653988" y="2863864"/>
            <a:ext cx="9035989" cy="966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&lt;</a:t>
            </a:r>
            <a:r>
              <a:rPr lang="ja-JP" altLang="en-US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オブジェクト</a:t>
            </a:r>
            <a:r>
              <a:rPr lang="en-US" altLang="ja-JP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&gt;</a:t>
            </a:r>
            <a:br>
              <a:rPr lang="en-US" altLang="ja-JP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ja-JP" altLang="en-US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いくつ</a:t>
            </a:r>
            <a:r>
              <a:rPr lang="ja-JP" altLang="en-US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かの</a:t>
            </a:r>
            <a:r>
              <a:rPr lang="ja-JP" altLang="en-US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まとまったデータ</a:t>
            </a:r>
            <a:r>
              <a:rPr lang="ja-JP" altLang="en-US" dirty="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が入っている箱。</a:t>
            </a: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52993E74-CB9B-41D8-830B-639AB4781037}"/>
              </a:ext>
            </a:extLst>
          </p:cNvPr>
          <p:cNvSpPr txBox="1">
            <a:spLocks/>
          </p:cNvSpPr>
          <p:nvPr/>
        </p:nvSpPr>
        <p:spPr>
          <a:xfrm>
            <a:off x="2653988" y="3999802"/>
            <a:ext cx="9035989" cy="1266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&lt;</a:t>
            </a:r>
            <a:r>
              <a:rPr lang="ja-JP" altLang="en-US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</a:t>
            </a:r>
            <a:r>
              <a:rPr lang="en-US" altLang="ja-JP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&gt;</a:t>
            </a:r>
            <a:br>
              <a:rPr lang="en-US" altLang="ja-JP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ja-JP" altLang="en-US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関数</a:t>
            </a:r>
            <a:r>
              <a:rPr lang="ja-JP" altLang="en-US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を呼び出すタイミング。ボタンクリック時やページのロード時など、様々なイベントが存在する。</a:t>
            </a:r>
            <a:endParaRPr lang="ja-JP" altLang="en-US" dirty="0">
              <a:solidFill>
                <a:srgbClr val="FF33CC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22" name="コンテンツ プレースホルダー 2">
            <a:extLst>
              <a:ext uri="{FF2B5EF4-FFF2-40B4-BE49-F238E27FC236}">
                <a16:creationId xmlns:a16="http://schemas.microsoft.com/office/drawing/2014/main" id="{C1CC01D3-1927-4147-BD1E-4688297EFDC5}"/>
              </a:ext>
            </a:extLst>
          </p:cNvPr>
          <p:cNvSpPr txBox="1">
            <a:spLocks/>
          </p:cNvSpPr>
          <p:nvPr/>
        </p:nvSpPr>
        <p:spPr>
          <a:xfrm>
            <a:off x="2653988" y="5442040"/>
            <a:ext cx="9035989" cy="887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&lt;</a:t>
            </a:r>
            <a:r>
              <a:rPr lang="ja-JP" altLang="en-US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ハンドラー</a:t>
            </a:r>
            <a:r>
              <a:rPr lang="en-US" altLang="ja-JP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&gt;</a:t>
            </a:r>
            <a:br>
              <a:rPr lang="en-US" altLang="ja-JP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ja-JP" altLang="en-US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イベント</a:t>
            </a:r>
            <a:r>
              <a:rPr lang="ja-JP" altLang="en-US" dirty="0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が発生したときに行う処理。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63"/>
          <a:stretch/>
        </p:blipFill>
        <p:spPr>
          <a:xfrm>
            <a:off x="1410398" y="1579536"/>
            <a:ext cx="948376" cy="1021804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102" y="4254003"/>
            <a:ext cx="660967" cy="758522"/>
          </a:xfrm>
          <a:prstGeom prst="rect">
            <a:avLst/>
          </a:prstGeom>
        </p:spPr>
      </p:pic>
      <p:grpSp>
        <p:nvGrpSpPr>
          <p:cNvPr id="10" name="グループ化 9"/>
          <p:cNvGrpSpPr/>
          <p:nvPr/>
        </p:nvGrpSpPr>
        <p:grpSpPr>
          <a:xfrm>
            <a:off x="1177765" y="5455531"/>
            <a:ext cx="1413639" cy="860707"/>
            <a:chOff x="931996" y="4966353"/>
            <a:chExt cx="1413639" cy="860707"/>
          </a:xfrm>
        </p:grpSpPr>
        <p:pic>
          <p:nvPicPr>
            <p:cNvPr id="23" name="図 22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296"/>
            <a:stretch/>
          </p:blipFill>
          <p:spPr>
            <a:xfrm>
              <a:off x="931996" y="4966355"/>
              <a:ext cx="645280" cy="860705"/>
            </a:xfrm>
            <a:prstGeom prst="rect">
              <a:avLst/>
            </a:prstGeom>
          </p:spPr>
        </p:pic>
        <p:pic>
          <p:nvPicPr>
            <p:cNvPr id="24" name="図 23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296"/>
            <a:stretch/>
          </p:blipFill>
          <p:spPr>
            <a:xfrm>
              <a:off x="1312054" y="4966354"/>
              <a:ext cx="653523" cy="860705"/>
            </a:xfrm>
            <a:prstGeom prst="rect">
              <a:avLst/>
            </a:prstGeom>
          </p:spPr>
        </p:pic>
        <p:pic>
          <p:nvPicPr>
            <p:cNvPr id="25" name="図 24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296"/>
            <a:stretch/>
          </p:blipFill>
          <p:spPr>
            <a:xfrm>
              <a:off x="1700355" y="4966353"/>
              <a:ext cx="645280" cy="860705"/>
            </a:xfrm>
            <a:prstGeom prst="rect">
              <a:avLst/>
            </a:prstGeom>
          </p:spPr>
        </p:pic>
      </p:grp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65A88C-762F-EA4A-A7D9-37F24CBFB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6877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JavaScript </a:t>
            </a:r>
            <a:r>
              <a:rPr lang="ja-JP" altLang="en-US"/>
              <a:t>の</a:t>
            </a:r>
            <a:r>
              <a:rPr lang="ja-JP" altLang="en-US" dirty="0"/>
              <a:t>コード例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259" y="2082416"/>
            <a:ext cx="7925481" cy="3837756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488261-383A-B642-B01C-0075A5E46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5442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イベントについて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838200" y="1680088"/>
            <a:ext cx="10515600" cy="4351338"/>
          </a:xfrm>
        </p:spPr>
        <p:txBody>
          <a:bodyPr/>
          <a:lstStyle/>
          <a:p>
            <a:r>
              <a:rPr kumimoji="1" lang="en-US" altLang="ja-JP" dirty="0"/>
              <a:t>JavaScript </a:t>
            </a:r>
            <a:r>
              <a:rPr kumimoji="1" lang="ja-JP" altLang="en-US"/>
              <a:t>は、</a:t>
            </a:r>
            <a:r>
              <a:rPr kumimoji="1" lang="en-US" altLang="ja-JP" dirty="0"/>
              <a:t>HTML</a:t>
            </a:r>
            <a:r>
              <a:rPr lang="ja-JP" altLang="en-US"/>
              <a:t> </a:t>
            </a:r>
            <a:r>
              <a:rPr kumimoji="1" lang="ja-JP" altLang="en-US"/>
              <a:t>内</a:t>
            </a:r>
            <a:r>
              <a:rPr kumimoji="1" lang="ja-JP" altLang="en-US" dirty="0"/>
              <a:t>に</a:t>
            </a:r>
            <a:r>
              <a:rPr kumimoji="1" lang="ja-JP" altLang="en-US"/>
              <a:t>存在する </a:t>
            </a:r>
            <a:r>
              <a:rPr kumimoji="1" lang="ja-JP" altLang="en-US">
                <a:solidFill>
                  <a:srgbClr val="FFC000"/>
                </a:solidFill>
              </a:rPr>
              <a:t>オブジェクト</a:t>
            </a:r>
            <a:r>
              <a:rPr kumimoji="1" lang="ja-JP" altLang="en-US"/>
              <a:t>（ボタン</a:t>
            </a:r>
            <a:r>
              <a:rPr kumimoji="1" lang="ja-JP" altLang="en-US" dirty="0"/>
              <a:t>や</a:t>
            </a:r>
            <a:r>
              <a:rPr kumimoji="1" lang="ja-JP" altLang="en-US"/>
              <a:t>チェックボックスなど</a:t>
            </a:r>
            <a:r>
              <a:rPr lang="ja-JP" altLang="en-US"/>
              <a:t>）</a:t>
            </a:r>
            <a:r>
              <a:rPr kumimoji="1" lang="ja-JP" altLang="en-US"/>
              <a:t>に対して </a:t>
            </a:r>
            <a:r>
              <a:rPr kumimoji="1" lang="en-US" altLang="ja-JP" dirty="0"/>
              <a:t>『</a:t>
            </a:r>
            <a:r>
              <a:rPr kumimoji="1" lang="ja-JP" altLang="en-US">
                <a:solidFill>
                  <a:srgbClr val="00B050"/>
                </a:solidFill>
              </a:rPr>
              <a:t>イベント</a:t>
            </a:r>
            <a:r>
              <a:rPr kumimoji="1" lang="en-US" altLang="ja-JP" dirty="0"/>
              <a:t>』 </a:t>
            </a:r>
            <a:r>
              <a:rPr kumimoji="1" lang="ja-JP" altLang="en-US"/>
              <a:t>を</a:t>
            </a:r>
            <a:r>
              <a:rPr kumimoji="1" lang="ja-JP" altLang="en-US" dirty="0"/>
              <a:t>設定することができる</a:t>
            </a:r>
            <a:endParaRPr kumimoji="1" lang="en-US" altLang="ja-JP" dirty="0"/>
          </a:p>
          <a:p>
            <a:r>
              <a:rPr lang="en-US" altLang="ja-JP" dirty="0"/>
              <a:t>『</a:t>
            </a:r>
            <a:r>
              <a:rPr lang="ja-JP" altLang="en-US">
                <a:solidFill>
                  <a:srgbClr val="00B050"/>
                </a:solidFill>
              </a:rPr>
              <a:t>イベント</a:t>
            </a:r>
            <a:r>
              <a:rPr lang="en-US" altLang="ja-JP" dirty="0"/>
              <a:t>』 </a:t>
            </a:r>
            <a:r>
              <a:rPr lang="ja-JP" altLang="en-US"/>
              <a:t>の</a:t>
            </a:r>
            <a:r>
              <a:rPr lang="ja-JP" altLang="en-US" dirty="0"/>
              <a:t>発火条件が整った場合、</a:t>
            </a:r>
            <a:r>
              <a:rPr lang="ja-JP" altLang="en-US"/>
              <a:t>特定の </a:t>
            </a:r>
            <a:r>
              <a:rPr lang="ja-JP" altLang="en-US">
                <a:solidFill>
                  <a:srgbClr val="0070C0"/>
                </a:solidFill>
              </a:rPr>
              <a:t>ハンドラー</a:t>
            </a:r>
            <a:r>
              <a:rPr lang="ja-JP" altLang="en-US"/>
              <a:t>（処理）が</a:t>
            </a:r>
            <a:r>
              <a:rPr lang="ja-JP" altLang="en-US" dirty="0"/>
              <a:t>走る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8ABA76-60A0-4620-84D2-43DFFE302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26" y="4152249"/>
            <a:ext cx="1276973" cy="127697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486405" y="5656953"/>
            <a:ext cx="20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ただのオブジェクト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247067" y="5656953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クリックイベント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8276811" y="5601926"/>
            <a:ext cx="2903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クリックしたら何かが起きる</a:t>
            </a:r>
            <a:endParaRPr kumimoji="1"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オブジェクト</a:t>
            </a:r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100" y="4361423"/>
            <a:ext cx="660967" cy="758522"/>
          </a:xfrm>
          <a:prstGeom prst="rect">
            <a:avLst/>
          </a:prstGeom>
        </p:spPr>
      </p:pic>
      <p:grpSp>
        <p:nvGrpSpPr>
          <p:cNvPr id="4" name="グループ化 3"/>
          <p:cNvGrpSpPr/>
          <p:nvPr/>
        </p:nvGrpSpPr>
        <p:grpSpPr>
          <a:xfrm>
            <a:off x="9058667" y="3855757"/>
            <a:ext cx="1371767" cy="1693501"/>
            <a:chOff x="8619397" y="3855757"/>
            <a:chExt cx="1371767" cy="1693501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58ABA76-60A0-4620-84D2-43DFFE302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9397" y="3855757"/>
              <a:ext cx="1371767" cy="1371767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5630" y="4790736"/>
              <a:ext cx="660967" cy="758522"/>
            </a:xfrm>
            <a:prstGeom prst="rect">
              <a:avLst/>
            </a:prstGeom>
          </p:spPr>
        </p:pic>
      </p:grpSp>
      <p:pic>
        <p:nvPicPr>
          <p:cNvPr id="1026" name="Picture 2" descr="算数・数学のマーク「＋（正符号）」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825" y="4509469"/>
            <a:ext cx="562533" cy="56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2.bp.blogspot.com/-clk03qfmHEs/VCkbMwI-cwI/AAAAAAAAnC4/znjz5shRi_8/s800/math_mark09_equal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606" y="4459264"/>
            <a:ext cx="667170" cy="66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5E203CF2-6D34-1C48-B3A0-DE7A3056D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701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E18B0A-C80D-4F04-970F-DA23AA6C484E}"/>
              </a:ext>
            </a:extLst>
          </p:cNvPr>
          <p:cNvSpPr/>
          <p:nvPr/>
        </p:nvSpPr>
        <p:spPr>
          <a:xfrm>
            <a:off x="868689" y="2062665"/>
            <a:ext cx="104851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ja-JP" altLang="en-US" sz="2800" dirty="0">
                <a:solidFill>
                  <a:schemeClr val="accent2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オブジェクト名</a:t>
            </a:r>
            <a:r>
              <a:rPr kumimoji="1" lang="en-US" altLang="ja-JP" sz="28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.</a:t>
            </a:r>
            <a:r>
              <a:rPr kumimoji="1" lang="en-US" altLang="ja-JP" sz="2800" dirty="0" err="1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addEventListener</a:t>
            </a:r>
            <a:r>
              <a:rPr kumimoji="1" lang="en-US" altLang="ja-JP" sz="28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(</a:t>
            </a:r>
            <a:r>
              <a:rPr kumimoji="1" lang="en-US" altLang="ja-JP" sz="2800" dirty="0">
                <a:solidFill>
                  <a:srgbClr val="00B05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kumimoji="1" lang="ja-JP" altLang="en-US" sz="2800" dirty="0">
                <a:solidFill>
                  <a:srgbClr val="00B05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イベント名</a:t>
            </a:r>
            <a:r>
              <a:rPr kumimoji="1" lang="en-US" altLang="ja-JP" sz="2800" dirty="0">
                <a:solidFill>
                  <a:srgbClr val="00B05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kumimoji="1" lang="en-US" altLang="ja-JP" sz="28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,</a:t>
            </a:r>
            <a:r>
              <a:rPr kumimoji="1" lang="en-US" altLang="ja-JP" sz="2800" dirty="0">
                <a:solidFill>
                  <a:srgbClr val="00B05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 </a:t>
            </a:r>
            <a:r>
              <a:rPr kumimoji="1" lang="ja-JP" altLang="en-US" sz="2800" dirty="0">
                <a:solidFill>
                  <a:srgbClr val="0070C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ハンドラー</a:t>
            </a:r>
            <a:r>
              <a:rPr kumimoji="1" lang="en-US" altLang="ja-JP" sz="28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F288A5-F715-430A-A877-58C304716895}"/>
              </a:ext>
            </a:extLst>
          </p:cNvPr>
          <p:cNvSpPr/>
          <p:nvPr/>
        </p:nvSpPr>
        <p:spPr>
          <a:xfrm>
            <a:off x="868689" y="3555068"/>
            <a:ext cx="113212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ja-JP" sz="3200" dirty="0" err="1">
                <a:solidFill>
                  <a:schemeClr val="accent2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mybutton</a:t>
            </a:r>
            <a:r>
              <a:rPr kumimoji="1" lang="en-US" altLang="ja-JP" sz="3200" dirty="0" err="1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.addEventListener</a:t>
            </a:r>
            <a:r>
              <a:rPr kumimoji="1" lang="en-US" altLang="ja-JP" sz="32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(</a:t>
            </a:r>
            <a:r>
              <a:rPr kumimoji="1" lang="en-US" altLang="ja-JP" sz="3200" dirty="0">
                <a:solidFill>
                  <a:srgbClr val="00B05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'mouseover'</a:t>
            </a:r>
            <a:r>
              <a:rPr kumimoji="1" lang="en-US" altLang="ja-JP" sz="32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,</a:t>
            </a:r>
            <a:r>
              <a:rPr kumimoji="1" lang="en-US" altLang="ja-JP" sz="3200" dirty="0">
                <a:solidFill>
                  <a:srgbClr val="00B05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 </a:t>
            </a:r>
            <a:r>
              <a:rPr kumimoji="1" lang="en-US" altLang="ja-JP" sz="3200" dirty="0" err="1">
                <a:solidFill>
                  <a:srgbClr val="0070C0"/>
                </a:solidFill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hidetext</a:t>
            </a:r>
            <a:r>
              <a:rPr kumimoji="1" lang="en-US" altLang="ja-JP" sz="32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403B06D1-E437-40E4-81F0-FC625E71D64E}"/>
              </a:ext>
            </a:extLst>
          </p:cNvPr>
          <p:cNvSpPr/>
          <p:nvPr/>
        </p:nvSpPr>
        <p:spPr>
          <a:xfrm>
            <a:off x="4734702" y="2905826"/>
            <a:ext cx="1514475" cy="44767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2C0A943-669F-4ABB-AD3D-9AEEC56BC1A1}"/>
              </a:ext>
            </a:extLst>
          </p:cNvPr>
          <p:cNvSpPr txBox="1"/>
          <p:nvPr/>
        </p:nvSpPr>
        <p:spPr>
          <a:xfrm>
            <a:off x="868689" y="4759490"/>
            <a:ext cx="285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HTML 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上</a:t>
            </a:r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に存在するボタン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6C50D68-E750-45BE-A38A-749EA47727B4}"/>
              </a:ext>
            </a:extLst>
          </p:cNvPr>
          <p:cNvSpPr txBox="1"/>
          <p:nvPr/>
        </p:nvSpPr>
        <p:spPr>
          <a:xfrm>
            <a:off x="1946607" y="5111642"/>
            <a:ext cx="4453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何かのイベントに対して反応するようにする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52BC3B-1624-4C9A-B206-723C7039B16E}"/>
              </a:ext>
            </a:extLst>
          </p:cNvPr>
          <p:cNvSpPr txBox="1"/>
          <p:nvPr/>
        </p:nvSpPr>
        <p:spPr>
          <a:xfrm>
            <a:off x="6251133" y="5513410"/>
            <a:ext cx="3405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マウスオーバーをすると反応する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0D1C280-4A4A-4ABD-B11F-C9BF1B54921A}"/>
              </a:ext>
            </a:extLst>
          </p:cNvPr>
          <p:cNvSpPr txBox="1"/>
          <p:nvPr/>
        </p:nvSpPr>
        <p:spPr>
          <a:xfrm>
            <a:off x="8368495" y="5882742"/>
            <a:ext cx="3323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hidetext</a:t>
            </a:r>
            <a: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と</a:t>
            </a:r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いう関数を走らせる</a:t>
            </a:r>
          </a:p>
        </p:txBody>
      </p:sp>
      <p:sp>
        <p:nvSpPr>
          <p:cNvPr id="16" name="タイトル 1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2800" dirty="0"/>
              <a:t>JavaScript</a:t>
            </a:r>
            <a:r>
              <a:rPr lang="ja-JP" altLang="en-US" sz="2800"/>
              <a:t>のコード上で見るオブジェクトとイベントとハンドラー</a:t>
            </a:r>
            <a:endParaRPr kumimoji="1" lang="ja-JP" altLang="en-US" sz="2800"/>
          </a:p>
        </p:txBody>
      </p:sp>
      <p:sp>
        <p:nvSpPr>
          <p:cNvPr id="17" name="矢印: 下 2">
            <a:extLst>
              <a:ext uri="{FF2B5EF4-FFF2-40B4-BE49-F238E27FC236}">
                <a16:creationId xmlns:a16="http://schemas.microsoft.com/office/drawing/2014/main" id="{403B06D1-E437-40E4-81F0-FC625E71D64E}"/>
              </a:ext>
            </a:extLst>
          </p:cNvPr>
          <p:cNvSpPr/>
          <p:nvPr/>
        </p:nvSpPr>
        <p:spPr>
          <a:xfrm>
            <a:off x="1599017" y="4226016"/>
            <a:ext cx="289730" cy="4473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18" name="矢印: 下 2">
            <a:extLst>
              <a:ext uri="{FF2B5EF4-FFF2-40B4-BE49-F238E27FC236}">
                <a16:creationId xmlns:a16="http://schemas.microsoft.com/office/drawing/2014/main" id="{403B06D1-E437-40E4-81F0-FC625E71D64E}"/>
              </a:ext>
            </a:extLst>
          </p:cNvPr>
          <p:cNvSpPr/>
          <p:nvPr/>
        </p:nvSpPr>
        <p:spPr>
          <a:xfrm>
            <a:off x="3992594" y="4226016"/>
            <a:ext cx="289730" cy="86940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19" name="矢印: 下 2">
            <a:extLst>
              <a:ext uri="{FF2B5EF4-FFF2-40B4-BE49-F238E27FC236}">
                <a16:creationId xmlns:a16="http://schemas.microsoft.com/office/drawing/2014/main" id="{403B06D1-E437-40E4-81F0-FC625E71D64E}"/>
              </a:ext>
            </a:extLst>
          </p:cNvPr>
          <p:cNvSpPr/>
          <p:nvPr/>
        </p:nvSpPr>
        <p:spPr>
          <a:xfrm>
            <a:off x="7808819" y="4139843"/>
            <a:ext cx="289730" cy="1308253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20" name="矢印: 下 2">
            <a:extLst>
              <a:ext uri="{FF2B5EF4-FFF2-40B4-BE49-F238E27FC236}">
                <a16:creationId xmlns:a16="http://schemas.microsoft.com/office/drawing/2014/main" id="{403B06D1-E437-40E4-81F0-FC625E71D64E}"/>
              </a:ext>
            </a:extLst>
          </p:cNvPr>
          <p:cNvSpPr/>
          <p:nvPr/>
        </p:nvSpPr>
        <p:spPr>
          <a:xfrm>
            <a:off x="10333236" y="4172499"/>
            <a:ext cx="289730" cy="1710242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3E7E7F78-6CD0-D148-9A71-10D6A5968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97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6" grpId="0"/>
      <p:bldP spid="7" grpId="0"/>
      <p:bldP spid="8" grpId="0"/>
      <p:bldP spid="9" grpId="0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CCCCD-4362-4E0D-B32D-865A99B6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9390"/>
            <a:ext cx="9144000" cy="979220"/>
          </a:xfrm>
        </p:spPr>
        <p:txBody>
          <a:bodyPr>
            <a:normAutofit/>
          </a:bodyPr>
          <a:lstStyle/>
          <a:p>
            <a:r>
              <a:rPr lang="en-US" altLang="ja-JP" sz="5400" b="0" dirty="0">
                <a:solidFill>
                  <a:schemeClr val="bg1"/>
                </a:solidFill>
              </a:rPr>
              <a:t>JavaScript </a:t>
            </a:r>
            <a:r>
              <a:rPr lang="ja-JP" altLang="en-US" sz="5400" b="0">
                <a:solidFill>
                  <a:schemeClr val="bg1"/>
                </a:solidFill>
              </a:rPr>
              <a:t>の実行方法</a:t>
            </a:r>
            <a:endParaRPr lang="en-US" altLang="ja-JP" sz="5400" b="0" dirty="0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1A2CDC-7CC5-BE45-A717-74EB22A2D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8851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12A45-56C1-4392-A49A-088967BC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ハンズオンします</a:t>
            </a:r>
            <a:r>
              <a:rPr kumimoji="1" lang="ja-JP" altLang="en-US" dirty="0"/>
              <a:t>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69A0CC2-97B6-4C12-B395-D3CA434D919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241" y="2528888"/>
            <a:ext cx="1649412" cy="1325562"/>
          </a:xfrm>
        </p:spPr>
      </p:pic>
      <p:pic>
        <p:nvPicPr>
          <p:cNvPr id="8" name="コンテンツ プレースホルダー 4">
            <a:extLst>
              <a:ext uri="{FF2B5EF4-FFF2-40B4-BE49-F238E27FC236}">
                <a16:creationId xmlns:a16="http://schemas.microsoft.com/office/drawing/2014/main" id="{6C5A7A74-FF9C-4699-8D3F-C668362C0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78" y="3099666"/>
            <a:ext cx="1649224" cy="1325564"/>
          </a:xfrm>
          <a:prstGeom prst="rect">
            <a:avLst/>
          </a:prstGeom>
        </p:spPr>
      </p:pic>
      <p:pic>
        <p:nvPicPr>
          <p:cNvPr id="9" name="コンテンツ プレースホルダー 4">
            <a:extLst>
              <a:ext uri="{FF2B5EF4-FFF2-40B4-BE49-F238E27FC236}">
                <a16:creationId xmlns:a16="http://schemas.microsoft.com/office/drawing/2014/main" id="{82D45BAA-36A2-472C-8BDE-B819A9E02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778" y="3671166"/>
            <a:ext cx="1649224" cy="1325564"/>
          </a:xfrm>
          <a:prstGeom prst="rect">
            <a:avLst/>
          </a:prstGeom>
        </p:spPr>
      </p:pic>
      <p:pic>
        <p:nvPicPr>
          <p:cNvPr id="10" name="コンテンツ プレースホルダー 4">
            <a:extLst>
              <a:ext uri="{FF2B5EF4-FFF2-40B4-BE49-F238E27FC236}">
                <a16:creationId xmlns:a16="http://schemas.microsoft.com/office/drawing/2014/main" id="{EC5B93CA-D1EB-4FCD-9536-D77B40EFD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229" y="3190948"/>
            <a:ext cx="1649224" cy="1325564"/>
          </a:xfrm>
          <a:prstGeom prst="rect">
            <a:avLst/>
          </a:prstGeom>
        </p:spPr>
      </p:pic>
      <p:pic>
        <p:nvPicPr>
          <p:cNvPr id="11" name="コンテンツ プレースホルダー 4">
            <a:extLst>
              <a:ext uri="{FF2B5EF4-FFF2-40B4-BE49-F238E27FC236}">
                <a16:creationId xmlns:a16="http://schemas.microsoft.com/office/drawing/2014/main" id="{B8B757BC-C689-431D-ACAE-DFB618B151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075" y="3762448"/>
            <a:ext cx="1649224" cy="1325564"/>
          </a:xfrm>
          <a:prstGeom prst="rect">
            <a:avLst/>
          </a:prstGeom>
        </p:spPr>
      </p:pic>
      <p:pic>
        <p:nvPicPr>
          <p:cNvPr id="12" name="コンテンツ プレースホルダー 4">
            <a:extLst>
              <a:ext uri="{FF2B5EF4-FFF2-40B4-BE49-F238E27FC236}">
                <a16:creationId xmlns:a16="http://schemas.microsoft.com/office/drawing/2014/main" id="{8079AA45-B22F-4599-9CF7-639B36E559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002" y="4350613"/>
            <a:ext cx="1649224" cy="1325564"/>
          </a:xfrm>
          <a:prstGeom prst="rect">
            <a:avLst/>
          </a:prstGeom>
        </p:spPr>
      </p:pic>
      <p:pic>
        <p:nvPicPr>
          <p:cNvPr id="15" name="Picture 2" descr="https://3.bp.blogspot.com/-Sfnr59bSe0M/VuIN_AvpqMI/AAAAAAAA4uY/81t-5A8UtFotGgw6TNTZauvW3ol5QnbIg/s800/school_sensei_kokuban_woman.png">
            <a:extLst>
              <a:ext uri="{FF2B5EF4-FFF2-40B4-BE49-F238E27FC236}">
                <a16:creationId xmlns:a16="http://schemas.microsoft.com/office/drawing/2014/main" id="{A72BA59E-D754-4EBB-A204-06D9FBB4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17" y="2528166"/>
            <a:ext cx="4292035" cy="32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2">
            <a:extLst>
              <a:ext uri="{FF2B5EF4-FFF2-40B4-BE49-F238E27FC236}">
                <a16:creationId xmlns:a16="http://schemas.microsoft.com/office/drawing/2014/main" id="{61F3F766-9FFA-4B01-8089-D00EC7D32AB4}"/>
              </a:ext>
            </a:extLst>
          </p:cNvPr>
          <p:cNvSpPr txBox="1"/>
          <p:nvPr/>
        </p:nvSpPr>
        <p:spPr>
          <a:xfrm>
            <a:off x="1052766" y="3352316"/>
            <a:ext cx="27414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function 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addTax</a:t>
            </a:r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(price) {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	for (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var</a:t>
            </a:r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 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i</a:t>
            </a:r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 = 0; 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i</a:t>
            </a:r>
            <a:endParaRPr kumimoji="1" lang="ja-JP" altLang="en-US" sz="2000" dirty="0">
              <a:solidFill>
                <a:schemeClr val="bg1"/>
              </a:solidFill>
              <a:latin typeface="ＭＳ Ｐゴシック" panose="020B0600070205080204" pitchFamily="50" charset="-128"/>
              <a:cs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F764FE-44CA-054F-B04E-1F8A4DD76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19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7634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93E6B-5A89-461E-9EC1-CF55DE7A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アラートを表示</a:t>
            </a:r>
            <a:r>
              <a:rPr lang="ja-JP" altLang="en-US" dirty="0">
                <a:latin typeface="+mj-ea"/>
              </a:rPr>
              <a:t>させよう！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0282E7-E4C1-49C6-9750-4E67D1EB53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84357"/>
            <a:ext cx="8491538" cy="42148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Chrome </a:t>
            </a:r>
            <a:r>
              <a:rPr lang="ja-JP" altLang="en-US"/>
              <a:t>を</a:t>
            </a:r>
            <a:r>
              <a:rPr lang="ja-JP" altLang="en-US" dirty="0"/>
              <a:t>立ち上げる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開発者ツール</a:t>
            </a:r>
            <a:r>
              <a:rPr lang="ja-JP" altLang="en-US"/>
              <a:t>を開く</a:t>
            </a:r>
            <a:r>
              <a:rPr lang="ja-JP" altLang="en-US" dirty="0"/>
              <a:t>（</a:t>
            </a:r>
            <a:r>
              <a:rPr lang="ja-JP" altLang="en-US"/>
              <a:t>ブラウザ</a:t>
            </a:r>
            <a:r>
              <a:rPr lang="ja-JP" altLang="en-US" dirty="0"/>
              <a:t>のページのどこかで右クリックして、</a:t>
            </a:r>
            <a:r>
              <a:rPr lang="en-US" altLang="ja-JP" dirty="0"/>
              <a:t>『</a:t>
            </a:r>
            <a:r>
              <a:rPr lang="ja-JP" altLang="en-US" dirty="0"/>
              <a:t>検証</a:t>
            </a:r>
            <a:r>
              <a:rPr lang="en-US" altLang="ja-JP" dirty="0"/>
              <a:t>』</a:t>
            </a:r>
            <a:r>
              <a:rPr lang="ja-JP" altLang="en-US"/>
              <a:t>をクリック</a:t>
            </a:r>
            <a:r>
              <a:rPr lang="ja-JP" altLang="en-US" dirty="0"/>
              <a:t>）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『console』(</a:t>
            </a:r>
            <a:r>
              <a:rPr lang="ja-JP" altLang="en-US" dirty="0"/>
              <a:t>コンソール</a:t>
            </a:r>
            <a:r>
              <a:rPr lang="en-US" altLang="ja-JP" dirty="0"/>
              <a:t>)</a:t>
            </a:r>
            <a:r>
              <a:rPr lang="ja-JP" altLang="en-US" dirty="0"/>
              <a:t>タブに移動する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下記のコードを入力する</a:t>
            </a: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エンターキーを押す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EB90EA-F98D-419C-9488-085BCB3C22CF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ハンズオン①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885" y="4614185"/>
            <a:ext cx="3890712" cy="15142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459435" y="1730468"/>
            <a:ext cx="2000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2. </a:t>
            </a:r>
            <a:r>
              <a:rPr kumimoji="1"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右クリックのメニュー</a:t>
            </a:r>
            <a:endParaRPr kumimoji="1" lang="ja-JP" altLang="en-US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8966608" y="4306408"/>
            <a:ext cx="2387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4. </a:t>
            </a:r>
            <a:r>
              <a:rPr kumimoji="1"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コンソール</a:t>
            </a:r>
            <a:r>
              <a:rPr kumimoji="1" lang="ja-JP" altLang="en-US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とコードの入力</a:t>
            </a: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4"/>
          <a:stretch/>
        </p:blipFill>
        <p:spPr>
          <a:xfrm>
            <a:off x="9459435" y="2058243"/>
            <a:ext cx="1565749" cy="20197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67E09B-8756-4343-BF86-901B38BE5B17}"/>
              </a:ext>
            </a:extLst>
          </p:cNvPr>
          <p:cNvSpPr txBox="1"/>
          <p:nvPr/>
        </p:nvSpPr>
        <p:spPr>
          <a:xfrm>
            <a:off x="1466758" y="4306408"/>
            <a:ext cx="4707058" cy="800219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txBody>
          <a:bodyPr wrap="none" lIns="182880" tIns="182880" rIns="182880" bIns="182880" rtlCol="0">
            <a:spAutoFit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  <a:latin typeface="Consolas" charset="0"/>
                <a:ea typeface="Consolas" charset="0"/>
                <a:cs typeface="Consolas" charset="0"/>
              </a:rPr>
              <a:t>alert('Hello World!');</a:t>
            </a:r>
            <a:endParaRPr kumimoji="1" lang="ja-JP" altLang="en-US" sz="2800" dirty="0">
              <a:solidFill>
                <a:schemeClr val="bg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752DD0-1F3E-1A49-8C42-6074B9DEF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43223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FF5C7A2-C6B5-4012-9546-221522912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334" y="1027906"/>
            <a:ext cx="8131816" cy="32682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EB90EA-F98D-419C-9488-085BCB3C22CF}"/>
              </a:ext>
            </a:extLst>
          </p:cNvPr>
          <p:cNvSpPr txBox="1"/>
          <p:nvPr/>
        </p:nvSpPr>
        <p:spPr>
          <a:xfrm>
            <a:off x="0" y="0"/>
            <a:ext cx="287931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ハンズオン①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結果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17577" y="4862364"/>
            <a:ext cx="101200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アラートダイアログがブラウザ内に表示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されます。</a:t>
            </a:r>
            <a:b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入力した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内容に間違いがある場合は、コンソールにエラーが表示されます。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F48B9D-BF17-2943-9BD4-19549E887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4477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093E6B-5A89-461E-9EC1-CF55DE7A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+mj-ea"/>
              </a:rPr>
              <a:t>関数を実行</a:t>
            </a:r>
            <a:r>
              <a:rPr kumimoji="1" lang="ja-JP" altLang="en-US" dirty="0">
                <a:latin typeface="+mj-ea"/>
              </a:rPr>
              <a:t>させよう！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0282E7-E4C1-49C6-9750-4E67D1EB53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62763" y="1722438"/>
            <a:ext cx="10515600" cy="478948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Chrome </a:t>
            </a:r>
            <a:r>
              <a:rPr lang="ja-JP" altLang="en-US"/>
              <a:t>の</a:t>
            </a:r>
            <a:r>
              <a:rPr lang="ja-JP" altLang="en-US" dirty="0"/>
              <a:t>コンソールタブを開く</a:t>
            </a:r>
            <a:br>
              <a:rPr lang="en-US" altLang="ja-JP" dirty="0"/>
            </a:br>
            <a:r>
              <a:rPr lang="en-US" altLang="ja-JP" sz="2000" dirty="0"/>
              <a:t>※ </a:t>
            </a:r>
            <a:r>
              <a:rPr lang="ja-JP" altLang="en-US" sz="2000" dirty="0"/>
              <a:t>ブラウザを更新すれば、コンソールがリセットして真っ白になります</a:t>
            </a:r>
            <a:br>
              <a:rPr lang="en-US" altLang="ja-JP" sz="2000" dirty="0"/>
            </a:br>
            <a:r>
              <a:rPr lang="en-US" altLang="ja-JP" sz="2000" dirty="0"/>
              <a:t>※ ctrl + l </a:t>
            </a:r>
            <a:r>
              <a:rPr lang="ja-JP" altLang="en-US" sz="2000" dirty="0"/>
              <a:t>を入力</a:t>
            </a:r>
            <a:r>
              <a:rPr lang="ja-JP" altLang="en-US" sz="2000"/>
              <a:t>しても、真っ白</a:t>
            </a:r>
            <a:r>
              <a:rPr lang="ja-JP" altLang="en-US" sz="2000" dirty="0"/>
              <a:t>になります</a:t>
            </a:r>
            <a:br>
              <a:rPr lang="en-US" altLang="ja-JP" sz="2000" dirty="0"/>
            </a:br>
            <a:endParaRPr lang="en-US" altLang="ja-JP" sz="20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下記のコードを入力する</a:t>
            </a: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br>
              <a:rPr lang="en-US" altLang="ja-JP" dirty="0"/>
            </a:b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エンターキー</a:t>
            </a:r>
            <a:r>
              <a:rPr lang="ja-JP" altLang="en-US"/>
              <a:t>を押す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4B349D-8AE8-4C32-BB70-FB8EA83B54E9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743684" y="3533810"/>
            <a:ext cx="4157054" cy="1756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ja-JP" altLang="en-US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function show</a:t>
            </a:r>
            <a:r>
              <a:rPr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M</a:t>
            </a:r>
            <a:r>
              <a:rPr lang="ja-JP" altLang="en-US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essage() {</a:t>
            </a:r>
          </a:p>
          <a:p>
            <a:r>
              <a:rPr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    </a:t>
            </a:r>
            <a:r>
              <a:rPr lang="ja-JP" altLang="en-US" sz="200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alert</a:t>
            </a:r>
            <a:r>
              <a:rPr lang="ja-JP" altLang="en-US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H</a:t>
            </a:r>
            <a:r>
              <a:rPr lang="ja-JP" altLang="en-US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ello </a:t>
            </a:r>
            <a:r>
              <a:rPr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W</a:t>
            </a:r>
            <a:r>
              <a:rPr lang="ja-JP" altLang="en-US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orld</a:t>
            </a:r>
            <a:r>
              <a:rPr kumimoji="1"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;</a:t>
            </a:r>
            <a:endParaRPr lang="ja-JP" altLang="en-US" sz="2000" dirty="0">
              <a:latin typeface="Consolas" panose="020B0609020204030204" pitchFamily="49" charset="0"/>
              <a:ea typeface="GenEi Gothic P" panose="020B0500000000000000" pitchFamily="34" charset="-128"/>
              <a:cs typeface="Consolas" panose="020B0609020204030204" pitchFamily="49" charset="0"/>
            </a:endParaRPr>
          </a:p>
          <a:p>
            <a:r>
              <a:rPr lang="ja-JP" altLang="en-US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}</a:t>
            </a:r>
          </a:p>
          <a:p>
            <a:endParaRPr kumimoji="1" lang="en-US" altLang="ja-JP" sz="2000" dirty="0">
              <a:latin typeface="Consolas" panose="020B0609020204030204" pitchFamily="49" charset="0"/>
              <a:ea typeface="GenEi Gothic P" panose="020B0500000000000000" pitchFamily="34" charset="-128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265245" y="3604723"/>
            <a:ext cx="2387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2. </a:t>
            </a:r>
            <a:r>
              <a:rPr kumimoji="1"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コンソール</a:t>
            </a:r>
            <a:r>
              <a:rPr kumimoji="1" lang="ja-JP" altLang="en-US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とコードの入力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7324157-8B92-4560-AF75-B26415EE7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334" y="3950565"/>
            <a:ext cx="3750103" cy="1902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5D3883-AA96-F740-AEA2-95EBB1ED0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3250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5D3883-AA96-F740-AEA2-95EBB1ED0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23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4B349D-8AE8-4C32-BB70-FB8EA83B54E9}"/>
              </a:ext>
            </a:extLst>
          </p:cNvPr>
          <p:cNvSpPr txBox="1"/>
          <p:nvPr/>
        </p:nvSpPr>
        <p:spPr>
          <a:xfrm>
            <a:off x="0" y="0"/>
            <a:ext cx="3010761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ハンズオン②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コード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3649163" y="1648051"/>
            <a:ext cx="4893673" cy="206476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ja-JP" altLang="en-US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function show</a:t>
            </a:r>
            <a:r>
              <a:rPr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M</a:t>
            </a:r>
            <a:r>
              <a:rPr lang="ja-JP" altLang="en-US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essage() {</a:t>
            </a:r>
          </a:p>
          <a:p>
            <a:r>
              <a:rPr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    </a:t>
            </a:r>
            <a:r>
              <a:rPr lang="ja-JP" altLang="en-US" sz="240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alert</a:t>
            </a:r>
            <a:r>
              <a:rPr lang="ja-JP" altLang="en-US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H</a:t>
            </a:r>
            <a:r>
              <a:rPr lang="ja-JP" altLang="en-US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ello </a:t>
            </a:r>
            <a:r>
              <a:rPr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W</a:t>
            </a:r>
            <a:r>
              <a:rPr lang="ja-JP" altLang="en-US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orld</a:t>
            </a:r>
            <a:r>
              <a:rPr kumimoji="1"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lang="ja-JP" altLang="en-US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)</a:t>
            </a:r>
            <a:r>
              <a:rPr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;</a:t>
            </a:r>
            <a:endParaRPr lang="ja-JP" altLang="en-US" sz="2400" dirty="0">
              <a:latin typeface="Consolas" panose="020B0609020204030204" pitchFamily="49" charset="0"/>
              <a:ea typeface="GenEi Gothic P" panose="020B0500000000000000" pitchFamily="34" charset="-128"/>
              <a:cs typeface="Consolas" panose="020B0609020204030204" pitchFamily="49" charset="0"/>
            </a:endParaRPr>
          </a:p>
          <a:p>
            <a:r>
              <a:rPr lang="ja-JP" altLang="en-US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}</a:t>
            </a:r>
          </a:p>
          <a:p>
            <a:endParaRPr kumimoji="1" lang="en-US" altLang="ja-JP" sz="2400" dirty="0">
              <a:latin typeface="Consolas" panose="020B0609020204030204" pitchFamily="49" charset="0"/>
              <a:ea typeface="GenEi Gothic P" panose="020B0500000000000000" pitchFamily="34" charset="-128"/>
              <a:cs typeface="Consolas" panose="020B0609020204030204" pitchFamily="49" charset="0"/>
            </a:endParaRPr>
          </a:p>
          <a:p>
            <a:r>
              <a:rPr kumimoji="1" lang="en-US" altLang="ja-JP" sz="2400" dirty="0" err="1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sz="2400" dirty="0">
                <a:latin typeface="Consolas" panose="020B0609020204030204" pitchFamily="49" charset="0"/>
                <a:ea typeface="GenEi Gothic P" panose="020B0500000000000000" pitchFamily="34" charset="-128"/>
                <a:cs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810480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4B349D-8AE8-4C32-BB70-FB8EA83B54E9}"/>
              </a:ext>
            </a:extLst>
          </p:cNvPr>
          <p:cNvSpPr txBox="1"/>
          <p:nvPr/>
        </p:nvSpPr>
        <p:spPr>
          <a:xfrm>
            <a:off x="0" y="0"/>
            <a:ext cx="2991525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chemeClr val="bg1"/>
                </a:solidFill>
                <a:latin typeface="ＭＳ Ｐゴシック" panose="020B0600070205080204" pitchFamily="50" charset="-128"/>
              </a:rPr>
              <a:t>ハンズオン②</a:t>
            </a:r>
            <a:r>
              <a:rPr kumimoji="1" lang="en-US" altLang="ja-JP" sz="2400" b="1" dirty="0">
                <a:solidFill>
                  <a:schemeClr val="bg1"/>
                </a:solidFill>
                <a:latin typeface="ＭＳ Ｐゴシック" panose="020B0600070205080204" pitchFamily="50" charset="-128"/>
              </a:rPr>
              <a:t> - </a:t>
            </a:r>
            <a:r>
              <a:rPr kumimoji="1" lang="ja-JP" altLang="en-US" sz="2400" b="1" dirty="0">
                <a:solidFill>
                  <a:schemeClr val="bg1"/>
                </a:solidFill>
                <a:latin typeface="ＭＳ Ｐゴシック" panose="020B0600070205080204" pitchFamily="50" charset="-128"/>
              </a:rPr>
              <a:t>結果</a:t>
            </a: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279" y="1425192"/>
            <a:ext cx="7816731" cy="26644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テキスト ボックス 8"/>
          <p:cNvSpPr txBox="1"/>
          <p:nvPr/>
        </p:nvSpPr>
        <p:spPr>
          <a:xfrm>
            <a:off x="510487" y="4549554"/>
            <a:ext cx="111710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showMessage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という名の関数を定義し、</a:t>
            </a:r>
            <a:r>
              <a:rPr kumimoji="1" lang="en-US" altLang="ja-JP" sz="24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showMessage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()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でその関数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を呼び出しました。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関数の中にアラートを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表示させるメソッド（関数）が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入っていたので、アラートが表示されました。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E7B3712-AA55-2D4F-8E77-E7CA92E22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6004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87DB25-12C6-4662-98D9-7C202EEF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>
                <a:latin typeface="+mj-ea"/>
              </a:rPr>
              <a:t>ボタンをクリックしてアラートを表示させよう！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410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まず </a:t>
            </a:r>
            <a:r>
              <a:rPr lang="en-US" altLang="ja-JP" dirty="0"/>
              <a:t>HTML </a:t>
            </a:r>
            <a:r>
              <a:rPr lang="ja-JP" altLang="en-US"/>
              <a:t>を用意します。</a:t>
            </a:r>
            <a:endParaRPr lang="en-US" altLang="ja-JP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400"/>
              <a:t>メモ帳などのテキストエディタに下記の </a:t>
            </a:r>
            <a:r>
              <a:rPr lang="en-US" altLang="ja-JP" sz="2400" dirty="0"/>
              <a:t>HTML </a:t>
            </a:r>
            <a:r>
              <a:rPr lang="ja-JP" altLang="en-US" sz="2400"/>
              <a:t>を入力</a:t>
            </a:r>
            <a:br>
              <a:rPr lang="en-US" altLang="ja-JP" sz="2400" dirty="0"/>
            </a:br>
            <a:r>
              <a:rPr lang="ja-JP" altLang="en-US" sz="2400"/>
              <a:t>　</a:t>
            </a:r>
            <a:r>
              <a:rPr lang="en-US" altLang="ja-JP" sz="2400" dirty="0">
                <a:solidFill>
                  <a:schemeClr val="accent2"/>
                </a:solidFill>
                <a:cs typeface="Consolas" panose="020B0609020204030204" pitchFamily="49" charset="0"/>
              </a:rPr>
              <a:t>&lt;input id='</a:t>
            </a:r>
            <a:r>
              <a:rPr lang="en-US" altLang="ja-JP" sz="2400" dirty="0" err="1">
                <a:solidFill>
                  <a:schemeClr val="accent2"/>
                </a:solidFill>
                <a:cs typeface="Consolas" panose="020B0609020204030204" pitchFamily="49" charset="0"/>
              </a:rPr>
              <a:t>mybutton</a:t>
            </a:r>
            <a:r>
              <a:rPr lang="en-US" altLang="ja-JP" sz="2400" dirty="0">
                <a:solidFill>
                  <a:schemeClr val="accent2"/>
                </a:solidFill>
                <a:cs typeface="Consolas" panose="020B0609020204030204" pitchFamily="49" charset="0"/>
              </a:rPr>
              <a:t>' type='button' value='click me'&gt;</a:t>
            </a:r>
          </a:p>
          <a:p>
            <a:pPr marL="0" indent="0">
              <a:buNone/>
            </a:pPr>
            <a:endParaRPr lang="en-US" altLang="ja-JP" sz="2400" dirty="0"/>
          </a:p>
          <a:p>
            <a:pPr marL="514350" indent="-514350">
              <a:buFont typeface="+mj-lt"/>
              <a:buAutoNum type="arabicPeriod" startAt="2"/>
            </a:pPr>
            <a:r>
              <a:rPr kumimoji="1" lang="ja-JP" altLang="en-US" sz="2400"/>
              <a:t> </a:t>
            </a:r>
            <a:r>
              <a:rPr kumimoji="1" lang="en-US" altLang="ja-JP" sz="2400" dirty="0" err="1"/>
              <a:t>button.html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ファイルとして保存する</a:t>
            </a:r>
            <a:endParaRPr kumimoji="1" lang="en-US" altLang="ja-JP" sz="2400" dirty="0"/>
          </a:p>
          <a:p>
            <a:pPr marL="514350" indent="-514350">
              <a:buFont typeface="+mj-lt"/>
              <a:buAutoNum type="arabicPeriod" startAt="2"/>
            </a:pPr>
            <a:r>
              <a:rPr lang="ja-JP" altLang="en-US" sz="2400"/>
              <a:t>ファイルを </a:t>
            </a:r>
            <a:r>
              <a:rPr lang="en-US" altLang="ja-JP" sz="2400" dirty="0"/>
              <a:t>Chrome </a:t>
            </a:r>
            <a:r>
              <a:rPr lang="ja-JP" altLang="en-US" sz="2400"/>
              <a:t>で</a:t>
            </a:r>
            <a:r>
              <a:rPr lang="ja-JP" altLang="en-US" sz="2400" dirty="0"/>
              <a:t>開く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B0BD9F-7A04-48AB-B818-959174FCB647}"/>
              </a:ext>
            </a:extLst>
          </p:cNvPr>
          <p:cNvSpPr txBox="1"/>
          <p:nvPr/>
        </p:nvSpPr>
        <p:spPr>
          <a:xfrm>
            <a:off x="0" y="0"/>
            <a:ext cx="2739853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part1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507" y="5013774"/>
            <a:ext cx="7456481" cy="929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8629774" y="4705998"/>
            <a:ext cx="3036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1. </a:t>
            </a:r>
            <a:r>
              <a:rPr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テキストエディタ</a:t>
            </a:r>
            <a:r>
              <a:rPr kumimoji="1"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に入力した </a:t>
            </a:r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HTML</a:t>
            </a:r>
            <a:endParaRPr kumimoji="1" lang="ja-JP" altLang="en-US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20A0F7-E5DB-CD45-A722-5C09D365B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930794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altLang="ja-JP" sz="2400" dirty="0"/>
            </a:br>
            <a:r>
              <a:rPr lang="ja-JP" altLang="en-US" sz="2400"/>
              <a:t>　</a:t>
            </a:r>
            <a:endParaRPr lang="en-US" altLang="ja-JP" sz="2400" dirty="0">
              <a:solidFill>
                <a:schemeClr val="accent2"/>
              </a:solidFill>
              <a:cs typeface="Consolas" panose="020B0609020204030204" pitchFamily="49" charset="0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20A0F7-E5DB-CD45-A722-5C09D365B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26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B0BD9F-7A04-48AB-B818-959174FCB647}"/>
              </a:ext>
            </a:extLst>
          </p:cNvPr>
          <p:cNvSpPr txBox="1"/>
          <p:nvPr/>
        </p:nvSpPr>
        <p:spPr>
          <a:xfrm>
            <a:off x="0" y="0"/>
            <a:ext cx="3942105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part1 –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コード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A2C012-362F-0343-B023-428447BFEED1}"/>
              </a:ext>
            </a:extLst>
          </p:cNvPr>
          <p:cNvSpPr txBox="1"/>
          <p:nvPr/>
        </p:nvSpPr>
        <p:spPr>
          <a:xfrm>
            <a:off x="148869" y="1825625"/>
            <a:ext cx="11894261" cy="71055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altLang="ja-JP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&lt;input id='</a:t>
            </a:r>
            <a:r>
              <a:rPr lang="en-US" altLang="ja-JP" sz="3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mybutton</a:t>
            </a:r>
            <a:r>
              <a:rPr lang="en-US" altLang="ja-JP" sz="3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type='button' value='click me'&gt;</a:t>
            </a:r>
            <a:endParaRPr kumimoji="1" lang="en-US" altLang="ja-JP" sz="3200" dirty="0">
              <a:solidFill>
                <a:schemeClr val="bg1"/>
              </a:solidFill>
              <a:latin typeface="Consolas" panose="020B0609020204030204" pitchFamily="49" charset="0"/>
              <a:ea typeface="GenEi Gothic P" panose="020B0500000000000000" pitchFamily="34" charset="-128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441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A559CF3-85D8-40C3-9DAE-26B6CE339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777" y="1319154"/>
            <a:ext cx="7176449" cy="2310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B0BD9F-7A04-48AB-B818-959174FCB647}"/>
              </a:ext>
            </a:extLst>
          </p:cNvPr>
          <p:cNvSpPr txBox="1"/>
          <p:nvPr/>
        </p:nvSpPr>
        <p:spPr>
          <a:xfrm>
            <a:off x="0" y="0"/>
            <a:ext cx="363753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part1 -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結果</a:t>
            </a:r>
          </a:p>
        </p:txBody>
      </p:sp>
      <p:sp>
        <p:nvSpPr>
          <p:cNvPr id="9" name="コンテンツ プレースホルダー 8"/>
          <p:cNvSpPr>
            <a:spLocks noGrp="1"/>
          </p:cNvSpPr>
          <p:nvPr>
            <p:ph idx="1"/>
          </p:nvPr>
        </p:nvSpPr>
        <p:spPr>
          <a:xfrm>
            <a:off x="838200" y="4311733"/>
            <a:ext cx="10515600" cy="1434077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dirty="0"/>
              <a:t>HTML </a:t>
            </a:r>
            <a:r>
              <a:rPr kumimoji="1" lang="ja-JP" altLang="en-US" sz="2400"/>
              <a:t>で</a:t>
            </a:r>
            <a:r>
              <a:rPr kumimoji="1" lang="ja-JP" altLang="en-US" sz="2400" dirty="0"/>
              <a:t>ボタンを生成しました。</a:t>
            </a:r>
            <a:endParaRPr kumimoji="1" lang="en-US" altLang="ja-JP" sz="24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dirty="0"/>
              <a:t>ボタンをクリックしても、</a:t>
            </a:r>
            <a:r>
              <a:rPr lang="ja-JP" altLang="en-US" sz="2400" dirty="0">
                <a:solidFill>
                  <a:srgbClr val="FF0000"/>
                </a:solidFill>
              </a:rPr>
              <a:t>まだ何も起きません</a:t>
            </a:r>
            <a:r>
              <a:rPr lang="ja-JP" altLang="en-US" sz="2400" dirty="0"/>
              <a:t>。</a:t>
            </a:r>
            <a:endParaRPr lang="en-US" altLang="ja-JP" sz="24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/>
              <a:t>何か</a:t>
            </a:r>
            <a:r>
              <a:rPr lang="ja-JP" altLang="en-US" sz="2400"/>
              <a:t>を</a:t>
            </a:r>
            <a:r>
              <a:rPr kumimoji="1" lang="ja-JP" altLang="en-US" sz="2400"/>
              <a:t>起こすため</a:t>
            </a:r>
            <a:r>
              <a:rPr kumimoji="1" lang="ja-JP" altLang="en-US" sz="2400" dirty="0"/>
              <a:t>には</a:t>
            </a:r>
            <a:r>
              <a:rPr kumimoji="1" lang="ja-JP" altLang="en-US" sz="2400"/>
              <a:t>、</a:t>
            </a:r>
            <a:r>
              <a:rPr kumimoji="1" lang="en-US" altLang="ja-JP" sz="2400" dirty="0"/>
              <a:t>JavaScript </a:t>
            </a:r>
            <a:r>
              <a:rPr kumimoji="1" lang="ja-JP" altLang="en-US" sz="2400"/>
              <a:t>で</a:t>
            </a:r>
            <a:r>
              <a:rPr kumimoji="1" lang="ja-JP" altLang="en-US" sz="2400" dirty="0"/>
              <a:t>定義する必要があります。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EC5126B-139B-FB4C-A4A5-F00CD78AA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9336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5122EFDE-26F2-4E0E-9AD8-AED16935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 dirty="0">
                <a:latin typeface="+mj-ea"/>
              </a:rPr>
              <a:t>ボタンをクリックしてアラートを表示させよう！</a:t>
            </a:r>
            <a:endParaRPr kumimoji="1" lang="ja-JP" altLang="en-US" sz="3600" dirty="0">
              <a:latin typeface="+mj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6B025E-E5D5-40AD-B7EF-73CEC03032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604960"/>
            <a:ext cx="8839200" cy="4651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/>
              <a:t>JavaScript </a:t>
            </a:r>
            <a:r>
              <a:rPr lang="ja-JP" altLang="en-US"/>
              <a:t>を</a:t>
            </a:r>
            <a:r>
              <a:rPr lang="ja-JP" altLang="en-US" dirty="0"/>
              <a:t>実行して見ましょう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ブラウザの開発者ツールを開く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『</a:t>
            </a:r>
            <a:r>
              <a:rPr lang="ja-JP" altLang="en-US" dirty="0"/>
              <a:t>コンソール</a:t>
            </a:r>
            <a:r>
              <a:rPr lang="en-US" altLang="ja-JP" dirty="0"/>
              <a:t>』(console)</a:t>
            </a:r>
            <a:r>
              <a:rPr lang="ja-JP" altLang="en-US" dirty="0"/>
              <a:t>タブに移動する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下記のコードを</a:t>
            </a:r>
            <a:r>
              <a:rPr lang="ja-JP" altLang="en-US"/>
              <a:t>入力する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/>
              <a:t>エンターキーを押す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278473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part2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555" y="1689634"/>
            <a:ext cx="2060029" cy="20197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340271" y="3790000"/>
            <a:ext cx="9867125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dirty="0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document.getElementById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</a:t>
            </a:r>
            <a:r>
              <a:rPr kumimoji="1" lang="en-US" altLang="ja-JP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mybutton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')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</a:t>
            </a:r>
            <a:r>
              <a:rPr kumimoji="1" lang="en-US" altLang="ja-JP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kumimoji="1"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'click', </a:t>
            </a:r>
            <a:r>
              <a:rPr kumimoji="1" lang="en-US" altLang="ja-JP" dirty="0" err="1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573719" y="1381857"/>
            <a:ext cx="1975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1. </a:t>
            </a:r>
            <a:r>
              <a:rPr kumimoji="1"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右</a:t>
            </a:r>
            <a:r>
              <a:rPr kumimoji="1" lang="ja-JP" altLang="en-US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クリックのメニュー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D234F2-11BE-0B44-A4D9-FC64BB56A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15907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D234F2-11BE-0B44-A4D9-FC64BB56A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29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98698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part2 –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コード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621424" y="1437218"/>
            <a:ext cx="10949151" cy="190821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sz="2000" dirty="0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000" dirty="0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000" dirty="0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sz="20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document.getElementById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</a:t>
            </a:r>
            <a:r>
              <a:rPr kumimoji="1" lang="en-US" altLang="ja-JP" sz="20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mybutton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')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</a:t>
            </a:r>
            <a:r>
              <a:rPr kumimoji="1" lang="en-US" altLang="ja-JP" sz="20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kumimoji="1" lang="en-US" altLang="ja-JP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'click</a:t>
            </a:r>
            <a:r>
              <a:rPr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, </a:t>
            </a:r>
            <a:r>
              <a:rPr kumimoji="1" lang="en-US" altLang="ja-JP" sz="2000" dirty="0" err="1">
                <a:solidFill>
                  <a:srgbClr val="FF33CC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08936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87FC483-1A47-4C12-BB77-A7841F92485D}"/>
              </a:ext>
            </a:extLst>
          </p:cNvPr>
          <p:cNvSpPr txBox="1">
            <a:spLocks/>
          </p:cNvSpPr>
          <p:nvPr/>
        </p:nvSpPr>
        <p:spPr>
          <a:xfrm>
            <a:off x="1109061" y="3928128"/>
            <a:ext cx="10027666" cy="1997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エンターキー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を押しても、画面に変化は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ありません。ですが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、ボタンをクリックすると、アラートが表示されるように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なりました。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JavaScript 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で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ボタンをクリックしたらアラートを表示させる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という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処理を書き、オブジェクトのイベントに紐づけたからです。</a:t>
            </a:r>
            <a:endParaRPr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63753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part2 -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結果</a:t>
            </a: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861" y="1592682"/>
            <a:ext cx="7150100" cy="1816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46A24CE-C62A-414B-A38E-45B6663E2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201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63753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part2 -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解説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34" y="1309025"/>
            <a:ext cx="4063288" cy="9916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998134" y="2936166"/>
            <a:ext cx="10817628" cy="24372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no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sz="20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document.getElementById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</a:t>
            </a:r>
            <a:r>
              <a:rPr kumimoji="1" lang="en-US" altLang="ja-JP" sz="20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mybutton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')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'click',</a:t>
            </a:r>
            <a:r>
              <a:rPr kumimoji="1" lang="en-US" altLang="ja-JP" sz="20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D24783-1FFB-40D2-9E71-F04C0ECF0141}"/>
              </a:ext>
            </a:extLst>
          </p:cNvPr>
          <p:cNvSpPr txBox="1"/>
          <p:nvPr/>
        </p:nvSpPr>
        <p:spPr>
          <a:xfrm flipH="1">
            <a:off x="876611" y="5405208"/>
            <a:ext cx="58042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HTML</a:t>
            </a:r>
            <a:r>
              <a:rPr kumimoji="1" lang="ja-JP" altLang="en-US" b="1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内の特定のボタン要素を指定</a:t>
            </a:r>
            <a:r>
              <a:rPr kumimoji="1" lang="ja-JP" altLang="en-US" b="1">
                <a:latin typeface="GenEi Gothic P" panose="020B0500000000000000" pitchFamily="34" charset="-128"/>
                <a:ea typeface="GenEi Gothic P" panose="020B0500000000000000" pitchFamily="34" charset="-128"/>
              </a:rPr>
              <a:t>する方法</a:t>
            </a:r>
            <a:endParaRPr kumimoji="1" lang="en-US" altLang="ja-JP" b="1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document.getElementById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( {HTML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オブジェクトの 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ID} )</a:t>
            </a:r>
            <a:endParaRPr kumimoji="1" lang="ja-JP" altLang="en-US" sz="1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5976F9A-8E45-4F61-95FF-C2B425FB6D1B}"/>
              </a:ext>
            </a:extLst>
          </p:cNvPr>
          <p:cNvSpPr txBox="1"/>
          <p:nvPr/>
        </p:nvSpPr>
        <p:spPr>
          <a:xfrm flipH="1">
            <a:off x="6458288" y="5423090"/>
            <a:ext cx="551463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イベント情報を設定</a:t>
            </a:r>
            <a:r>
              <a:rPr kumimoji="1" lang="ja-JP" altLang="en-US" b="1">
                <a:latin typeface="GenEi Gothic P" panose="020B0500000000000000" pitchFamily="34" charset="-128"/>
                <a:ea typeface="GenEi Gothic P" panose="020B0500000000000000" pitchFamily="34" charset="-128"/>
              </a:rPr>
              <a:t>するメソッド</a:t>
            </a:r>
            <a:endParaRPr kumimoji="1" lang="en-US" altLang="ja-JP" b="1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1600">
                <a:solidFill>
                  <a:srgbClr val="00B0F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　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addEventListener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( {</a:t>
            </a:r>
            <a:r>
              <a:rPr kumimoji="1" lang="ja-JP" altLang="en-US" sz="16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イベントの種類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} , {</a:t>
            </a:r>
            <a:r>
              <a:rPr kumimoji="1" lang="ja-JP" altLang="en-US" sz="1600" dirty="0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実行する処理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} )</a:t>
            </a:r>
            <a:endParaRPr kumimoji="1" lang="ja-JP" altLang="en-US" sz="1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A330C3-B672-49FB-A700-1901B00EB9A8}"/>
              </a:ext>
            </a:extLst>
          </p:cNvPr>
          <p:cNvSpPr txBox="1"/>
          <p:nvPr/>
        </p:nvSpPr>
        <p:spPr>
          <a:xfrm flipH="1">
            <a:off x="5623943" y="2488996"/>
            <a:ext cx="4761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アラートを表示させるための関数</a:t>
            </a:r>
          </a:p>
        </p:txBody>
      </p:sp>
      <p:sp>
        <p:nvSpPr>
          <p:cNvPr id="20" name="左中かっこ 19">
            <a:extLst>
              <a:ext uri="{FF2B5EF4-FFF2-40B4-BE49-F238E27FC236}">
                <a16:creationId xmlns:a16="http://schemas.microsoft.com/office/drawing/2014/main" id="{1DB6FE58-99AD-4ECD-85A8-BB0972C5C6A7}"/>
              </a:ext>
            </a:extLst>
          </p:cNvPr>
          <p:cNvSpPr/>
          <p:nvPr/>
        </p:nvSpPr>
        <p:spPr>
          <a:xfrm rot="16200000">
            <a:off x="8484938" y="2680040"/>
            <a:ext cx="300320" cy="4901439"/>
          </a:xfrm>
          <a:prstGeom prst="leftBrace">
            <a:avLst>
              <a:gd name="adj1" fmla="val 72983"/>
              <a:gd name="adj2" fmla="val 5044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9589482-FB5B-4043-9955-1C732ABCF1B7}"/>
              </a:ext>
            </a:extLst>
          </p:cNvPr>
          <p:cNvCxnSpPr>
            <a:cxnSpLocks/>
          </p:cNvCxnSpPr>
          <p:nvPr/>
        </p:nvCxnSpPr>
        <p:spPr>
          <a:xfrm flipH="1">
            <a:off x="4983003" y="2890578"/>
            <a:ext cx="1081688" cy="7124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左中かっこ 26">
            <a:extLst>
              <a:ext uri="{FF2B5EF4-FFF2-40B4-BE49-F238E27FC236}">
                <a16:creationId xmlns:a16="http://schemas.microsoft.com/office/drawing/2014/main" id="{1DB6FE58-99AD-4ECD-85A8-BB0972C5C6A7}"/>
              </a:ext>
            </a:extLst>
          </p:cNvPr>
          <p:cNvSpPr/>
          <p:nvPr/>
        </p:nvSpPr>
        <p:spPr>
          <a:xfrm rot="16200000">
            <a:off x="3496223" y="2678939"/>
            <a:ext cx="298117" cy="4901440"/>
          </a:xfrm>
          <a:prstGeom prst="leftBrace">
            <a:avLst>
              <a:gd name="adj1" fmla="val 72983"/>
              <a:gd name="adj2" fmla="val 5044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pic>
        <p:nvPicPr>
          <p:cNvPr id="29" name="図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09" y="1309025"/>
            <a:ext cx="5966276" cy="743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0" name="左中かっこ 29">
            <a:extLst>
              <a:ext uri="{FF2B5EF4-FFF2-40B4-BE49-F238E27FC236}">
                <a16:creationId xmlns:a16="http://schemas.microsoft.com/office/drawing/2014/main" id="{1DB6FE58-99AD-4ECD-85A8-BB0972C5C6A7}"/>
              </a:ext>
            </a:extLst>
          </p:cNvPr>
          <p:cNvSpPr/>
          <p:nvPr/>
        </p:nvSpPr>
        <p:spPr>
          <a:xfrm rot="10800000">
            <a:off x="4702190" y="3201277"/>
            <a:ext cx="179924" cy="844691"/>
          </a:xfrm>
          <a:prstGeom prst="leftBrace">
            <a:avLst>
              <a:gd name="adj1" fmla="val 72983"/>
              <a:gd name="adj2" fmla="val 5044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7967477" y="1001248"/>
            <a:ext cx="1468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メモ帳の</a:t>
            </a:r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HTML</a:t>
            </a:r>
            <a:endParaRPr kumimoji="1" lang="ja-JP" altLang="en-US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423408" y="1001248"/>
            <a:ext cx="3605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メモ帳の</a:t>
            </a:r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HTML</a:t>
            </a:r>
            <a:r>
              <a:rPr kumimoji="1" lang="ja-JP" altLang="en-US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によって生成されたボタン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7F09E4-FD77-EC4A-8F14-F5322CDC7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665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63753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ハンズオン③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part2 -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補足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767195" y="1891427"/>
            <a:ext cx="9998893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show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essage() {</a:t>
            </a:r>
          </a:p>
          <a:p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dirty="0">
              <a:solidFill>
                <a:srgbClr val="00B0F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dirty="0">
              <a:solidFill>
                <a:srgbClr val="00B0F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document.getElementById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</a:t>
            </a:r>
            <a:r>
              <a:rPr kumimoji="1"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mybutton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').</a:t>
            </a:r>
            <a:r>
              <a:rPr kumimoji="1"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('click', </a:t>
            </a:r>
            <a:r>
              <a:rPr kumimoji="1" lang="en-US" altLang="ja-JP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関数の書き方は色々とある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767194" y="4693562"/>
            <a:ext cx="11168992" cy="12003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document.getElementById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</a:t>
            </a:r>
            <a:r>
              <a:rPr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mybutton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').</a:t>
            </a:r>
            <a:r>
              <a:rPr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('click', 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en-US" altLang="ja-JP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  <a:b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</a:b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alert('hello world');</a:t>
            </a:r>
          </a:p>
          <a:p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  <a:endParaRPr kumimoji="1" lang="en-US" altLang="ja-JP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782950" y="3806970"/>
            <a:ext cx="548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下の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ような記載方法も可能ですが、</a:t>
            </a:r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可読性を考慮してこのハンズオンでは上のように記載する</a:t>
            </a:r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ことにします。</a:t>
            </a:r>
            <a:endParaRPr kumimoji="1"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4" name="左右矢印 13"/>
          <p:cNvSpPr/>
          <p:nvPr/>
        </p:nvSpPr>
        <p:spPr>
          <a:xfrm rot="5400000">
            <a:off x="4894124" y="3890533"/>
            <a:ext cx="710817" cy="479206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677DF8-E99F-5E41-BBC5-E1D7F2C55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4695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ハンズオン④</a:t>
            </a: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5122EFDE-26F2-4E0E-9AD8-AED16935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 b="1" dirty="0">
                <a:latin typeface="+mj-ea"/>
              </a:rPr>
              <a:t>別の</a:t>
            </a:r>
            <a:r>
              <a:rPr lang="ja-JP" altLang="en-US" sz="3600" dirty="0">
                <a:latin typeface="+mj-ea"/>
              </a:rPr>
              <a:t>イベント</a:t>
            </a:r>
            <a:r>
              <a:rPr lang="ja-JP" altLang="en-US" sz="3600" b="1" dirty="0">
                <a:latin typeface="+mj-ea"/>
              </a:rPr>
              <a:t>も試してみよう！</a:t>
            </a:r>
            <a:endParaRPr kumimoji="1" lang="ja-JP" altLang="en-US" sz="3600" b="1" dirty="0">
              <a:latin typeface="+mj-ea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041400" y="1883468"/>
            <a:ext cx="604845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先程のボタンのページを再読込する</a:t>
            </a:r>
            <a:endParaRPr kumimoji="1"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下記のコードをコンソール入力する</a:t>
            </a:r>
            <a:br>
              <a:rPr kumimoji="1"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kumimoji="1"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kumimoji="1"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kumimoji="1"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kumimoji="1" lang="en-US" altLang="ja-JP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endParaRPr kumimoji="1"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8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エンターキーを押す</a:t>
            </a:r>
            <a:endParaRPr kumimoji="1" lang="en-US" altLang="ja-JP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kumimoji="1" lang="ja-JP" altLang="en-US" sz="28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581688" y="2920024"/>
            <a:ext cx="10373674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document.getElementById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</a:t>
            </a:r>
            <a:r>
              <a:rPr kumimoji="1" lang="en-US" altLang="ja-JP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mybutton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')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</a:t>
            </a:r>
            <a:r>
              <a:rPr kumimoji="1"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b="1" u="sng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mouseover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5411C7-935E-9446-936D-7E7615443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8349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0460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ハンズオン④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コード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5411C7-935E-9446-936D-7E7615443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34</a:t>
            </a:fld>
            <a:endParaRPr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339296" y="1646028"/>
            <a:ext cx="11513408" cy="190821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sz="20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document.getElementById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</a:t>
            </a:r>
            <a:r>
              <a:rPr kumimoji="1" lang="en-US" altLang="ja-JP" sz="20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mybutton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')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2000" b="1" u="sng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mouseover</a:t>
            </a:r>
            <a:r>
              <a:rPr kumimoji="1"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sz="20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04686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287931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ハンズオン④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結果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117" y="1280652"/>
            <a:ext cx="5807476" cy="16747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テキスト ボックス 3"/>
          <p:cNvSpPr txBox="1"/>
          <p:nvPr/>
        </p:nvSpPr>
        <p:spPr>
          <a:xfrm>
            <a:off x="581203" y="3562136"/>
            <a:ext cx="111668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エンターキーを押した後に変化が無いように見えますが、今回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は</a:t>
            </a:r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ボタンの上をホバー</a:t>
            </a:r>
            <a:r>
              <a:rPr kumimoji="1" lang="ja-JP" altLang="en-US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したら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アラートが表示されるよう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になりました（</a:t>
            </a:r>
            <a:r>
              <a:rPr kumimoji="1"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mouseover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指定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したため）。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他にも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lvl="1"/>
            <a:r>
              <a:rPr kumimoji="1" lang="en-US" altLang="ja-JP" sz="2400" dirty="0" err="1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mousedown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ボタン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を押した瞬間に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(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離さなくても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)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発火する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lvl="1"/>
            <a:r>
              <a:rPr kumimoji="1" lang="en-US" altLang="ja-JP" sz="2400" dirty="0" err="1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mouseout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　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カーソル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がボタンから離れた瞬間に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発火する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など、沢山のイベントがあります。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291565-8ACA-2B40-A488-53F5497D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06407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287931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ハンズオン④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280485" y="1977062"/>
            <a:ext cx="9734517" cy="22159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sz="24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ja-JP" altLang="en-US" sz="2400" dirty="0">
                <a:solidFill>
                  <a:schemeClr val="accent2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オブジェクト名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</a:t>
            </a:r>
            <a:r>
              <a:rPr kumimoji="1" lang="en-US" altLang="ja-JP" sz="24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addEventListener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ja-JP" altLang="en-US" sz="2400" b="1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イベント名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,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kumimoji="1" lang="en-US" altLang="ja-JP" sz="24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406825" y="1146065"/>
            <a:ext cx="9212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オブジェクト名とイベント名の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組み合わせによって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、様々なタイミングでイベントの発火が可能になります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530573" y="430471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例えば：</a:t>
            </a: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45807"/>
              </p:ext>
            </p:extLst>
          </p:nvPr>
        </p:nvGraphicFramePr>
        <p:xfrm>
          <a:off x="3015642" y="4755686"/>
          <a:ext cx="59944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9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0" i="0" dirty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オブジェクト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0" i="0" dirty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イベント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0" i="0" dirty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チェックボックス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0" i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値が変更された時</a:t>
                      </a:r>
                      <a:endParaRPr kumimoji="1" lang="ja-JP" altLang="en-US" b="0" i="0" dirty="0">
                        <a:latin typeface="GenEi Gothic P" panose="020B0500000000000000" pitchFamily="34" charset="-128"/>
                        <a:ea typeface="GenEi Gothic P" panose="020B05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0" i="0" dirty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ページ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0" i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画面がロードされた時</a:t>
                      </a:r>
                      <a:endParaRPr kumimoji="1" lang="ja-JP" altLang="en-US" b="0" i="0" dirty="0">
                        <a:latin typeface="GenEi Gothic P" panose="020B0500000000000000" pitchFamily="34" charset="-128"/>
                        <a:ea typeface="GenEi Gothic P" panose="020B0500000000000000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0" i="0" dirty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テキストフィールド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b="0" i="0" dirty="0">
                          <a:latin typeface="GenEi Gothic P" panose="020B0500000000000000" pitchFamily="34" charset="-128"/>
                          <a:ea typeface="GenEi Gothic P" panose="020B0500000000000000" pitchFamily="34" charset="-128"/>
                        </a:rPr>
                        <a:t>文字が入力された時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1C6EBF-E46C-1343-9968-8B7CA07AF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1106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CCCCD-4362-4E0D-B32D-865A99B6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5058"/>
            <a:ext cx="9144000" cy="1707883"/>
          </a:xfrm>
        </p:spPr>
        <p:txBody>
          <a:bodyPr>
            <a:normAutofit/>
          </a:bodyPr>
          <a:lstStyle/>
          <a:p>
            <a:r>
              <a:rPr lang="en-US" altLang="ja-JP" sz="4800" dirty="0" err="1">
                <a:solidFill>
                  <a:schemeClr val="bg1"/>
                </a:solidFill>
              </a:rPr>
              <a:t>kintone</a:t>
            </a:r>
            <a:r>
              <a:rPr lang="en-US" altLang="ja-JP" sz="4800" dirty="0">
                <a:solidFill>
                  <a:schemeClr val="bg1"/>
                </a:solidFill>
              </a:rPr>
              <a:t> </a:t>
            </a:r>
            <a:r>
              <a:rPr lang="ja-JP" altLang="en-US" sz="4800">
                <a:solidFill>
                  <a:schemeClr val="bg1"/>
                </a:solidFill>
              </a:rPr>
              <a:t>上での</a:t>
            </a:r>
            <a:br>
              <a:rPr lang="en-US" altLang="ja-JP" sz="4800" dirty="0">
                <a:solidFill>
                  <a:schemeClr val="bg1"/>
                </a:solidFill>
              </a:rPr>
            </a:br>
            <a:r>
              <a:rPr lang="en-US" altLang="ja-JP" sz="4800" dirty="0">
                <a:solidFill>
                  <a:schemeClr val="bg1"/>
                </a:solidFill>
              </a:rPr>
              <a:t>JavaScript </a:t>
            </a:r>
            <a:r>
              <a:rPr lang="ja-JP" altLang="en-US" sz="4800">
                <a:solidFill>
                  <a:schemeClr val="bg1"/>
                </a:solidFill>
              </a:rPr>
              <a:t>の実行方法</a:t>
            </a:r>
            <a:endParaRPr lang="en-US" altLang="ja-JP" sz="4800" dirty="0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D484AD-55A9-B94A-9D9B-859266549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8374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2828254C-B03C-074B-A6FA-B79192B7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k</a:t>
            </a:r>
            <a:r>
              <a:rPr kumimoji="1" lang="en-US" altLang="ja-JP" dirty="0" err="1"/>
              <a:t>intone</a:t>
            </a:r>
            <a:r>
              <a:rPr kumimoji="1" lang="ja-JP" altLang="en-US"/>
              <a:t>のデータ構造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994E88-A4D6-DA49-B07E-3E97FB92B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38</a:t>
            </a:fld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82AB4B2-551F-3045-9897-32783AAB4A20}"/>
              </a:ext>
            </a:extLst>
          </p:cNvPr>
          <p:cNvSpPr/>
          <p:nvPr/>
        </p:nvSpPr>
        <p:spPr>
          <a:xfrm>
            <a:off x="694944" y="1426464"/>
            <a:ext cx="7754112" cy="4752953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7374930-1E63-2349-94DD-9E090E13D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12" y="1604960"/>
            <a:ext cx="7349306" cy="43260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EE495F2-3E72-1E42-9502-AB14EFBCD92C}"/>
              </a:ext>
            </a:extLst>
          </p:cNvPr>
          <p:cNvSpPr/>
          <p:nvPr/>
        </p:nvSpPr>
        <p:spPr>
          <a:xfrm>
            <a:off x="885522" y="4937760"/>
            <a:ext cx="7349306" cy="99328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2FDAF1A-AAE6-0947-9F8E-2A78F2C33B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18" b="44723"/>
          <a:stretch/>
        </p:blipFill>
        <p:spPr>
          <a:xfrm>
            <a:off x="4844253" y="3301346"/>
            <a:ext cx="6890547" cy="2914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534EAE0-99DD-E645-979F-3E429584045C}"/>
              </a:ext>
            </a:extLst>
          </p:cNvPr>
          <p:cNvSpPr txBox="1"/>
          <p:nvPr/>
        </p:nvSpPr>
        <p:spPr>
          <a:xfrm>
            <a:off x="7138431" y="1388064"/>
            <a:ext cx="1343787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アプリ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8191E7F-E280-1540-A06E-4277FF689C5E}"/>
              </a:ext>
            </a:extLst>
          </p:cNvPr>
          <p:cNvSpPr txBox="1"/>
          <p:nvPr/>
        </p:nvSpPr>
        <p:spPr>
          <a:xfrm>
            <a:off x="896112" y="4215599"/>
            <a:ext cx="1717495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レコード</a:t>
            </a:r>
            <a:endParaRPr kumimoji="1" lang="ja-JP" altLang="en-US" sz="3200" b="1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7435552-5DB6-4C44-85A9-E437880112DB}"/>
              </a:ext>
            </a:extLst>
          </p:cNvPr>
          <p:cNvSpPr txBox="1"/>
          <p:nvPr/>
        </p:nvSpPr>
        <p:spPr>
          <a:xfrm>
            <a:off x="9627873" y="3301346"/>
            <a:ext cx="2125216" cy="5847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フィールド</a:t>
            </a:r>
            <a:endParaRPr kumimoji="1" lang="ja-JP" altLang="en-US" sz="3200" b="1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2F9BFFC-8BD6-D94B-9841-CE061F9F778A}"/>
              </a:ext>
            </a:extLst>
          </p:cNvPr>
          <p:cNvSpPr/>
          <p:nvPr/>
        </p:nvSpPr>
        <p:spPr>
          <a:xfrm>
            <a:off x="4887875" y="3465576"/>
            <a:ext cx="2125216" cy="615798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9A05515-477A-4446-B469-0FEAC96E3F92}"/>
              </a:ext>
            </a:extLst>
          </p:cNvPr>
          <p:cNvSpPr/>
          <p:nvPr/>
        </p:nvSpPr>
        <p:spPr>
          <a:xfrm>
            <a:off x="7096772" y="3465576"/>
            <a:ext cx="1867831" cy="615798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44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9" grpId="0" animBg="1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D21426-011D-394F-929D-823BE786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k</a:t>
            </a:r>
            <a:r>
              <a:rPr kumimoji="1" lang="en-US" altLang="ja-JP" dirty="0" err="1"/>
              <a:t>intone</a:t>
            </a:r>
            <a:r>
              <a:rPr kumimoji="1" lang="ja-JP" altLang="en-US"/>
              <a:t>の画面紹介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91856B-FE3E-F547-9B64-03C7866D2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39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0E6EA69-0223-C34E-A01B-642A36911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31" y="2218467"/>
            <a:ext cx="5144878" cy="3028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6566E7E-776D-E146-8449-B1946F73E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058" y="2218467"/>
            <a:ext cx="5090624" cy="30284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8D4477E-945F-F24D-B6DA-43CD97D5F29E}"/>
              </a:ext>
            </a:extLst>
          </p:cNvPr>
          <p:cNvSpPr txBox="1"/>
          <p:nvPr/>
        </p:nvSpPr>
        <p:spPr>
          <a:xfrm>
            <a:off x="2532185" y="2218467"/>
            <a:ext cx="3415724" cy="584775"/>
          </a:xfrm>
          <a:prstGeom prst="rect">
            <a:avLst/>
          </a:prstGeom>
          <a:solidFill>
            <a:srgbClr val="3E8FA1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レコード一覧画面</a:t>
            </a:r>
            <a:endParaRPr kumimoji="1" lang="ja-JP" altLang="en-US" sz="3200" b="1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4D792DD-1ADA-3F42-869B-16669CC42036}"/>
              </a:ext>
            </a:extLst>
          </p:cNvPr>
          <p:cNvSpPr txBox="1"/>
          <p:nvPr/>
        </p:nvSpPr>
        <p:spPr>
          <a:xfrm>
            <a:off x="8045958" y="2218620"/>
            <a:ext cx="3415724" cy="584775"/>
          </a:xfrm>
          <a:prstGeom prst="rect">
            <a:avLst/>
          </a:prstGeom>
          <a:solidFill>
            <a:srgbClr val="3E8FA1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レコード詳細画面</a:t>
            </a:r>
            <a:endParaRPr kumimoji="1" lang="ja-JP" altLang="en-US" sz="3200" b="1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520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D21426-011D-394F-929D-823BE786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k</a:t>
            </a:r>
            <a:r>
              <a:rPr kumimoji="1" lang="en-US" altLang="ja-JP" dirty="0" err="1"/>
              <a:t>intone</a:t>
            </a:r>
            <a:r>
              <a:rPr kumimoji="1" lang="ja-JP" altLang="en-US"/>
              <a:t>の画面紹介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91856B-FE3E-F547-9B64-03C7866D2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40</a:t>
            </a:fld>
            <a:endParaRPr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1119256-C786-C34D-9889-0EB97B80B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312" y="1874833"/>
            <a:ext cx="5849476" cy="3108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48A6519-4522-BB48-89A7-0F24FD1A1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16" y="1874833"/>
            <a:ext cx="4295153" cy="3108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BE15B9A-CD28-3F41-9160-FF5D88905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126" y="3288323"/>
            <a:ext cx="4933748" cy="2895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43C297-ADA3-FF44-8170-A9A5C0B26AF6}"/>
              </a:ext>
            </a:extLst>
          </p:cNvPr>
          <p:cNvSpPr txBox="1"/>
          <p:nvPr/>
        </p:nvSpPr>
        <p:spPr>
          <a:xfrm>
            <a:off x="3147846" y="1872862"/>
            <a:ext cx="1916723" cy="1077218"/>
          </a:xfrm>
          <a:prstGeom prst="rect">
            <a:avLst/>
          </a:prstGeom>
          <a:solidFill>
            <a:srgbClr val="3E8FA1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レコード</a:t>
            </a:r>
            <a:endParaRPr lang="en-US" altLang="ja-JP" sz="3200" b="1" dirty="0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追加画面</a:t>
            </a:r>
            <a:endParaRPr kumimoji="1" lang="ja-JP" altLang="en-US" sz="3200" b="1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837E5C-7A26-364E-B293-D978E240947F}"/>
              </a:ext>
            </a:extLst>
          </p:cNvPr>
          <p:cNvSpPr txBox="1"/>
          <p:nvPr/>
        </p:nvSpPr>
        <p:spPr>
          <a:xfrm>
            <a:off x="9645065" y="1872862"/>
            <a:ext cx="1916723" cy="1077218"/>
          </a:xfrm>
          <a:prstGeom prst="rect">
            <a:avLst/>
          </a:prstGeom>
          <a:solidFill>
            <a:srgbClr val="3E8FA1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レコード</a:t>
            </a:r>
            <a:endParaRPr lang="en-US" altLang="ja-JP" sz="3200" b="1" dirty="0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編集画面</a:t>
            </a:r>
            <a:endParaRPr kumimoji="1" lang="ja-JP" altLang="en-US" sz="3200" b="1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AD5C76-52CE-DE47-B051-353EB4B03586}"/>
              </a:ext>
            </a:extLst>
          </p:cNvPr>
          <p:cNvSpPr txBox="1"/>
          <p:nvPr/>
        </p:nvSpPr>
        <p:spPr>
          <a:xfrm>
            <a:off x="6646151" y="3292044"/>
            <a:ext cx="1916723" cy="1077218"/>
          </a:xfrm>
          <a:prstGeom prst="rect">
            <a:avLst/>
          </a:prstGeom>
          <a:solidFill>
            <a:srgbClr val="3E8FA1"/>
          </a:solidFill>
        </p:spPr>
        <p:txBody>
          <a:bodyPr wrap="square" rtlCol="0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レコード</a:t>
            </a:r>
            <a:endParaRPr lang="en-US" altLang="ja-JP" sz="3200" b="1" dirty="0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  <a:p>
            <a:r>
              <a:rPr lang="ja-JP" altLang="en-US" sz="3200" b="1">
                <a:solidFill>
                  <a:schemeClr val="bg1"/>
                </a:solidFill>
                <a:latin typeface="GenEi Gothic P Heavy" panose="020B0500000000000000" pitchFamily="34" charset="-128"/>
                <a:ea typeface="GenEi Gothic P Heavy" panose="020B0500000000000000" pitchFamily="34" charset="-128"/>
              </a:rPr>
              <a:t>印刷画面</a:t>
            </a:r>
            <a:endParaRPr kumimoji="1" lang="ja-JP" altLang="en-US" sz="3200" b="1">
              <a:solidFill>
                <a:schemeClr val="bg1"/>
              </a:solidFill>
              <a:latin typeface="GenEi Gothic P Heavy" panose="020B0500000000000000" pitchFamily="34" charset="-128"/>
              <a:ea typeface="GenEi Gothic P Heavy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46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6C1541-A9EE-42F3-BE8F-812429A8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今までと何が違う</a:t>
            </a:r>
            <a:r>
              <a:rPr kumimoji="1" lang="ja-JP" altLang="en-US"/>
              <a:t>のか</a:t>
            </a:r>
            <a:r>
              <a:rPr kumimoji="1" lang="en-US" altLang="ja-JP" dirty="0"/>
              <a:t>(1)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4CF9D1-2347-41F7-948B-E7342A91FC4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0219" y="1839912"/>
            <a:ext cx="10958394" cy="4351338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オブジェクト名</a:t>
            </a:r>
            <a:r>
              <a:rPr kumimoji="1" lang="en-US" altLang="ja-JP" sz="2400" dirty="0"/>
              <a:t>.</a:t>
            </a:r>
            <a:r>
              <a:rPr kumimoji="1" lang="en-US" altLang="ja-JP" sz="2400" dirty="0" err="1"/>
              <a:t>addEventListener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の代わりに</a:t>
            </a:r>
            <a:r>
              <a:rPr kumimoji="1" lang="ja-JP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ja-JP" sz="2400" dirty="0" err="1">
                <a:solidFill>
                  <a:srgbClr val="FF0000"/>
                </a:solidFill>
              </a:rPr>
              <a:t>kintone.events.on</a:t>
            </a:r>
            <a:r>
              <a:rPr kumimoji="1" lang="en-US" altLang="ja-JP" sz="2400" dirty="0">
                <a:solidFill>
                  <a:srgbClr val="FF0000"/>
                </a:solidFill>
              </a:rPr>
              <a:t> </a:t>
            </a:r>
            <a:r>
              <a:rPr kumimoji="1" lang="ja-JP" altLang="en-US" sz="2400" dirty="0">
                <a:solidFill>
                  <a:srgbClr val="FF0000"/>
                </a:solidFill>
              </a:rPr>
              <a:t>を使用する</a:t>
            </a:r>
            <a:endParaRPr kumimoji="1" lang="en-US" altLang="ja-JP" sz="2400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lang="en-US" altLang="ja-JP" sz="2400" dirty="0"/>
              <a:t>click </a:t>
            </a:r>
            <a:r>
              <a:rPr lang="ja-JP" altLang="en-US" sz="2400"/>
              <a:t>や </a:t>
            </a:r>
            <a:r>
              <a:rPr lang="en-US" altLang="ja-JP" sz="2400" dirty="0"/>
              <a:t>mouseover </a:t>
            </a:r>
            <a:r>
              <a:rPr lang="ja-JP" altLang="en-US" sz="2400"/>
              <a:t>など</a:t>
            </a:r>
            <a:r>
              <a:rPr lang="ja-JP" altLang="en-US" sz="2400" dirty="0"/>
              <a:t>のイベントではなく、</a:t>
            </a:r>
            <a:r>
              <a:rPr lang="en-US" altLang="ja-JP" sz="2400" dirty="0" err="1">
                <a:solidFill>
                  <a:srgbClr val="FF0000"/>
                </a:solidFill>
              </a:rPr>
              <a:t>app.record.index.show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ja-JP" altLang="en-US" sz="2400" dirty="0">
                <a:solidFill>
                  <a:srgbClr val="FF0000"/>
                </a:solidFill>
              </a:rPr>
              <a:t>などの独自イベントを使用する</a:t>
            </a:r>
            <a:endParaRPr lang="en-US" altLang="ja-JP" sz="2400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kumimoji="1" lang="en-US" altLang="ja-JP" sz="2400" dirty="0" err="1"/>
              <a:t>kintone</a:t>
            </a:r>
            <a:r>
              <a:rPr kumimoji="1" lang="en-US" altLang="ja-JP" sz="2400" dirty="0"/>
              <a:t> </a:t>
            </a:r>
            <a:r>
              <a:rPr kumimoji="1" lang="ja-JP" altLang="en-US" sz="2400"/>
              <a:t>が</a:t>
            </a:r>
            <a:r>
              <a:rPr kumimoji="1" lang="ja-JP" altLang="en-US" sz="2400" dirty="0"/>
              <a:t>表示</a:t>
            </a:r>
            <a:r>
              <a:rPr kumimoji="1" lang="ja-JP" altLang="en-US" sz="2400"/>
              <a:t>している </a:t>
            </a:r>
            <a:r>
              <a:rPr kumimoji="1" lang="en-US" altLang="ja-JP" sz="2400" dirty="0"/>
              <a:t>HTML </a:t>
            </a:r>
            <a:r>
              <a:rPr kumimoji="1" lang="ja-JP" altLang="en-US" sz="2400"/>
              <a:t>に</a:t>
            </a:r>
            <a:r>
              <a:rPr kumimoji="1" lang="ja-JP" altLang="en-US" sz="2400" dirty="0"/>
              <a:t>対して処理を行ったりするので、</a:t>
            </a:r>
            <a:r>
              <a:rPr kumimoji="1" lang="ja-JP" altLang="en-US" sz="2400"/>
              <a:t>こちらで </a:t>
            </a:r>
            <a:r>
              <a:rPr kumimoji="1" lang="en-US" altLang="ja-JP" sz="2400" dirty="0">
                <a:solidFill>
                  <a:srgbClr val="FF0000"/>
                </a:solidFill>
              </a:rPr>
              <a:t>HTML</a:t>
            </a:r>
            <a:r>
              <a:rPr kumimoji="1" lang="ja-JP" altLang="en-US" sz="2400" dirty="0">
                <a:solidFill>
                  <a:srgbClr val="FF0000"/>
                </a:solidFill>
              </a:rPr>
              <a:t>を事前に書く必要は無い</a:t>
            </a:r>
            <a:endParaRPr kumimoji="1" lang="en-US" altLang="ja-JP" sz="2400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lang="ja-JP" altLang="en-US" sz="2400"/>
              <a:t>画面内</a:t>
            </a:r>
            <a:r>
              <a:rPr lang="ja-JP" altLang="en-US" sz="2400" dirty="0"/>
              <a:t>の情報が格納されている</a:t>
            </a:r>
            <a:r>
              <a:rPr lang="ja-JP" altLang="en-US" sz="2400" dirty="0">
                <a:solidFill>
                  <a:srgbClr val="FF0000"/>
                </a:solidFill>
              </a:rPr>
              <a:t>イベントオブジェクトが使える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635824-4C0C-EA42-8BA5-772EE0A19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18395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6C1541-A9EE-42F3-BE8F-812429A80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今までと何が違う</a:t>
            </a:r>
            <a:r>
              <a:rPr kumimoji="1" lang="ja-JP" altLang="en-US">
                <a:latin typeface="+mj-ea"/>
              </a:rPr>
              <a:t>のか</a:t>
            </a:r>
            <a:r>
              <a:rPr lang="en-US" altLang="ja-JP" dirty="0"/>
              <a:t>(2)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説明</a:t>
            </a:r>
          </a:p>
        </p:txBody>
      </p:sp>
      <p:sp>
        <p:nvSpPr>
          <p:cNvPr id="7" name="下矢印 6"/>
          <p:cNvSpPr/>
          <p:nvPr/>
        </p:nvSpPr>
        <p:spPr>
          <a:xfrm>
            <a:off x="5156948" y="3843742"/>
            <a:ext cx="488950" cy="23104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latin typeface="+mj-ea"/>
              <a:ea typeface="+mj-ea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698181" y="2148757"/>
            <a:ext cx="8747908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800" u="sng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ja-JP" altLang="en-US" sz="2800" u="sng">
                <a:latin typeface="GenEi Gothic P" panose="020B0500000000000000" pitchFamily="34" charset="-128"/>
                <a:ea typeface="GenEi Gothic P" panose="020B0500000000000000" pitchFamily="34" charset="-128"/>
              </a:rPr>
              <a:t>内の</a:t>
            </a:r>
            <a:r>
              <a:rPr lang="ja-JP" altLang="en-US" sz="2800" u="sng">
                <a:latin typeface="GenEi Gothic P" panose="020B0500000000000000" pitchFamily="34" charset="-128"/>
                <a:ea typeface="GenEi Gothic P" panose="020B0500000000000000" pitchFamily="34" charset="-128"/>
              </a:rPr>
              <a:t>画面</a:t>
            </a:r>
            <a:r>
              <a:rPr kumimoji="1" lang="ja-JP" altLang="en-US" sz="2800" u="sng">
                <a:latin typeface="GenEi Gothic P" panose="020B0500000000000000" pitchFamily="34" charset="-128"/>
                <a:ea typeface="GenEi Gothic P" panose="020B0500000000000000" pitchFamily="34" charset="-128"/>
              </a:rPr>
              <a:t>に</a:t>
            </a:r>
            <a:r>
              <a:rPr kumimoji="1" lang="ja-JP" altLang="en-US" sz="2800" u="sng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対応する</a:t>
            </a:r>
            <a:r>
              <a:rPr kumimoji="1" lang="ja-JP" altLang="en-US" sz="2800" u="sng">
                <a:latin typeface="GenEi Gothic P" panose="020B0500000000000000" pitchFamily="34" charset="-128"/>
                <a:ea typeface="GenEi Gothic P" panose="020B0500000000000000" pitchFamily="34" charset="-128"/>
              </a:rPr>
              <a:t>書き方に直す</a:t>
            </a:r>
            <a:r>
              <a:rPr kumimoji="1" lang="ja-JP" altLang="en-US" sz="2800" u="sng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必要がある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88467" y="2811961"/>
            <a:ext cx="9974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&lt;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今まで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&gt;</a:t>
            </a:r>
          </a:p>
          <a:p>
            <a:r>
              <a:rPr lang="ja-JP" altLang="en-US" sz="2400">
                <a:solidFill>
                  <a:srgbClr val="FFC00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　　</a:t>
            </a:r>
            <a:r>
              <a:rPr kumimoji="1" lang="ja-JP" altLang="en-US" sz="2400">
                <a:solidFill>
                  <a:schemeClr val="accent2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オブジェクト名</a:t>
            </a:r>
            <a:r>
              <a:rPr kumimoji="1" lang="en-US" altLang="ja-JP" sz="2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ja-JP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addEventListener</a:t>
            </a:r>
            <a:r>
              <a:rPr kumimoji="1" lang="en-US" altLang="ja-JP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イベント名</a:t>
            </a:r>
            <a:r>
              <a:rPr kumimoji="1"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', </a:t>
            </a:r>
            <a:r>
              <a:rPr kumimoji="1" lang="ja-JP" altLang="en-US" sz="2400">
                <a:solidFill>
                  <a:srgbClr val="00B0F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ハンドラー</a:t>
            </a:r>
            <a:r>
              <a:rPr kumimoji="1" lang="en-US" altLang="ja-JP" sz="2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88467" y="4057138"/>
            <a:ext cx="10165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&lt;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これから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&gt;</a:t>
            </a:r>
          </a:p>
          <a:p>
            <a:r>
              <a:rPr lang="ja-JP" altLang="en-US" sz="2400">
                <a:solidFill>
                  <a:schemeClr val="accent4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　　</a:t>
            </a:r>
            <a:r>
              <a:rPr kumimoji="1" lang="en-US" altLang="ja-JP" sz="24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kintone.events.on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kumimoji="1" lang="en-US" altLang="ja-JP" sz="2400" dirty="0" err="1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kintone</a:t>
            </a:r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のイベント名</a:t>
            </a:r>
            <a:r>
              <a:rPr kumimoji="1"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,</a:t>
            </a:r>
            <a:r>
              <a:rPr kumimoji="1"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 </a:t>
            </a:r>
            <a:r>
              <a:rPr kumimoji="1" lang="ja-JP" altLang="en-US" sz="2400">
                <a:solidFill>
                  <a:srgbClr val="00B0F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ハンドラー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kumimoji="1" lang="en-US" altLang="ja-JP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kumimoji="1" lang="ja-JP" altLang="en-US" sz="2400" dirty="0"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</p:txBody>
      </p:sp>
      <p:sp>
        <p:nvSpPr>
          <p:cNvPr id="11" name="フレーム 10"/>
          <p:cNvSpPr/>
          <p:nvPr/>
        </p:nvSpPr>
        <p:spPr>
          <a:xfrm>
            <a:off x="1074346" y="1855554"/>
            <a:ext cx="10088887" cy="3415089"/>
          </a:xfrm>
          <a:prstGeom prst="frame">
            <a:avLst>
              <a:gd name="adj1" fmla="val 229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E71BE5-D414-4043-8B68-494D07094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2921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7835BE-E7A8-45CF-9C28-D9B57D35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kintone</a:t>
            </a:r>
            <a:r>
              <a:rPr lang="en-US" altLang="ja-JP" dirty="0"/>
              <a:t> JavaScript </a:t>
            </a:r>
            <a:r>
              <a:rPr lang="ja-JP" altLang="en-US" dirty="0"/>
              <a:t>イベント例①</a:t>
            </a:r>
            <a:endParaRPr kumimoji="1"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852C2DC3-319E-4404-BF9A-CB7D52EB14BF}"/>
              </a:ext>
            </a:extLst>
          </p:cNvPr>
          <p:cNvSpPr txBox="1">
            <a:spLocks/>
          </p:cNvSpPr>
          <p:nvPr/>
        </p:nvSpPr>
        <p:spPr>
          <a:xfrm>
            <a:off x="980812" y="19535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の一覧画面が表示されたら、</a:t>
            </a: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showMessage</a:t>
            </a: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関数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実行する。</a:t>
            </a:r>
            <a:endParaRPr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9951E2-EFF5-4409-BAE2-FCAAFB62237D}"/>
              </a:ext>
            </a:extLst>
          </p:cNvPr>
          <p:cNvSpPr txBox="1"/>
          <p:nvPr/>
        </p:nvSpPr>
        <p:spPr>
          <a:xfrm>
            <a:off x="2143224" y="5345743"/>
            <a:ext cx="4957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 の</a:t>
            </a:r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レコード一覧</a:t>
            </a:r>
            <a:r>
              <a:rPr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画面</a:t>
            </a:r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が</a:t>
            </a:r>
            <a:endParaRPr kumimoji="1" lang="en-US" altLang="ja-JP" sz="2400" dirty="0">
              <a:solidFill>
                <a:srgbClr val="00B050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開いた時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に発火するイベント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072831" y="3336456"/>
            <a:ext cx="6653103" cy="160043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sz="1600" dirty="0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1600" dirty="0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1600" dirty="0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</a:p>
          <a:p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</a:p>
          <a:p>
            <a:endParaRPr kumimoji="1" lang="en-US" altLang="ja-JP" sz="16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16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16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1600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app.record.index.show</a:t>
            </a:r>
            <a:r>
              <a:rPr kumimoji="1" lang="en-US" altLang="ja-JP" sz="16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sz="1600" dirty="0" err="1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16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説明</a:t>
            </a: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946" y="2522510"/>
            <a:ext cx="3491466" cy="2679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7350F6C-6626-4F5B-806E-3F97E3571563}"/>
              </a:ext>
            </a:extLst>
          </p:cNvPr>
          <p:cNvCxnSpPr/>
          <p:nvPr/>
        </p:nvCxnSpPr>
        <p:spPr>
          <a:xfrm flipH="1" flipV="1">
            <a:off x="3845717" y="4813978"/>
            <a:ext cx="260118" cy="493128"/>
          </a:xfrm>
          <a:prstGeom prst="straightConnector1">
            <a:avLst/>
          </a:prstGeom>
          <a:ln w="603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568897" y="2147735"/>
            <a:ext cx="247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レコード一覧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画面</a:t>
            </a:r>
            <a:endParaRPr kumimoji="1"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2F8204-E773-0449-A82C-034DF0570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1992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7835BE-E7A8-45CF-9C28-D9B57D35D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kintone</a:t>
            </a:r>
            <a:r>
              <a:rPr lang="en-US" altLang="ja-JP" dirty="0"/>
              <a:t> JavaScript </a:t>
            </a:r>
            <a:r>
              <a:rPr lang="ja-JP" altLang="en-US"/>
              <a:t>イベント例②</a:t>
            </a:r>
            <a:endParaRPr kumimoji="1" lang="ja-JP" altLang="en-US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852C2DC3-319E-4404-BF9A-CB7D52EB14BF}"/>
              </a:ext>
            </a:extLst>
          </p:cNvPr>
          <p:cNvSpPr txBox="1">
            <a:spLocks/>
          </p:cNvSpPr>
          <p:nvPr/>
        </p:nvSpPr>
        <p:spPr>
          <a:xfrm>
            <a:off x="980812" y="19535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レコードの詳細画面が表示されたら、</a:t>
            </a: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showMessage</a:t>
            </a: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関数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実行する。</a:t>
            </a:r>
            <a:endParaRPr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9951E2-EFF5-4409-BAE2-FCAAFB62237D}"/>
              </a:ext>
            </a:extLst>
          </p:cNvPr>
          <p:cNvSpPr txBox="1"/>
          <p:nvPr/>
        </p:nvSpPr>
        <p:spPr>
          <a:xfrm>
            <a:off x="2010414" y="5405932"/>
            <a:ext cx="5202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の</a:t>
            </a:r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レコード詳細</a:t>
            </a:r>
            <a:r>
              <a:rPr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画面</a:t>
            </a:r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が</a:t>
            </a:r>
          </a:p>
          <a:p>
            <a:r>
              <a:rPr kumimoji="1"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開いた時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に発火するイベント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072831" y="3336456"/>
            <a:ext cx="6765314" cy="160043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sz="1600" dirty="0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1600" dirty="0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1600" dirty="0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alert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</a:p>
          <a:p>
            <a:r>
              <a:rPr lang="ja-JP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</a:p>
          <a:p>
            <a:endParaRPr kumimoji="1" lang="en-US" altLang="ja-JP" sz="16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16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16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app.record.detail.show</a:t>
            </a:r>
            <a:r>
              <a:rPr kumimoji="1" lang="en-US" altLang="ja-JP" sz="16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sz="1600" dirty="0" err="1">
                <a:solidFill>
                  <a:schemeClr val="accent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16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+mj-ea"/>
                <a:ea typeface="+mj-ea"/>
              </a:rPr>
              <a:t>説明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7350F6C-6626-4F5B-806E-3F97E3571563}"/>
              </a:ext>
            </a:extLst>
          </p:cNvPr>
          <p:cNvCxnSpPr/>
          <p:nvPr/>
        </p:nvCxnSpPr>
        <p:spPr>
          <a:xfrm flipH="1" flipV="1">
            <a:off x="3845717" y="4813978"/>
            <a:ext cx="260118" cy="493128"/>
          </a:xfrm>
          <a:prstGeom prst="straightConnector1">
            <a:avLst/>
          </a:prstGeom>
          <a:ln w="603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568897" y="2147735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レコード詳細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画面</a:t>
            </a:r>
            <a:endParaRPr kumimoji="1" lang="ja-JP" altLang="en-US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13" name="図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736" y="2504188"/>
            <a:ext cx="3348854" cy="2776972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C9F793-620E-B84C-9AB1-79EE39D0B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927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他の </a:t>
            </a:r>
            <a:r>
              <a:rPr kumimoji="1" lang="en-US" altLang="ja-JP" dirty="0" err="1"/>
              <a:t>kintone</a:t>
            </a:r>
            <a:r>
              <a:rPr kumimoji="1" lang="en-US" altLang="ja-JP" dirty="0"/>
              <a:t> </a:t>
            </a:r>
            <a:r>
              <a:rPr kumimoji="1" lang="ja-JP" altLang="en-US"/>
              <a:t>専用</a:t>
            </a:r>
            <a:r>
              <a:rPr kumimoji="1" lang="ja-JP" altLang="en-US" dirty="0"/>
              <a:t>のイベントの一覧</a:t>
            </a:r>
          </a:p>
        </p:txBody>
      </p:sp>
      <p:pic>
        <p:nvPicPr>
          <p:cNvPr id="6" name="コンテンツ プレースホルダー 5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249" y="2038058"/>
            <a:ext cx="6253163" cy="4049712"/>
          </a:xfr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latin typeface="+mj-ea"/>
                <a:ea typeface="+mj-ea"/>
              </a:rPr>
              <a:t>説明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838200" y="1608697"/>
            <a:ext cx="10706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cybozu</a:t>
            </a:r>
            <a:r>
              <a:rPr lang="en-US" altLang="ja-JP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developer network </a:t>
            </a:r>
            <a:r>
              <a:rPr lang="ja-JP" altLang="en-US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でどのようなイベントが存在するのかを確認が</a:t>
            </a:r>
            <a:r>
              <a:rPr lang="ja-JP" altLang="en-US" sz="2000">
                <a:latin typeface="GenEi Gothic P" panose="020B0500000000000000" pitchFamily="34" charset="-128"/>
                <a:ea typeface="GenEi Gothic P" panose="020B0500000000000000" pitchFamily="34" charset="-128"/>
              </a:rPr>
              <a:t>できます！</a:t>
            </a:r>
            <a:endParaRPr lang="en-US" altLang="ja-JP" sz="20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7" name="フレーム 6"/>
          <p:cNvSpPr/>
          <p:nvPr/>
        </p:nvSpPr>
        <p:spPr>
          <a:xfrm>
            <a:off x="2997077" y="2563946"/>
            <a:ext cx="1046702" cy="3503748"/>
          </a:xfrm>
          <a:prstGeom prst="frame">
            <a:avLst>
              <a:gd name="adj1" fmla="val 2296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フレーム 7"/>
          <p:cNvSpPr/>
          <p:nvPr/>
        </p:nvSpPr>
        <p:spPr>
          <a:xfrm>
            <a:off x="4202105" y="2549916"/>
            <a:ext cx="1639613" cy="3517777"/>
          </a:xfrm>
          <a:prstGeom prst="frame">
            <a:avLst>
              <a:gd name="adj1" fmla="val 1669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フレーム 8"/>
          <p:cNvSpPr/>
          <p:nvPr/>
        </p:nvSpPr>
        <p:spPr>
          <a:xfrm>
            <a:off x="6035958" y="2563945"/>
            <a:ext cx="2313385" cy="3503747"/>
          </a:xfrm>
          <a:prstGeom prst="frame">
            <a:avLst>
              <a:gd name="adj1" fmla="val 1338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935871" y="2308731"/>
            <a:ext cx="1716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</a:t>
            </a:r>
            <a:r>
              <a:rPr lang="ja-JP" altLang="en-US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kumimoji="1" lang="ja-JP" altLang="en-US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設定できる</a:t>
            </a:r>
            <a:r>
              <a:rPr lang="ja-JP" altLang="en-US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画面</a:t>
            </a:r>
            <a:endParaRPr kumimoji="1" lang="ja-JP" altLang="en-US" dirty="0">
              <a:solidFill>
                <a:srgbClr val="00B050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71475" y="5157973"/>
            <a:ext cx="245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イベントのタイミング</a:t>
            </a:r>
            <a:endParaRPr kumimoji="1" lang="ja-JP" altLang="en-US" dirty="0">
              <a:solidFill>
                <a:srgbClr val="00B050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9575187" y="2326888"/>
            <a:ext cx="132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イベント名</a:t>
            </a:r>
          </a:p>
        </p:txBody>
      </p:sp>
      <p:cxnSp>
        <p:nvCxnSpPr>
          <p:cNvPr id="13" name="直線コネクタ 12"/>
          <p:cNvCxnSpPr>
            <a:endCxn id="3" idx="3"/>
          </p:cNvCxnSpPr>
          <p:nvPr/>
        </p:nvCxnSpPr>
        <p:spPr>
          <a:xfrm flipH="1" flipV="1">
            <a:off x="2652075" y="2631897"/>
            <a:ext cx="353886" cy="31271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cxnSpLocks/>
            <a:endCxn id="10" idx="3"/>
          </p:cNvCxnSpPr>
          <p:nvPr/>
        </p:nvCxnSpPr>
        <p:spPr>
          <a:xfrm flipH="1">
            <a:off x="2826906" y="4777785"/>
            <a:ext cx="1375200" cy="56485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>
            <a:stCxn id="11" idx="1"/>
          </p:cNvCxnSpPr>
          <p:nvPr/>
        </p:nvCxnSpPr>
        <p:spPr>
          <a:xfrm flipH="1">
            <a:off x="8349343" y="2511554"/>
            <a:ext cx="1225844" cy="83009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/>
          <p:cNvSpPr/>
          <p:nvPr/>
        </p:nvSpPr>
        <p:spPr>
          <a:xfrm>
            <a:off x="3005961" y="200085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JavaScript API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一覧</a:t>
            </a: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3083872" y="607228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  <a:hlinkClick r:id="rId4"/>
              </a:rPr>
              <a:t>https://developer.cybozu.io/hc/ja/articles/360000361686</a:t>
            </a:r>
            <a:endParaRPr lang="en-US" altLang="ja-JP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endParaRPr lang="en-US" altLang="ja-JP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endParaRPr lang="en-US" altLang="ja-JP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endParaRPr lang="en-US" altLang="ja-JP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E2704E60-4BB2-2540-9A0D-98C3E2ABC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0395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3" grpId="0"/>
      <p:bldP spid="10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12A45-56C1-4392-A49A-088967BCE6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89011"/>
            <a:ext cx="10515600" cy="1325563"/>
          </a:xfrm>
        </p:spPr>
        <p:txBody>
          <a:bodyPr/>
          <a:lstStyle/>
          <a:p>
            <a:r>
              <a:rPr kumimoji="1" lang="ja-JP" altLang="en-US"/>
              <a:t>ハンズオンします</a:t>
            </a:r>
            <a:r>
              <a:rPr kumimoji="1" lang="ja-JP" altLang="en-US" dirty="0"/>
              <a:t>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69A0CC2-97B6-4C12-B395-D3CA434D919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384" y="2528888"/>
            <a:ext cx="1649412" cy="1325562"/>
          </a:xfrm>
        </p:spPr>
      </p:pic>
      <p:pic>
        <p:nvPicPr>
          <p:cNvPr id="8" name="コンテンツ プレースホルダー 4">
            <a:extLst>
              <a:ext uri="{FF2B5EF4-FFF2-40B4-BE49-F238E27FC236}">
                <a16:creationId xmlns:a16="http://schemas.microsoft.com/office/drawing/2014/main" id="{6C5A7A74-FF9C-4699-8D3F-C668362C0A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521" y="3099666"/>
            <a:ext cx="1649224" cy="1325564"/>
          </a:xfrm>
          <a:prstGeom prst="rect">
            <a:avLst/>
          </a:prstGeom>
        </p:spPr>
      </p:pic>
      <p:pic>
        <p:nvPicPr>
          <p:cNvPr id="9" name="コンテンツ プレースホルダー 4">
            <a:extLst>
              <a:ext uri="{FF2B5EF4-FFF2-40B4-BE49-F238E27FC236}">
                <a16:creationId xmlns:a16="http://schemas.microsoft.com/office/drawing/2014/main" id="{82D45BAA-36A2-472C-8BDE-B819A9E023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921" y="3671166"/>
            <a:ext cx="1649224" cy="1325564"/>
          </a:xfrm>
          <a:prstGeom prst="rect">
            <a:avLst/>
          </a:prstGeom>
        </p:spPr>
      </p:pic>
      <p:pic>
        <p:nvPicPr>
          <p:cNvPr id="10" name="コンテンツ プレースホルダー 4">
            <a:extLst>
              <a:ext uri="{FF2B5EF4-FFF2-40B4-BE49-F238E27FC236}">
                <a16:creationId xmlns:a16="http://schemas.microsoft.com/office/drawing/2014/main" id="{EC5B93CA-D1EB-4FCD-9536-D77B40EFDD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372" y="3190948"/>
            <a:ext cx="1649224" cy="1325564"/>
          </a:xfrm>
          <a:prstGeom prst="rect">
            <a:avLst/>
          </a:prstGeom>
        </p:spPr>
      </p:pic>
      <p:pic>
        <p:nvPicPr>
          <p:cNvPr id="11" name="コンテンツ プレースホルダー 4">
            <a:extLst>
              <a:ext uri="{FF2B5EF4-FFF2-40B4-BE49-F238E27FC236}">
                <a16:creationId xmlns:a16="http://schemas.microsoft.com/office/drawing/2014/main" id="{B8B757BC-C689-431D-ACAE-DFB618B151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218" y="3762448"/>
            <a:ext cx="1649224" cy="1325564"/>
          </a:xfrm>
          <a:prstGeom prst="rect">
            <a:avLst/>
          </a:prstGeom>
        </p:spPr>
      </p:pic>
      <p:pic>
        <p:nvPicPr>
          <p:cNvPr id="12" name="コンテンツ プレースホルダー 4">
            <a:extLst>
              <a:ext uri="{FF2B5EF4-FFF2-40B4-BE49-F238E27FC236}">
                <a16:creationId xmlns:a16="http://schemas.microsoft.com/office/drawing/2014/main" id="{8079AA45-B22F-4599-9CF7-639B36E559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145" y="4350613"/>
            <a:ext cx="1649224" cy="1325564"/>
          </a:xfrm>
          <a:prstGeom prst="rect">
            <a:avLst/>
          </a:prstGeom>
        </p:spPr>
      </p:pic>
      <p:pic>
        <p:nvPicPr>
          <p:cNvPr id="15" name="Picture 2" descr="https://3.bp.blogspot.com/-Sfnr59bSe0M/VuIN_AvpqMI/AAAAAAAA4uY/81t-5A8UtFotGgw6TNTZauvW3ol5QnbIg/s800/school_sensei_kokuban_woman.png">
            <a:extLst>
              <a:ext uri="{FF2B5EF4-FFF2-40B4-BE49-F238E27FC236}">
                <a16:creationId xmlns:a16="http://schemas.microsoft.com/office/drawing/2014/main" id="{A72BA59E-D754-4EBB-A204-06D9FBB4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60" y="2528166"/>
            <a:ext cx="4292035" cy="32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2">
            <a:extLst>
              <a:ext uri="{FF2B5EF4-FFF2-40B4-BE49-F238E27FC236}">
                <a16:creationId xmlns:a16="http://schemas.microsoft.com/office/drawing/2014/main" id="{61F3F766-9FFA-4B01-8089-D00EC7D32AB4}"/>
              </a:ext>
            </a:extLst>
          </p:cNvPr>
          <p:cNvSpPr txBox="1"/>
          <p:nvPr/>
        </p:nvSpPr>
        <p:spPr>
          <a:xfrm>
            <a:off x="1191909" y="3352316"/>
            <a:ext cx="27414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function 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addTax</a:t>
            </a:r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(price) {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	for (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var</a:t>
            </a:r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 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i</a:t>
            </a:r>
            <a:r>
              <a:rPr kumimoji="1" lang="en-US" altLang="ja-JP" sz="2000" dirty="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 = 0; </a:t>
            </a:r>
            <a:r>
              <a:rPr kumimoji="1" lang="en-US" altLang="ja-JP" sz="2000" dirty="0" err="1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i</a:t>
            </a:r>
            <a:endParaRPr kumimoji="1" lang="ja-JP" altLang="en-US" sz="2000" dirty="0">
              <a:solidFill>
                <a:schemeClr val="bg1"/>
              </a:solidFill>
              <a:latin typeface="ＭＳ Ｐゴシック" panose="020B0600070205080204" pitchFamily="50" charset="-128"/>
              <a:cs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8F9D11-C605-2641-9749-9E93A6E8A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4570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852C2DC3-319E-4404-BF9A-CB7D52EB14BF}"/>
              </a:ext>
            </a:extLst>
          </p:cNvPr>
          <p:cNvSpPr txBox="1">
            <a:spLocks/>
          </p:cNvSpPr>
          <p:nvPr/>
        </p:nvSpPr>
        <p:spPr>
          <a:xfrm>
            <a:off x="838199" y="1604960"/>
            <a:ext cx="10947485" cy="45333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アプリストアから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問い合わせ管理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アプリを追加する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レコード編集画面で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問い合わせ種別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フィールド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のラジオボタンの値が選択されたらイベントが発火するコードをコンソール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に書く</a:t>
            </a: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エンターキーを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押して実行する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問い合わせ種別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のラジオボタンで、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　　何か選択してみる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7835BE-E7A8-45CF-9C28-D9B57D35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9397"/>
            <a:ext cx="13163551" cy="1325563"/>
          </a:xfrm>
        </p:spPr>
        <p:txBody>
          <a:bodyPr>
            <a:normAutofit/>
          </a:bodyPr>
          <a:lstStyle/>
          <a:p>
            <a:r>
              <a:rPr kumimoji="1" lang="en-US" altLang="ja-JP" sz="3600" dirty="0"/>
              <a:t>kintone JavaScript </a:t>
            </a:r>
            <a:r>
              <a:rPr kumimoji="1" lang="ja-JP" altLang="en-US" sz="3600" dirty="0"/>
              <a:t>イベントを活用してみよう！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80264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ハンズオン⑤ 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穴埋め問題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384924" y="3011352"/>
            <a:ext cx="8687764" cy="153040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72000" rIns="182880" bIns="72000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console.log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</a:t>
            </a:r>
            <a:r>
              <a:rPr kumimoji="1" lang="ja-JP" altLang="en-US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　　　　　　　　　　</a:t>
            </a:r>
            <a:r>
              <a:rPr kumimoji="1" lang="ja-JP" altLang="en-US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　</a:t>
            </a:r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,</a:t>
            </a:r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kumimoji="1" lang="en-US" altLang="ja-JP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5386388" y="4203894"/>
            <a:ext cx="2443162" cy="2252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+mj-ea"/>
              <a:ea typeface="+mj-ea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825" y="3084411"/>
            <a:ext cx="1724037" cy="6278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181886" y="2776634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1.『</a:t>
            </a:r>
            <a:r>
              <a:rPr kumimoji="1"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問い合わせ管理</a:t>
            </a:r>
            <a:r>
              <a:rPr kumimoji="1"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endParaRPr kumimoji="1" lang="ja-JP" altLang="en-US" sz="1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772275" y="5110163"/>
            <a:ext cx="5281765" cy="10319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b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問い合わせ種別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のフィールドコードは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QType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です</a:t>
            </a:r>
            <a:endParaRPr lang="en-US" altLang="ja-JP" sz="1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イベントについては、下記</a:t>
            </a:r>
            <a:r>
              <a:rPr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のページを</a:t>
            </a:r>
            <a:r>
              <a:rPr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確認しましょう</a:t>
            </a:r>
            <a:endParaRPr lang="en-US" altLang="ja-JP" sz="1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lvl="1"/>
            <a:r>
              <a:rPr lang="ja-JP" altLang="en-US" sz="1400">
                <a:latin typeface="GenEi Gothic P" panose="020B0500000000000000" pitchFamily="34" charset="-128"/>
                <a:ea typeface="GenEi Gothic P" panose="020B0500000000000000" pitchFamily="34" charset="-128"/>
              </a:rPr>
              <a:t>▼ </a:t>
            </a:r>
            <a:r>
              <a:rPr lang="en-US" altLang="ja-JP" sz="14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JavaScript API</a:t>
            </a:r>
            <a:r>
              <a:rPr lang="ja-JP" altLang="en-US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一覧</a:t>
            </a:r>
            <a:r>
              <a:rPr lang="en-US" altLang="ja-JP" sz="1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: </a:t>
            </a:r>
            <a:r>
              <a:rPr lang="ja-JP" altLang="en-US" sz="1200" dirty="0">
                <a:latin typeface="GenEi Gothic P" panose="020B0500000000000000" pitchFamily="34" charset="-128"/>
                <a:ea typeface="GenEi Gothic P" panose="020B0500000000000000" pitchFamily="34" charset="-128"/>
                <a:hlinkClick r:id="rId3"/>
              </a:rPr>
              <a:t>https://developer.cybozu.io/hc/ja/articles</a:t>
            </a:r>
            <a:r>
              <a:rPr lang="ja-JP" altLang="en-US" sz="1200">
                <a:latin typeface="GenEi Gothic P" panose="020B0500000000000000" pitchFamily="34" charset="-128"/>
                <a:ea typeface="GenEi Gothic P" panose="020B0500000000000000" pitchFamily="34" charset="-128"/>
                <a:hlinkClick r:id="rId3"/>
              </a:rPr>
              <a:t>/360000361686</a:t>
            </a:r>
            <a:endParaRPr lang="en-US" altLang="ja-JP" sz="12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69976F4-B632-1648-B327-61C8BBABC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550" y="4626977"/>
            <a:ext cx="606681" cy="798265"/>
          </a:xfrm>
          <a:prstGeom prst="rect">
            <a:avLst/>
          </a:prstGeom>
        </p:spPr>
      </p:pic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4B980C32-8546-704D-B4EE-65FB01A04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8319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852C2DC3-319E-4404-BF9A-CB7D52EB14BF}"/>
              </a:ext>
            </a:extLst>
          </p:cNvPr>
          <p:cNvSpPr txBox="1">
            <a:spLocks/>
          </p:cNvSpPr>
          <p:nvPr/>
        </p:nvSpPr>
        <p:spPr>
          <a:xfrm>
            <a:off x="1922183" y="4394470"/>
            <a:ext cx="8509288" cy="939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編集画面で、特定のフィールドの値が変更される時の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イベントは　</a:t>
            </a:r>
            <a:r>
              <a:rPr lang="en-US" altLang="ja-JP" sz="2400" dirty="0" err="1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app.record.edit.change</a:t>
            </a:r>
            <a:r>
              <a:rPr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.&lt;</a:t>
            </a:r>
            <a:r>
              <a:rPr lang="ja-JP" altLang="en-US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フィールドコード</a:t>
            </a:r>
            <a:r>
              <a:rPr lang="en-US" altLang="ja-JP" sz="24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&gt;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　です。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80264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ハンズオン⑤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答え合わせ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576743" y="1758053"/>
            <a:ext cx="11038514" cy="22159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</a:t>
            </a:r>
            <a:r>
              <a:rPr lang="ja-JP" altLang="en-US" sz="240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ja-JP" altLang="en-US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 {</a:t>
            </a:r>
            <a:endParaRPr lang="en-US" altLang="ja-JP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sz="24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console.log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lang="en-US" altLang="ja-JP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sz="24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4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2400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app.record.</a:t>
            </a:r>
            <a:r>
              <a:rPr kumimoji="1" lang="en-US" altLang="ja-JP" sz="2400" b="1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edit.change.QType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sz="24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7EF3815-A4F4-4D57-8812-1876178F286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316951" y="2958515"/>
            <a:ext cx="502038" cy="40914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6888011" y="2589183"/>
            <a:ext cx="3861955" cy="369332"/>
          </a:xfrm>
          <a:prstGeom prst="rect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kumimoji="1" lang="ja-JP" altLang="en-US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問い合わせ種別</a:t>
            </a:r>
            <a:r>
              <a:rPr kumimoji="1" lang="en-US" altLang="ja-JP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kumimoji="1" lang="ja-JP" altLang="en-US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のフィールドコード</a:t>
            </a:r>
          </a:p>
        </p:txBody>
      </p:sp>
      <p:sp>
        <p:nvSpPr>
          <p:cNvPr id="3" name="角丸四角形 2"/>
          <p:cNvSpPr/>
          <p:nvPr/>
        </p:nvSpPr>
        <p:spPr>
          <a:xfrm>
            <a:off x="7813993" y="3420314"/>
            <a:ext cx="867670" cy="316673"/>
          </a:xfrm>
          <a:prstGeom prst="round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FDDD6C-0CB2-ED4F-9ADD-A6E6F263F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153397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56F70C-38BE-4362-BE6B-D2754B3F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+mj-ea"/>
              </a:rPr>
              <a:t>イベントオブジェクト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86FAAB-D6F5-4C5F-836D-05E56CF33B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0219" y="1830970"/>
            <a:ext cx="10515600" cy="1076325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関数に引数を設定すると、イベント発生時に</a:t>
            </a:r>
            <a:r>
              <a:rPr kumimoji="1" lang="en-US" altLang="ja-JP" dirty="0"/>
              <a:t>『</a:t>
            </a:r>
            <a:r>
              <a:rPr kumimoji="1" lang="ja-JP" altLang="en-US" dirty="0"/>
              <a:t>イベントオブジェクト</a:t>
            </a:r>
            <a:r>
              <a:rPr kumimoji="1" lang="en-US" altLang="ja-JP" dirty="0"/>
              <a:t>』</a:t>
            </a:r>
            <a:r>
              <a:rPr kumimoji="1" lang="ja-JP" altLang="en-US" dirty="0"/>
              <a:t>が関数内</a:t>
            </a:r>
            <a:r>
              <a:rPr kumimoji="1" lang="ja-JP" altLang="en-US"/>
              <a:t>に渡されます。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E4B85E-45D2-4F3E-8098-47432D2E9F6A}"/>
              </a:ext>
            </a:extLst>
          </p:cNvPr>
          <p:cNvSpPr/>
          <p:nvPr/>
        </p:nvSpPr>
        <p:spPr>
          <a:xfrm>
            <a:off x="875393" y="3146411"/>
            <a:ext cx="4592863" cy="92333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() {</a:t>
            </a:r>
          </a:p>
          <a:p>
            <a:r>
              <a:rPr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console.log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dirty="0"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9BF4F50-920D-4489-AAF1-D05A36F80110}"/>
              </a:ext>
            </a:extLst>
          </p:cNvPr>
          <p:cNvSpPr/>
          <p:nvPr/>
        </p:nvSpPr>
        <p:spPr>
          <a:xfrm>
            <a:off x="6744606" y="3159517"/>
            <a:ext cx="4864100" cy="120032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 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eventobject</a:t>
            </a:r>
            <a:r>
              <a:rPr lang="ja-JP" altLang="en-US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 {</a:t>
            </a:r>
            <a:endParaRPr lang="ja-JP" altLang="en-US" dirty="0"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console.log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lang="ja-JP" altLang="en-US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hello world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ja-JP" altLang="en-US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  <a:p>
            <a:r>
              <a:rPr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dirty="0" err="1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console.log</a:t>
            </a:r>
            <a:r>
              <a:rPr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eventobject</a:t>
            </a:r>
            <a:r>
              <a:rPr lang="en-US" altLang="ja-JP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endParaRPr lang="ja-JP" altLang="en-US" dirty="0"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7BF2C8FF-8BF2-4596-AEA5-130552AE9945}"/>
              </a:ext>
            </a:extLst>
          </p:cNvPr>
          <p:cNvSpPr/>
          <p:nvPr/>
        </p:nvSpPr>
        <p:spPr>
          <a:xfrm>
            <a:off x="5714999" y="3492982"/>
            <a:ext cx="838200" cy="3429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4D073F-AAB1-4360-909B-9EFDD8B4AFED}"/>
              </a:ext>
            </a:extLst>
          </p:cNvPr>
          <p:cNvSpPr txBox="1"/>
          <p:nvPr/>
        </p:nvSpPr>
        <p:spPr>
          <a:xfrm>
            <a:off x="5595976" y="3146817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書き直す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0420236C-FCED-49E8-8E14-80B8A00786F7}"/>
              </a:ext>
            </a:extLst>
          </p:cNvPr>
          <p:cNvSpPr txBox="1">
            <a:spLocks/>
          </p:cNvSpPr>
          <p:nvPr/>
        </p:nvSpPr>
        <p:spPr>
          <a:xfrm>
            <a:off x="875393" y="4785938"/>
            <a:ext cx="10733313" cy="97260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 sz="24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には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レコードやイベント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の情報など、色々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と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含まれています。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また、関数の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最後に </a:t>
            </a:r>
            <a:r>
              <a:rPr lang="en-US" altLang="ja-JP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return 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する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と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lang="en-US" altLang="ja-JP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kintone 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に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対して</a:t>
            </a:r>
            <a:r>
              <a:rPr lang="ja-JP" altLang="en-US" sz="2400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特殊な処理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が行えます。</a:t>
            </a:r>
            <a:endParaRPr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説明</a:t>
            </a: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3C1B5D52-6FB2-594F-9161-111C8F58A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49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067159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12A45-56C1-4392-A49A-088967BCE6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80748"/>
            <a:ext cx="10515600" cy="1325563"/>
          </a:xfrm>
        </p:spPr>
        <p:txBody>
          <a:bodyPr/>
          <a:lstStyle/>
          <a:p>
            <a:r>
              <a:rPr kumimoji="1" lang="ja-JP" altLang="en-US"/>
              <a:t>ハンズオンします</a:t>
            </a:r>
            <a:r>
              <a:rPr kumimoji="1" lang="ja-JP" altLang="en-US" dirty="0"/>
              <a:t>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69A0CC2-97B6-4C12-B395-D3CA434D919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588" y="2528888"/>
            <a:ext cx="1649412" cy="1325562"/>
          </a:xfrm>
        </p:spPr>
      </p:pic>
      <p:pic>
        <p:nvPicPr>
          <p:cNvPr id="8" name="コンテンツ プレースホルダー 4">
            <a:extLst>
              <a:ext uri="{FF2B5EF4-FFF2-40B4-BE49-F238E27FC236}">
                <a16:creationId xmlns:a16="http://schemas.microsoft.com/office/drawing/2014/main" id="{6C5A7A74-FF9C-4699-8D3F-C668362C0A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725" y="3099666"/>
            <a:ext cx="1649224" cy="1325564"/>
          </a:xfrm>
          <a:prstGeom prst="rect">
            <a:avLst/>
          </a:prstGeom>
        </p:spPr>
      </p:pic>
      <p:pic>
        <p:nvPicPr>
          <p:cNvPr id="9" name="コンテンツ プレースホルダー 4">
            <a:extLst>
              <a:ext uri="{FF2B5EF4-FFF2-40B4-BE49-F238E27FC236}">
                <a16:creationId xmlns:a16="http://schemas.microsoft.com/office/drawing/2014/main" id="{82D45BAA-36A2-472C-8BDE-B819A9E023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125" y="3671166"/>
            <a:ext cx="1649224" cy="1325564"/>
          </a:xfrm>
          <a:prstGeom prst="rect">
            <a:avLst/>
          </a:prstGeom>
        </p:spPr>
      </p:pic>
      <p:pic>
        <p:nvPicPr>
          <p:cNvPr id="10" name="コンテンツ プレースホルダー 4">
            <a:extLst>
              <a:ext uri="{FF2B5EF4-FFF2-40B4-BE49-F238E27FC236}">
                <a16:creationId xmlns:a16="http://schemas.microsoft.com/office/drawing/2014/main" id="{EC5B93CA-D1EB-4FCD-9536-D77B40EFDD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576" y="3190948"/>
            <a:ext cx="1649224" cy="1325564"/>
          </a:xfrm>
          <a:prstGeom prst="rect">
            <a:avLst/>
          </a:prstGeom>
        </p:spPr>
      </p:pic>
      <p:pic>
        <p:nvPicPr>
          <p:cNvPr id="11" name="コンテンツ プレースホルダー 4">
            <a:extLst>
              <a:ext uri="{FF2B5EF4-FFF2-40B4-BE49-F238E27FC236}">
                <a16:creationId xmlns:a16="http://schemas.microsoft.com/office/drawing/2014/main" id="{B8B757BC-C689-431D-ACAE-DFB618B151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422" y="3762448"/>
            <a:ext cx="1649224" cy="1325564"/>
          </a:xfrm>
          <a:prstGeom prst="rect">
            <a:avLst/>
          </a:prstGeom>
        </p:spPr>
      </p:pic>
      <p:pic>
        <p:nvPicPr>
          <p:cNvPr id="12" name="コンテンツ プレースホルダー 4">
            <a:extLst>
              <a:ext uri="{FF2B5EF4-FFF2-40B4-BE49-F238E27FC236}">
                <a16:creationId xmlns:a16="http://schemas.microsoft.com/office/drawing/2014/main" id="{8079AA45-B22F-4599-9CF7-639B36E559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49" y="4350613"/>
            <a:ext cx="1649224" cy="1325564"/>
          </a:xfrm>
          <a:prstGeom prst="rect">
            <a:avLst/>
          </a:prstGeom>
        </p:spPr>
      </p:pic>
      <p:pic>
        <p:nvPicPr>
          <p:cNvPr id="15" name="Picture 2" descr="https://3.bp.blogspot.com/-Sfnr59bSe0M/VuIN_AvpqMI/AAAAAAAA4uY/81t-5A8UtFotGgw6TNTZauvW3ol5QnbIg/s800/school_sensei_kokuban_woman.png">
            <a:extLst>
              <a:ext uri="{FF2B5EF4-FFF2-40B4-BE49-F238E27FC236}">
                <a16:creationId xmlns:a16="http://schemas.microsoft.com/office/drawing/2014/main" id="{A72BA59E-D754-4EBB-A204-06D9FBB4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764" y="2528166"/>
            <a:ext cx="4292035" cy="32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2">
            <a:extLst>
              <a:ext uri="{FF2B5EF4-FFF2-40B4-BE49-F238E27FC236}">
                <a16:creationId xmlns:a16="http://schemas.microsoft.com/office/drawing/2014/main" id="{61F3F766-9FFA-4B01-8089-D00EC7D32AB4}"/>
              </a:ext>
            </a:extLst>
          </p:cNvPr>
          <p:cNvSpPr txBox="1"/>
          <p:nvPr/>
        </p:nvSpPr>
        <p:spPr>
          <a:xfrm>
            <a:off x="1649113" y="3352316"/>
            <a:ext cx="27414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function addTax(price) {</a:t>
            </a:r>
          </a:p>
          <a:p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	for (var i = 0; i</a:t>
            </a:r>
            <a:endParaRPr kumimoji="1" lang="ja-JP" altLang="en-US" sz="2000" dirty="0">
              <a:solidFill>
                <a:schemeClr val="bg1"/>
              </a:solidFill>
              <a:latin typeface="ＭＳ Ｐゴシック" panose="020B0600070205080204" pitchFamily="50" charset="-128"/>
              <a:cs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C771AD-3106-CE40-8A2F-0BA4425DB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57390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AC55C-DF44-40F0-9ED1-62E9F14C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イベントオブジェクトの中身を見てみよう！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D69FA49B-741A-42CD-81C6-8A7F2913A828}"/>
              </a:ext>
            </a:extLst>
          </p:cNvPr>
          <p:cNvSpPr txBox="1">
            <a:spLocks/>
          </p:cNvSpPr>
          <p:nvPr/>
        </p:nvSpPr>
        <p:spPr>
          <a:xfrm>
            <a:off x="1015661" y="1822108"/>
            <a:ext cx="10838881" cy="45278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ハンズオン⑤で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作成した</a:t>
            </a: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問い合わせ管理</a:t>
            </a: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アプリ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を開く</a:t>
            </a: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レコードの詳細画面を開き、編集ボタンをクリックする</a:t>
            </a: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下記のコードをコンソールで実行する</a:t>
            </a:r>
            <a:b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問い合わせ種別</a:t>
            </a: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>
                <a:latin typeface="GenEi Gothic P" panose="020B0500000000000000" pitchFamily="34" charset="-128"/>
                <a:ea typeface="GenEi Gothic P" panose="020B0500000000000000" pitchFamily="34" charset="-128"/>
              </a:rPr>
              <a:t>のラジオボタンで、何</a:t>
            </a:r>
            <a:r>
              <a:rPr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か選択してみる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ハンズオン⑥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546034" y="3577879"/>
            <a:ext cx="9255612" cy="190821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</a:t>
            </a:r>
            <a:r>
              <a:rPr lang="ja-JP" altLang="en-US" sz="200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ja-JP" altLang="en-US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0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00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 </a:t>
            </a:r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console.log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</a:t>
            </a:r>
            <a:r>
              <a:rPr lang="ja-JP" altLang="en-US" sz="20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sz="20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2000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app.record.</a:t>
            </a:r>
            <a:r>
              <a:rPr kumimoji="1" lang="en-US" altLang="ja-JP" sz="2000" b="1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edit.change.QType</a:t>
            </a:r>
            <a:r>
              <a:rPr kumimoji="1" lang="en-US" altLang="ja-JP" sz="20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sz="20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cxnSp>
        <p:nvCxnSpPr>
          <p:cNvPr id="5" name="直線コネクタ 4"/>
          <p:cNvCxnSpPr/>
          <p:nvPr/>
        </p:nvCxnSpPr>
        <p:spPr>
          <a:xfrm>
            <a:off x="4006620" y="4397829"/>
            <a:ext cx="674914" cy="0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5029878" y="4299858"/>
            <a:ext cx="1817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bg1">
                    <a:lumMod val="95000"/>
                  </a:schemeClr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書き換えることを忘れずに</a:t>
            </a:r>
            <a:endParaRPr kumimoji="1" lang="ja-JP" altLang="en-US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cxnSp>
        <p:nvCxnSpPr>
          <p:cNvPr id="11" name="カギ線コネクタ 10"/>
          <p:cNvCxnSpPr/>
          <p:nvPr/>
        </p:nvCxnSpPr>
        <p:spPr>
          <a:xfrm>
            <a:off x="4333191" y="4419600"/>
            <a:ext cx="696687" cy="203423"/>
          </a:xfrm>
          <a:prstGeom prst="bentConnector3">
            <a:avLst>
              <a:gd name="adj1" fmla="val -1562"/>
            </a:avLst>
          </a:prstGeom>
          <a:ln w="38100">
            <a:solidFill>
              <a:schemeClr val="bg1">
                <a:lumMod val="75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86C748-2DC9-8E41-A06F-906671F2F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49488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86C748-2DC9-8E41-A06F-906671F2F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52</a:t>
            </a:fld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0460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ハンズオン⑥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コード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582161" y="1543596"/>
            <a:ext cx="11027677" cy="22159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</a:t>
            </a:r>
            <a:r>
              <a:rPr lang="ja-JP" altLang="en-US" sz="240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ja-JP" altLang="en-US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40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 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sz="24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console.log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  <a:endParaRPr lang="ja-JP" altLang="en-US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  <a:endParaRPr kumimoji="1" lang="en-US" altLang="ja-JP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endParaRPr kumimoji="1" lang="en-US" altLang="ja-JP" sz="24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4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2400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app.record.</a:t>
            </a:r>
            <a:r>
              <a:rPr kumimoji="1" lang="en-US" altLang="ja-JP" sz="2400" b="1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edit.change.QType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sz="24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cxnSp>
        <p:nvCxnSpPr>
          <p:cNvPr id="5" name="直線コネクタ 4"/>
          <p:cNvCxnSpPr>
            <a:cxnSpLocks/>
          </p:cNvCxnSpPr>
          <p:nvPr/>
        </p:nvCxnSpPr>
        <p:spPr>
          <a:xfrm>
            <a:off x="3482638" y="2527932"/>
            <a:ext cx="904427" cy="0"/>
          </a:xfrm>
          <a:prstGeom prst="line">
            <a:avLst/>
          </a:prstGeom>
          <a:ln w="317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/>
          <p:cNvSpPr txBox="1"/>
          <p:nvPr/>
        </p:nvSpPr>
        <p:spPr>
          <a:xfrm>
            <a:off x="4505896" y="2429961"/>
            <a:ext cx="1817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solidFill>
                  <a:schemeClr val="bg1">
                    <a:lumMod val="95000"/>
                  </a:schemeClr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書き換えることを忘れずに</a:t>
            </a:r>
            <a:endParaRPr kumimoji="1" lang="ja-JP" altLang="en-US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cxnSp>
        <p:nvCxnSpPr>
          <p:cNvPr id="11" name="カギ線コネクタ 10"/>
          <p:cNvCxnSpPr>
            <a:cxnSpLocks/>
          </p:cNvCxnSpPr>
          <p:nvPr/>
        </p:nvCxnSpPr>
        <p:spPr>
          <a:xfrm>
            <a:off x="3809209" y="2549703"/>
            <a:ext cx="696687" cy="203423"/>
          </a:xfrm>
          <a:prstGeom prst="bentConnector3">
            <a:avLst>
              <a:gd name="adj1" fmla="val -1562"/>
            </a:avLst>
          </a:prstGeom>
          <a:ln w="38100">
            <a:solidFill>
              <a:schemeClr val="bg1">
                <a:lumMod val="75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3028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287931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ハンズオン⑥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結果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800268" y="5476497"/>
            <a:ext cx="105192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ラジオボタンのオプションを選択するたびに、コンソールにログが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出力されます。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ログにはイベントオブジェクトが出力され、レコードの情報が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含まれています。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84D272C-085C-41E0-B33C-18F7C8C5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101" y="896069"/>
            <a:ext cx="4953752" cy="43379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フレーム 9">
            <a:extLst>
              <a:ext uri="{FF2B5EF4-FFF2-40B4-BE49-F238E27FC236}">
                <a16:creationId xmlns:a16="http://schemas.microsoft.com/office/drawing/2014/main" id="{E91CF40D-E922-47D7-8DC4-61B0E925D581}"/>
              </a:ext>
            </a:extLst>
          </p:cNvPr>
          <p:cNvSpPr/>
          <p:nvPr/>
        </p:nvSpPr>
        <p:spPr>
          <a:xfrm>
            <a:off x="3162102" y="3860789"/>
            <a:ext cx="4953752" cy="1397011"/>
          </a:xfrm>
          <a:prstGeom prst="frame">
            <a:avLst>
              <a:gd name="adj1" fmla="val 241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7550A2-8982-4955-9227-E4675E8B5511}"/>
              </a:ext>
            </a:extLst>
          </p:cNvPr>
          <p:cNvSpPr txBox="1"/>
          <p:nvPr/>
        </p:nvSpPr>
        <p:spPr>
          <a:xfrm>
            <a:off x="8159063" y="3756320"/>
            <a:ext cx="3799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イベントオブジェクトの中身がコードの実行結果として表示される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CA1FE30-F115-40F4-A408-37F28E7BD0F3}"/>
              </a:ext>
            </a:extLst>
          </p:cNvPr>
          <p:cNvCxnSpPr>
            <a:stCxn id="11" idx="1"/>
          </p:cNvCxnSpPr>
          <p:nvPr/>
        </p:nvCxnSpPr>
        <p:spPr>
          <a:xfrm flipH="1">
            <a:off x="7946796" y="4079486"/>
            <a:ext cx="212267" cy="1562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F8F115F-673D-4F89-9374-CA68A1D5E68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2166665" y="2783589"/>
            <a:ext cx="1066729" cy="7608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9B9AD09-3D07-46C7-952D-5D5C814C538E}"/>
              </a:ext>
            </a:extLst>
          </p:cNvPr>
          <p:cNvSpPr txBox="1"/>
          <p:nvPr/>
        </p:nvSpPr>
        <p:spPr>
          <a:xfrm>
            <a:off x="1214438" y="2414257"/>
            <a:ext cx="190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実行したコード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D5DC20-1232-B749-B755-22C89A140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97713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AC55C-DF44-40F0-9ED1-62E9F14C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>
                <a:latin typeface="+mj-ea"/>
              </a:rPr>
              <a:t>イベントオブジェクトを活用して、</a:t>
            </a:r>
            <a:br>
              <a:rPr kumimoji="1" lang="en-US" altLang="ja-JP" sz="2800" dirty="0">
                <a:latin typeface="+mj-ea"/>
              </a:rPr>
            </a:br>
            <a:r>
              <a:rPr kumimoji="1" lang="ja-JP" altLang="en-US" sz="2800">
                <a:latin typeface="+mj-ea"/>
              </a:rPr>
              <a:t>特定</a:t>
            </a:r>
            <a:r>
              <a:rPr kumimoji="1" lang="ja-JP" altLang="en-US" sz="2800" dirty="0">
                <a:latin typeface="+mj-ea"/>
              </a:rPr>
              <a:t>のフィールドを編集不可にしよう！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ハンズオン⑦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D69FA49B-741A-42CD-81C6-8A7F2913A828}"/>
              </a:ext>
            </a:extLst>
          </p:cNvPr>
          <p:cNvSpPr txBox="1">
            <a:spLocks/>
          </p:cNvSpPr>
          <p:nvPr/>
        </p:nvSpPr>
        <p:spPr>
          <a:xfrm>
            <a:off x="838200" y="2054657"/>
            <a:ext cx="10515600" cy="4204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ハンズオン⑤で作成した問い合わせ管理アプリを開く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レコードの詳細画面を開き、編集ボタンをクリックする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下記のコードをコンソールで実行する</a:t>
            </a: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問い合わせ種別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のラジオボタンで、何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か選択してみる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1468194" y="3475355"/>
            <a:ext cx="8459577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</a:t>
            </a:r>
            <a:r>
              <a:rPr lang="ja-JP" altLang="en-US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 {</a:t>
            </a:r>
          </a:p>
          <a:p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event.record.QType.disabled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=</a:t>
            </a:r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true;</a:t>
            </a:r>
          </a:p>
          <a:p>
            <a:r>
              <a:rPr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return event;</a:t>
            </a:r>
            <a:endParaRPr lang="ja-JP" altLang="en-US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</a:p>
          <a:p>
            <a:endParaRPr kumimoji="1" lang="en-US" altLang="ja-JP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app.record.edit.change.QType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,</a:t>
            </a:r>
            <a:r>
              <a:rPr kumimoji="1" lang="en-US" altLang="ja-JP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kumimoji="1" lang="en-US" altLang="ja-JP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E84D61-F010-A941-84E7-29320B9A1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89024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E84D61-F010-A941-84E7-29320B9A1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55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0460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ハンズオン⑦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コード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588546" y="1451346"/>
            <a:ext cx="11014907" cy="25853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function</a:t>
            </a:r>
            <a:r>
              <a:rPr lang="ja-JP" altLang="en-US" sz="240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ja-JP" altLang="en-US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</a:t>
            </a:r>
            <a:r>
              <a:rPr lang="en-US" altLang="ja-JP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M</a:t>
            </a:r>
            <a:r>
              <a:rPr lang="ja-JP" altLang="en-US" sz="2400" dirty="0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essage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 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sz="24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event.record.QType.disabled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=</a:t>
            </a:r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true;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return event;</a:t>
            </a:r>
            <a:endParaRPr lang="ja-JP" altLang="en-US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ja-JP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</a:t>
            </a:r>
          </a:p>
          <a:p>
            <a:endParaRPr kumimoji="1" lang="en-US" altLang="ja-JP" sz="2400" dirty="0">
              <a:solidFill>
                <a:srgbClr val="FFC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4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2400" dirty="0" err="1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app.record.edit.change.QType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,</a:t>
            </a:r>
            <a:r>
              <a:rPr kumimoji="1"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</a:t>
            </a:r>
            <a:r>
              <a:rPr kumimoji="1" lang="en-US" altLang="ja-JP" sz="2400" dirty="0" err="1">
                <a:solidFill>
                  <a:srgbClr val="00B0F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showMessage</a:t>
            </a:r>
            <a:r>
              <a:rPr kumimoji="1"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541535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2879314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ハンズオン⑦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 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結果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D69FA49B-741A-42CD-81C6-8A7F2913A828}"/>
              </a:ext>
            </a:extLst>
          </p:cNvPr>
          <p:cNvSpPr txBox="1">
            <a:spLocks/>
          </p:cNvSpPr>
          <p:nvPr/>
        </p:nvSpPr>
        <p:spPr>
          <a:xfrm>
            <a:off x="857840" y="4187118"/>
            <a:ext cx="10284754" cy="11777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『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問い合わせ種別</a:t>
            </a: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』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フィールドが編集不可になります。</a:t>
            </a:r>
            <a:b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イベントオブジェクトの中のこの</a:t>
            </a:r>
            <a:r>
              <a:rPr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フィールドの </a:t>
            </a:r>
            <a:r>
              <a:rPr lang="en-US" altLang="ja-JP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disabled </a:t>
            </a:r>
            <a:r>
              <a:rPr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プロパティを </a:t>
            </a:r>
            <a:r>
              <a:rPr lang="en-US" altLang="ja-JP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true </a:t>
            </a:r>
            <a:r>
              <a:rPr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に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し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、関数の最後に</a:t>
            </a:r>
            <a:r>
              <a:rPr lang="ja-JP" altLang="en-US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イベントオブジェクトを </a:t>
            </a:r>
            <a:r>
              <a:rPr lang="en-US" altLang="ja-JP" sz="240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return 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する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と、編集不可の設定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が発生します。</a:t>
            </a:r>
            <a:endParaRPr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B0F2119-C813-4FCD-A1EB-4077E86E47E5}"/>
              </a:ext>
            </a:extLst>
          </p:cNvPr>
          <p:cNvCxnSpPr>
            <a:cxnSpLocks/>
          </p:cNvCxnSpPr>
          <p:nvPr/>
        </p:nvCxnSpPr>
        <p:spPr>
          <a:xfrm flipH="1">
            <a:off x="5717912" y="2800524"/>
            <a:ext cx="156415" cy="4136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073" y="1372134"/>
            <a:ext cx="6273057" cy="2410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7" name="フレーム 16"/>
          <p:cNvSpPr/>
          <p:nvPr/>
        </p:nvSpPr>
        <p:spPr>
          <a:xfrm>
            <a:off x="2470954" y="2954229"/>
            <a:ext cx="5309671" cy="763098"/>
          </a:xfrm>
          <a:prstGeom prst="frame">
            <a:avLst>
              <a:gd name="adj1" fmla="val 241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Ｐゴシック" panose="020B0600070205080204" pitchFamily="50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8905616" y="29674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編集不可</a:t>
            </a: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E06AE588-29AB-429E-B395-E01E0ABBD926}"/>
              </a:ext>
            </a:extLst>
          </p:cNvPr>
          <p:cNvCxnSpPr>
            <a:stCxn id="18" idx="1"/>
          </p:cNvCxnSpPr>
          <p:nvPr/>
        </p:nvCxnSpPr>
        <p:spPr>
          <a:xfrm flipH="1">
            <a:off x="7834952" y="3152078"/>
            <a:ext cx="1070664" cy="2223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D90817-6166-E44B-A295-143CFEA7C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558394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F723E1-476B-485C-9F30-B05CF886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イベントオブジェクトで他に出来ること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86311-93F2-4AA5-B249-BA81B32F626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0219" y="1796614"/>
            <a:ext cx="8543806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フィールドの値を書き換える</a:t>
            </a:r>
            <a:endParaRPr kumimoji="1" lang="en-US" altLang="ja-JP" dirty="0"/>
          </a:p>
          <a:p>
            <a:r>
              <a:rPr lang="ja-JP" altLang="en-US" dirty="0"/>
              <a:t>フィールドの編集可</a:t>
            </a:r>
            <a:r>
              <a:rPr lang="en-US" altLang="ja-JP" dirty="0"/>
              <a:t>/</a:t>
            </a:r>
            <a:r>
              <a:rPr lang="ja-JP" altLang="en-US" dirty="0"/>
              <a:t>不可を設定する</a:t>
            </a:r>
            <a:endParaRPr lang="en-US" altLang="ja-JP" dirty="0"/>
          </a:p>
          <a:p>
            <a:r>
              <a:rPr kumimoji="1" lang="ja-JP" altLang="en-US" dirty="0"/>
              <a:t>フィールドにエラーを表示する</a:t>
            </a:r>
            <a:endParaRPr kumimoji="1" lang="en-US" altLang="ja-JP" dirty="0"/>
          </a:p>
          <a:p>
            <a:r>
              <a:rPr lang="ja-JP" altLang="en-US" dirty="0"/>
              <a:t>画面上部にエラーを表示する</a:t>
            </a:r>
            <a:endParaRPr lang="en-US" altLang="ja-JP" dirty="0"/>
          </a:p>
          <a:p>
            <a:r>
              <a:rPr lang="ja-JP" altLang="en-US" dirty="0"/>
              <a:t>ルック</a:t>
            </a:r>
            <a:r>
              <a:rPr kumimoji="1" lang="ja-JP" altLang="en-US" dirty="0"/>
              <a:t>アップの取得を自動で行う</a:t>
            </a:r>
            <a:endParaRPr kumimoji="1" lang="en-US" altLang="ja-JP" dirty="0"/>
          </a:p>
          <a:p>
            <a:r>
              <a:rPr lang="ja-JP" altLang="en-US" dirty="0"/>
              <a:t>フィールドの表示</a:t>
            </a:r>
            <a:r>
              <a:rPr lang="en-US" altLang="ja-JP" dirty="0"/>
              <a:t>/</a:t>
            </a:r>
            <a:r>
              <a:rPr lang="ja-JP" altLang="en-US" dirty="0"/>
              <a:t>非表示を設定する</a:t>
            </a:r>
            <a:br>
              <a:rPr lang="en-US" altLang="ja-JP" dirty="0"/>
            </a:br>
            <a:endParaRPr lang="en-US" altLang="ja-JP" dirty="0"/>
          </a:p>
          <a:p>
            <a:pPr marL="0" indent="0">
              <a:buNone/>
            </a:pPr>
            <a:r>
              <a:rPr lang="en-US" altLang="ja-JP" sz="2400" dirty="0"/>
              <a:t>※ </a:t>
            </a:r>
            <a:r>
              <a:rPr lang="ja-JP" altLang="en-US" sz="2400"/>
              <a:t>詳細</a:t>
            </a:r>
            <a:r>
              <a:rPr lang="ja-JP" altLang="en-US" sz="2400" dirty="0"/>
              <a:t>に</a:t>
            </a:r>
            <a:r>
              <a:rPr lang="ja-JP" altLang="en-US" sz="2400"/>
              <a:t>ついては </a:t>
            </a:r>
            <a:r>
              <a:rPr lang="en-US" altLang="ja-JP" sz="2400" dirty="0" err="1"/>
              <a:t>cybozu</a:t>
            </a:r>
            <a:r>
              <a:rPr lang="en-US" altLang="ja-JP" sz="2400" dirty="0"/>
              <a:t> developer network</a:t>
            </a:r>
            <a:r>
              <a:rPr lang="ja-JP" altLang="en-US" sz="2400" dirty="0"/>
              <a:t>の</a:t>
            </a:r>
            <a:br>
              <a:rPr lang="en-US" altLang="ja-JP" sz="2400" dirty="0"/>
            </a:br>
            <a:r>
              <a:rPr lang="en-US" altLang="ja-JP" sz="2400" dirty="0"/>
              <a:t>    </a:t>
            </a:r>
            <a:r>
              <a:rPr lang="ja-JP" altLang="en-US" sz="2400"/>
              <a:t>各イベント</a:t>
            </a:r>
            <a:r>
              <a:rPr lang="ja-JP" altLang="en-US" sz="2400" dirty="0"/>
              <a:t>の説明に記載されています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+mj-ea"/>
                <a:ea typeface="+mj-ea"/>
              </a:rPr>
              <a:t>説明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653" y="3389171"/>
            <a:ext cx="4460554" cy="713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607" y="4694728"/>
            <a:ext cx="2514600" cy="965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図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926" y="1940312"/>
            <a:ext cx="2544281" cy="8438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090661" y="1658115"/>
            <a:ext cx="16145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en-US" sz="1200">
                <a:latin typeface="GenEi Gothic P" panose="020B0500000000000000" pitchFamily="34" charset="-128"/>
                <a:ea typeface="GenEi Gothic P" panose="020B0500000000000000" pitchFamily="34" charset="-128"/>
              </a:rPr>
              <a:t>フィールドの編集不可</a:t>
            </a:r>
            <a:endParaRPr kumimoji="1"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840533" y="3112172"/>
            <a:ext cx="1880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en-US" sz="1200">
                <a:latin typeface="GenEi Gothic P" panose="020B0500000000000000" pitchFamily="34" charset="-128"/>
                <a:ea typeface="GenEi Gothic P" panose="020B0500000000000000" pitchFamily="34" charset="-128"/>
              </a:rPr>
              <a:t>フィールドにエラーを表示</a:t>
            </a:r>
            <a:endParaRPr kumimoji="1"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890227" y="4416154"/>
            <a:ext cx="183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ja-JP" altLang="en-US" sz="1200">
                <a:latin typeface="GenEi Gothic P" panose="020B0500000000000000" pitchFamily="34" charset="-128"/>
                <a:ea typeface="GenEi Gothic P" panose="020B0500000000000000" pitchFamily="34" charset="-128"/>
              </a:rPr>
              <a:t>画面上部にエラーを表示</a:t>
            </a:r>
            <a:endParaRPr kumimoji="1" lang="ja-JP" altLang="en-US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BB542718-9951-AF4E-B124-6E212AD50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850109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28DA2B-6E5F-4972-AF71-2816434F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復習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B65DC6-5206-4C38-A808-018E52CEACB0}"/>
              </a:ext>
            </a:extLst>
          </p:cNvPr>
          <p:cNvSpPr txBox="1"/>
          <p:nvPr/>
        </p:nvSpPr>
        <p:spPr>
          <a:xfrm>
            <a:off x="754116" y="3351652"/>
            <a:ext cx="10019903" cy="14328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r>
              <a:rPr kumimoji="1" lang="en-US" altLang="ja-JP" sz="3600" dirty="0" err="1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36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kumimoji="1" lang="en-US" altLang="ja-JP" sz="3600" dirty="0">
                <a:solidFill>
                  <a:schemeClr val="accent6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'</a:t>
            </a:r>
            <a:r>
              <a:rPr kumimoji="1" lang="ja-JP" altLang="en-US" sz="36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イベント名</a:t>
            </a:r>
            <a:r>
              <a:rPr kumimoji="1" lang="en-US" altLang="ja-JP" sz="3600" dirty="0">
                <a:solidFill>
                  <a:srgbClr val="00B05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', </a:t>
            </a:r>
            <a:r>
              <a:rPr kumimoji="1" lang="ja-JP" altLang="en-US" sz="3600" dirty="0">
                <a:solidFill>
                  <a:srgbClr val="0070C0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ハンドラー</a:t>
            </a:r>
            <a:r>
              <a:rPr kumimoji="1" lang="en-US" altLang="ja-JP" sz="3600" dirty="0">
                <a:solidFill>
                  <a:schemeClr val="accent2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</a:t>
            </a:r>
            <a:r>
              <a:rPr kumimoji="1" lang="en-US" altLang="ja-JP" sz="3600" dirty="0"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説明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978605" y="1963319"/>
            <a:ext cx="38347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イベントの名前を記載する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kumimoji="1" lang="en-US" altLang="ja-JP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(</a:t>
            </a:r>
            <a:r>
              <a:rPr kumimoji="1" lang="en-US" altLang="ja-JP" sz="20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app.record.detail.show</a:t>
            </a:r>
            <a:r>
              <a:rPr kumimoji="1" lang="en-US" altLang="ja-JP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など</a:t>
            </a:r>
            <a:r>
              <a:rPr kumimoji="1" lang="en-US" altLang="ja-JP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)</a:t>
            </a:r>
            <a:endParaRPr kumimoji="1" lang="ja-JP" altLang="en-US" sz="20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661422" y="5280626"/>
            <a:ext cx="5421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イベントが発火した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時の処理を記載する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cxnSp>
        <p:nvCxnSpPr>
          <p:cNvPr id="11" name="直線矢印コネクタ 10"/>
          <p:cNvCxnSpPr>
            <a:stCxn id="3" idx="2"/>
          </p:cNvCxnSpPr>
          <p:nvPr/>
        </p:nvCxnSpPr>
        <p:spPr>
          <a:xfrm>
            <a:off x="5895957" y="2732760"/>
            <a:ext cx="820769" cy="910068"/>
          </a:xfrm>
          <a:prstGeom prst="straightConnector1">
            <a:avLst/>
          </a:prstGeom>
          <a:ln w="412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H="1" flipV="1">
            <a:off x="9039896" y="4311559"/>
            <a:ext cx="322089" cy="784071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76E2F2-9CE3-E64C-BE76-26D681237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0800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CCCCD-4362-4E0D-B32D-865A99B6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7915"/>
            <a:ext cx="9144000" cy="1722170"/>
          </a:xfrm>
        </p:spPr>
        <p:txBody>
          <a:bodyPr>
            <a:normAutofit/>
          </a:bodyPr>
          <a:lstStyle/>
          <a:p>
            <a:r>
              <a:rPr kumimoji="1" lang="en-US" altLang="ja-JP" sz="5400" dirty="0" err="1">
                <a:solidFill>
                  <a:schemeClr val="bg1"/>
                </a:solidFill>
              </a:rPr>
              <a:t>kintone</a:t>
            </a:r>
            <a:r>
              <a:rPr lang="ja-JP" altLang="en-US" sz="5400">
                <a:solidFill>
                  <a:schemeClr val="bg1"/>
                </a:solidFill>
              </a:rPr>
              <a:t> </a:t>
            </a:r>
            <a:r>
              <a:rPr kumimoji="1" lang="ja-JP" altLang="en-US" sz="5400">
                <a:solidFill>
                  <a:schemeClr val="bg1"/>
                </a:solidFill>
              </a:rPr>
              <a:t>に </a:t>
            </a:r>
            <a:r>
              <a:rPr kumimoji="1" lang="en-US" altLang="ja-JP" sz="5400" dirty="0">
                <a:solidFill>
                  <a:schemeClr val="bg1"/>
                </a:solidFill>
              </a:rPr>
              <a:t>JavaScript </a:t>
            </a:r>
            <a:r>
              <a:rPr kumimoji="1" lang="ja-JP" altLang="en-US" sz="5400">
                <a:solidFill>
                  <a:schemeClr val="bg1"/>
                </a:solidFill>
              </a:rPr>
              <a:t>を</a:t>
            </a:r>
            <a:br>
              <a:rPr kumimoji="1" lang="en-US" altLang="ja-JP" sz="5400" dirty="0">
                <a:solidFill>
                  <a:schemeClr val="bg1"/>
                </a:solidFill>
              </a:rPr>
            </a:br>
            <a:r>
              <a:rPr kumimoji="1" lang="ja-JP" altLang="en-US" sz="5400">
                <a:solidFill>
                  <a:schemeClr val="bg1"/>
                </a:solidFill>
              </a:rPr>
              <a:t>読み込ませる</a:t>
            </a:r>
            <a:endParaRPr kumimoji="1" lang="ja-JP" altLang="en-US" sz="5400" dirty="0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A574AE-08B5-BA41-8016-D8CDED87A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59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999368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81879B-0043-471D-991B-75E8AE7AC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なぜ読み込ませるのか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5C2A15-FF15-4408-8663-2AE44429602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679112" cy="2627313"/>
          </a:xfrm>
        </p:spPr>
        <p:txBody>
          <a:bodyPr/>
          <a:lstStyle/>
          <a:p>
            <a:r>
              <a:rPr kumimoji="1" lang="en-US" altLang="ja-JP" dirty="0" err="1"/>
              <a:t>kintone</a:t>
            </a:r>
            <a:r>
              <a:rPr kumimoji="1" lang="en-US" altLang="ja-JP" dirty="0"/>
              <a:t> </a:t>
            </a:r>
            <a:r>
              <a:rPr kumimoji="1" lang="ja-JP" altLang="en-US"/>
              <a:t>に</a:t>
            </a:r>
            <a:r>
              <a:rPr kumimoji="1" lang="ja-JP" altLang="en-US" dirty="0" err="1"/>
              <a:t>は</a:t>
            </a:r>
            <a:r>
              <a:rPr kumimoji="1" lang="ja-JP" altLang="en-US" dirty="0"/>
              <a:t>コンソールやコードエディタが存在しない</a:t>
            </a:r>
            <a:endParaRPr kumimoji="1" lang="en-US" altLang="ja-JP" dirty="0"/>
          </a:p>
          <a:p>
            <a:r>
              <a:rPr lang="en-US" altLang="ja-JP" dirty="0"/>
              <a:t>JavaScript </a:t>
            </a:r>
            <a:r>
              <a:rPr lang="ja-JP" altLang="en-US"/>
              <a:t>ファイル</a:t>
            </a:r>
            <a:r>
              <a:rPr lang="ja-JP" altLang="en-US" dirty="0"/>
              <a:t>を設定画面にアップロードすると、アプリ使用時にその</a:t>
            </a:r>
            <a:r>
              <a:rPr lang="ja-JP" altLang="en-US"/>
              <a:t>ファイルが自動的に読み込まれて、実行される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5E2648-81A3-714C-96BF-8EE2CBA03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581213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288A17-E513-4AAF-AA9C-A90E4475F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000" dirty="0" err="1"/>
              <a:t>kintone</a:t>
            </a:r>
            <a:r>
              <a:rPr lang="ja-JP" altLang="en-US" sz="4000"/>
              <a:t> </a:t>
            </a:r>
            <a:r>
              <a:rPr kumimoji="1" lang="ja-JP" altLang="en-US" sz="4000"/>
              <a:t>に </a:t>
            </a:r>
            <a:r>
              <a:rPr kumimoji="1" lang="en-US" altLang="ja-JP" sz="4000" dirty="0"/>
              <a:t>JavaScript </a:t>
            </a:r>
            <a:r>
              <a:rPr kumimoji="1" lang="ja-JP" altLang="en-US" sz="4000"/>
              <a:t>を</a:t>
            </a:r>
            <a:r>
              <a:rPr kumimoji="1" lang="ja-JP" altLang="en-US" sz="4000" dirty="0"/>
              <a:t>読み込ませる手順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36DE83-3539-4400-9648-DD55EB75FFC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0219" y="1854200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テキストエディタを用意する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セキュアにコードを書いて保存する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アプリの</a:t>
            </a:r>
            <a:r>
              <a:rPr kumimoji="1" lang="en-US" altLang="ja-JP" dirty="0"/>
              <a:t>『</a:t>
            </a:r>
            <a:r>
              <a:rPr lang="en-US" altLang="ja-JP" dirty="0"/>
              <a:t>JavaScript / CSS</a:t>
            </a:r>
            <a:r>
              <a:rPr lang="ja-JP" altLang="en-US" dirty="0"/>
              <a:t>でカスタマイズ</a:t>
            </a:r>
            <a:r>
              <a:rPr lang="en-US" altLang="ja-JP" dirty="0"/>
              <a:t>』</a:t>
            </a:r>
            <a:r>
              <a:rPr lang="ja-JP" altLang="en-US" dirty="0"/>
              <a:t>設定にファイルをアップする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設定を保存して動きを確認する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800219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7465E5-D1B9-D14F-A4BF-A82004C3E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46646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12A45-56C1-4392-A49A-088967BCE6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89011"/>
            <a:ext cx="10515600" cy="1325563"/>
          </a:xfrm>
        </p:spPr>
        <p:txBody>
          <a:bodyPr/>
          <a:lstStyle/>
          <a:p>
            <a:r>
              <a:rPr kumimoji="1" lang="ja-JP" altLang="en-US"/>
              <a:t>ハンズオンします</a:t>
            </a:r>
            <a:r>
              <a:rPr kumimoji="1" lang="ja-JP" altLang="en-US" dirty="0"/>
              <a:t>！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69A0CC2-97B6-4C12-B395-D3CA434D919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024" y="2471738"/>
            <a:ext cx="1649412" cy="1325562"/>
          </a:xfrm>
        </p:spPr>
      </p:pic>
      <p:pic>
        <p:nvPicPr>
          <p:cNvPr id="8" name="コンテンツ プレースホルダー 4">
            <a:extLst>
              <a:ext uri="{FF2B5EF4-FFF2-40B4-BE49-F238E27FC236}">
                <a16:creationId xmlns:a16="http://schemas.microsoft.com/office/drawing/2014/main" id="{6C5A7A74-FF9C-4699-8D3F-C668362C0A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161" y="3042516"/>
            <a:ext cx="1649224" cy="1325564"/>
          </a:xfrm>
          <a:prstGeom prst="rect">
            <a:avLst/>
          </a:prstGeom>
        </p:spPr>
      </p:pic>
      <p:pic>
        <p:nvPicPr>
          <p:cNvPr id="9" name="コンテンツ プレースホルダー 4">
            <a:extLst>
              <a:ext uri="{FF2B5EF4-FFF2-40B4-BE49-F238E27FC236}">
                <a16:creationId xmlns:a16="http://schemas.microsoft.com/office/drawing/2014/main" id="{82D45BAA-36A2-472C-8BDE-B819A9E023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561" y="3614016"/>
            <a:ext cx="1649224" cy="1325564"/>
          </a:xfrm>
          <a:prstGeom prst="rect">
            <a:avLst/>
          </a:prstGeom>
        </p:spPr>
      </p:pic>
      <p:pic>
        <p:nvPicPr>
          <p:cNvPr id="10" name="コンテンツ プレースホルダー 4">
            <a:extLst>
              <a:ext uri="{FF2B5EF4-FFF2-40B4-BE49-F238E27FC236}">
                <a16:creationId xmlns:a16="http://schemas.microsoft.com/office/drawing/2014/main" id="{EC5B93CA-D1EB-4FCD-9536-D77B40EFDD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012" y="3133798"/>
            <a:ext cx="1649224" cy="1325564"/>
          </a:xfrm>
          <a:prstGeom prst="rect">
            <a:avLst/>
          </a:prstGeom>
        </p:spPr>
      </p:pic>
      <p:pic>
        <p:nvPicPr>
          <p:cNvPr id="11" name="コンテンツ プレースホルダー 4">
            <a:extLst>
              <a:ext uri="{FF2B5EF4-FFF2-40B4-BE49-F238E27FC236}">
                <a16:creationId xmlns:a16="http://schemas.microsoft.com/office/drawing/2014/main" id="{B8B757BC-C689-431D-ACAE-DFB618B151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858" y="3705298"/>
            <a:ext cx="1649224" cy="1325564"/>
          </a:xfrm>
          <a:prstGeom prst="rect">
            <a:avLst/>
          </a:prstGeom>
        </p:spPr>
      </p:pic>
      <p:pic>
        <p:nvPicPr>
          <p:cNvPr id="12" name="コンテンツ プレースホルダー 4">
            <a:extLst>
              <a:ext uri="{FF2B5EF4-FFF2-40B4-BE49-F238E27FC236}">
                <a16:creationId xmlns:a16="http://schemas.microsoft.com/office/drawing/2014/main" id="{8079AA45-B22F-4599-9CF7-639B36E559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85" y="4293463"/>
            <a:ext cx="1649224" cy="1325564"/>
          </a:xfrm>
          <a:prstGeom prst="rect">
            <a:avLst/>
          </a:prstGeom>
        </p:spPr>
      </p:pic>
      <p:pic>
        <p:nvPicPr>
          <p:cNvPr id="15" name="Picture 2" descr="https://3.bp.blogspot.com/-Sfnr59bSe0M/VuIN_AvpqMI/AAAAAAAA4uY/81t-5A8UtFotGgw6TNTZauvW3ol5QnbIg/s800/school_sensei_kokuban_woman.png">
            <a:extLst>
              <a:ext uri="{FF2B5EF4-FFF2-40B4-BE49-F238E27FC236}">
                <a16:creationId xmlns:a16="http://schemas.microsoft.com/office/drawing/2014/main" id="{A72BA59E-D754-4EBB-A204-06D9FBB4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71016"/>
            <a:ext cx="4292035" cy="32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2">
            <a:extLst>
              <a:ext uri="{FF2B5EF4-FFF2-40B4-BE49-F238E27FC236}">
                <a16:creationId xmlns:a16="http://schemas.microsoft.com/office/drawing/2014/main" id="{61F3F766-9FFA-4B01-8089-D00EC7D32AB4}"/>
              </a:ext>
            </a:extLst>
          </p:cNvPr>
          <p:cNvSpPr txBox="1"/>
          <p:nvPr/>
        </p:nvSpPr>
        <p:spPr>
          <a:xfrm>
            <a:off x="1093549" y="3295166"/>
            <a:ext cx="27414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function addTax(price) {</a:t>
            </a:r>
          </a:p>
          <a:p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	for (var i = 0; i</a:t>
            </a:r>
            <a:endParaRPr kumimoji="1" lang="ja-JP" altLang="en-US" sz="2000" dirty="0">
              <a:solidFill>
                <a:schemeClr val="bg1"/>
              </a:solidFill>
              <a:latin typeface="ＭＳ Ｐゴシック" panose="020B0600070205080204" pitchFamily="50" charset="-128"/>
              <a:cs typeface="Consolas" panose="020B0609020204030204" pitchFamily="49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8D176A-057C-9D4B-A2FC-12768F5D6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44526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4D0B3-6830-463F-8743-D67B9806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1. </a:t>
            </a:r>
            <a:r>
              <a:rPr lang="ja-JP" altLang="en-US"/>
              <a:t>テキストエディタ</a:t>
            </a:r>
            <a:r>
              <a:rPr lang="ja-JP" altLang="en-US" dirty="0"/>
              <a:t>を用意する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34BFA8-8922-40C7-9D16-E2E87462CFC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62763" y="1674832"/>
            <a:ext cx="1004728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 err="1"/>
              <a:t>kintone</a:t>
            </a:r>
            <a:r>
              <a:rPr lang="en-US" altLang="ja-JP" dirty="0"/>
              <a:t> </a:t>
            </a:r>
            <a:r>
              <a:rPr lang="ja-JP" altLang="en-US"/>
              <a:t>本体</a:t>
            </a:r>
            <a:r>
              <a:rPr lang="ja-JP" altLang="en-US" dirty="0"/>
              <a:t>はエディタを用意していません。</a:t>
            </a:r>
            <a:br>
              <a:rPr lang="en-US" altLang="ja-JP" dirty="0"/>
            </a:br>
            <a:r>
              <a:rPr lang="en-US" altLang="ja-JP" dirty="0"/>
              <a:t>PC </a:t>
            </a:r>
            <a:r>
              <a:rPr lang="ja-JP" altLang="en-US"/>
              <a:t>に</a:t>
            </a:r>
            <a:r>
              <a:rPr lang="ja-JP" altLang="en-US" dirty="0"/>
              <a:t>コーディング用のエディタをダウンロードして活用することをおすすめします。</a:t>
            </a:r>
            <a:endParaRPr kumimoji="1" lang="ja-JP" altLang="en-US" dirty="0"/>
          </a:p>
        </p:txBody>
      </p:sp>
      <p:pic>
        <p:nvPicPr>
          <p:cNvPr id="1026" name="Picture 2" descr="Image result for sublime text">
            <a:extLst>
              <a:ext uri="{FF2B5EF4-FFF2-40B4-BE49-F238E27FC236}">
                <a16:creationId xmlns:a16="http://schemas.microsoft.com/office/drawing/2014/main" id="{A2171B19-B7B9-495B-85C0-31981F165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4668" y="37260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lated image">
            <a:extLst>
              <a:ext uri="{FF2B5EF4-FFF2-40B4-BE49-F238E27FC236}">
                <a16:creationId xmlns:a16="http://schemas.microsoft.com/office/drawing/2014/main" id="{9EDCB697-A6B7-4D13-AD6D-0AA537985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78" t="16030" r="32000" b="15605"/>
          <a:stretch/>
        </p:blipFill>
        <p:spPr bwMode="auto">
          <a:xfrm>
            <a:off x="5506276" y="3703412"/>
            <a:ext cx="1257300" cy="1241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86E86E-EA89-42DB-BF78-D485BA2570A1}"/>
              </a:ext>
            </a:extLst>
          </p:cNvPr>
          <p:cNvSpPr txBox="1"/>
          <p:nvPr/>
        </p:nvSpPr>
        <p:spPr>
          <a:xfrm>
            <a:off x="763861" y="5057809"/>
            <a:ext cx="368081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Sublime Text</a:t>
            </a:r>
            <a:b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  <a:hlinkClick r:id="rId4"/>
              </a:rPr>
              <a:t>https://www.sublimetext.com/</a:t>
            </a:r>
            <a:endParaRPr kumimoji="1"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134E46-80B6-411A-B52A-64D8932F18B1}"/>
              </a:ext>
            </a:extLst>
          </p:cNvPr>
          <p:cNvSpPr txBox="1"/>
          <p:nvPr/>
        </p:nvSpPr>
        <p:spPr>
          <a:xfrm>
            <a:off x="5172739" y="5057811"/>
            <a:ext cx="20567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Atom</a:t>
            </a:r>
            <a:b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  <a:hlinkClick r:id="rId5"/>
              </a:rPr>
              <a:t>https://atom.io/</a:t>
            </a:r>
            <a:endParaRPr kumimoji="1"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06D9D5-97C9-46ED-B496-688CAAC1C56A}"/>
              </a:ext>
            </a:extLst>
          </p:cNvPr>
          <p:cNvSpPr txBox="1"/>
          <p:nvPr/>
        </p:nvSpPr>
        <p:spPr>
          <a:xfrm>
            <a:off x="7781093" y="5057810"/>
            <a:ext cx="368722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Visual Studio Code</a:t>
            </a:r>
            <a:br>
              <a:rPr kumimoji="1"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  <a:hlinkClick r:id="rId6"/>
              </a:rPr>
              <a:t>https://code.visualstudio.com/</a:t>
            </a: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ハンズオン⑧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1364FE-9787-A94A-B839-E55EB1324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63</a:t>
            </a:fld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455EECA-85B1-BB4B-A803-804FF662B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3506" y="3635409"/>
            <a:ext cx="1422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261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4D0B3-6830-463F-8743-D67B9806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2. </a:t>
            </a:r>
            <a:r>
              <a:rPr lang="ja-JP" altLang="en-US"/>
              <a:t>セキュア</a:t>
            </a:r>
            <a:r>
              <a:rPr lang="ja-JP" altLang="en-US" dirty="0"/>
              <a:t>にコードを書いて保存する</a:t>
            </a:r>
            <a:endParaRPr lang="en-US" altLang="ja-JP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294967295"/>
          </p:nvPr>
        </p:nvSpPr>
        <p:spPr>
          <a:xfrm>
            <a:off x="838200" y="1865440"/>
            <a:ext cx="9947275" cy="1846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★ セキュアポイント ★</a:t>
            </a:r>
            <a:endParaRPr kumimoji="1" lang="en-US" altLang="ja-JP" dirty="0"/>
          </a:p>
          <a:p>
            <a:pPr lvl="1">
              <a:buClr>
                <a:schemeClr val="tx1"/>
              </a:buClr>
            </a:pPr>
            <a:r>
              <a:rPr kumimoji="1" lang="en-US" altLang="ja-JP" dirty="0">
                <a:solidFill>
                  <a:srgbClr val="FF0000"/>
                </a:solidFill>
              </a:rPr>
              <a:t>(function(){ })();</a:t>
            </a:r>
            <a:r>
              <a:rPr kumimoji="1" lang="en-US" altLang="ja-JP" dirty="0"/>
              <a:t> </a:t>
            </a:r>
            <a:r>
              <a:rPr kumimoji="1" lang="ja-JP" altLang="en-US" dirty="0"/>
              <a:t>という即時関数の中でコードの処理を記載する</a:t>
            </a:r>
            <a:endParaRPr kumimoji="1" lang="en-US" altLang="ja-JP" dirty="0"/>
          </a:p>
          <a:p>
            <a:pPr lvl="1"/>
            <a:r>
              <a:rPr lang="ja-JP" altLang="en-US" dirty="0"/>
              <a:t>メインのコードの一番最初に</a:t>
            </a:r>
            <a:r>
              <a:rPr lang="en-US" altLang="ja-JP" dirty="0">
                <a:solidFill>
                  <a:srgbClr val="FF0000"/>
                </a:solidFill>
                <a:cs typeface="Consolas" panose="020B0609020204030204" pitchFamily="49" charset="0"/>
              </a:rPr>
              <a:t>'</a:t>
            </a:r>
            <a:r>
              <a:rPr lang="en-US" altLang="ja-JP" dirty="0">
                <a:solidFill>
                  <a:srgbClr val="FF0000"/>
                </a:solidFill>
              </a:rPr>
              <a:t>use strict</a:t>
            </a:r>
            <a:r>
              <a:rPr lang="en-US" altLang="ja-JP" dirty="0">
                <a:solidFill>
                  <a:srgbClr val="FF0000"/>
                </a:solidFill>
                <a:cs typeface="Consolas" panose="020B0609020204030204" pitchFamily="49" charset="0"/>
              </a:rPr>
              <a:t>'</a:t>
            </a:r>
            <a:r>
              <a:rPr lang="ja-JP" altLang="en-US" dirty="0"/>
              <a:t>を記載する</a:t>
            </a:r>
            <a:endParaRPr kumimoji="1" lang="en-US" altLang="ja-JP" dirty="0"/>
          </a:p>
        </p:txBody>
      </p:sp>
      <p:sp>
        <p:nvSpPr>
          <p:cNvPr id="7" name="コンテンツ プレースホルダー 5"/>
          <p:cNvSpPr txBox="1">
            <a:spLocks/>
          </p:cNvSpPr>
          <p:nvPr/>
        </p:nvSpPr>
        <p:spPr>
          <a:xfrm>
            <a:off x="9153585" y="4480950"/>
            <a:ext cx="2635644" cy="1299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※ 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保存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する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時は</a:t>
            </a:r>
            <a:r>
              <a:rPr lang="ja-JP" altLang="en-US" sz="240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拡張子</a:t>
            </a:r>
            <a:r>
              <a:rPr lang="ja-JP" altLang="en-US" sz="2400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lang="en-US" altLang="ja-JP" sz="2400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.</a:t>
            </a:r>
            <a:r>
              <a:rPr lang="en-US" altLang="ja-JP" sz="2400" dirty="0" err="1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js</a:t>
            </a:r>
            <a:r>
              <a:rPr lang="en-US" altLang="ja-JP" sz="2400" dirty="0">
                <a:solidFill>
                  <a:srgbClr val="FF0000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にして保存するように！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ハンズオン⑧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7055B7-4E82-4C79-B9BF-6A772C897A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94" b="6039"/>
          <a:stretch/>
        </p:blipFill>
        <p:spPr>
          <a:xfrm>
            <a:off x="2530100" y="3330407"/>
            <a:ext cx="6623485" cy="2886301"/>
          </a:xfrm>
          <a:prstGeom prst="rect">
            <a:avLst/>
          </a:prstGeom>
        </p:spPr>
      </p:pic>
      <p:sp>
        <p:nvSpPr>
          <p:cNvPr id="3" name="角丸四角形 2"/>
          <p:cNvSpPr/>
          <p:nvPr/>
        </p:nvSpPr>
        <p:spPr>
          <a:xfrm>
            <a:off x="3004457" y="3935866"/>
            <a:ext cx="1262742" cy="2177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/>
          <p:cNvSpPr/>
          <p:nvPr/>
        </p:nvSpPr>
        <p:spPr>
          <a:xfrm>
            <a:off x="3004457" y="5757197"/>
            <a:ext cx="544285" cy="2360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3407230" y="4158374"/>
            <a:ext cx="1284514" cy="20495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029C10F4-2A82-D846-AC2E-A0850E568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372656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029C10F4-2A82-D846-AC2E-A0850E568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65</a:t>
            </a:fld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30460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ハンズオン⑧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-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コード</a:t>
            </a:r>
            <a:r>
              <a:rPr kumimoji="1"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-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764AD6F-3B75-2746-899B-87AC7732B743}"/>
              </a:ext>
            </a:extLst>
          </p:cNvPr>
          <p:cNvSpPr txBox="1"/>
          <p:nvPr/>
        </p:nvSpPr>
        <p:spPr>
          <a:xfrm>
            <a:off x="257040" y="1142668"/>
            <a:ext cx="11677919" cy="406265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(function() 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'use strict';</a:t>
            </a:r>
          </a:p>
          <a:p>
            <a:endParaRPr lang="en-US" altLang="ja-JP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ja-JP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 sz="24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show</a:t>
            </a:r>
            <a:r>
              <a:rPr lang="en-US" altLang="ja-JP" sz="24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ja-JP" altLang="en-US" sz="240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essage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alert('Hello World!');</a:t>
            </a:r>
            <a:endParaRPr lang="ja-JP" altLang="en-US" sz="240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ja-JP" altLang="en-US" sz="2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altLang="ja-JP" sz="240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24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240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kintone.events.on</a:t>
            </a:r>
            <a:r>
              <a:rPr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24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app.record.index.show</a:t>
            </a:r>
            <a:r>
              <a:rPr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ja-JP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2400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showMessage</a:t>
            </a:r>
            <a:r>
              <a:rPr lang="en-US" altLang="ja-JP" sz="2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ja-JP" sz="24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en-US" altLang="ja-JP" sz="24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})();</a:t>
            </a:r>
          </a:p>
        </p:txBody>
      </p:sp>
    </p:spTree>
    <p:extLst>
      <p:ext uri="{BB962C8B-B14F-4D97-AF65-F5344CB8AC3E}">
        <p14:creationId xmlns:p14="http://schemas.microsoft.com/office/powerpoint/2010/main" val="27166538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5B21D-50FB-4189-BBCD-C6B69E72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397"/>
            <a:ext cx="10777538" cy="1325563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3. </a:t>
            </a:r>
            <a:r>
              <a:rPr lang="ja-JP" altLang="en-US" sz="2800"/>
              <a:t>アプリ</a:t>
            </a:r>
            <a:r>
              <a:rPr lang="ja-JP" altLang="en-US" sz="2800" dirty="0"/>
              <a:t>の</a:t>
            </a:r>
            <a:r>
              <a:rPr lang="en-US" altLang="ja-JP" sz="2800" dirty="0"/>
              <a:t>『JavaScript / CSS</a:t>
            </a:r>
            <a:r>
              <a:rPr lang="ja-JP" altLang="en-US" sz="2800" dirty="0"/>
              <a:t>でカスタマイズ</a:t>
            </a:r>
            <a:r>
              <a:rPr lang="en-US" altLang="ja-JP" sz="2800" dirty="0"/>
              <a:t>』</a:t>
            </a:r>
            <a:r>
              <a:rPr lang="ja-JP" altLang="en-US" sz="2800" dirty="0"/>
              <a:t>設定にファイルをアップする</a:t>
            </a:r>
            <a:endParaRPr kumimoji="1" lang="ja-JP" altLang="en-US" sz="28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18DF83-1B95-4BAD-91A0-4690A2BCA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95"/>
          <a:stretch/>
        </p:blipFill>
        <p:spPr>
          <a:xfrm>
            <a:off x="1576873" y="2383274"/>
            <a:ext cx="9038253" cy="3647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462197A-73C0-4126-9547-0F4A25C13852}"/>
              </a:ext>
            </a:extLst>
          </p:cNvPr>
          <p:cNvSpPr/>
          <p:nvPr/>
        </p:nvSpPr>
        <p:spPr>
          <a:xfrm>
            <a:off x="4660900" y="3545445"/>
            <a:ext cx="1879600" cy="317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6D9CEC-63FB-48C2-B052-78F84C75CB4C}"/>
              </a:ext>
            </a:extLst>
          </p:cNvPr>
          <p:cNvSpPr/>
          <p:nvPr/>
        </p:nvSpPr>
        <p:spPr>
          <a:xfrm>
            <a:off x="4953000" y="2381167"/>
            <a:ext cx="1346200" cy="4417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ハンズオン⑧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599FAE-69F3-324D-8B55-F95586FBA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05272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5B21D-50FB-4189-BBCD-C6B69E72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2800" dirty="0"/>
              <a:t>3. </a:t>
            </a:r>
            <a:r>
              <a:rPr lang="ja-JP" altLang="en-US" sz="2800"/>
              <a:t>アプリ</a:t>
            </a:r>
            <a:r>
              <a:rPr lang="ja-JP" altLang="en-US" sz="2800" dirty="0"/>
              <a:t>の</a:t>
            </a:r>
            <a:r>
              <a:rPr lang="en-US" altLang="ja-JP" sz="2800" dirty="0"/>
              <a:t>『JavaScript / CSS</a:t>
            </a:r>
            <a:r>
              <a:rPr lang="ja-JP" altLang="en-US" sz="2800" dirty="0"/>
              <a:t>でカスタマイズ</a:t>
            </a:r>
            <a:r>
              <a:rPr lang="en-US" altLang="ja-JP" sz="2800" dirty="0"/>
              <a:t>』</a:t>
            </a:r>
            <a:r>
              <a:rPr lang="ja-JP" altLang="en-US" sz="2800" dirty="0"/>
              <a:t>設定にファイルをアップする</a:t>
            </a:r>
            <a:endParaRPr kumimoji="1" lang="ja-JP" altLang="en-US" sz="28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ハンズオン⑧</a:t>
            </a:r>
          </a:p>
        </p:txBody>
      </p:sp>
      <p:sp>
        <p:nvSpPr>
          <p:cNvPr id="7" name="コンテンツ プレースホルダー 5"/>
          <p:cNvSpPr txBox="1">
            <a:spLocks/>
          </p:cNvSpPr>
          <p:nvPr/>
        </p:nvSpPr>
        <p:spPr>
          <a:xfrm>
            <a:off x="6921694" y="4100149"/>
            <a:ext cx="4979793" cy="8720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※</a:t>
            </a: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 この後、設定を保存して、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　アプリを更新するようにしましょう。</a:t>
            </a:r>
            <a:endParaRPr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35A63FD-71CE-40F6-832F-6D9619CB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31" y="1730749"/>
            <a:ext cx="5136696" cy="4363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187F61B-AB73-4154-9FE5-8D6D84DB2CA1}"/>
              </a:ext>
            </a:extLst>
          </p:cNvPr>
          <p:cNvSpPr/>
          <p:nvPr/>
        </p:nvSpPr>
        <p:spPr>
          <a:xfrm>
            <a:off x="1455185" y="3565941"/>
            <a:ext cx="4090970" cy="8882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BE1ED7-AC4B-8843-B506-B9D932853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97946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D8361-C5E0-4A68-9C69-3250C7EB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4.</a:t>
            </a:r>
            <a:r>
              <a:rPr lang="ja-JP" altLang="en-US"/>
              <a:t> 設定</a:t>
            </a:r>
            <a:r>
              <a:rPr lang="ja-JP" altLang="en-US" dirty="0"/>
              <a:t>を保存して動きを確認する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FCFA33-A19B-4FE1-8E71-2D899F2D860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4638676"/>
            <a:ext cx="10909300" cy="706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先程のコード内容</a:t>
            </a:r>
            <a:r>
              <a:rPr lang="ja-JP" altLang="en-US"/>
              <a:t>だと、レコード</a:t>
            </a:r>
            <a:r>
              <a:rPr lang="ja-JP" altLang="en-US" dirty="0"/>
              <a:t>一覧画面でアラートが表示されます。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D7B4256-5034-4179-856F-CC5EA97D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974" y="2360646"/>
            <a:ext cx="8544052" cy="1765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B02CAE-76AF-48CF-9A04-82047894FF85}"/>
              </a:ext>
            </a:extLst>
          </p:cNvPr>
          <p:cNvSpPr txBox="1"/>
          <p:nvPr/>
        </p:nvSpPr>
        <p:spPr>
          <a:xfrm>
            <a:off x="0" y="0"/>
            <a:ext cx="1925527" cy="461665"/>
          </a:xfrm>
          <a:prstGeom prst="rect">
            <a:avLst/>
          </a:prstGeom>
          <a:solidFill>
            <a:srgbClr val="3E8FA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ハンズオン⑧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D1E9E2-3E61-0A4C-B025-2A262AD76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64081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12A45-56C1-4392-A49A-088967BCE6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02284"/>
            <a:ext cx="10515600" cy="1325563"/>
          </a:xfrm>
        </p:spPr>
        <p:txBody>
          <a:bodyPr/>
          <a:lstStyle/>
          <a:p>
            <a:r>
              <a:rPr lang="ja-JP" altLang="en-US"/>
              <a:t>カスタマイズ課題に挑戦してみましょう！</a:t>
            </a:r>
            <a:endParaRPr kumimoji="1" lang="ja-JP" altLang="en-US" dirty="0"/>
          </a:p>
        </p:txBody>
      </p:sp>
      <p:pic>
        <p:nvPicPr>
          <p:cNvPr id="15" name="Picture 2" descr="https://3.bp.blogspot.com/-Sfnr59bSe0M/VuIN_AvpqMI/AAAAAAAA4uY/81t-5A8UtFotGgw6TNTZauvW3ol5QnbIg/s800/school_sensei_kokuban_woman.png">
            <a:extLst>
              <a:ext uri="{FF2B5EF4-FFF2-40B4-BE49-F238E27FC236}">
                <a16:creationId xmlns:a16="http://schemas.microsoft.com/office/drawing/2014/main" id="{A72BA59E-D754-4EBB-A204-06D9FBB49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521" y="2226609"/>
            <a:ext cx="4292035" cy="32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2">
            <a:extLst>
              <a:ext uri="{FF2B5EF4-FFF2-40B4-BE49-F238E27FC236}">
                <a16:creationId xmlns:a16="http://schemas.microsoft.com/office/drawing/2014/main" id="{61F3F766-9FFA-4B01-8089-D00EC7D32AB4}"/>
              </a:ext>
            </a:extLst>
          </p:cNvPr>
          <p:cNvSpPr txBox="1"/>
          <p:nvPr/>
        </p:nvSpPr>
        <p:spPr>
          <a:xfrm>
            <a:off x="6931232" y="2554648"/>
            <a:ext cx="32111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Q.</a:t>
            </a:r>
            <a:r>
              <a:rPr kumimoji="1" lang="ja-JP" altLang="en-US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 </a:t>
            </a:r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How do you calculate the</a:t>
            </a:r>
          </a:p>
          <a:p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    value of the field that</a:t>
            </a:r>
          </a:p>
          <a:p>
            <a:r>
              <a:rPr kumimoji="1" lang="en-US" altLang="ja-JP" sz="2000">
                <a:solidFill>
                  <a:schemeClr val="bg1"/>
                </a:solidFill>
                <a:latin typeface="ＭＳ Ｐゴシック" panose="020B0600070205080204" pitchFamily="50" charset="-128"/>
                <a:cs typeface="Consolas" panose="020B0609020204030204" pitchFamily="49" charset="0"/>
              </a:rPr>
              <a:t>    triggers by the button?</a:t>
            </a:r>
            <a:endParaRPr kumimoji="1" lang="ja-JP" altLang="en-US" sz="2000" dirty="0">
              <a:solidFill>
                <a:schemeClr val="bg1"/>
              </a:solidFill>
              <a:latin typeface="ＭＳ Ｐゴシック" panose="020B0600070205080204" pitchFamily="50" charset="-128"/>
              <a:cs typeface="Consolas" panose="020B0609020204030204" pitchFamily="49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89E35F6-D409-4C8E-A479-DA99783867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571" y="3370634"/>
            <a:ext cx="1904852" cy="176436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10239AC-5DCB-4D43-AAD4-3735ED1B7F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661" y="3370634"/>
            <a:ext cx="1904853" cy="1764370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8302F5-1E64-4546-A038-F70C7456B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69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16599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問題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838199" y="1535000"/>
            <a:ext cx="10848975" cy="1112837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問い合わせ管理アプリの</a:t>
            </a:r>
            <a:r>
              <a:rPr lang="ja-JP" altLang="en-US" dirty="0">
                <a:solidFill>
                  <a:srgbClr val="FF0000"/>
                </a:solidFill>
              </a:rPr>
              <a:t>レコードの追加画面が表示された時</a:t>
            </a:r>
            <a:r>
              <a:rPr lang="en-US" altLang="ja-JP" dirty="0"/>
              <a:t>(</a:t>
            </a:r>
            <a:r>
              <a:rPr lang="ja-JP" altLang="en-US" dirty="0"/>
              <a:t>フォームの入力時</a:t>
            </a:r>
            <a:r>
              <a:rPr lang="en-US" altLang="ja-JP" dirty="0"/>
              <a:t>)</a:t>
            </a:r>
            <a:r>
              <a:rPr lang="ja-JP" altLang="en-US" dirty="0"/>
              <a:t>に、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 dirty="0">
                <a:solidFill>
                  <a:srgbClr val="FF0000"/>
                </a:solidFill>
              </a:rPr>
              <a:t>期限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>
                <a:solidFill>
                  <a:srgbClr val="FF0000"/>
                </a:solidFill>
              </a:rPr>
              <a:t>フィールド</a:t>
            </a:r>
            <a:r>
              <a:rPr lang="ja-JP" altLang="en-US"/>
              <a:t>を</a:t>
            </a:r>
            <a:r>
              <a:rPr lang="ja-JP" altLang="en-US">
                <a:solidFill>
                  <a:srgbClr val="FF0000"/>
                </a:solidFill>
              </a:rPr>
              <a:t>編集不可</a:t>
            </a:r>
            <a:r>
              <a:rPr lang="ja-JP" altLang="en-US"/>
              <a:t>にする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4F4853-8BB1-42AA-ADD5-B3D493B76C85}"/>
              </a:ext>
            </a:extLst>
          </p:cNvPr>
          <p:cNvSpPr txBox="1"/>
          <p:nvPr/>
        </p:nvSpPr>
        <p:spPr>
          <a:xfrm>
            <a:off x="1234412" y="2443433"/>
            <a:ext cx="8266775" cy="283154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(function() {    </a:t>
            </a:r>
          </a:p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'use strict';</a:t>
            </a:r>
          </a:p>
          <a:p>
            <a:endParaRPr kumimoji="1" lang="en-US" altLang="ja-JP" sz="16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function </a:t>
            </a:r>
            <a:r>
              <a:rPr kumimoji="1"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disableKigen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(event){</a:t>
            </a:r>
          </a:p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    </a:t>
            </a:r>
            <a:r>
              <a:rPr kumimoji="1"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event.record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.                               = true;</a:t>
            </a:r>
          </a:p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    return event;</a:t>
            </a:r>
          </a:p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}</a:t>
            </a:r>
          </a:p>
          <a:p>
            <a:endParaRPr kumimoji="1" lang="en-US" altLang="ja-JP" sz="16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kumimoji="1"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('                       ', </a:t>
            </a:r>
            <a:r>
              <a:rPr kumimoji="1"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disableKigen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</a:p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})();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C628050-C742-4445-80F6-E6B8766B7236}"/>
              </a:ext>
            </a:extLst>
          </p:cNvPr>
          <p:cNvSpPr/>
          <p:nvPr/>
        </p:nvSpPr>
        <p:spPr>
          <a:xfrm>
            <a:off x="4046275" y="4597741"/>
            <a:ext cx="2393380" cy="244199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イベント名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8AA31C3-9594-4507-8AC4-071BB9E29F89}"/>
              </a:ext>
            </a:extLst>
          </p:cNvPr>
          <p:cNvSpPr/>
          <p:nvPr/>
        </p:nvSpPr>
        <p:spPr>
          <a:xfrm>
            <a:off x="3818713" y="3608406"/>
            <a:ext cx="3307819" cy="271849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イベントオブジェクトに変更を与える処理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90328D-5B51-4769-9529-82B1278A9C0C}"/>
              </a:ext>
            </a:extLst>
          </p:cNvPr>
          <p:cNvSpPr txBox="1"/>
          <p:nvPr/>
        </p:nvSpPr>
        <p:spPr>
          <a:xfrm>
            <a:off x="1234413" y="5596758"/>
            <a:ext cx="95975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※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 ハンズオン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⑧の通りに、コードをテキストエディタに記載し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 に 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js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ファイル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アップロードし、</a:t>
            </a:r>
            <a:br>
              <a:rPr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</a:br>
            <a:r>
              <a:rPr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   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実際に 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の画面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でコードが動くかどうかを確認しよう！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FBB6449-4F38-450E-811B-F7E78C82C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09" y="3653845"/>
            <a:ext cx="1190625" cy="866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F4E16B11-4485-5046-977B-32DD14EBF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25299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問題</a:t>
            </a:r>
            <a:r>
              <a:rPr kumimoji="1" lang="en-US" altLang="ja-JP" dirty="0"/>
              <a:t>1</a:t>
            </a:r>
            <a:r>
              <a:rPr kumimoji="1" lang="ja-JP" altLang="en-US"/>
              <a:t>の答え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838199" y="1535000"/>
            <a:ext cx="10848975" cy="1112837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問い合わせ管理アプリの</a:t>
            </a:r>
            <a:r>
              <a:rPr lang="ja-JP" altLang="en-US" dirty="0">
                <a:solidFill>
                  <a:srgbClr val="FF0000"/>
                </a:solidFill>
              </a:rPr>
              <a:t>レコードの追加画面が表示された時</a:t>
            </a:r>
            <a:r>
              <a:rPr lang="en-US" altLang="ja-JP" dirty="0"/>
              <a:t>(</a:t>
            </a:r>
            <a:r>
              <a:rPr lang="ja-JP" altLang="en-US" dirty="0"/>
              <a:t>フォームの入力時</a:t>
            </a:r>
            <a:r>
              <a:rPr lang="en-US" altLang="ja-JP" dirty="0"/>
              <a:t>)</a:t>
            </a:r>
            <a:r>
              <a:rPr lang="ja-JP" altLang="en-US" dirty="0"/>
              <a:t>に、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 dirty="0">
                <a:solidFill>
                  <a:srgbClr val="FF0000"/>
                </a:solidFill>
              </a:rPr>
              <a:t>期限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>
                <a:solidFill>
                  <a:srgbClr val="FF0000"/>
                </a:solidFill>
              </a:rPr>
              <a:t>フィールド</a:t>
            </a:r>
            <a:r>
              <a:rPr lang="ja-JP" altLang="en-US"/>
              <a:t>を</a:t>
            </a:r>
            <a:r>
              <a:rPr lang="ja-JP" altLang="en-US">
                <a:solidFill>
                  <a:srgbClr val="FF0000"/>
                </a:solidFill>
              </a:rPr>
              <a:t>編集不可</a:t>
            </a:r>
            <a:r>
              <a:rPr lang="ja-JP" altLang="en-US"/>
              <a:t>にする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4F4853-8BB1-42AA-ADD5-B3D493B76C85}"/>
              </a:ext>
            </a:extLst>
          </p:cNvPr>
          <p:cNvSpPr txBox="1"/>
          <p:nvPr/>
        </p:nvSpPr>
        <p:spPr>
          <a:xfrm>
            <a:off x="1234412" y="2443433"/>
            <a:ext cx="9035003" cy="344709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(function() {    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'use strict';</a:t>
            </a:r>
          </a:p>
          <a:p>
            <a:endParaRPr kumimoji="1" lang="en-US" altLang="ja-JP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function 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disableKigen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(event){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    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event.record.LimitDay.disabled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= true;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    return event;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}</a:t>
            </a:r>
          </a:p>
          <a:p>
            <a:endParaRPr kumimoji="1" lang="en-US" altLang="ja-JP" sz="2000" dirty="0">
              <a:solidFill>
                <a:schemeClr val="bg1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    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kintone.events.on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(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app.record.create.show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', 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disableKigen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);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})();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FBB6449-4F38-450E-811B-F7E78C82C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309" y="3653845"/>
            <a:ext cx="1190625" cy="866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F4E16B11-4485-5046-977B-32DD14EBF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014727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315421-68C4-4368-A28D-91D92BF7C162}"/>
              </a:ext>
            </a:extLst>
          </p:cNvPr>
          <p:cNvSpPr txBox="1"/>
          <p:nvPr/>
        </p:nvSpPr>
        <p:spPr>
          <a:xfrm>
            <a:off x="1320138" y="2514873"/>
            <a:ext cx="8033414" cy="283154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(function() {</a:t>
            </a:r>
          </a:p>
          <a:p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'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 strict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ja-JP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function 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enterText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(event){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event.record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                                           ;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 event;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kintone.events.on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kumimoji="1"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enterText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})();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問題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1093788" y="1535113"/>
            <a:ext cx="11098212" cy="1112837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問い合わせ管理アプリの</a:t>
            </a:r>
            <a:r>
              <a:rPr lang="ja-JP" altLang="en-US">
                <a:solidFill>
                  <a:srgbClr val="FF0000"/>
                </a:solidFill>
              </a:rPr>
              <a:t>レコード保存時</a:t>
            </a:r>
            <a:r>
              <a:rPr lang="ja-JP" altLang="en-US"/>
              <a:t>に、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>
                <a:solidFill>
                  <a:srgbClr val="FF0000"/>
                </a:solidFill>
              </a:rPr>
              <a:t>詳細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>
                <a:solidFill>
                  <a:srgbClr val="FF0000"/>
                </a:solidFill>
              </a:rPr>
              <a:t>フィールド</a:t>
            </a:r>
            <a:r>
              <a:rPr lang="ja-JP" altLang="en-US"/>
              <a:t>に自動的に</a:t>
            </a:r>
            <a:r>
              <a:rPr lang="en-US" altLang="ja-JP" dirty="0"/>
              <a:t>『</a:t>
            </a:r>
            <a:r>
              <a:rPr lang="en-US" altLang="ja-JP" dirty="0" err="1"/>
              <a:t>kintone</a:t>
            </a:r>
            <a:r>
              <a:rPr lang="ja-JP" altLang="en-US"/>
              <a:t>カスタマイズバンザイ</a:t>
            </a:r>
            <a:r>
              <a:rPr lang="en-US" altLang="ja-JP" dirty="0"/>
              <a:t>』</a:t>
            </a:r>
            <a:r>
              <a:rPr lang="ja-JP" altLang="en-US"/>
              <a:t>という</a:t>
            </a:r>
            <a:r>
              <a:rPr lang="ja-JP" altLang="en-US">
                <a:solidFill>
                  <a:srgbClr val="FF0000"/>
                </a:solidFill>
              </a:rPr>
              <a:t>文字列を挿入</a:t>
            </a:r>
            <a:r>
              <a:rPr lang="ja-JP" altLang="en-US"/>
              <a:t>する。</a:t>
            </a:r>
            <a:endParaRPr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C628050-C742-4445-80F6-E6B8766B7236}"/>
              </a:ext>
            </a:extLst>
          </p:cNvPr>
          <p:cNvSpPr/>
          <p:nvPr/>
        </p:nvSpPr>
        <p:spPr>
          <a:xfrm>
            <a:off x="4102362" y="4657857"/>
            <a:ext cx="2548480" cy="244199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イベント名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8AA31C3-9594-4507-8AC4-071BB9E29F89}"/>
              </a:ext>
            </a:extLst>
          </p:cNvPr>
          <p:cNvSpPr/>
          <p:nvPr/>
        </p:nvSpPr>
        <p:spPr>
          <a:xfrm>
            <a:off x="3970096" y="3659085"/>
            <a:ext cx="4402708" cy="271849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イベントオブジェクトに変更を与える処理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90328D-5B51-4769-9529-82B1278A9C0C}"/>
              </a:ext>
            </a:extLst>
          </p:cNvPr>
          <p:cNvSpPr txBox="1"/>
          <p:nvPr/>
        </p:nvSpPr>
        <p:spPr>
          <a:xfrm>
            <a:off x="1320138" y="5694818"/>
            <a:ext cx="9526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※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 ハンズオン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⑧の通りに、コードをテキストエディタに記載し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 に 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js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ファイル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アップロードし、</a:t>
            </a:r>
            <a:endParaRPr lang="en-US" altLang="ja-JP" sz="1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   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実際に 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の画面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でコードが動くかどうかを確認しよう！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FD702A96-37A6-3446-9FAC-1C1CE63E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842161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315421-68C4-4368-A28D-91D92BF7C162}"/>
              </a:ext>
            </a:extLst>
          </p:cNvPr>
          <p:cNvSpPr txBox="1"/>
          <p:nvPr/>
        </p:nvSpPr>
        <p:spPr>
          <a:xfrm>
            <a:off x="1320138" y="2514873"/>
            <a:ext cx="9160294" cy="344709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(function() {</a:t>
            </a:r>
          </a:p>
          <a:p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'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 strict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altLang="ja-JP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function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enterText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event.record.Detail.value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</a:t>
            </a:r>
            <a:r>
              <a:rPr lang="en-US" altLang="ja-JP" sz="2000" dirty="0" err="1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kintone</a:t>
            </a:r>
            <a:r>
              <a:rPr lang="ja-JP" altLang="en-US" sz="20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カスタマイズバンザイ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’;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event;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kintone.events.on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kumimoji="1"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app.record.edit.submit</a:t>
            </a:r>
            <a:r>
              <a:rPr kumimoji="1"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enterText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})();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問題</a:t>
            </a:r>
            <a:r>
              <a:rPr kumimoji="1" lang="en-US" altLang="ja-JP" dirty="0"/>
              <a:t>2</a:t>
            </a:r>
            <a:r>
              <a:rPr kumimoji="1" lang="ja-JP" altLang="en-US"/>
              <a:t>の答え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1093788" y="1535113"/>
            <a:ext cx="11098212" cy="1112837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問い合わせ管理アプリの</a:t>
            </a:r>
            <a:r>
              <a:rPr lang="ja-JP" altLang="en-US">
                <a:solidFill>
                  <a:srgbClr val="FF0000"/>
                </a:solidFill>
              </a:rPr>
              <a:t>レコード保存時</a:t>
            </a:r>
            <a:r>
              <a:rPr lang="ja-JP" altLang="en-US"/>
              <a:t>に、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>
                <a:solidFill>
                  <a:srgbClr val="FF0000"/>
                </a:solidFill>
              </a:rPr>
              <a:t>詳細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>
                <a:solidFill>
                  <a:srgbClr val="FF0000"/>
                </a:solidFill>
              </a:rPr>
              <a:t>フィールド</a:t>
            </a:r>
            <a:r>
              <a:rPr lang="ja-JP" altLang="en-US"/>
              <a:t>に自動的に</a:t>
            </a:r>
            <a:r>
              <a:rPr lang="en-US" altLang="ja-JP" dirty="0"/>
              <a:t>『</a:t>
            </a:r>
            <a:r>
              <a:rPr lang="en-US" altLang="ja-JP" dirty="0" err="1"/>
              <a:t>kintone</a:t>
            </a:r>
            <a:r>
              <a:rPr lang="ja-JP" altLang="en-US"/>
              <a:t>カスタマイズバンザイ</a:t>
            </a:r>
            <a:r>
              <a:rPr lang="en-US" altLang="ja-JP" dirty="0"/>
              <a:t>』</a:t>
            </a:r>
            <a:r>
              <a:rPr lang="ja-JP" altLang="en-US"/>
              <a:t>という</a:t>
            </a:r>
            <a:r>
              <a:rPr lang="ja-JP" altLang="en-US">
                <a:solidFill>
                  <a:srgbClr val="FF0000"/>
                </a:solidFill>
              </a:rPr>
              <a:t>文字列を挿入</a:t>
            </a:r>
            <a:r>
              <a:rPr lang="ja-JP" altLang="en-US"/>
              <a:t>する。</a:t>
            </a:r>
            <a:endParaRPr lang="ja-JP" alt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FD702A96-37A6-3446-9FAC-1C1CE63E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072426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315421-68C4-4368-A28D-91D92BF7C162}"/>
              </a:ext>
            </a:extLst>
          </p:cNvPr>
          <p:cNvSpPr txBox="1"/>
          <p:nvPr/>
        </p:nvSpPr>
        <p:spPr>
          <a:xfrm>
            <a:off x="1234412" y="2645442"/>
            <a:ext cx="8323925" cy="30777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(function() {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'use strict’;</a:t>
            </a:r>
          </a:p>
          <a:p>
            <a:endParaRPr lang="en-US" altLang="ja-JP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function 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displayGanbatte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(event){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event.nextStatus.value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=== '</a:t>
            </a:r>
            <a:r>
              <a:rPr lang="ja-JP" altLang="en-US" sz="16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処理中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'){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alert('</a:t>
            </a:r>
            <a:r>
              <a:rPr lang="ja-JP" altLang="en-US" sz="16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頑張ってください</a:t>
            </a:r>
            <a:r>
              <a:rPr lang="en-US" altLang="ja-JP" sz="16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!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');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US" altLang="ja-JP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kintone.events.on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                           ', </a:t>
            </a:r>
            <a:r>
              <a:rPr lang="en-US" altLang="ja-JP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displayGanbatte</a:t>
            </a:r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})();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問題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838200" y="1532605"/>
            <a:ext cx="11077575" cy="11128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ja-JP" altLang="en-US"/>
              <a:t>問い合わせ管理アプリの</a:t>
            </a:r>
            <a:r>
              <a:rPr lang="ja-JP" altLang="en-US">
                <a:solidFill>
                  <a:srgbClr val="FF0000"/>
                </a:solidFill>
              </a:rPr>
              <a:t>プロセス管理のアクション実行時</a:t>
            </a:r>
            <a:r>
              <a:rPr lang="ja-JP" altLang="en-US"/>
              <a:t>に、</a:t>
            </a:r>
            <a:r>
              <a:rPr lang="ja-JP" altLang="en-US">
                <a:solidFill>
                  <a:srgbClr val="FF0000"/>
                </a:solidFill>
              </a:rPr>
              <a:t>ステータスが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>
                <a:solidFill>
                  <a:srgbClr val="FF0000"/>
                </a:solidFill>
              </a:rPr>
              <a:t>処理中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/>
              <a:t>になった場合、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>
                <a:solidFill>
                  <a:srgbClr val="FF0000"/>
                </a:solidFill>
              </a:rPr>
              <a:t>頑張ってください！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>
                <a:solidFill>
                  <a:srgbClr val="FF0000"/>
                </a:solidFill>
              </a:rPr>
              <a:t>という内容のアラートを表示</a:t>
            </a:r>
            <a:r>
              <a:rPr lang="ja-JP" altLang="en-US"/>
              <a:t>する</a:t>
            </a:r>
            <a:endParaRPr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C628050-C742-4445-80F6-E6B8766B7236}"/>
              </a:ext>
            </a:extLst>
          </p:cNvPr>
          <p:cNvSpPr/>
          <p:nvPr/>
        </p:nvSpPr>
        <p:spPr>
          <a:xfrm>
            <a:off x="4086227" y="4994579"/>
            <a:ext cx="2743200" cy="265502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イベント名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8AA31C3-9594-4507-8AC4-071BB9E29F89}"/>
              </a:ext>
            </a:extLst>
          </p:cNvPr>
          <p:cNvSpPr/>
          <p:nvPr/>
        </p:nvSpPr>
        <p:spPr>
          <a:xfrm>
            <a:off x="2756245" y="3768650"/>
            <a:ext cx="2743200" cy="265502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>
                <a:solidFill>
                  <a:schemeClr val="tx1"/>
                </a:solidFill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イベントオブジェクトのプロパティ</a:t>
            </a:r>
            <a:endParaRPr kumimoji="1" lang="ja-JP" altLang="en-US" sz="1200" b="1" dirty="0">
              <a:solidFill>
                <a:schemeClr val="tx1"/>
              </a:solidFill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90328D-5B51-4769-9529-82B1278A9C0C}"/>
              </a:ext>
            </a:extLst>
          </p:cNvPr>
          <p:cNvSpPr txBox="1"/>
          <p:nvPr/>
        </p:nvSpPr>
        <p:spPr>
          <a:xfrm>
            <a:off x="1234411" y="5774625"/>
            <a:ext cx="982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※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 ハンズオン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⑧の通りに、コードをテキストエディタに記載し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、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 に 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js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ファイル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を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アップロードし、</a:t>
            </a:r>
            <a:endParaRPr kumimoji="1" lang="en-US" altLang="ja-JP" sz="1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　実際に </a:t>
            </a:r>
            <a:r>
              <a:rPr kumimoji="1" lang="en-US" altLang="ja-JP" sz="16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</a:t>
            </a:r>
            <a:r>
              <a:rPr kumimoji="1" lang="en-US" altLang="ja-JP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 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の画面</a:t>
            </a:r>
            <a:r>
              <a:rPr kumimoji="1" lang="ja-JP" altLang="en-US" sz="1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でコードが動くかどうかを確認</a:t>
            </a:r>
            <a:r>
              <a:rPr kumimoji="1" lang="ja-JP" altLang="en-US" sz="1600">
                <a:latin typeface="GenEi Gothic P" panose="020B0500000000000000" pitchFamily="34" charset="-128"/>
                <a:ea typeface="GenEi Gothic P" panose="020B0500000000000000" pitchFamily="34" charset="-128"/>
              </a:rPr>
              <a:t>しよう！（プロセス管理を有効にする必要があります）</a:t>
            </a:r>
            <a:endParaRPr kumimoji="1" lang="ja-JP" altLang="en-US" sz="1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D330001C-EB09-834A-A0B6-71A10478D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985041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315421-68C4-4368-A28D-91D92BF7C162}"/>
              </a:ext>
            </a:extLst>
          </p:cNvPr>
          <p:cNvSpPr txBox="1"/>
          <p:nvPr/>
        </p:nvSpPr>
        <p:spPr>
          <a:xfrm>
            <a:off x="838200" y="2335122"/>
            <a:ext cx="11077575" cy="375487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(function() 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'use strict’;</a:t>
            </a:r>
          </a:p>
          <a:p>
            <a:endParaRPr lang="en-US" altLang="ja-JP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function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displayGanbatte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event.nextStatus.value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=== '</a:t>
            </a:r>
            <a:r>
              <a:rPr lang="ja-JP" altLang="en-US" sz="20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処理中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'){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alert('</a:t>
            </a:r>
            <a:r>
              <a:rPr lang="ja-JP" altLang="en-US" sz="200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頑張ってください</a:t>
            </a:r>
            <a:r>
              <a:rPr lang="en-US" altLang="ja-JP" sz="2000" dirty="0">
                <a:solidFill>
                  <a:schemeClr val="bg1"/>
                </a:solidFill>
                <a:latin typeface="GenEi Gothic P" panose="020B0500000000000000" pitchFamily="34" charset="-128"/>
                <a:ea typeface="GenEi Gothic P" panose="020B0500000000000000" pitchFamily="34" charset="-128"/>
                <a:cs typeface="Consolas" panose="020B0609020204030204" pitchFamily="49" charset="0"/>
              </a:rPr>
              <a:t>!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');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US" altLang="ja-JP" sz="20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kintone.events.on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app.record.detail.process.proceed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 </a:t>
            </a:r>
            <a:r>
              <a:rPr lang="en-US" altLang="ja-JP" sz="20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displayGanbatte</a:t>
            </a:r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altLang="ja-JP" sz="2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})();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問題</a:t>
            </a:r>
            <a:r>
              <a:rPr lang="en-US" altLang="ja-JP" dirty="0"/>
              <a:t>3</a:t>
            </a:r>
            <a:r>
              <a:rPr lang="ja-JP" altLang="en-US"/>
              <a:t>の答え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4294967295"/>
          </p:nvPr>
        </p:nvSpPr>
        <p:spPr>
          <a:xfrm>
            <a:off x="838200" y="1532605"/>
            <a:ext cx="11077575" cy="11128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ja-JP" altLang="en-US"/>
              <a:t>問い合わせ管理アプリの</a:t>
            </a:r>
            <a:r>
              <a:rPr lang="ja-JP" altLang="en-US">
                <a:solidFill>
                  <a:srgbClr val="FF0000"/>
                </a:solidFill>
              </a:rPr>
              <a:t>プロセス管理のアクション実行時</a:t>
            </a:r>
            <a:r>
              <a:rPr lang="ja-JP" altLang="en-US"/>
              <a:t>に、</a:t>
            </a:r>
            <a:r>
              <a:rPr lang="ja-JP" altLang="en-US">
                <a:solidFill>
                  <a:srgbClr val="FF0000"/>
                </a:solidFill>
              </a:rPr>
              <a:t>ステータスが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>
                <a:solidFill>
                  <a:srgbClr val="FF0000"/>
                </a:solidFill>
              </a:rPr>
              <a:t>処理中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/>
              <a:t>になった場合、</a:t>
            </a:r>
            <a:r>
              <a:rPr lang="en-US" altLang="ja-JP" dirty="0">
                <a:solidFill>
                  <a:srgbClr val="FF0000"/>
                </a:solidFill>
              </a:rPr>
              <a:t>『</a:t>
            </a:r>
            <a:r>
              <a:rPr lang="ja-JP" altLang="en-US">
                <a:solidFill>
                  <a:srgbClr val="FF0000"/>
                </a:solidFill>
              </a:rPr>
              <a:t>頑張ってください！</a:t>
            </a:r>
            <a:r>
              <a:rPr lang="en-US" altLang="ja-JP" dirty="0">
                <a:solidFill>
                  <a:srgbClr val="FF0000"/>
                </a:solidFill>
              </a:rPr>
              <a:t>』</a:t>
            </a:r>
            <a:r>
              <a:rPr lang="ja-JP" altLang="en-US">
                <a:solidFill>
                  <a:srgbClr val="FF0000"/>
                </a:solidFill>
              </a:rPr>
              <a:t>という内容のアラートを表示</a:t>
            </a:r>
            <a:r>
              <a:rPr lang="ja-JP" altLang="en-US"/>
              <a:t>する</a:t>
            </a:r>
            <a:endParaRPr lang="ja-JP" altLang="en-US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D330001C-EB09-834A-A0B6-71A10478D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971920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CCCCD-4362-4E0D-B32D-865A99B6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7958"/>
            <a:ext cx="9144000" cy="1022083"/>
          </a:xfrm>
        </p:spPr>
        <p:txBody>
          <a:bodyPr>
            <a:normAutofit/>
          </a:bodyPr>
          <a:lstStyle/>
          <a:p>
            <a:r>
              <a:rPr kumimoji="1" lang="en-US" altLang="ja-JP" sz="5400" dirty="0">
                <a:solidFill>
                  <a:schemeClr val="bg1"/>
                </a:solidFill>
              </a:rPr>
              <a:t>API </a:t>
            </a:r>
            <a:r>
              <a:rPr kumimoji="1" lang="ja-JP" altLang="en-US" sz="5400">
                <a:solidFill>
                  <a:schemeClr val="bg1"/>
                </a:solidFill>
              </a:rPr>
              <a:t>ドキュメント</a:t>
            </a:r>
            <a:r>
              <a:rPr lang="ja-JP" altLang="en-US" sz="5400">
                <a:solidFill>
                  <a:schemeClr val="bg1"/>
                </a:solidFill>
              </a:rPr>
              <a:t>の確認方法</a:t>
            </a:r>
            <a:endParaRPr kumimoji="1" lang="ja-JP" altLang="en-US" sz="5400" dirty="0">
              <a:solidFill>
                <a:schemeClr val="bg1"/>
              </a:solidFill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9AAE4F-963F-754C-8C88-DA4C98E89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682025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5EB35A-DDF4-4BFC-84B8-24FD2201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cybozu</a:t>
            </a:r>
            <a:r>
              <a:rPr kumimoji="1" lang="en-US" altLang="ja-JP" dirty="0"/>
              <a:t> developer network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109DB7-171A-41D5-8EDF-3AE3E235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125" y="1587937"/>
            <a:ext cx="8159750" cy="42645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584FF8B-A45B-4D3E-8E18-EC8340E25C08}"/>
              </a:ext>
            </a:extLst>
          </p:cNvPr>
          <p:cNvSpPr/>
          <p:nvPr/>
        </p:nvSpPr>
        <p:spPr>
          <a:xfrm>
            <a:off x="4099299" y="5852498"/>
            <a:ext cx="39934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>
                <a:latin typeface="GenEi Gothic P" panose="020B0500000000000000" pitchFamily="34" charset="-128"/>
                <a:ea typeface="GenEi Gothic P" panose="020B0500000000000000" pitchFamily="34" charset="-128"/>
                <a:hlinkClick r:id="rId3"/>
              </a:rPr>
              <a:t>https://developer.cybozu.io/hc/ja</a:t>
            </a:r>
            <a:endParaRPr lang="en-US" altLang="ja-JP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390702-B391-5B41-9FB6-FACB7C8AE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963680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7CA515-6EE2-471C-A813-9D66B4DB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API </a:t>
            </a:r>
            <a:r>
              <a:rPr kumimoji="1" lang="ja-JP" altLang="en-US"/>
              <a:t>ドキュメント</a:t>
            </a:r>
            <a:r>
              <a:rPr kumimoji="1" lang="ja-JP" altLang="en-US" dirty="0"/>
              <a:t>の確認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6C6C4B1-7698-471C-8021-8215A8661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463" y="1390646"/>
            <a:ext cx="7648924" cy="49163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テキスト ボックス 4"/>
          <p:cNvSpPr txBox="1"/>
          <p:nvPr/>
        </p:nvSpPr>
        <p:spPr>
          <a:xfrm>
            <a:off x="4928940" y="3317843"/>
            <a:ext cx="700715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イベントの使い方や、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イベントオブジェクトで返される</a:t>
            </a:r>
            <a:r>
              <a:rPr kumimoji="1" lang="ja-JP" altLang="en-US" sz="24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プロパティの説明などが</a:t>
            </a:r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入っています。</a:t>
            </a:r>
            <a:endParaRPr kumimoji="1" lang="en-US" altLang="ja-JP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B6953B-C288-934F-8B4E-0CA9BB5EC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093423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36123D-7FDE-4706-97FB-4006DE27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Tips</a:t>
            </a:r>
            <a:r>
              <a:rPr lang="ja-JP" altLang="en-US"/>
              <a:t> </a:t>
            </a:r>
            <a:r>
              <a:rPr kumimoji="1" lang="ja-JP" altLang="en-US"/>
              <a:t>の</a:t>
            </a:r>
            <a:r>
              <a:rPr kumimoji="1" lang="ja-JP" altLang="en-US" dirty="0"/>
              <a:t>確認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4B33E59-F52E-4C0C-A611-3DA99092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993" y="1407651"/>
            <a:ext cx="6998013" cy="4872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テキスト ボックス 4"/>
          <p:cNvSpPr txBox="1"/>
          <p:nvPr/>
        </p:nvSpPr>
        <p:spPr>
          <a:xfrm>
            <a:off x="8023850" y="3439600"/>
            <a:ext cx="3153231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GenEi Gothic P" panose="020B0500000000000000" pitchFamily="34" charset="-128"/>
                <a:ea typeface="GenEi Gothic P" panose="020B0500000000000000" pitchFamily="34" charset="-128"/>
              </a:rPr>
              <a:t>サンプルコードが沢山掲載されています</a:t>
            </a:r>
            <a:endParaRPr kumimoji="1" lang="ja-JP" altLang="en-US" sz="24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E3601D-7D4D-E541-99BC-64A74142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79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301839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B00F7-8D0E-4071-A697-CC6D4948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/>
              <a:t>分からない</a:t>
            </a:r>
            <a:r>
              <a:rPr kumimoji="1" lang="ja-JP" altLang="en-US" sz="3200"/>
              <a:t>ことがあれば、コミュニティ</a:t>
            </a:r>
            <a:r>
              <a:rPr kumimoji="1" lang="ja-JP" altLang="en-US" sz="3200" dirty="0"/>
              <a:t>に投稿してみよう！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5D84D86-8A9C-4B78-B2A8-238153EFB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553" y="1449589"/>
            <a:ext cx="5854894" cy="47664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2A27E3-2403-364F-8CD6-6394C2DCD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80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246403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FCCCCD-4362-4E0D-B32D-865A99B65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0808"/>
            <a:ext cx="9144000" cy="1136383"/>
          </a:xfrm>
        </p:spPr>
        <p:txBody>
          <a:bodyPr>
            <a:normAutofit/>
          </a:bodyPr>
          <a:lstStyle/>
          <a:p>
            <a:r>
              <a:rPr kumimoji="1" lang="ja-JP" altLang="en-US" sz="5400" dirty="0">
                <a:solidFill>
                  <a:schemeClr val="bg1"/>
                </a:solidFill>
              </a:rPr>
              <a:t>最後に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55F41C-FF40-A043-8ADF-804E46D17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81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484040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6FA74-FE6F-438B-8781-3D4E6941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ライブラリの読み込み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2E9E6A-4219-4CF6-9846-49098B78040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165719"/>
            <a:ext cx="5853620" cy="3328988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/>
              <a:t>kintone</a:t>
            </a:r>
            <a:r>
              <a:rPr kumimoji="1" lang="ja-JP" altLang="en-US" dirty="0"/>
              <a:t>で</a:t>
            </a:r>
            <a:r>
              <a:rPr lang="ja-JP" altLang="en-US" dirty="0"/>
              <a:t>特定</a:t>
            </a:r>
            <a:r>
              <a:rPr lang="ja-JP" altLang="en-US"/>
              <a:t>のライブラリ（</a:t>
            </a:r>
            <a:r>
              <a:rPr lang="en-US" altLang="ja-JP" dirty="0"/>
              <a:t>jQuery</a:t>
            </a:r>
            <a:r>
              <a:rPr lang="ja-JP" altLang="en-US" dirty="0"/>
              <a:t>など</a:t>
            </a:r>
            <a:r>
              <a:rPr lang="en-US" altLang="ja-JP" dirty="0"/>
              <a:t>)</a:t>
            </a:r>
            <a:r>
              <a:rPr lang="ja-JP" altLang="en-US" dirty="0"/>
              <a:t>を使用したい場合</a:t>
            </a:r>
            <a:r>
              <a:rPr lang="ja-JP" altLang="en-US"/>
              <a:t>は、</a:t>
            </a:r>
            <a:r>
              <a:rPr lang="en-US" altLang="ja-JP" b="1" dirty="0">
                <a:solidFill>
                  <a:srgbClr val="00B050"/>
                </a:solidFill>
              </a:rPr>
              <a:t>URL </a:t>
            </a:r>
            <a:r>
              <a:rPr lang="ja-JP" altLang="en-US" b="1">
                <a:solidFill>
                  <a:srgbClr val="00B050"/>
                </a:solidFill>
              </a:rPr>
              <a:t>で</a:t>
            </a:r>
            <a:r>
              <a:rPr lang="ja-JP" altLang="en-US" b="1" dirty="0">
                <a:solidFill>
                  <a:srgbClr val="00B050"/>
                </a:solidFill>
              </a:rPr>
              <a:t>ライブラリを指定して読み込む</a:t>
            </a:r>
            <a:r>
              <a:rPr lang="ja-JP" altLang="en-US" dirty="0"/>
              <a:t>ことができます！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b="1" dirty="0">
                <a:solidFill>
                  <a:srgbClr val="00B050"/>
                </a:solidFill>
              </a:rPr>
              <a:t>developer network </a:t>
            </a:r>
            <a:r>
              <a:rPr lang="ja-JP" altLang="en-US" b="1">
                <a:solidFill>
                  <a:srgbClr val="00B050"/>
                </a:solidFill>
              </a:rPr>
              <a:t>でも </a:t>
            </a:r>
            <a:r>
              <a:rPr lang="en-US" altLang="ja-JP" dirty="0"/>
              <a:t>CDN</a:t>
            </a:r>
            <a:r>
              <a:rPr lang="ja-JP" altLang="en-US" dirty="0"/>
              <a:t>でいくつ</a:t>
            </a:r>
            <a:r>
              <a:rPr lang="ja-JP" altLang="en-US"/>
              <a:t>かの </a:t>
            </a:r>
            <a:r>
              <a:rPr lang="ja-JP" altLang="en-US" b="1">
                <a:solidFill>
                  <a:srgbClr val="00B050"/>
                </a:solidFill>
              </a:rPr>
              <a:t>ライブラリを提供 </a:t>
            </a:r>
            <a:r>
              <a:rPr lang="ja-JP" altLang="en-US"/>
              <a:t>して</a:t>
            </a:r>
            <a:r>
              <a:rPr lang="ja-JP" altLang="en-US" dirty="0"/>
              <a:t>います</a:t>
            </a:r>
            <a:br>
              <a:rPr lang="en-US" altLang="ja-JP" dirty="0"/>
            </a:br>
            <a:r>
              <a:rPr lang="en-US" altLang="ja-JP" sz="1700" dirty="0">
                <a:hlinkClick r:id="rId2"/>
              </a:rPr>
              <a:t>https://developer.cybozu.io/hc/ja/articles/202960194</a:t>
            </a:r>
            <a:endParaRPr lang="en-US" altLang="ja-JP" sz="1700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0F69E0E-7F75-4374-A600-E19FF4AA8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820" y="1853132"/>
            <a:ext cx="4790463" cy="39541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C9B8BB3-D4C5-4394-A28F-E9553DCC6933}"/>
              </a:ext>
            </a:extLst>
          </p:cNvPr>
          <p:cNvSpPr/>
          <p:nvPr/>
        </p:nvSpPr>
        <p:spPr>
          <a:xfrm>
            <a:off x="6788773" y="3929613"/>
            <a:ext cx="1383957" cy="3898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ＭＳ Ｐゴシック" panose="020B0600070205080204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78A5DC-ACAF-6845-A221-F179667F9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82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706979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12551E-FF81-45DE-8EAC-41DEB525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kintone</a:t>
            </a:r>
            <a:r>
              <a:rPr kumimoji="1" lang="ja-JP" altLang="en-US" dirty="0"/>
              <a:t>上のコードエディタの活用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303042-3570-4F50-8777-F15E0AAC330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65913" y="2631696"/>
            <a:ext cx="5068887" cy="2444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2400" dirty="0" err="1"/>
              <a:t>JSE</a:t>
            </a:r>
            <a:r>
              <a:rPr lang="en-US" altLang="ja-JP" sz="2400" dirty="0" err="1"/>
              <a:t>dit</a:t>
            </a:r>
            <a:r>
              <a:rPr lang="ja-JP" altLang="en-US" sz="2400" dirty="0"/>
              <a:t> プラグインを活用すると、</a:t>
            </a:r>
            <a:r>
              <a:rPr lang="ja-JP" altLang="en-US" sz="2400" b="1" dirty="0">
                <a:solidFill>
                  <a:srgbClr val="00B050"/>
                </a:solidFill>
              </a:rPr>
              <a:t>アプリの設定画面でコードエディタを活用することができます</a:t>
            </a:r>
            <a:r>
              <a:rPr lang="ja-JP" altLang="en-US" sz="2400" dirty="0"/>
              <a:t>。いちいちファイルのアップロードをしなおさなくて良いので、開発が楽になります！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sz="1600" dirty="0">
                <a:hlinkClick r:id="rId2"/>
              </a:rPr>
              <a:t>https://developer.cybozu.io/hc/ja/articles/205452653</a:t>
            </a:r>
            <a:endParaRPr lang="en-US" altLang="ja-JP" sz="16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EA6B839-108F-4C54-98F8-38722D738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77" y="1952085"/>
            <a:ext cx="5223146" cy="38039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E2E796-11EF-6948-A3D6-3FB11EDDA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83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162051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17F94FF-0FA0-4C13-9F56-03121CE1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83" y="1959785"/>
            <a:ext cx="4308808" cy="39134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B312551E-FF81-45DE-8EAC-41DEB525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Twitter</a:t>
            </a:r>
            <a:r>
              <a:rPr lang="ja-JP" altLang="en-US"/>
              <a:t> アカウント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54F172-AA8D-4313-B97B-488E68D66BA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558611" y="4205288"/>
            <a:ext cx="4878387" cy="1114425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ja-JP" sz="60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@</a:t>
            </a:r>
            <a:r>
              <a:rPr lang="en-US" altLang="ja-JP" sz="6000" dirty="0" err="1">
                <a:latin typeface="GenEi Gothic P" panose="020B0500000000000000" pitchFamily="34" charset="-128"/>
                <a:ea typeface="GenEi Gothic P" panose="020B0500000000000000" pitchFamily="34" charset="-128"/>
              </a:rPr>
              <a:t>kintonedevjp</a:t>
            </a:r>
            <a:endParaRPr kumimoji="1" lang="ja-JP" altLang="en-US" sz="60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666D94-2488-4B81-9074-F5E62493D6F5}"/>
              </a:ext>
            </a:extLst>
          </p:cNvPr>
          <p:cNvSpPr/>
          <p:nvPr/>
        </p:nvSpPr>
        <p:spPr>
          <a:xfrm>
            <a:off x="6464300" y="2440385"/>
            <a:ext cx="5094288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kumimoji="1" lang="en-US" altLang="ja-JP" sz="3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Twitter </a:t>
            </a:r>
            <a:r>
              <a:rPr kumimoji="1" lang="ja-JP" altLang="en-US" sz="3600">
                <a:latin typeface="GenEi Gothic P" panose="020B0500000000000000" pitchFamily="34" charset="-128"/>
                <a:ea typeface="GenEi Gothic P" panose="020B0500000000000000" pitchFamily="34" charset="-128"/>
              </a:rPr>
              <a:t>をフォローして</a:t>
            </a:r>
            <a:endParaRPr kumimoji="1" lang="en-US" altLang="ja-JP" sz="3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  <a:p>
            <a:pPr algn="ctr"/>
            <a:r>
              <a:rPr kumimoji="1" lang="ja-JP" altLang="en-US" sz="3600">
                <a:latin typeface="GenEi Gothic P" panose="020B0500000000000000" pitchFamily="34" charset="-128"/>
                <a:ea typeface="GenEi Gothic P" panose="020B0500000000000000" pitchFamily="34" charset="-128"/>
              </a:rPr>
              <a:t>耳寄り情報を </a:t>
            </a:r>
            <a:r>
              <a:rPr kumimoji="1" lang="en-US" altLang="ja-JP" sz="3600" dirty="0">
                <a:latin typeface="GenEi Gothic P" panose="020B0500000000000000" pitchFamily="34" charset="-128"/>
                <a:ea typeface="GenEi Gothic P" panose="020B0500000000000000" pitchFamily="34" charset="-128"/>
              </a:rPr>
              <a:t>GET</a:t>
            </a:r>
            <a:r>
              <a:rPr kumimoji="1" lang="ja-JP" altLang="en-US" sz="3600">
                <a:latin typeface="GenEi Gothic P" panose="020B0500000000000000" pitchFamily="34" charset="-128"/>
                <a:ea typeface="GenEi Gothic P" panose="020B0500000000000000" pitchFamily="34" charset="-128"/>
              </a:rPr>
              <a:t>！</a:t>
            </a:r>
            <a:endParaRPr lang="ja-JP" altLang="en-US" sz="3600" dirty="0">
              <a:latin typeface="GenEi Gothic P" panose="020B0500000000000000" pitchFamily="34" charset="-128"/>
              <a:ea typeface="GenEi Gothic P" panose="020B0500000000000000" pitchFamily="34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FF49A7-F98B-9A41-B740-80EAE5022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71BEA9-A5F1-4E4B-A8F4-6C845932369B}" type="slidenum">
              <a:rPr lang="ja-JP" altLang="en-US" smtClean="0"/>
              <a:pPr/>
              <a:t>84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47722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356066"/>
      </p:ext>
    </p:extLst>
  </p:cSld>
  <p:clrMapOvr>
    <a:masterClrMapping/>
  </p:clrMapOvr>
</p:sld>
</file>

<file path=ppt/theme/theme1.xml><?xml version="1.0" encoding="utf-8"?>
<a:theme xmlns:a="http://schemas.openxmlformats.org/drawingml/2006/main" name="CybozuDays20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ybozuDays2018" id="{BAF3633E-56FC-874B-AB53-ACD46A458C33}" vid="{DB44F7AD-E0BA-9047-9B4C-BF3A2D4418A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CybozuDays2018</Template>
  <TotalTime>13736</TotalTime>
  <Words>3409</Words>
  <Application>Microsoft Macintosh PowerPoint</Application>
  <PresentationFormat>ワイド画面</PresentationFormat>
  <Paragraphs>689</Paragraphs>
  <Slides>85</Slides>
  <Notes>35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85</vt:i4>
      </vt:variant>
    </vt:vector>
  </HeadingPairs>
  <TitlesOfParts>
    <vt:vector size="96" baseType="lpstr">
      <vt:lpstr>GenEi Gothic P</vt:lpstr>
      <vt:lpstr>GenEi Gothic P Heavy</vt:lpstr>
      <vt:lpstr>Meiryo UI</vt:lpstr>
      <vt:lpstr>ＭＳ Ｐゴシック</vt:lpstr>
      <vt:lpstr>Segoe UI</vt:lpstr>
      <vt:lpstr>源暎ゴシックP Heavy</vt:lpstr>
      <vt:lpstr>游ゴシック</vt:lpstr>
      <vt:lpstr>游ゴシック Light</vt:lpstr>
      <vt:lpstr>Arial</vt:lpstr>
      <vt:lpstr>Consolas</vt:lpstr>
      <vt:lpstr>CybozuDays2018</vt:lpstr>
      <vt:lpstr>PowerPoint プレゼンテーション</vt:lpstr>
      <vt:lpstr>JavaScriptで kintoneカスタマイズしよう</vt:lpstr>
      <vt:lpstr>PowerPoint プレゼンテーション</vt:lpstr>
      <vt:lpstr>自己紹介</vt:lpstr>
      <vt:lpstr>本日の内容</vt:lpstr>
      <vt:lpstr>kintoneのJavaScript カスタマイズとは</vt:lpstr>
      <vt:lpstr>kintone API</vt:lpstr>
      <vt:lpstr>JavaScript カスタマイズ例：初級編</vt:lpstr>
      <vt:lpstr>JavaScript カスタマイズ例：中級編</vt:lpstr>
      <vt:lpstr>JavaScript カスタマイズ例：上級編</vt:lpstr>
      <vt:lpstr>JavaScript とは</vt:lpstr>
      <vt:lpstr>JavaScript</vt:lpstr>
      <vt:lpstr>JavaScript に関連する、よくある疑問</vt:lpstr>
      <vt:lpstr>JavaScript の基本</vt:lpstr>
      <vt:lpstr>JavaScript のコード例</vt:lpstr>
      <vt:lpstr>イベントについて</vt:lpstr>
      <vt:lpstr>JavaScriptのコード上で見るオブジェクトとイベントとハンドラー</vt:lpstr>
      <vt:lpstr>JavaScript の実行方法</vt:lpstr>
      <vt:lpstr>ハンズオンします！</vt:lpstr>
      <vt:lpstr>アラートを表示させよう！</vt:lpstr>
      <vt:lpstr>PowerPoint プレゼンテーション</vt:lpstr>
      <vt:lpstr>関数を実行させよう！</vt:lpstr>
      <vt:lpstr>PowerPoint プレゼンテーション</vt:lpstr>
      <vt:lpstr>PowerPoint プレゼンテーション</vt:lpstr>
      <vt:lpstr>ボタンをクリックしてアラートを表示させよう！</vt:lpstr>
      <vt:lpstr>PowerPoint プレゼンテーション</vt:lpstr>
      <vt:lpstr>PowerPoint プレゼンテーション</vt:lpstr>
      <vt:lpstr>ボタンをクリックしてアラートを表示させよう！</vt:lpstr>
      <vt:lpstr>PowerPoint プレゼンテーション</vt:lpstr>
      <vt:lpstr>PowerPoint プレゼンテーション</vt:lpstr>
      <vt:lpstr>PowerPoint プレゼンテーション</vt:lpstr>
      <vt:lpstr>関数の書き方は色々とある</vt:lpstr>
      <vt:lpstr>別のイベントも試してみよう！</vt:lpstr>
      <vt:lpstr>PowerPoint プレゼンテーション</vt:lpstr>
      <vt:lpstr>PowerPoint プレゼンテーション</vt:lpstr>
      <vt:lpstr>PowerPoint プレゼンテーション</vt:lpstr>
      <vt:lpstr>kintone 上での JavaScript の実行方法</vt:lpstr>
      <vt:lpstr>kintoneのデータ構造</vt:lpstr>
      <vt:lpstr>kintoneの画面紹介</vt:lpstr>
      <vt:lpstr>kintoneの画面紹介</vt:lpstr>
      <vt:lpstr>今までと何が違うのか(1)</vt:lpstr>
      <vt:lpstr>今までと何が違うのか(2)</vt:lpstr>
      <vt:lpstr>kintone JavaScript イベント例①</vt:lpstr>
      <vt:lpstr>kintone JavaScript イベント例②</vt:lpstr>
      <vt:lpstr>他の kintone 専用のイベントの一覧</vt:lpstr>
      <vt:lpstr>ハンズオンします！</vt:lpstr>
      <vt:lpstr>kintone JavaScript イベントを活用してみよう！</vt:lpstr>
      <vt:lpstr>PowerPoint プレゼンテーション</vt:lpstr>
      <vt:lpstr>イベントオブジェクト</vt:lpstr>
      <vt:lpstr>ハンズオンします！</vt:lpstr>
      <vt:lpstr>イベントオブジェクトの中身を見てみよう！</vt:lpstr>
      <vt:lpstr>PowerPoint プレゼンテーション</vt:lpstr>
      <vt:lpstr>PowerPoint プレゼンテーション</vt:lpstr>
      <vt:lpstr>イベントオブジェクトを活用して、 特定のフィールドを編集不可にしよう！</vt:lpstr>
      <vt:lpstr>PowerPoint プレゼンテーション</vt:lpstr>
      <vt:lpstr>PowerPoint プレゼンテーション</vt:lpstr>
      <vt:lpstr>イベントオブジェクトで他に出来ること</vt:lpstr>
      <vt:lpstr>復習</vt:lpstr>
      <vt:lpstr>kintone に JavaScript を 読み込ませる</vt:lpstr>
      <vt:lpstr>なぜ読み込ませるのか</vt:lpstr>
      <vt:lpstr>kintone に JavaScript を読み込ませる手順</vt:lpstr>
      <vt:lpstr>ハンズオンします！</vt:lpstr>
      <vt:lpstr>1. テキストエディタを用意する</vt:lpstr>
      <vt:lpstr>2. セキュアにコードを書いて保存する</vt:lpstr>
      <vt:lpstr>PowerPoint プレゼンテーション</vt:lpstr>
      <vt:lpstr>3. アプリの『JavaScript / CSSでカスタマイズ』設定にファイルをアップする</vt:lpstr>
      <vt:lpstr>3. アプリの『JavaScript / CSSでカスタマイズ』設定にファイルをアップする</vt:lpstr>
      <vt:lpstr>4. 設定を保存して動きを確認する</vt:lpstr>
      <vt:lpstr>カスタマイズ課題に挑戦してみましょう！</vt:lpstr>
      <vt:lpstr>問題1</vt:lpstr>
      <vt:lpstr>問題1の答え</vt:lpstr>
      <vt:lpstr>問題2</vt:lpstr>
      <vt:lpstr>問題2の答え</vt:lpstr>
      <vt:lpstr>問題3</vt:lpstr>
      <vt:lpstr>問題3の答え</vt:lpstr>
      <vt:lpstr>API ドキュメントの確認方法</vt:lpstr>
      <vt:lpstr>cybozu developer network</vt:lpstr>
      <vt:lpstr>API ドキュメントの確認</vt:lpstr>
      <vt:lpstr>Tips の確認</vt:lpstr>
      <vt:lpstr>分からないことがあれば、コミュニティに投稿してみよう！</vt:lpstr>
      <vt:lpstr>最後に</vt:lpstr>
      <vt:lpstr>ライブラリの読み込み</vt:lpstr>
      <vt:lpstr>kintone上のコードエディタの活用</vt:lpstr>
      <vt:lpstr>Twitter アカウント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William Akihiro Sayama</dc:creator>
  <cp:lastModifiedBy>Tomoko Miyake</cp:lastModifiedBy>
  <cp:revision>271</cp:revision>
  <cp:lastPrinted>2018-11-09T00:54:37Z</cp:lastPrinted>
  <dcterms:created xsi:type="dcterms:W3CDTF">2018-07-06T04:27:16Z</dcterms:created>
  <dcterms:modified xsi:type="dcterms:W3CDTF">2018-11-09T00:58:46Z</dcterms:modified>
</cp:coreProperties>
</file>