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0"/>
  </p:notesMasterIdLst>
  <p:handoutMasterIdLst>
    <p:handoutMasterId r:id="rId31"/>
  </p:handoutMasterIdLst>
  <p:sldIdLst>
    <p:sldId id="256" r:id="rId2"/>
    <p:sldId id="276" r:id="rId3"/>
    <p:sldId id="258" r:id="rId4"/>
    <p:sldId id="274" r:id="rId5"/>
    <p:sldId id="273" r:id="rId6"/>
    <p:sldId id="261" r:id="rId7"/>
    <p:sldId id="277" r:id="rId8"/>
    <p:sldId id="268" r:id="rId9"/>
    <p:sldId id="288" r:id="rId10"/>
    <p:sldId id="285" r:id="rId11"/>
    <p:sldId id="278" r:id="rId12"/>
    <p:sldId id="279" r:id="rId13"/>
    <p:sldId id="280" r:id="rId14"/>
    <p:sldId id="260" r:id="rId15"/>
    <p:sldId id="287" r:id="rId16"/>
    <p:sldId id="266" r:id="rId17"/>
    <p:sldId id="282" r:id="rId18"/>
    <p:sldId id="284" r:id="rId19"/>
    <p:sldId id="286" r:id="rId20"/>
    <p:sldId id="269" r:id="rId21"/>
    <p:sldId id="283" r:id="rId22"/>
    <p:sldId id="289" r:id="rId23"/>
    <p:sldId id="290" r:id="rId24"/>
    <p:sldId id="262" r:id="rId25"/>
    <p:sldId id="291" r:id="rId26"/>
    <p:sldId id="259" r:id="rId27"/>
    <p:sldId id="271" r:id="rId28"/>
    <p:sldId id="265" r:id="rId29"/>
  </p:sldIdLst>
  <p:sldSz cx="12192000" cy="6858000"/>
  <p:notesSz cx="6858000" cy="9144000"/>
  <p:custDataLst>
    <p:tags r:id="rId3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CCFF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191" autoAdjust="0"/>
    <p:restoredTop sz="82868" autoAdjust="0"/>
  </p:normalViewPr>
  <p:slideViewPr>
    <p:cSldViewPr snapToGrid="0" showGuides="1">
      <p:cViewPr varScale="1">
        <p:scale>
          <a:sx n="72" d="100"/>
          <a:sy n="72" d="100"/>
        </p:scale>
        <p:origin x="690" y="60"/>
      </p:cViewPr>
      <p:guideLst>
        <p:guide orient="horz" pos="2137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84" d="100"/>
          <a:sy n="84" d="100"/>
        </p:scale>
        <p:origin x="382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gs" Target="tags/tag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2E927965-EE88-4760-A896-D27D22D2936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CA9B4AB-5418-41F7-A05E-FA0C7D7538E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568B04-C7C3-42F9-B289-49AD8C39C81B}" type="datetimeFigureOut">
              <a:rPr lang="zh-CN" altLang="en-US" smtClean="0"/>
              <a:t>2019/4/2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44D6DF2-7518-4682-B132-E2A42FF9D79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0E5AC67-6FD7-4DF2-A903-59185F3F98C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0BEBC0-90A2-4DE9-8218-ED48DE368B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43631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64E69F-9238-4ABC-BF47-0CC5E10BB88E}" type="datetimeFigureOut">
              <a:rPr lang="zh-CN" altLang="en-US" smtClean="0"/>
              <a:t>2019/4/2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B7E059-2F59-4869-B8DC-74D54B9958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19227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B7E059-2F59-4869-B8DC-74D54B9958F6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68174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在外面开始</a:t>
            </a:r>
            <a:r>
              <a:rPr lang="en-US" altLang="zh-CN" dirty="0" err="1"/>
              <a:t>kintone</a:t>
            </a:r>
            <a:r>
              <a:rPr lang="zh-CN" altLang="en-US" dirty="0"/>
              <a:t>插件开发前，我们先来看下插件是什么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先一起在我们的应用里添加一个叫新条件格式插件的 插件。</a:t>
            </a:r>
            <a:endParaRPr lang="en-US" altLang="zh-CN" dirty="0"/>
          </a:p>
          <a:p>
            <a:r>
              <a:rPr lang="zh-CN" altLang="en-US" dirty="0"/>
              <a:t>添加完之后 我们具体设置一下</a:t>
            </a:r>
            <a:endParaRPr lang="en-US" altLang="zh-CN" dirty="0"/>
          </a:p>
          <a:p>
            <a:r>
              <a:rPr lang="zh-CN" altLang="en-US" dirty="0"/>
              <a:t>然后再添加一些数据</a:t>
            </a:r>
            <a:endParaRPr lang="en-US" altLang="zh-CN" dirty="0"/>
          </a:p>
          <a:p>
            <a:r>
              <a:rPr lang="zh-CN" altLang="en-US" dirty="0"/>
              <a:t>再看下效果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B7E059-2F59-4869-B8DC-74D54B9958F6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65271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定义：把</a:t>
            </a:r>
            <a:r>
              <a:rPr lang="en-US" altLang="zh-CN" dirty="0"/>
              <a:t>JS</a:t>
            </a:r>
            <a:r>
              <a:rPr lang="zh-CN" altLang="en-US" dirty="0"/>
              <a:t>，</a:t>
            </a:r>
            <a:r>
              <a:rPr lang="en-US" altLang="zh-CN" dirty="0"/>
              <a:t>CSS</a:t>
            </a:r>
            <a:r>
              <a:rPr lang="zh-CN" altLang="en-US" dirty="0"/>
              <a:t>和</a:t>
            </a:r>
            <a:r>
              <a:rPr lang="en-US" altLang="zh-CN" dirty="0"/>
              <a:t>HTML</a:t>
            </a:r>
            <a:r>
              <a:rPr lang="zh-CN" altLang="en-US" dirty="0"/>
              <a:t>打包成一个</a:t>
            </a:r>
            <a:r>
              <a:rPr lang="en-US" altLang="zh-CN" dirty="0"/>
              <a:t>zip</a:t>
            </a:r>
            <a:r>
              <a:rPr lang="zh-CN" altLang="en-US" dirty="0"/>
              <a:t>包，可以在</a:t>
            </a:r>
            <a:r>
              <a:rPr lang="en-US" altLang="zh-CN" dirty="0" err="1"/>
              <a:t>kintone</a:t>
            </a:r>
            <a:r>
              <a:rPr lang="zh-CN" altLang="en-US" dirty="0"/>
              <a:t>中使用的，我们称之为</a:t>
            </a:r>
            <a:r>
              <a:rPr lang="en-US" altLang="zh-CN" dirty="0"/>
              <a:t>plugin</a:t>
            </a:r>
            <a:r>
              <a:rPr lang="zh-CN" altLang="en-US" dirty="0"/>
              <a:t>（插件）。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插件的作用：只要</a:t>
            </a:r>
            <a:r>
              <a:rPr lang="zh-CN" altLang="en-US" dirty="0"/>
              <a:t>把插件安装到</a:t>
            </a:r>
            <a:r>
              <a:rPr lang="en-US" altLang="zh-CN" dirty="0" err="1"/>
              <a:t>kintone</a:t>
            </a:r>
            <a:r>
              <a:rPr lang="zh-CN" altLang="en-US" dirty="0"/>
              <a:t>后，所有的</a:t>
            </a:r>
            <a:r>
              <a:rPr lang="en-US" altLang="zh-CN" dirty="0"/>
              <a:t>APP</a:t>
            </a:r>
            <a:r>
              <a:rPr lang="zh-CN" altLang="en-US" dirty="0"/>
              <a:t>都可以使用这个插件。插件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可以简单实现与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JavaScript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自定义同等的功能扩展，以及和其他服务的整合。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文件结构范例：要打包的文件夹结构和文件名，大家可以随意安排。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icon.png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是必须的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各个实际使用的文件的位置都需要在 </a:t>
            </a:r>
            <a:r>
              <a:rPr lang="en-US" altLang="ja-JP" dirty="0" err="1">
                <a:latin typeface="Source Code Pro"/>
              </a:rPr>
              <a:t>manifest.json</a:t>
            </a:r>
            <a:r>
              <a:rPr lang="en-US" altLang="ja-JP" dirty="0">
                <a:latin typeface="Source Code Pro"/>
              </a:rPr>
              <a:t> </a:t>
            </a:r>
            <a:r>
              <a:rPr lang="zh-CN" altLang="en-US" dirty="0">
                <a:latin typeface="Source Code Pro"/>
              </a:rPr>
              <a:t>中进行指定</a:t>
            </a:r>
            <a:endParaRPr lang="en-US" altLang="zh-CN" dirty="0">
              <a:latin typeface="Source Code Pro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B7E059-2F59-4869-B8DC-74D54B9958F6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19083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如何来自己动手做</a:t>
            </a:r>
            <a:r>
              <a:rPr lang="en-US" altLang="zh-CN" dirty="0"/>
              <a:t>1</a:t>
            </a:r>
            <a:r>
              <a:rPr lang="zh-CN" altLang="en-US" dirty="0"/>
              <a:t>个插件呢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B7E059-2F59-4869-B8DC-74D54B9958F6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24963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说明：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JSON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格式</a:t>
            </a:r>
            <a:endParaRPr lang="en-US" altLang="zh-CN" dirty="0"/>
          </a:p>
          <a:p>
            <a:r>
              <a:rPr lang="zh-CN" altLang="en-US" dirty="0"/>
              <a:t>  有些</a:t>
            </a:r>
            <a:r>
              <a:rPr lang="en-US" altLang="zh-CN" dirty="0"/>
              <a:t>key</a:t>
            </a:r>
            <a:r>
              <a:rPr lang="zh-CN" altLang="en-US" dirty="0"/>
              <a:t>是必须的，还有其他很多</a:t>
            </a:r>
            <a:r>
              <a:rPr lang="en-US" altLang="zh-CN" dirty="0"/>
              <a:t>key</a:t>
            </a:r>
            <a:r>
              <a:rPr lang="zh-CN" altLang="en-US" dirty="0"/>
              <a:t>，具体请参考开发手册进行配置</a:t>
            </a:r>
            <a:endParaRPr lang="en-US" altLang="zh-CN" dirty="0"/>
          </a:p>
          <a:p>
            <a:r>
              <a:rPr lang="zh-CN" altLang="en-US" dirty="0"/>
              <a:t>  有了</a:t>
            </a:r>
            <a:r>
              <a:rPr lang="en-US" altLang="zh-CN" dirty="0"/>
              <a:t>icon</a:t>
            </a:r>
            <a:r>
              <a:rPr lang="zh-CN" altLang="en-US" dirty="0"/>
              <a:t>文件和配置文件，就可以打包出一个插件</a:t>
            </a:r>
            <a:endParaRPr lang="en-US" altLang="zh-CN" dirty="0"/>
          </a:p>
          <a:p>
            <a:r>
              <a:rPr lang="zh-CN" altLang="en-US" dirty="0"/>
              <a:t>操作：</a:t>
            </a:r>
            <a:endParaRPr lang="en-US" altLang="zh-CN" dirty="0"/>
          </a:p>
          <a:p>
            <a:r>
              <a:rPr lang="en-US" altLang="zh-CN" dirty="0"/>
              <a:t>  1. </a:t>
            </a:r>
            <a:r>
              <a:rPr lang="zh-CN" altLang="en-US" dirty="0"/>
              <a:t>创建一个</a:t>
            </a:r>
            <a:r>
              <a:rPr lang="en-US" altLang="zh-CN" dirty="0"/>
              <a:t>icon</a:t>
            </a:r>
            <a:r>
              <a:rPr lang="zh-CN" altLang="en-US" dirty="0"/>
              <a:t>文件 （可以从</a:t>
            </a:r>
            <a:r>
              <a:rPr lang="en-US" altLang="zh-CN" dirty="0"/>
              <a:t>sample</a:t>
            </a:r>
            <a:r>
              <a:rPr lang="zh-CN" altLang="en-US" dirty="0"/>
              <a:t>中选）</a:t>
            </a:r>
            <a:endParaRPr lang="en-US" altLang="zh-CN" dirty="0"/>
          </a:p>
          <a:p>
            <a:r>
              <a:rPr lang="en-US" altLang="zh-CN" dirty="0"/>
              <a:t>  2. </a:t>
            </a:r>
            <a:r>
              <a:rPr lang="zh-CN" altLang="en-US" dirty="0"/>
              <a:t>创建一个 </a:t>
            </a:r>
            <a:r>
              <a:rPr lang="en-US" altLang="zh-CN" dirty="0" err="1"/>
              <a:t>manifest.json</a:t>
            </a:r>
            <a:r>
              <a:rPr lang="zh-CN" altLang="en-US" dirty="0"/>
              <a:t> 文件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重点说明几个</a:t>
            </a:r>
            <a:endParaRPr lang="en-US" altLang="zh-CN" dirty="0"/>
          </a:p>
          <a:p>
            <a:r>
              <a:rPr lang="en-US" altLang="zh-CN" dirty="0"/>
              <a:t>desktop</a:t>
            </a:r>
          </a:p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mobile</a:t>
            </a:r>
            <a:endParaRPr lang="en-US" altLang="zh-CN" dirty="0"/>
          </a:p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config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B7E059-2F59-4869-B8DC-74D54B9958F6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05359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了解了插件，那让我们自己来做一个插件的开发吧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B7E059-2F59-4869-B8DC-74D54B9958F6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90569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altLang="zh-CN" dirty="0">
              <a:latin typeface="Source Code Pro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B7E059-2F59-4869-B8DC-74D54B9958F6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488634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B7E059-2F59-4869-B8DC-74D54B9958F6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129104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首先我们要确定插件设置画面的配置文件</a:t>
            </a:r>
            <a:r>
              <a:rPr lang="en-US" altLang="zh-CN" dirty="0" err="1"/>
              <a:t>mainfest.json</a:t>
            </a:r>
            <a:r>
              <a:rPr lang="zh-CN" altLang="en-US" dirty="0"/>
              <a:t>下的</a:t>
            </a:r>
            <a:r>
              <a:rPr lang="en-US" altLang="zh-CN" dirty="0"/>
              <a:t>config</a:t>
            </a:r>
            <a:r>
              <a:rPr lang="zh-CN" altLang="en-US" dirty="0"/>
              <a:t>对象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具体配置查看 </a:t>
            </a:r>
            <a:r>
              <a:rPr lang="en-US" altLang="zh-CN" dirty="0"/>
              <a:t>https://cybozudev.kf5.com/hc/kb/article/1000664/#step2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B7E059-2F59-4869-B8DC-74D54B9958F6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776914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51-modern-default.css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文件可以参考开发者网站</a:t>
            </a:r>
            <a:b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画面设计也可以使用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kintone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UI Component</a:t>
            </a:r>
            <a:endParaRPr lang="en-US" altLang="zh-CN" dirty="0">
              <a:latin typeface="Source Code Pro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B7E059-2F59-4869-B8DC-74D54B9958F6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180218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>
                <a:latin typeface="Source Code Pro"/>
              </a:rPr>
              <a:t>说明：</a:t>
            </a:r>
            <a:endParaRPr lang="en-US" altLang="zh-CN" dirty="0">
              <a:latin typeface="Source Code Pro"/>
            </a:endParaRPr>
          </a:p>
          <a:p>
            <a:r>
              <a:rPr lang="en-US" altLang="zh-CN" dirty="0">
                <a:latin typeface="Source Code Pro"/>
              </a:rPr>
              <a:t>  HTML+CSS</a:t>
            </a:r>
            <a:r>
              <a:rPr lang="zh-CN" altLang="en-US" dirty="0">
                <a:latin typeface="Source Code Pro"/>
              </a:rPr>
              <a:t>文件：设置画面的显示</a:t>
            </a:r>
            <a:endParaRPr lang="en-US" altLang="zh-CN" dirty="0">
              <a:latin typeface="Source Code Pro"/>
            </a:endParaRPr>
          </a:p>
          <a:p>
            <a:r>
              <a:rPr lang="en-US" altLang="zh-CN" dirty="0">
                <a:latin typeface="Source Code Pro"/>
              </a:rPr>
              <a:t>  JS</a:t>
            </a:r>
            <a:r>
              <a:rPr lang="zh-CN" altLang="en-US" dirty="0">
                <a:latin typeface="Source Code Pro"/>
              </a:rPr>
              <a:t>文件：可以调用</a:t>
            </a:r>
            <a:r>
              <a:rPr lang="en-US" altLang="zh-CN" dirty="0" err="1">
                <a:latin typeface="Source Code Pro"/>
              </a:rPr>
              <a:t>kintone</a:t>
            </a:r>
            <a:r>
              <a:rPr lang="zh-CN" altLang="en-US" dirty="0">
                <a:latin typeface="Source Code Pro"/>
              </a:rPr>
              <a:t>的</a:t>
            </a:r>
            <a:r>
              <a:rPr lang="en-US" altLang="zh-CN" dirty="0">
                <a:latin typeface="Source Code Pro"/>
              </a:rPr>
              <a:t>API</a:t>
            </a:r>
            <a:r>
              <a:rPr lang="zh-CN" altLang="en-US" dirty="0">
                <a:latin typeface="Source Code Pro"/>
              </a:rPr>
              <a:t>；对插件的设置值进行保存</a:t>
            </a:r>
            <a:endParaRPr lang="en-US" altLang="zh-CN" dirty="0">
              <a:latin typeface="Source Code Pro"/>
            </a:endParaRPr>
          </a:p>
          <a:p>
            <a:r>
              <a:rPr lang="zh-CN" altLang="en-US" dirty="0">
                <a:latin typeface="Source Code Pro"/>
              </a:rPr>
              <a:t>  红框部分：用</a:t>
            </a:r>
            <a:r>
              <a:rPr lang="en-US" altLang="zh-CN" dirty="0">
                <a:latin typeface="Source Code Pro"/>
              </a:rPr>
              <a:t>HTML+CSS</a:t>
            </a:r>
            <a:r>
              <a:rPr lang="zh-CN" altLang="en-US" dirty="0">
                <a:latin typeface="Source Code Pro"/>
              </a:rPr>
              <a:t>来自定义的部分</a:t>
            </a:r>
            <a:endParaRPr lang="en-US" altLang="zh-CN" dirty="0">
              <a:latin typeface="Source Code Pro"/>
            </a:endParaRPr>
          </a:p>
          <a:p>
            <a:r>
              <a:rPr lang="zh-CN" altLang="en-US" dirty="0">
                <a:latin typeface="Source Code Pro"/>
              </a:rPr>
              <a:t>操作：</a:t>
            </a:r>
            <a:endParaRPr lang="en-US" altLang="zh-CN" dirty="0">
              <a:latin typeface="Source Code Pro"/>
            </a:endParaRPr>
          </a:p>
          <a:p>
            <a:r>
              <a:rPr lang="en-US" altLang="zh-CN" dirty="0">
                <a:latin typeface="Source Code Pro"/>
              </a:rPr>
              <a:t>  1. </a:t>
            </a:r>
            <a:r>
              <a:rPr lang="zh-CN" altLang="en-US" dirty="0">
                <a:latin typeface="Source Code Pro"/>
              </a:rPr>
              <a:t>创建</a:t>
            </a:r>
            <a:r>
              <a:rPr lang="en-US" altLang="zh-CN" dirty="0">
                <a:latin typeface="Source Code Pro"/>
              </a:rPr>
              <a:t>settings</a:t>
            </a:r>
            <a:r>
              <a:rPr lang="zh-CN" altLang="en-US" dirty="0">
                <a:latin typeface="Source Code Pro"/>
              </a:rPr>
              <a:t>画面所需的</a:t>
            </a:r>
            <a:r>
              <a:rPr lang="en-US" altLang="zh-CN" dirty="0">
                <a:latin typeface="Source Code Pro"/>
              </a:rPr>
              <a:t>HTML</a:t>
            </a:r>
            <a:r>
              <a:rPr lang="zh-CN" altLang="en-US" dirty="0">
                <a:latin typeface="Source Code Pro"/>
              </a:rPr>
              <a:t>文件</a:t>
            </a:r>
            <a:endParaRPr lang="en-US" altLang="zh-CN" dirty="0">
              <a:latin typeface="Source Code Pro"/>
            </a:endParaRPr>
          </a:p>
          <a:p>
            <a:r>
              <a:rPr lang="en-US" altLang="zh-CN" dirty="0">
                <a:latin typeface="Source Code Pro"/>
              </a:rPr>
              <a:t>  2. </a:t>
            </a:r>
            <a:r>
              <a:rPr lang="zh-CN" altLang="en-US" dirty="0">
                <a:latin typeface="Source Code Pro"/>
              </a:rPr>
              <a:t>修改 </a:t>
            </a:r>
            <a:r>
              <a:rPr lang="en-US" altLang="zh-CN" dirty="0" err="1"/>
              <a:t>manifest.json</a:t>
            </a:r>
            <a:endParaRPr lang="en-US" altLang="zh-CN" dirty="0"/>
          </a:p>
          <a:p>
            <a:r>
              <a:rPr lang="en-US" altLang="zh-CN" b="1" dirty="0"/>
              <a:t>"</a:t>
            </a:r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config"</a:t>
            </a:r>
            <a:r>
              <a:rPr lang="en-US" altLang="zh-CN" b="1" dirty="0"/>
              <a:t>: {</a:t>
            </a:r>
            <a:br>
              <a:rPr lang="en-US" altLang="zh-CN" b="1" dirty="0"/>
            </a:br>
            <a:r>
              <a:rPr lang="en-US" altLang="zh-CN" b="1" dirty="0"/>
              <a:t>  </a:t>
            </a:r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"html"</a:t>
            </a:r>
            <a:r>
              <a:rPr lang="en-US" altLang="zh-CN" b="1" dirty="0"/>
              <a:t>: </a:t>
            </a:r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"html/config.html"</a:t>
            </a:r>
            <a:br>
              <a:rPr lang="en-US" altLang="zh-CN" b="1" dirty="0"/>
            </a:br>
            <a:r>
              <a:rPr lang="en-US" altLang="zh-CN" b="1" dirty="0"/>
              <a:t>}</a:t>
            </a:r>
          </a:p>
          <a:p>
            <a:r>
              <a:rPr lang="en-US" altLang="zh-CN" b="0" dirty="0"/>
              <a:t>  3. </a:t>
            </a:r>
            <a:r>
              <a:rPr lang="zh-CN" altLang="en-US" b="0" dirty="0"/>
              <a:t>再次打包，并导入插件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B7E059-2F59-4869-B8DC-74D54B9958F6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829146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说明：</a:t>
            </a:r>
            <a:endParaRPr lang="en-US" altLang="zh-CN" dirty="0"/>
          </a:p>
          <a:p>
            <a:r>
              <a:rPr lang="en-US" altLang="zh-CN" dirty="0"/>
              <a:t>  </a:t>
            </a:r>
            <a:r>
              <a:rPr lang="zh-CN" altLang="en-US" dirty="0"/>
              <a:t>红框部分：输入</a:t>
            </a:r>
            <a:r>
              <a:rPr lang="en-US" altLang="zh-CN" dirty="0"/>
              <a:t>+</a:t>
            </a:r>
            <a:r>
              <a:rPr lang="zh-CN" altLang="en-US" dirty="0"/>
              <a:t>保存按钮</a:t>
            </a:r>
            <a:endParaRPr lang="en-US" altLang="zh-CN" dirty="0"/>
          </a:p>
          <a:p>
            <a:r>
              <a:rPr lang="zh-CN" altLang="en-US" dirty="0"/>
              <a:t>操作：</a:t>
            </a:r>
            <a:endParaRPr lang="en-US" altLang="zh-CN" dirty="0"/>
          </a:p>
          <a:p>
            <a:r>
              <a:rPr lang="en-US" altLang="zh-CN" dirty="0"/>
              <a:t>  1. </a:t>
            </a:r>
            <a:r>
              <a:rPr lang="zh-CN" altLang="en-US" dirty="0"/>
              <a:t>创建</a:t>
            </a:r>
            <a:r>
              <a:rPr lang="en-US" altLang="zh-CN" dirty="0">
                <a:latin typeface="Source Code Pro"/>
              </a:rPr>
              <a:t>settings</a:t>
            </a:r>
            <a:r>
              <a:rPr lang="zh-CN" altLang="en-US" dirty="0">
                <a:latin typeface="Source Code Pro"/>
              </a:rPr>
              <a:t>画面所需的</a:t>
            </a:r>
            <a:r>
              <a:rPr lang="en-US" altLang="zh-CN" dirty="0">
                <a:latin typeface="Source Code Pro"/>
              </a:rPr>
              <a:t>JS</a:t>
            </a:r>
            <a:r>
              <a:rPr lang="zh-CN" altLang="en-US" dirty="0">
                <a:latin typeface="Source Code Pro"/>
              </a:rPr>
              <a:t>文件</a:t>
            </a:r>
            <a:endParaRPr lang="en-US" altLang="zh-CN" dirty="0">
              <a:latin typeface="Source Code Pro"/>
            </a:endParaRPr>
          </a:p>
          <a:p>
            <a:r>
              <a:rPr lang="en-US" altLang="zh-CN" dirty="0">
                <a:latin typeface="Source Code Pro"/>
              </a:rPr>
              <a:t>  2. </a:t>
            </a:r>
            <a:r>
              <a:rPr lang="zh-CN" altLang="en-US" dirty="0">
                <a:latin typeface="Source Code Pro"/>
              </a:rPr>
              <a:t>修改 </a:t>
            </a:r>
            <a:r>
              <a:rPr lang="en-US" altLang="zh-CN" dirty="0" err="1"/>
              <a:t>manifest.json</a:t>
            </a:r>
            <a:endParaRPr lang="en-US" altLang="zh-CN" dirty="0"/>
          </a:p>
          <a:p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"config"</a:t>
            </a:r>
            <a:r>
              <a:rPr lang="en-US" altLang="zh-CN" b="0" dirty="0"/>
              <a:t>: {</a:t>
            </a:r>
            <a:br>
              <a:rPr lang="en-US" altLang="zh-CN" b="0" dirty="0"/>
            </a:br>
            <a:r>
              <a:rPr lang="en-US" altLang="zh-CN" b="0" dirty="0"/>
              <a:t>  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"html"</a:t>
            </a:r>
            <a:r>
              <a:rPr lang="en-US" altLang="zh-CN" b="0" dirty="0"/>
              <a:t>: 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"html/config.html"</a:t>
            </a:r>
            <a:r>
              <a:rPr lang="en-US" altLang="zh-CN" b="1" dirty="0"/>
              <a:t>,</a:t>
            </a:r>
            <a:br>
              <a:rPr lang="en-US" altLang="zh-CN" b="0" dirty="0"/>
            </a:br>
            <a:r>
              <a:rPr lang="en-US" altLang="zh-CN" b="1" dirty="0"/>
              <a:t>  </a:t>
            </a:r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en-US" altLang="zh-CN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js</a:t>
            </a:r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en-US" altLang="zh-CN" b="1" dirty="0"/>
              <a:t>: [</a:t>
            </a:r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en-US" altLang="zh-CN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js</a:t>
            </a:r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/config.js"</a:t>
            </a:r>
            <a:r>
              <a:rPr lang="en-US" altLang="zh-CN" b="1" dirty="0"/>
              <a:t>]</a:t>
            </a:r>
            <a:br>
              <a:rPr lang="en-US" altLang="zh-CN" b="0" dirty="0"/>
            </a:br>
            <a:r>
              <a:rPr lang="en-US" altLang="zh-CN" b="0" dirty="0"/>
              <a:t>}</a:t>
            </a:r>
          </a:p>
          <a:p>
            <a:r>
              <a:rPr lang="en-US" altLang="zh-CN" b="0" dirty="0"/>
              <a:t>  3.</a:t>
            </a:r>
            <a:r>
              <a:rPr lang="zh-CN" altLang="en-US" b="0" dirty="0"/>
              <a:t>再次打包，并导入插件</a:t>
            </a:r>
            <a:endParaRPr lang="en-US" altLang="zh-CN" b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B7E059-2F59-4869-B8DC-74D54B9958F6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940415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B7E059-2F59-4869-B8DC-74D54B9958F6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159129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首先我们要确定插件设置画面的配置文件</a:t>
            </a:r>
            <a:r>
              <a:rPr lang="en-US" altLang="zh-CN" dirty="0" err="1"/>
              <a:t>mainfest.json</a:t>
            </a:r>
            <a:r>
              <a:rPr lang="zh-CN" altLang="en-US" dirty="0"/>
              <a:t>下的</a:t>
            </a:r>
            <a:r>
              <a:rPr lang="en-US" altLang="zh-CN" dirty="0"/>
              <a:t>config</a:t>
            </a:r>
            <a:r>
              <a:rPr lang="zh-CN" altLang="en-US" dirty="0"/>
              <a:t>对象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具体配置查看 </a:t>
            </a:r>
            <a:r>
              <a:rPr lang="en-US" altLang="zh-CN" dirty="0"/>
              <a:t>https://cybozudev.kf5.com/hc/kb/article/1000664/#step2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B7E059-2F59-4869-B8DC-74D54B9958F6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566915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首先我们要确定插件设置画面的配置文件</a:t>
            </a:r>
            <a:r>
              <a:rPr lang="en-US" altLang="zh-CN" dirty="0" err="1"/>
              <a:t>mainfest.json</a:t>
            </a:r>
            <a:r>
              <a:rPr lang="zh-CN" altLang="en-US" dirty="0"/>
              <a:t>下的</a:t>
            </a:r>
            <a:r>
              <a:rPr lang="en-US" altLang="zh-CN" dirty="0"/>
              <a:t>config</a:t>
            </a:r>
            <a:r>
              <a:rPr lang="zh-CN" altLang="en-US" dirty="0"/>
              <a:t>对象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具体配置查看 </a:t>
            </a:r>
            <a:r>
              <a:rPr lang="en-US" altLang="zh-CN" dirty="0"/>
              <a:t>https://cybozudev.kf5.com/hc/kb/article/1000664/#step2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B7E059-2F59-4869-B8DC-74D54B9958F6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732743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说明：</a:t>
            </a:r>
            <a:endParaRPr lang="en-US" altLang="zh-CN" dirty="0"/>
          </a:p>
          <a:p>
            <a:r>
              <a:rPr lang="en-US" altLang="zh-CN" dirty="0"/>
              <a:t>  </a:t>
            </a:r>
            <a:r>
              <a:rPr lang="zh-CN" altLang="en-US" dirty="0"/>
              <a:t>用户画面的</a:t>
            </a:r>
            <a:r>
              <a:rPr lang="en-US" altLang="zh-CN" dirty="0"/>
              <a:t>CSS</a:t>
            </a:r>
            <a:r>
              <a:rPr lang="zh-CN" altLang="en-US" dirty="0"/>
              <a:t>和</a:t>
            </a:r>
            <a:r>
              <a:rPr lang="en-US" altLang="zh-CN" dirty="0"/>
              <a:t>JS</a:t>
            </a:r>
            <a:r>
              <a:rPr lang="zh-CN" altLang="en-US" dirty="0"/>
              <a:t>文件，与直接自定义</a:t>
            </a:r>
            <a:r>
              <a:rPr lang="en-US" altLang="zh-CN" dirty="0"/>
              <a:t>JS</a:t>
            </a:r>
            <a:r>
              <a:rPr lang="zh-CN" altLang="en-US" dirty="0"/>
              <a:t>、</a:t>
            </a:r>
            <a:r>
              <a:rPr lang="en-US" altLang="zh-CN" dirty="0"/>
              <a:t>CSS</a:t>
            </a:r>
            <a:r>
              <a:rPr lang="zh-CN" altLang="en-US" dirty="0"/>
              <a:t>类似</a:t>
            </a:r>
            <a:endParaRPr lang="en-US" altLang="zh-CN" dirty="0"/>
          </a:p>
          <a:p>
            <a:r>
              <a:rPr lang="zh-CN" altLang="en-US" dirty="0"/>
              <a:t>操作：</a:t>
            </a:r>
            <a:endParaRPr lang="en-US" altLang="zh-CN" dirty="0"/>
          </a:p>
          <a:p>
            <a:r>
              <a:rPr lang="en-US" altLang="zh-CN" dirty="0"/>
              <a:t>  1. </a:t>
            </a:r>
            <a:r>
              <a:rPr lang="zh-CN" altLang="en-US" dirty="0"/>
              <a:t>创建用户</a:t>
            </a:r>
            <a:r>
              <a:rPr lang="zh-CN" altLang="en-US" dirty="0">
                <a:latin typeface="Source Code Pro"/>
              </a:rPr>
              <a:t>画面所需的</a:t>
            </a:r>
            <a:r>
              <a:rPr lang="en-US" altLang="zh-CN" dirty="0">
                <a:latin typeface="Source Code Pro"/>
              </a:rPr>
              <a:t>JS</a:t>
            </a:r>
            <a:r>
              <a:rPr lang="zh-CN" altLang="en-US" dirty="0">
                <a:latin typeface="Source Code Pro"/>
              </a:rPr>
              <a:t>文件</a:t>
            </a:r>
            <a:endParaRPr lang="en-US" altLang="zh-CN" dirty="0">
              <a:latin typeface="Source Code Pro"/>
            </a:endParaRPr>
          </a:p>
          <a:p>
            <a:r>
              <a:rPr lang="en-US" altLang="zh-CN" dirty="0">
                <a:latin typeface="Source Code Pro"/>
              </a:rPr>
              <a:t>  2. </a:t>
            </a:r>
            <a:r>
              <a:rPr lang="zh-CN" altLang="en-US" dirty="0">
                <a:latin typeface="Source Code Pro"/>
              </a:rPr>
              <a:t>修改 </a:t>
            </a:r>
            <a:r>
              <a:rPr lang="en-US" altLang="zh-CN" dirty="0" err="1"/>
              <a:t>manifest.json</a:t>
            </a:r>
            <a:endParaRPr lang="en-US" altLang="zh-CN" dirty="0"/>
          </a:p>
          <a:p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"desktop"</a:t>
            </a:r>
            <a:r>
              <a:rPr lang="en-US" altLang="zh-CN" b="1" dirty="0"/>
              <a:t>: {</a:t>
            </a:r>
            <a:br>
              <a:rPr lang="en-US" altLang="zh-CN" b="1" dirty="0"/>
            </a:br>
            <a:r>
              <a:rPr lang="en-US" altLang="zh-CN" b="1" dirty="0"/>
              <a:t>  </a:t>
            </a:r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en-US" altLang="zh-CN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js</a:t>
            </a:r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en-US" altLang="zh-CN" b="1" dirty="0"/>
              <a:t>: [</a:t>
            </a:r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en-US" altLang="zh-CN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js</a:t>
            </a:r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/desktop.js"</a:t>
            </a:r>
            <a:r>
              <a:rPr lang="en-US" altLang="zh-CN" b="1" dirty="0"/>
              <a:t>]</a:t>
            </a:r>
            <a:br>
              <a:rPr lang="en-US" altLang="zh-CN" b="1" dirty="0"/>
            </a:br>
            <a:r>
              <a:rPr lang="en-US" altLang="zh-CN" b="1" dirty="0"/>
              <a:t>}</a:t>
            </a:r>
          </a:p>
          <a:p>
            <a:r>
              <a:rPr lang="en-US" altLang="zh-CN" b="0" dirty="0"/>
              <a:t>  3.</a:t>
            </a:r>
            <a:r>
              <a:rPr lang="zh-CN" altLang="en-US" b="0" dirty="0"/>
              <a:t>再次打包，并导入插件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B7E059-2F59-4869-B8DC-74D54B9958F6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728606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B7E059-2F59-4869-B8DC-74D54B9958F6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177686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说明：</a:t>
            </a:r>
            <a:endParaRPr lang="en-US" altLang="zh-CN" dirty="0"/>
          </a:p>
          <a:p>
            <a:r>
              <a:rPr lang="en-US" altLang="zh-CN" dirty="0"/>
              <a:t>  </a:t>
            </a:r>
            <a:r>
              <a:rPr lang="en-US" altLang="ja-JP" dirty="0">
                <a:latin typeface="Source Code Pro"/>
              </a:rPr>
              <a:t>  “E:\kintone_plugin_sample\sample”</a:t>
            </a:r>
            <a:r>
              <a:rPr lang="zh-CN" altLang="en-US" dirty="0">
                <a:latin typeface="Source Code Pro"/>
              </a:rPr>
              <a:t>是配置文件所在的目录</a:t>
            </a:r>
            <a:endParaRPr lang="en-US" altLang="zh-CN" dirty="0">
              <a:latin typeface="Source Code Pro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>
                <a:latin typeface="Source Code Pro"/>
              </a:rPr>
              <a:t>  </a:t>
            </a:r>
            <a:r>
              <a:rPr lang="zh-CN" altLang="en-US" dirty="0">
                <a:latin typeface="Source Code Pro"/>
              </a:rPr>
              <a:t>第一次打包时，会生成一个</a:t>
            </a:r>
            <a:r>
              <a:rPr lang="en-US" altLang="zh-CN" dirty="0">
                <a:latin typeface="Source Code Pro"/>
              </a:rPr>
              <a:t>.</a:t>
            </a:r>
            <a:r>
              <a:rPr lang="en-US" altLang="zh-CN" dirty="0" err="1">
                <a:latin typeface="Source Code Pro"/>
              </a:rPr>
              <a:t>ppk</a:t>
            </a:r>
            <a:r>
              <a:rPr lang="zh-CN" altLang="en-US" dirty="0">
                <a:latin typeface="Source Code Pro"/>
              </a:rPr>
              <a:t>的密钥文件和一个</a:t>
            </a:r>
            <a:r>
              <a:rPr lang="en-US" altLang="zh-CN" dirty="0">
                <a:latin typeface="Source Code Pro"/>
              </a:rPr>
              <a:t>zip</a:t>
            </a:r>
            <a:r>
              <a:rPr lang="zh-CN" altLang="en-US" dirty="0">
                <a:latin typeface="Source Code Pro"/>
              </a:rPr>
              <a:t>文件。如果不指定参数，插件名为</a:t>
            </a:r>
            <a:r>
              <a:rPr lang="en-US" altLang="zh-CN" dirty="0">
                <a:latin typeface="Source Code Pro"/>
              </a:rPr>
              <a:t>plugin.zip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>
                <a:latin typeface="Source Code Pro"/>
              </a:rPr>
              <a:t>  第二次打包时，可以指定一些参数</a:t>
            </a:r>
            <a:endParaRPr lang="en-US" altLang="zh-CN" dirty="0">
              <a:latin typeface="Source Code Pro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dirty="0">
                <a:latin typeface="Source Code Pro"/>
              </a:rPr>
              <a:t>  --out</a:t>
            </a:r>
            <a:r>
              <a:rPr lang="zh-CN" altLang="en-US" dirty="0">
                <a:latin typeface="Source Code Pro"/>
              </a:rPr>
              <a:t>：插件</a:t>
            </a:r>
            <a:r>
              <a:rPr lang="en-US" altLang="zh-CN" dirty="0">
                <a:latin typeface="Source Code Pro"/>
              </a:rPr>
              <a:t>zip</a:t>
            </a:r>
            <a:r>
              <a:rPr lang="zh-CN" altLang="en-US" dirty="0">
                <a:latin typeface="Source Code Pro"/>
              </a:rPr>
              <a:t>包的地址</a:t>
            </a:r>
            <a:endParaRPr lang="en-US" altLang="zh-CN" dirty="0">
              <a:latin typeface="Source Code Pro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dirty="0">
                <a:latin typeface="Source Code Pro"/>
              </a:rPr>
              <a:t>  --</a:t>
            </a:r>
            <a:r>
              <a:rPr lang="en-US" altLang="ja-JP" dirty="0" err="1">
                <a:latin typeface="Source Code Pro"/>
              </a:rPr>
              <a:t>ppk</a:t>
            </a:r>
            <a:r>
              <a:rPr lang="zh-CN" altLang="en-US" dirty="0">
                <a:latin typeface="Source Code Pro"/>
              </a:rPr>
              <a:t>：</a:t>
            </a:r>
            <a:r>
              <a:rPr lang="zh-CN" altLang="en-US" dirty="0"/>
              <a:t>密钥文件所在地址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  指定密钥文件，打包时会认为是对原插件的更新。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  如果不指定密钥文件，会被认为是打一个新的包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>
                <a:latin typeface="Source Code Pro"/>
              </a:rPr>
              <a:t>操作：</a:t>
            </a:r>
            <a:endParaRPr lang="en-US" altLang="zh-CN" dirty="0">
              <a:latin typeface="Source Code Pro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dirty="0">
                <a:latin typeface="Source Code Pro"/>
              </a:rPr>
              <a:t>  </a:t>
            </a:r>
            <a:r>
              <a:rPr lang="en-US" altLang="zh-CN" dirty="0">
                <a:latin typeface="Source Code Pro"/>
              </a:rPr>
              <a:t>1. </a:t>
            </a:r>
            <a:r>
              <a:rPr lang="zh-CN" altLang="en-US" dirty="0">
                <a:latin typeface="Source Code Pro"/>
              </a:rPr>
              <a:t>安装 </a:t>
            </a:r>
            <a:r>
              <a:rPr lang="en-US" altLang="zh-CN" dirty="0">
                <a:latin typeface="Source Code Pro"/>
              </a:rPr>
              <a:t>plugin-packer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dirty="0">
                <a:latin typeface="Source Code Pro"/>
              </a:rPr>
              <a:t>  </a:t>
            </a:r>
            <a:r>
              <a:rPr lang="en-US" altLang="zh-CN" dirty="0">
                <a:latin typeface="Source Code Pro"/>
              </a:rPr>
              <a:t>2. </a:t>
            </a:r>
            <a:r>
              <a:rPr lang="zh-CN" altLang="en-US" dirty="0">
                <a:latin typeface="Source Code Pro"/>
              </a:rPr>
              <a:t>对新做的插件打包</a:t>
            </a:r>
            <a:endParaRPr lang="en-US" altLang="ja-JP" dirty="0">
              <a:latin typeface="Source Code Pro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ja-JP" dirty="0">
              <a:latin typeface="Source Code Pro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B7E059-2F59-4869-B8DC-74D54B9958F6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562133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说明：</a:t>
            </a:r>
            <a:endParaRPr lang="en-US" altLang="zh-CN" dirty="0"/>
          </a:p>
          <a:p>
            <a:r>
              <a:rPr lang="en-US" altLang="zh-CN" dirty="0"/>
              <a:t>  </a:t>
            </a:r>
            <a:r>
              <a:rPr lang="zh-CN" altLang="en-US" dirty="0"/>
              <a:t>导入 </a:t>
            </a:r>
            <a:r>
              <a:rPr lang="en-US" altLang="zh-CN" dirty="0"/>
              <a:t>-&gt; </a:t>
            </a:r>
            <a:r>
              <a:rPr lang="zh-CN" altLang="en-US" dirty="0"/>
              <a:t>选择插件的</a:t>
            </a:r>
            <a:r>
              <a:rPr lang="en-US" altLang="zh-CN" dirty="0"/>
              <a:t>zip</a:t>
            </a:r>
            <a:r>
              <a:rPr lang="zh-CN" altLang="en-US" dirty="0"/>
              <a:t>包</a:t>
            </a:r>
            <a:endParaRPr lang="en-US" altLang="zh-CN" dirty="0"/>
          </a:p>
          <a:p>
            <a:r>
              <a:rPr lang="zh-CN" altLang="en-US" dirty="0"/>
              <a:t>  如果插件需要更新，同样在该画面再导入一次。</a:t>
            </a:r>
            <a:endParaRPr lang="en-US" altLang="zh-CN" dirty="0"/>
          </a:p>
          <a:p>
            <a:r>
              <a:rPr lang="zh-CN" altLang="en-US" dirty="0"/>
              <a:t>操作：</a:t>
            </a:r>
            <a:endParaRPr lang="en-US" altLang="zh-CN" dirty="0"/>
          </a:p>
          <a:p>
            <a:r>
              <a:rPr lang="en-US" altLang="zh-CN" dirty="0"/>
              <a:t>  </a:t>
            </a:r>
            <a:r>
              <a:rPr lang="zh-CN" altLang="en-US" dirty="0"/>
              <a:t>先在系统管理里导入一次</a:t>
            </a:r>
            <a:endParaRPr lang="en-US" altLang="zh-CN" dirty="0"/>
          </a:p>
          <a:p>
            <a:r>
              <a:rPr lang="zh-CN" altLang="en-US" dirty="0"/>
              <a:t>  然后再在应用里导入一次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B7E059-2F59-4869-B8DC-74D54B9958F6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621534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altLang="zh-CN" dirty="0">
              <a:latin typeface="Source Code Pro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B7E059-2F59-4869-B8DC-74D54B9958F6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95668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  <p:sp>
        <p:nvSpPr>
          <p:cNvPr id="7" name="矩形 6"/>
          <p:cNvSpPr/>
          <p:nvPr userDrawn="1"/>
        </p:nvSpPr>
        <p:spPr>
          <a:xfrm>
            <a:off x="0" y="4296850"/>
            <a:ext cx="12192000" cy="2572438"/>
          </a:xfrm>
          <a:prstGeom prst="rect">
            <a:avLst/>
          </a:prstGeom>
          <a:solidFill>
            <a:srgbClr val="64BD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507" y="188235"/>
            <a:ext cx="2087135" cy="489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41371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64BDD4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8" name="矩形 7"/>
          <p:cNvSpPr/>
          <p:nvPr userDrawn="1"/>
        </p:nvSpPr>
        <p:spPr>
          <a:xfrm>
            <a:off x="-1" y="0"/>
            <a:ext cx="324081" cy="6858000"/>
          </a:xfrm>
          <a:prstGeom prst="rect">
            <a:avLst/>
          </a:prstGeom>
          <a:solidFill>
            <a:srgbClr val="9ED2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7881" y="6109179"/>
            <a:ext cx="640039" cy="580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24803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D9A777-DDFC-4114-B27F-368012E730E9}" type="datetimeFigureOut">
              <a:rPr lang="zh-CN" altLang="en-US" smtClean="0"/>
              <a:t>2019/4/2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0E8CD5-D900-4549-B40B-AAA848D5F4A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38595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3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1.bin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kintone/plugin-sdk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ybozudev.kf5.com/hc/kb/article/1001101/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cybozudev.kf5.com/hc/kb/article/1000664/#step2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cybozudev.kf5.com/hc/kb/article/1001101/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kintone/plugin-packer" TargetMode="Externa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kintone.github.io/plugin-packer/" TargetMode="Externa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对象 3" hidden="1">
            <a:extLst>
              <a:ext uri="{FF2B5EF4-FFF2-40B4-BE49-F238E27FC236}">
                <a16:creationId xmlns:a16="http://schemas.microsoft.com/office/drawing/2014/main" id="{D775FAF7-6FDE-47CA-B3EE-6AC31653947B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18932891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21" name="think-cell Slide" r:id="rId5" imgW="359" imgH="360" progId="TCLayout.ActiveDocument.1">
                  <p:embed/>
                </p:oleObj>
              </mc:Choice>
              <mc:Fallback>
                <p:oleObj name="think-cell Slide" r:id="rId5" imgW="359" imgH="36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86ACEEB3-851F-4025-8629-139F045E40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55638"/>
            <a:ext cx="9144000" cy="2387600"/>
          </a:xfrm>
        </p:spPr>
        <p:txBody>
          <a:bodyPr>
            <a:normAutofit/>
          </a:bodyPr>
          <a:lstStyle/>
          <a:p>
            <a:r>
              <a:rPr lang="en-US" altLang="zh-CN" dirty="0" err="1"/>
              <a:t>kintone</a:t>
            </a:r>
            <a:r>
              <a:rPr lang="en-US" altLang="zh-CN" dirty="0"/>
              <a:t> plugin</a:t>
            </a:r>
            <a:br>
              <a:rPr lang="en-US" altLang="zh-CN" dirty="0"/>
            </a:br>
            <a:r>
              <a:rPr lang="zh-CN" altLang="en-US" sz="4800" dirty="0">
                <a:latin typeface="等线" panose="02010600030101010101" pitchFamily="2" charset="-122"/>
                <a:ea typeface="等线" panose="02010600030101010101" pitchFamily="2" charset="-122"/>
              </a:rPr>
              <a:t>开发</a:t>
            </a:r>
          </a:p>
        </p:txBody>
      </p:sp>
    </p:spTree>
    <p:extLst>
      <p:ext uri="{BB962C8B-B14F-4D97-AF65-F5344CB8AC3E}">
        <p14:creationId xmlns:p14="http://schemas.microsoft.com/office/powerpoint/2010/main" val="45967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C0459C8-5FEE-4656-AF76-FB715CE4B2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新条件格式插件 的</a:t>
            </a:r>
            <a:r>
              <a:rPr lang="en-US" altLang="zh-CN" dirty="0"/>
              <a:t>demo</a:t>
            </a:r>
          </a:p>
          <a:p>
            <a:endParaRPr lang="zh-CN" altLang="en-US" dirty="0"/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87BF9990-3199-4DDF-AD34-0B98B7C376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 b="1" dirty="0"/>
              <a:t>什么是</a:t>
            </a:r>
            <a:r>
              <a:rPr lang="en-US" altLang="zh-CN" b="1" dirty="0" err="1"/>
              <a:t>kintone</a:t>
            </a:r>
            <a:r>
              <a:rPr lang="en-US" altLang="zh-CN" b="1" dirty="0"/>
              <a:t> plugin?</a:t>
            </a:r>
            <a:endParaRPr lang="zh-CN" altLang="en-US" b="1" dirty="0"/>
          </a:p>
        </p:txBody>
      </p:sp>
      <p:pic>
        <p:nvPicPr>
          <p:cNvPr id="6" name="图片 5" descr="图片包含 屏幕截图, 监视器&#10;&#10;已生成极高可信度的说明">
            <a:extLst>
              <a:ext uri="{FF2B5EF4-FFF2-40B4-BE49-F238E27FC236}">
                <a16:creationId xmlns:a16="http://schemas.microsoft.com/office/drawing/2014/main" id="{8A027742-B7B4-435D-9572-31D9689EE6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3447" y="2334125"/>
            <a:ext cx="6322906" cy="3690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11425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27C1DCB-6F15-43C3-9C84-65C248F670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 err="1"/>
              <a:t>kintone</a:t>
            </a:r>
            <a:r>
              <a:rPr lang="en-US" altLang="zh-CN" b="1" dirty="0"/>
              <a:t> plugin</a:t>
            </a:r>
            <a:r>
              <a:rPr lang="zh-CN" altLang="en-US" b="1" dirty="0"/>
              <a:t>的原理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035A393-DF31-408B-A055-68821B7140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5335" y="1808307"/>
            <a:ext cx="10515600" cy="558006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 err="1"/>
              <a:t>kintone</a:t>
            </a:r>
            <a:r>
              <a:rPr lang="en-US" altLang="zh-CN" dirty="0"/>
              <a:t> plugin = JavaScript + CSS + HTML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87A0DD2-7F2B-4E24-AC0B-F666471CC0AC}"/>
              </a:ext>
            </a:extLst>
          </p:cNvPr>
          <p:cNvSpPr/>
          <p:nvPr/>
        </p:nvSpPr>
        <p:spPr>
          <a:xfrm>
            <a:off x="1395335" y="2879118"/>
            <a:ext cx="7881012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zh-CN" altLang="en-US" dirty="0">
                <a:solidFill>
                  <a:srgbClr val="37405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把</a:t>
            </a:r>
            <a:r>
              <a:rPr lang="en-US" altLang="zh-CN" dirty="0">
                <a:solidFill>
                  <a:srgbClr val="37405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JavaScript </a:t>
            </a:r>
            <a:r>
              <a:rPr lang="zh-CN" altLang="en-US" dirty="0">
                <a:solidFill>
                  <a:srgbClr val="37405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或者 </a:t>
            </a:r>
            <a:r>
              <a:rPr lang="en-US" altLang="zh-CN" dirty="0">
                <a:solidFill>
                  <a:srgbClr val="37405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CSS </a:t>
            </a:r>
            <a:r>
              <a:rPr lang="zh-CN" altLang="en-US" dirty="0">
                <a:solidFill>
                  <a:srgbClr val="37405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文件打包，可在多个应用中使用的，就叫“插件”。</a:t>
            </a:r>
            <a:br>
              <a:rPr lang="zh-CN" altLang="en-US" dirty="0">
                <a:solidFill>
                  <a:srgbClr val="37405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</a:br>
            <a:r>
              <a:rPr lang="zh-CN" altLang="en-US" dirty="0">
                <a:solidFill>
                  <a:srgbClr val="37405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只需要在</a:t>
            </a:r>
            <a:r>
              <a:rPr lang="en-US" altLang="zh-CN" dirty="0" err="1">
                <a:solidFill>
                  <a:srgbClr val="37405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kintone</a:t>
            </a:r>
            <a:r>
              <a:rPr lang="zh-CN" altLang="en-US" dirty="0">
                <a:solidFill>
                  <a:srgbClr val="37405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安装插件，然后应用到</a:t>
            </a:r>
            <a:r>
              <a:rPr lang="en-US" altLang="zh-CN" dirty="0" err="1">
                <a:solidFill>
                  <a:srgbClr val="37405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kintone</a:t>
            </a:r>
            <a:r>
              <a:rPr lang="zh-CN" altLang="en-US" dirty="0">
                <a:solidFill>
                  <a:srgbClr val="37405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的应用里，就可以简单实现与</a:t>
            </a:r>
            <a:r>
              <a:rPr lang="en-US" altLang="zh-CN" dirty="0">
                <a:solidFill>
                  <a:srgbClr val="37405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JavaScript</a:t>
            </a:r>
            <a:r>
              <a:rPr lang="zh-CN" altLang="en-US" dirty="0">
                <a:solidFill>
                  <a:srgbClr val="37405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自定义同等的功能扩展，以及和其他服务的整合。</a:t>
            </a:r>
            <a:endParaRPr lang="en-US" altLang="zh-CN" dirty="0">
              <a:solidFill>
                <a:srgbClr val="37405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fontAlgn="base"/>
            <a:endParaRPr lang="zh-CN" altLang="en-US" dirty="0">
              <a:solidFill>
                <a:srgbClr val="37405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fontAlgn="base"/>
            <a:r>
              <a:rPr lang="en-US" altLang="zh-CN" dirty="0">
                <a:solidFill>
                  <a:srgbClr val="37405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※</a:t>
            </a:r>
            <a:r>
              <a:rPr lang="zh-CN" altLang="en-US" dirty="0">
                <a:solidFill>
                  <a:srgbClr val="37405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安装插件需要有</a:t>
            </a:r>
            <a:r>
              <a:rPr lang="en-US" altLang="zh-CN" dirty="0" err="1">
                <a:solidFill>
                  <a:srgbClr val="37405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kintone</a:t>
            </a:r>
            <a:r>
              <a:rPr lang="zh-CN" altLang="en-US" dirty="0">
                <a:solidFill>
                  <a:srgbClr val="37405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的系统管理权限。</a:t>
            </a:r>
            <a:br>
              <a:rPr lang="zh-CN" altLang="en-US" dirty="0">
                <a:solidFill>
                  <a:srgbClr val="37405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</a:br>
            <a:r>
              <a:rPr lang="en-US" altLang="zh-CN" dirty="0">
                <a:solidFill>
                  <a:srgbClr val="37405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※</a:t>
            </a:r>
            <a:r>
              <a:rPr lang="zh-CN" altLang="en-US" dirty="0">
                <a:solidFill>
                  <a:srgbClr val="37405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插件开发，需要有</a:t>
            </a:r>
            <a:r>
              <a:rPr lang="en-US" altLang="zh-CN" dirty="0">
                <a:solidFill>
                  <a:srgbClr val="37405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HTML</a:t>
            </a:r>
            <a:r>
              <a:rPr lang="zh-CN" altLang="en-US" dirty="0">
                <a:solidFill>
                  <a:srgbClr val="37405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dirty="0">
                <a:solidFill>
                  <a:srgbClr val="37405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CSS</a:t>
            </a:r>
            <a:r>
              <a:rPr lang="zh-CN" altLang="en-US" dirty="0">
                <a:solidFill>
                  <a:srgbClr val="37405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的基础知识，以及</a:t>
            </a:r>
            <a:r>
              <a:rPr lang="en-US" altLang="zh-CN" dirty="0" err="1">
                <a:solidFill>
                  <a:srgbClr val="37405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kintone</a:t>
            </a:r>
            <a:r>
              <a:rPr lang="en-US" altLang="zh-CN" dirty="0">
                <a:solidFill>
                  <a:srgbClr val="37405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JavaScript</a:t>
            </a:r>
            <a:r>
              <a:rPr lang="zh-CN" altLang="en-US" dirty="0">
                <a:solidFill>
                  <a:srgbClr val="37405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自定义的知识。</a:t>
            </a:r>
            <a:endParaRPr lang="zh-CN" altLang="en-US" i="0" dirty="0">
              <a:solidFill>
                <a:srgbClr val="374051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285429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71DB92-22DF-43A4-AC11-100DDC95C5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准备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118D0D7-D654-48B7-8918-D11D8A92BE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base"/>
            <a:r>
              <a:rPr lang="zh-CN" altLang="en-US" b="1" dirty="0"/>
              <a:t>环境的准备</a:t>
            </a:r>
          </a:p>
          <a:p>
            <a:pPr fontAlgn="base"/>
            <a:r>
              <a:rPr lang="en-US" altLang="zh-CN" dirty="0" err="1"/>
              <a:t>kintone</a:t>
            </a:r>
            <a:r>
              <a:rPr lang="en-US" altLang="zh-CN" dirty="0"/>
              <a:t> </a:t>
            </a:r>
            <a:r>
              <a:rPr lang="zh-CN" altLang="en-US" dirty="0"/>
              <a:t>的插件开发，需要准备以下的环境。</a:t>
            </a:r>
          </a:p>
          <a:p>
            <a:pPr fontAlgn="base"/>
            <a:r>
              <a:rPr lang="en-US" altLang="zh-CN" b="1" dirty="0"/>
              <a:t>plugin-</a:t>
            </a:r>
            <a:r>
              <a:rPr lang="en-US" altLang="zh-CN" b="1" dirty="0" err="1"/>
              <a:t>sdk</a:t>
            </a:r>
            <a:r>
              <a:rPr lang="zh-CN" altLang="en-US" b="1" dirty="0"/>
              <a:t>的准备</a:t>
            </a:r>
          </a:p>
          <a:p>
            <a:pPr fontAlgn="base"/>
            <a:r>
              <a:rPr lang="zh-CN" altLang="en-US" dirty="0"/>
              <a:t>请下载包含有打包工具、</a:t>
            </a:r>
            <a:r>
              <a:rPr lang="en-US" altLang="zh-CN" dirty="0"/>
              <a:t>CSS</a:t>
            </a:r>
            <a:r>
              <a:rPr lang="zh-CN" altLang="en-US" dirty="0"/>
              <a:t>文件、</a:t>
            </a:r>
            <a:r>
              <a:rPr lang="en-US" altLang="zh-CN" dirty="0"/>
              <a:t>README</a:t>
            </a:r>
            <a:r>
              <a:rPr lang="zh-CN" altLang="en-US" dirty="0"/>
              <a:t>、范例的</a:t>
            </a:r>
            <a:r>
              <a:rPr lang="en-US" altLang="zh-CN" dirty="0"/>
              <a:t>plugin-</a:t>
            </a:r>
            <a:r>
              <a:rPr lang="en-US" altLang="zh-CN" dirty="0" err="1"/>
              <a:t>sdk</a:t>
            </a:r>
            <a:r>
              <a:rPr lang="zh-CN" altLang="en-US" dirty="0"/>
              <a:t>。</a:t>
            </a:r>
          </a:p>
          <a:p>
            <a:pPr fontAlgn="base"/>
            <a:r>
              <a:rPr lang="en-US" altLang="zh-CN" dirty="0">
                <a:hlinkClick r:id="rId3"/>
              </a:rPr>
              <a:t>plugin-</a:t>
            </a:r>
            <a:r>
              <a:rPr lang="en-US" altLang="zh-CN" dirty="0" err="1">
                <a:hlinkClick r:id="rId3"/>
              </a:rPr>
              <a:t>sdk</a:t>
            </a:r>
            <a:endParaRPr lang="en-US" altLang="zh-CN" dirty="0"/>
          </a:p>
          <a:p>
            <a:pPr fontAlgn="base"/>
            <a:r>
              <a:rPr lang="en-US" altLang="zh-CN" dirty="0"/>
              <a:t>CSS</a:t>
            </a:r>
            <a:r>
              <a:rPr lang="zh-CN" altLang="en-US" dirty="0"/>
              <a:t>文件的使用方法可参照下面。</a:t>
            </a:r>
          </a:p>
          <a:p>
            <a:pPr fontAlgn="base"/>
            <a:r>
              <a:rPr lang="zh-CN" altLang="en-US" dirty="0">
                <a:hlinkClick r:id="rId4"/>
              </a:rPr>
              <a:t>样式表的使用</a:t>
            </a:r>
            <a:endParaRPr lang="zh-CN" altLang="en-US" dirty="0"/>
          </a:p>
          <a:p>
            <a:pPr fontAlgn="base"/>
            <a:endParaRPr lang="zh-CN" altLang="en-US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857014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>
            <a:extLst>
              <a:ext uri="{FF2B5EF4-FFF2-40B4-BE49-F238E27FC236}">
                <a16:creationId xmlns:a16="http://schemas.microsoft.com/office/drawing/2014/main" id="{6BD524E6-BE13-4C19-9AC9-D8097C3D7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 dirty="0"/>
              <a:t>目录结构</a:t>
            </a:r>
          </a:p>
        </p:txBody>
      </p:sp>
      <p:pic>
        <p:nvPicPr>
          <p:cNvPr id="18" name="内容占位符 17" descr="图片包含 屏幕截图&#10;&#10;已生成高可信度的说明">
            <a:extLst>
              <a:ext uri="{FF2B5EF4-FFF2-40B4-BE49-F238E27FC236}">
                <a16:creationId xmlns:a16="http://schemas.microsoft.com/office/drawing/2014/main" id="{43A258FB-1521-4A58-8C23-5BF0CA8F4E3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6586" y="1032571"/>
            <a:ext cx="5178272" cy="5470916"/>
          </a:xfrm>
        </p:spPr>
      </p:pic>
    </p:spTree>
    <p:extLst>
      <p:ext uri="{BB962C8B-B14F-4D97-AF65-F5344CB8AC3E}">
        <p14:creationId xmlns:p14="http://schemas.microsoft.com/office/powerpoint/2010/main" val="40677076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96857E-72D8-4107-BF0A-8681B0C791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The Manifest file</a:t>
            </a:r>
            <a:endParaRPr lang="zh-CN" altLang="en-US" dirty="0"/>
          </a:p>
        </p:txBody>
      </p:sp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0D9D80D4-D643-4C27-B4A4-ECB5E8D0FC32}"/>
              </a:ext>
            </a:extLst>
          </p:cNvPr>
          <p:cNvSpPr txBox="1">
            <a:spLocks/>
          </p:cNvSpPr>
          <p:nvPr/>
        </p:nvSpPr>
        <p:spPr>
          <a:xfrm>
            <a:off x="838200" y="1585119"/>
            <a:ext cx="10515600" cy="5580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dirty="0" err="1"/>
              <a:t>manifest.json</a:t>
            </a:r>
            <a:r>
              <a:rPr lang="en-US" altLang="zh-CN" dirty="0"/>
              <a:t> </a:t>
            </a:r>
            <a:r>
              <a:rPr lang="zh-CN" altLang="en-US" dirty="0"/>
              <a:t>是做成插件必须的一个资源配置文件</a:t>
            </a:r>
            <a:endParaRPr lang="en-US" altLang="zh-CN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A86F392-7314-4D79-8509-2C00C54099D5}"/>
              </a:ext>
            </a:extLst>
          </p:cNvPr>
          <p:cNvSpPr/>
          <p:nvPr/>
        </p:nvSpPr>
        <p:spPr>
          <a:xfrm>
            <a:off x="3629749" y="2143889"/>
            <a:ext cx="8115300" cy="47141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lang="en-US" altLang="ja-JP" sz="2000" b="1" dirty="0">
                <a:latin typeface="Source Code Pro"/>
              </a:rPr>
              <a:t>Sample Manifest file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600" dirty="0">
                <a:solidFill>
                  <a:srgbClr val="000000"/>
                </a:solidFill>
                <a:latin typeface="Source Code Pro"/>
                <a:ea typeface="Source Code Pro"/>
              </a:rPr>
              <a:t>{</a:t>
            </a:r>
            <a:br>
              <a:rPr lang="zh-CN" altLang="zh-CN" sz="1600" dirty="0">
                <a:solidFill>
                  <a:srgbClr val="000000"/>
                </a:solidFill>
                <a:latin typeface="Source Code Pro"/>
                <a:ea typeface="Source Code Pro"/>
              </a:rPr>
            </a:br>
            <a:r>
              <a:rPr lang="zh-CN" altLang="zh-CN" sz="1600" dirty="0">
                <a:solidFill>
                  <a:srgbClr val="000000"/>
                </a:solidFill>
                <a:latin typeface="Source Code Pro"/>
                <a:ea typeface="Source Code Pro"/>
              </a:rPr>
              <a:t>  </a:t>
            </a:r>
            <a:r>
              <a:rPr lang="zh-CN" altLang="zh-CN" sz="1600" dirty="0">
                <a:solidFill>
                  <a:srgbClr val="660E7A"/>
                </a:solidFill>
                <a:latin typeface="Source Code Pro"/>
                <a:ea typeface="Source Code Pro"/>
              </a:rPr>
              <a:t>"manifest_version"</a:t>
            </a:r>
            <a:r>
              <a:rPr lang="zh-CN" altLang="zh-CN" sz="1600" dirty="0">
                <a:solidFill>
                  <a:srgbClr val="000000"/>
                </a:solidFill>
                <a:latin typeface="Source Code Pro"/>
                <a:ea typeface="Source Code Pro"/>
              </a:rPr>
              <a:t>: </a:t>
            </a:r>
            <a:r>
              <a:rPr lang="zh-CN" altLang="zh-CN" sz="1600" dirty="0">
                <a:solidFill>
                  <a:srgbClr val="0000FF"/>
                </a:solidFill>
                <a:latin typeface="Source Code Pro"/>
                <a:ea typeface="Source Code Pro"/>
              </a:rPr>
              <a:t>1</a:t>
            </a:r>
            <a:r>
              <a:rPr lang="zh-CN" altLang="zh-CN" sz="1600" dirty="0">
                <a:solidFill>
                  <a:srgbClr val="000000"/>
                </a:solidFill>
                <a:latin typeface="Source Code Pro"/>
                <a:ea typeface="Source Code Pro"/>
              </a:rPr>
              <a:t>,</a:t>
            </a:r>
            <a:br>
              <a:rPr lang="zh-CN" altLang="zh-CN" sz="1600" dirty="0">
                <a:solidFill>
                  <a:srgbClr val="000000"/>
                </a:solidFill>
                <a:latin typeface="Source Code Pro"/>
                <a:ea typeface="Source Code Pro"/>
              </a:rPr>
            </a:br>
            <a:r>
              <a:rPr lang="zh-CN" altLang="zh-CN" sz="1600" dirty="0">
                <a:solidFill>
                  <a:srgbClr val="000000"/>
                </a:solidFill>
                <a:latin typeface="Source Code Pro"/>
                <a:ea typeface="Source Code Pro"/>
              </a:rPr>
              <a:t>  </a:t>
            </a:r>
            <a:r>
              <a:rPr lang="zh-CN" altLang="zh-CN" sz="1600" dirty="0">
                <a:solidFill>
                  <a:srgbClr val="660E7A"/>
                </a:solidFill>
                <a:latin typeface="Source Code Pro"/>
                <a:ea typeface="Source Code Pro"/>
              </a:rPr>
              <a:t>"version"</a:t>
            </a:r>
            <a:r>
              <a:rPr lang="zh-CN" altLang="zh-CN" sz="1600" dirty="0">
                <a:solidFill>
                  <a:srgbClr val="000000"/>
                </a:solidFill>
                <a:latin typeface="Source Code Pro"/>
                <a:ea typeface="Source Code Pro"/>
              </a:rPr>
              <a:t>: </a:t>
            </a:r>
            <a:r>
              <a:rPr lang="zh-CN" altLang="zh-CN" sz="1600" dirty="0">
                <a:solidFill>
                  <a:srgbClr val="0000FF"/>
                </a:solidFill>
                <a:latin typeface="Source Code Pro"/>
                <a:ea typeface="Source Code Pro"/>
              </a:rPr>
              <a:t>1</a:t>
            </a:r>
            <a:r>
              <a:rPr lang="zh-CN" altLang="zh-CN" sz="1600" dirty="0">
                <a:solidFill>
                  <a:srgbClr val="000000"/>
                </a:solidFill>
                <a:latin typeface="Source Code Pro"/>
                <a:ea typeface="Source Code Pro"/>
              </a:rPr>
              <a:t>,</a:t>
            </a:r>
            <a:br>
              <a:rPr lang="zh-CN" altLang="zh-CN" sz="1600" dirty="0">
                <a:solidFill>
                  <a:srgbClr val="000000"/>
                </a:solidFill>
                <a:latin typeface="Source Code Pro"/>
                <a:ea typeface="Source Code Pro"/>
              </a:rPr>
            </a:br>
            <a:r>
              <a:rPr lang="zh-CN" altLang="zh-CN" sz="1600" dirty="0">
                <a:solidFill>
                  <a:srgbClr val="000000"/>
                </a:solidFill>
                <a:latin typeface="Source Code Pro"/>
                <a:ea typeface="Source Code Pro"/>
              </a:rPr>
              <a:t>  </a:t>
            </a:r>
            <a:r>
              <a:rPr lang="zh-CN" altLang="zh-CN" sz="1600" dirty="0">
                <a:solidFill>
                  <a:srgbClr val="660E7A"/>
                </a:solidFill>
                <a:latin typeface="Source Code Pro"/>
                <a:ea typeface="Source Code Pro"/>
              </a:rPr>
              <a:t>"type"</a:t>
            </a:r>
            <a:r>
              <a:rPr lang="zh-CN" altLang="zh-CN" sz="1600" dirty="0">
                <a:solidFill>
                  <a:srgbClr val="000000"/>
                </a:solidFill>
                <a:latin typeface="Source Code Pro"/>
                <a:ea typeface="Source Code Pro"/>
              </a:rPr>
              <a:t>: </a:t>
            </a:r>
            <a:r>
              <a:rPr lang="zh-CN" altLang="zh-CN" sz="1600" dirty="0">
                <a:solidFill>
                  <a:srgbClr val="008000"/>
                </a:solidFill>
                <a:latin typeface="Source Code Pro"/>
                <a:ea typeface="Source Code Pro"/>
              </a:rPr>
              <a:t>"APP"</a:t>
            </a:r>
            <a:r>
              <a:rPr lang="zh-CN" altLang="zh-CN" sz="1600" dirty="0">
                <a:solidFill>
                  <a:srgbClr val="000000"/>
                </a:solidFill>
                <a:latin typeface="Source Code Pro"/>
                <a:ea typeface="Source Code Pro"/>
              </a:rPr>
              <a:t>,</a:t>
            </a:r>
            <a:br>
              <a:rPr lang="zh-CN" altLang="zh-CN" sz="1600" dirty="0">
                <a:solidFill>
                  <a:srgbClr val="000000"/>
                </a:solidFill>
                <a:latin typeface="Source Code Pro"/>
                <a:ea typeface="Source Code Pro"/>
              </a:rPr>
            </a:br>
            <a:r>
              <a:rPr lang="zh-CN" altLang="zh-CN" sz="1600" dirty="0">
                <a:solidFill>
                  <a:srgbClr val="000000"/>
                </a:solidFill>
                <a:latin typeface="Source Code Pro"/>
                <a:ea typeface="Source Code Pro"/>
              </a:rPr>
              <a:t>  </a:t>
            </a:r>
            <a:r>
              <a:rPr lang="zh-CN" altLang="zh-CN" sz="1600" dirty="0">
                <a:solidFill>
                  <a:srgbClr val="660E7A"/>
                </a:solidFill>
                <a:latin typeface="Source Code Pro"/>
                <a:ea typeface="Source Code Pro"/>
              </a:rPr>
              <a:t>"name"</a:t>
            </a:r>
            <a:r>
              <a:rPr lang="zh-CN" altLang="zh-CN" sz="1600" dirty="0">
                <a:solidFill>
                  <a:srgbClr val="000000"/>
                </a:solidFill>
                <a:latin typeface="Source Code Pro"/>
                <a:ea typeface="Source Code Pro"/>
              </a:rPr>
              <a:t>: {</a:t>
            </a:r>
            <a:br>
              <a:rPr lang="zh-CN" altLang="zh-CN" sz="1600" dirty="0">
                <a:solidFill>
                  <a:srgbClr val="000000"/>
                </a:solidFill>
                <a:latin typeface="Source Code Pro"/>
                <a:ea typeface="Source Code Pro"/>
              </a:rPr>
            </a:br>
            <a:r>
              <a:rPr lang="zh-CN" altLang="zh-CN" sz="1600" dirty="0">
                <a:solidFill>
                  <a:srgbClr val="000000"/>
                </a:solidFill>
                <a:latin typeface="Source Code Pro"/>
                <a:ea typeface="Source Code Pro"/>
              </a:rPr>
              <a:t>    </a:t>
            </a:r>
            <a:r>
              <a:rPr lang="zh-CN" altLang="zh-CN" sz="1600" dirty="0">
                <a:solidFill>
                  <a:srgbClr val="660E7A"/>
                </a:solidFill>
                <a:latin typeface="Source Code Pro"/>
                <a:ea typeface="Source Code Pro"/>
              </a:rPr>
              <a:t>"en"</a:t>
            </a:r>
            <a:r>
              <a:rPr lang="zh-CN" altLang="zh-CN" sz="1600" dirty="0">
                <a:solidFill>
                  <a:srgbClr val="000000"/>
                </a:solidFill>
                <a:latin typeface="Source Code Pro"/>
                <a:ea typeface="Source Code Pro"/>
              </a:rPr>
              <a:t>: </a:t>
            </a:r>
            <a:r>
              <a:rPr lang="zh-CN" altLang="zh-CN" sz="1600" dirty="0">
                <a:solidFill>
                  <a:srgbClr val="008000"/>
                </a:solidFill>
                <a:latin typeface="Source Code Pro"/>
                <a:ea typeface="Source Code Pro"/>
              </a:rPr>
              <a:t>"sample plugin"</a:t>
            </a:r>
            <a:br>
              <a:rPr lang="zh-CN" altLang="zh-CN" sz="1600" dirty="0">
                <a:solidFill>
                  <a:srgbClr val="008000"/>
                </a:solidFill>
                <a:latin typeface="Source Code Pro"/>
                <a:ea typeface="Source Code Pro"/>
              </a:rPr>
            </a:br>
            <a:r>
              <a:rPr lang="zh-CN" altLang="zh-CN" sz="1600" dirty="0">
                <a:solidFill>
                  <a:srgbClr val="008000"/>
                </a:solidFill>
                <a:latin typeface="Source Code Pro"/>
                <a:ea typeface="Source Code Pro"/>
              </a:rPr>
              <a:t>  </a:t>
            </a:r>
            <a:r>
              <a:rPr lang="zh-CN" altLang="zh-CN" sz="1600" dirty="0">
                <a:solidFill>
                  <a:srgbClr val="000000"/>
                </a:solidFill>
                <a:latin typeface="Source Code Pro"/>
                <a:ea typeface="Source Code Pro"/>
              </a:rPr>
              <a:t>},</a:t>
            </a:r>
            <a:br>
              <a:rPr lang="zh-CN" altLang="zh-CN" sz="1600" dirty="0">
                <a:solidFill>
                  <a:srgbClr val="000000"/>
                </a:solidFill>
                <a:latin typeface="Source Code Pro"/>
                <a:ea typeface="Source Code Pro"/>
              </a:rPr>
            </a:br>
            <a:r>
              <a:rPr lang="zh-CN" altLang="zh-CN" sz="1600" dirty="0">
                <a:solidFill>
                  <a:srgbClr val="000000"/>
                </a:solidFill>
                <a:latin typeface="Source Code Pro"/>
                <a:ea typeface="Source Code Pro"/>
              </a:rPr>
              <a:t>  </a:t>
            </a:r>
            <a:r>
              <a:rPr lang="zh-CN" altLang="zh-CN" sz="1600" dirty="0">
                <a:solidFill>
                  <a:srgbClr val="660E7A"/>
                </a:solidFill>
                <a:latin typeface="Source Code Pro"/>
                <a:ea typeface="Source Code Pro"/>
              </a:rPr>
              <a:t>"icon"</a:t>
            </a:r>
            <a:r>
              <a:rPr lang="zh-CN" altLang="zh-CN" sz="1600" dirty="0">
                <a:solidFill>
                  <a:srgbClr val="000000"/>
                </a:solidFill>
                <a:latin typeface="Source Code Pro"/>
                <a:ea typeface="Source Code Pro"/>
              </a:rPr>
              <a:t>: </a:t>
            </a:r>
            <a:r>
              <a:rPr lang="zh-CN" altLang="zh-CN" sz="1600" dirty="0">
                <a:solidFill>
                  <a:srgbClr val="008000"/>
                </a:solidFill>
                <a:latin typeface="Source Code Pro"/>
                <a:ea typeface="Source Code Pro"/>
              </a:rPr>
              <a:t>"</a:t>
            </a:r>
            <a:r>
              <a:rPr lang="en-US" altLang="zh-CN" sz="1600" dirty="0">
                <a:solidFill>
                  <a:srgbClr val="008000"/>
                </a:solidFill>
                <a:latin typeface="Source Code Pro"/>
                <a:ea typeface="Source Code Pro"/>
              </a:rPr>
              <a:t>icon/1.png</a:t>
            </a:r>
            <a:r>
              <a:rPr lang="zh-CN" altLang="zh-CN" sz="1600" dirty="0">
                <a:solidFill>
                  <a:srgbClr val="008000"/>
                </a:solidFill>
                <a:latin typeface="Source Code Pro"/>
                <a:ea typeface="Source Code Pro"/>
              </a:rPr>
              <a:t>"</a:t>
            </a:r>
            <a:endParaRPr lang="en-US" altLang="zh-CN" sz="1600" dirty="0">
              <a:solidFill>
                <a:srgbClr val="008000"/>
              </a:solidFill>
              <a:latin typeface="Source Code Pro"/>
              <a:ea typeface="Source Code Pro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600" dirty="0">
                <a:solidFill>
                  <a:srgbClr val="000000"/>
                </a:solidFill>
                <a:latin typeface="Source Code Pro"/>
                <a:ea typeface="Source Code Pro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Source Code Pro"/>
                <a:ea typeface="Source Code Pro"/>
              </a:rPr>
              <a:t> </a:t>
            </a:r>
            <a:r>
              <a:rPr lang="zh-CN" altLang="zh-CN" sz="1600" dirty="0">
                <a:solidFill>
                  <a:srgbClr val="660E7A"/>
                </a:solidFill>
                <a:latin typeface="Source Code Pro"/>
                <a:ea typeface="Source Code Pro"/>
              </a:rPr>
              <a:t>"config"</a:t>
            </a:r>
            <a:r>
              <a:rPr lang="zh-CN" altLang="zh-CN" sz="1600" dirty="0">
                <a:solidFill>
                  <a:srgbClr val="000000"/>
                </a:solidFill>
                <a:latin typeface="Source Code Pro"/>
                <a:ea typeface="Source Code Pro"/>
              </a:rPr>
              <a:t>: {</a:t>
            </a:r>
            <a:br>
              <a:rPr lang="zh-CN" altLang="zh-CN" sz="1600" dirty="0">
                <a:solidFill>
                  <a:srgbClr val="000000"/>
                </a:solidFill>
                <a:latin typeface="Source Code Pro"/>
                <a:ea typeface="Source Code Pro"/>
              </a:rPr>
            </a:br>
            <a:r>
              <a:rPr lang="zh-CN" altLang="zh-CN" sz="1600" dirty="0">
                <a:solidFill>
                  <a:srgbClr val="000000"/>
                </a:solidFill>
                <a:latin typeface="Source Code Pro"/>
                <a:ea typeface="Source Code Pro"/>
              </a:rPr>
              <a:t>  </a:t>
            </a:r>
            <a:r>
              <a:rPr lang="en-US" altLang="zh-CN" sz="1600" dirty="0">
                <a:solidFill>
                  <a:srgbClr val="000000"/>
                </a:solidFill>
                <a:latin typeface="Source Code Pro"/>
                <a:ea typeface="Source Code Pro"/>
              </a:rPr>
              <a:t>  </a:t>
            </a:r>
            <a:r>
              <a:rPr lang="zh-CN" altLang="zh-CN" sz="1600" dirty="0">
                <a:solidFill>
                  <a:srgbClr val="660E7A"/>
                </a:solidFill>
                <a:latin typeface="Source Code Pro"/>
                <a:ea typeface="Source Code Pro"/>
              </a:rPr>
              <a:t>"html"</a:t>
            </a:r>
            <a:r>
              <a:rPr lang="zh-CN" altLang="zh-CN" sz="1600" dirty="0">
                <a:solidFill>
                  <a:srgbClr val="000000"/>
                </a:solidFill>
                <a:latin typeface="Source Code Pro"/>
                <a:ea typeface="Source Code Pro"/>
              </a:rPr>
              <a:t>: </a:t>
            </a:r>
            <a:r>
              <a:rPr lang="zh-CN" altLang="zh-CN" sz="1600" dirty="0">
                <a:solidFill>
                  <a:srgbClr val="008000"/>
                </a:solidFill>
                <a:latin typeface="Source Code Pro"/>
                <a:ea typeface="Source Code Pro"/>
              </a:rPr>
              <a:t>"html/config.html"</a:t>
            </a:r>
            <a:r>
              <a:rPr lang="zh-CN" altLang="zh-CN" sz="1600" dirty="0">
                <a:solidFill>
                  <a:srgbClr val="000000"/>
                </a:solidFill>
                <a:latin typeface="Source Code Pro"/>
                <a:ea typeface="Source Code Pro"/>
              </a:rPr>
              <a:t>,</a:t>
            </a:r>
            <a:br>
              <a:rPr lang="zh-CN" altLang="zh-CN" sz="1600" dirty="0">
                <a:solidFill>
                  <a:srgbClr val="000000"/>
                </a:solidFill>
                <a:latin typeface="Source Code Pro"/>
                <a:ea typeface="Source Code Pro"/>
              </a:rPr>
            </a:br>
            <a:r>
              <a:rPr lang="zh-CN" altLang="zh-CN" sz="1600" dirty="0">
                <a:solidFill>
                  <a:srgbClr val="000000"/>
                </a:solidFill>
                <a:latin typeface="Source Code Pro"/>
                <a:ea typeface="Source Code Pro"/>
              </a:rPr>
              <a:t>  </a:t>
            </a:r>
            <a:r>
              <a:rPr lang="en-US" altLang="zh-CN" sz="1600" dirty="0">
                <a:solidFill>
                  <a:srgbClr val="000000"/>
                </a:solidFill>
                <a:latin typeface="Source Code Pro"/>
                <a:ea typeface="Source Code Pro"/>
              </a:rPr>
              <a:t>  </a:t>
            </a:r>
            <a:r>
              <a:rPr lang="zh-CN" altLang="zh-CN" sz="1600" dirty="0">
                <a:solidFill>
                  <a:srgbClr val="660E7A"/>
                </a:solidFill>
                <a:latin typeface="Source Code Pro"/>
                <a:ea typeface="Source Code Pro"/>
              </a:rPr>
              <a:t>"js"</a:t>
            </a:r>
            <a:r>
              <a:rPr lang="zh-CN" altLang="zh-CN" sz="1600" dirty="0">
                <a:solidFill>
                  <a:srgbClr val="000000"/>
                </a:solidFill>
                <a:latin typeface="Source Code Pro"/>
                <a:ea typeface="Source Code Pro"/>
              </a:rPr>
              <a:t>: [</a:t>
            </a:r>
            <a:r>
              <a:rPr lang="zh-CN" altLang="zh-CN" sz="1600" dirty="0">
                <a:solidFill>
                  <a:srgbClr val="008000"/>
                </a:solidFill>
                <a:latin typeface="Source Code Pro"/>
                <a:ea typeface="Source Code Pro"/>
              </a:rPr>
              <a:t>"js/config.js"</a:t>
            </a:r>
            <a:r>
              <a:rPr lang="zh-CN" altLang="zh-CN" sz="1600" dirty="0">
                <a:solidFill>
                  <a:srgbClr val="000000"/>
                </a:solidFill>
                <a:latin typeface="Source Code Pro"/>
                <a:ea typeface="Source Code Pro"/>
              </a:rPr>
              <a:t>],</a:t>
            </a:r>
            <a:br>
              <a:rPr lang="zh-CN" altLang="zh-CN" sz="1600" dirty="0">
                <a:solidFill>
                  <a:srgbClr val="000000"/>
                </a:solidFill>
                <a:latin typeface="Source Code Pro"/>
                <a:ea typeface="Source Code Pro"/>
              </a:rPr>
            </a:br>
            <a:r>
              <a:rPr lang="zh-CN" altLang="zh-CN" sz="1600" dirty="0">
                <a:solidFill>
                  <a:srgbClr val="000000"/>
                </a:solidFill>
                <a:latin typeface="Source Code Pro"/>
                <a:ea typeface="Source Code Pro"/>
              </a:rPr>
              <a:t>  </a:t>
            </a:r>
            <a:r>
              <a:rPr lang="en-US" altLang="zh-CN" sz="1600" dirty="0">
                <a:solidFill>
                  <a:srgbClr val="000000"/>
                </a:solidFill>
                <a:latin typeface="Source Code Pro"/>
                <a:ea typeface="Source Code Pro"/>
              </a:rPr>
              <a:t>  </a:t>
            </a:r>
            <a:r>
              <a:rPr lang="zh-CN" altLang="zh-CN" sz="1600" dirty="0">
                <a:solidFill>
                  <a:srgbClr val="660E7A"/>
                </a:solidFill>
                <a:latin typeface="Source Code Pro"/>
                <a:ea typeface="Source Code Pro"/>
              </a:rPr>
              <a:t>"css"</a:t>
            </a:r>
            <a:r>
              <a:rPr lang="zh-CN" altLang="zh-CN" sz="1600" dirty="0">
                <a:solidFill>
                  <a:srgbClr val="000000"/>
                </a:solidFill>
                <a:latin typeface="Source Code Pro"/>
                <a:ea typeface="Source Code Pro"/>
              </a:rPr>
              <a:t>: [</a:t>
            </a:r>
            <a:r>
              <a:rPr lang="zh-CN" altLang="zh-CN" sz="1600" dirty="0">
                <a:solidFill>
                  <a:srgbClr val="008000"/>
                </a:solidFill>
                <a:latin typeface="Source Code Pro"/>
                <a:ea typeface="Source Code Pro"/>
              </a:rPr>
              <a:t>"css/51-modern-default.css"</a:t>
            </a:r>
            <a:r>
              <a:rPr lang="zh-CN" altLang="zh-CN" sz="1600" dirty="0">
                <a:solidFill>
                  <a:srgbClr val="000000"/>
                </a:solidFill>
                <a:latin typeface="Source Code Pro"/>
                <a:ea typeface="Source Code Pro"/>
              </a:rPr>
              <a:t>, </a:t>
            </a:r>
            <a:r>
              <a:rPr lang="zh-CN" altLang="zh-CN" sz="1600" dirty="0">
                <a:solidFill>
                  <a:srgbClr val="008000"/>
                </a:solidFill>
                <a:latin typeface="Source Code Pro"/>
                <a:ea typeface="Source Code Pro"/>
              </a:rPr>
              <a:t>"css/config.css"</a:t>
            </a:r>
            <a:r>
              <a:rPr lang="zh-CN" altLang="zh-CN" sz="1600" dirty="0">
                <a:solidFill>
                  <a:srgbClr val="000000"/>
                </a:solidFill>
                <a:latin typeface="Source Code Pro"/>
                <a:ea typeface="Source Code Pro"/>
              </a:rPr>
              <a:t>]</a:t>
            </a:r>
            <a:br>
              <a:rPr lang="zh-CN" altLang="zh-CN" sz="1600" dirty="0">
                <a:solidFill>
                  <a:srgbClr val="000000"/>
                </a:solidFill>
                <a:latin typeface="Source Code Pro"/>
                <a:ea typeface="Source Code Pro"/>
              </a:rPr>
            </a:br>
            <a:r>
              <a:rPr lang="en-US" altLang="zh-CN" sz="1600" dirty="0">
                <a:solidFill>
                  <a:srgbClr val="000000"/>
                </a:solidFill>
                <a:latin typeface="Source Code Pro"/>
                <a:ea typeface="Source Code Pro"/>
              </a:rPr>
              <a:t>  </a:t>
            </a:r>
            <a:r>
              <a:rPr lang="zh-CN" altLang="zh-CN" sz="1600" dirty="0">
                <a:solidFill>
                  <a:srgbClr val="000000"/>
                </a:solidFill>
                <a:latin typeface="Source Code Pro"/>
                <a:ea typeface="Source Code Pro"/>
              </a:rPr>
              <a:t>},</a:t>
            </a:r>
            <a:br>
              <a:rPr lang="zh-CN" altLang="zh-CN" sz="1600" dirty="0">
                <a:solidFill>
                  <a:srgbClr val="000000"/>
                </a:solidFill>
                <a:latin typeface="Source Code Pro"/>
                <a:ea typeface="Source Code Pro"/>
              </a:rPr>
            </a:br>
            <a:r>
              <a:rPr lang="en-US" altLang="zh-CN" sz="1600" dirty="0">
                <a:solidFill>
                  <a:srgbClr val="000000"/>
                </a:solidFill>
                <a:latin typeface="Source Code Pro"/>
                <a:ea typeface="Source Code Pro"/>
              </a:rPr>
              <a:t>  </a:t>
            </a:r>
            <a:r>
              <a:rPr lang="zh-CN" altLang="zh-CN" sz="1600" dirty="0">
                <a:solidFill>
                  <a:srgbClr val="660E7A"/>
                </a:solidFill>
                <a:latin typeface="Source Code Pro"/>
                <a:ea typeface="Source Code Pro"/>
              </a:rPr>
              <a:t>"desktop"</a:t>
            </a:r>
            <a:r>
              <a:rPr lang="zh-CN" altLang="zh-CN" sz="1600" dirty="0">
                <a:solidFill>
                  <a:srgbClr val="000000"/>
                </a:solidFill>
                <a:latin typeface="Source Code Pro"/>
                <a:ea typeface="Source Code Pro"/>
              </a:rPr>
              <a:t>: {</a:t>
            </a:r>
            <a:br>
              <a:rPr lang="zh-CN" altLang="zh-CN" sz="1600" dirty="0">
                <a:solidFill>
                  <a:srgbClr val="000000"/>
                </a:solidFill>
                <a:latin typeface="Source Code Pro"/>
                <a:ea typeface="Source Code Pro"/>
              </a:rPr>
            </a:br>
            <a:r>
              <a:rPr lang="zh-CN" altLang="zh-CN" sz="1600" dirty="0">
                <a:solidFill>
                  <a:srgbClr val="000000"/>
                </a:solidFill>
                <a:latin typeface="Source Code Pro"/>
                <a:ea typeface="Source Code Pro"/>
              </a:rPr>
              <a:t>  </a:t>
            </a:r>
            <a:r>
              <a:rPr lang="en-US" altLang="zh-CN" sz="1600" dirty="0">
                <a:solidFill>
                  <a:srgbClr val="000000"/>
                </a:solidFill>
                <a:latin typeface="Source Code Pro"/>
                <a:ea typeface="Source Code Pro"/>
              </a:rPr>
              <a:t>  </a:t>
            </a:r>
            <a:r>
              <a:rPr lang="zh-CN" altLang="zh-CN" sz="1600" dirty="0">
                <a:solidFill>
                  <a:srgbClr val="660E7A"/>
                </a:solidFill>
                <a:latin typeface="Source Code Pro"/>
                <a:ea typeface="Source Code Pro"/>
              </a:rPr>
              <a:t>"js"</a:t>
            </a:r>
            <a:r>
              <a:rPr lang="zh-CN" altLang="zh-CN" sz="1600" dirty="0">
                <a:solidFill>
                  <a:srgbClr val="000000"/>
                </a:solidFill>
                <a:latin typeface="Source Code Pro"/>
                <a:ea typeface="Source Code Pro"/>
              </a:rPr>
              <a:t>: [</a:t>
            </a:r>
            <a:r>
              <a:rPr lang="zh-CN" altLang="zh-CN" sz="1600" dirty="0">
                <a:solidFill>
                  <a:srgbClr val="008000"/>
                </a:solidFill>
                <a:latin typeface="Source Code Pro"/>
                <a:ea typeface="Source Code Pro"/>
              </a:rPr>
              <a:t>"js/desktop.js"</a:t>
            </a:r>
            <a:r>
              <a:rPr lang="zh-CN" altLang="zh-CN" sz="1600" dirty="0">
                <a:solidFill>
                  <a:srgbClr val="000000"/>
                </a:solidFill>
                <a:latin typeface="Source Code Pro"/>
                <a:ea typeface="Source Code Pro"/>
              </a:rPr>
              <a:t>]</a:t>
            </a:r>
            <a:br>
              <a:rPr lang="zh-CN" altLang="zh-CN" sz="1600" dirty="0">
                <a:solidFill>
                  <a:srgbClr val="000000"/>
                </a:solidFill>
                <a:latin typeface="Source Code Pro"/>
                <a:ea typeface="Source Code Pro"/>
              </a:rPr>
            </a:br>
            <a:r>
              <a:rPr lang="en-US" altLang="zh-CN" sz="1600" dirty="0">
                <a:solidFill>
                  <a:srgbClr val="000000"/>
                </a:solidFill>
                <a:latin typeface="Source Code Pro"/>
                <a:ea typeface="Source Code Pro"/>
              </a:rPr>
              <a:t>  </a:t>
            </a:r>
            <a:r>
              <a:rPr lang="zh-CN" altLang="zh-CN" sz="1600" dirty="0">
                <a:solidFill>
                  <a:srgbClr val="000000"/>
                </a:solidFill>
                <a:latin typeface="Source Code Pro"/>
                <a:ea typeface="Source Code Pro"/>
              </a:rPr>
              <a:t>}</a:t>
            </a:r>
            <a:endParaRPr lang="zh-CN" altLang="zh-CN" sz="1600" dirty="0">
              <a:latin typeface="Source Code Pro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600" dirty="0">
                <a:solidFill>
                  <a:srgbClr val="000000"/>
                </a:solidFill>
                <a:latin typeface="Source Code Pro"/>
                <a:ea typeface="Source Code Pro"/>
              </a:rPr>
              <a:t>}</a:t>
            </a:r>
            <a:endParaRPr lang="en-US" altLang="zh-CN" sz="1600" dirty="0">
              <a:solidFill>
                <a:srgbClr val="000000"/>
              </a:solidFill>
              <a:latin typeface="Source Code Pro"/>
              <a:ea typeface="Source Code Pro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5C8CA6E-A7E4-410F-8546-33A21A9BA25D}"/>
              </a:ext>
            </a:extLst>
          </p:cNvPr>
          <p:cNvSpPr/>
          <p:nvPr/>
        </p:nvSpPr>
        <p:spPr>
          <a:xfrm>
            <a:off x="1283751" y="2993787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hlinkClick r:id="rId3"/>
              </a:rPr>
              <a:t>格式说明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432146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2E5A3E7-477A-4D09-83D7-CCA1E70522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9441" y="3025033"/>
            <a:ext cx="10515600" cy="4351338"/>
          </a:xfrm>
        </p:spPr>
        <p:txBody>
          <a:bodyPr/>
          <a:lstStyle/>
          <a:p>
            <a:pPr marL="0" indent="0" algn="ctr">
              <a:buNone/>
            </a:pPr>
            <a:r>
              <a:rPr lang="en-US" altLang="zh-CN" dirty="0"/>
              <a:t>	</a:t>
            </a:r>
            <a:r>
              <a:rPr lang="zh-CN" altLang="en-US" sz="3600" dirty="0"/>
              <a:t>我们来自己动手做一个插件吧</a:t>
            </a:r>
          </a:p>
        </p:txBody>
      </p:sp>
    </p:spTree>
    <p:extLst>
      <p:ext uri="{BB962C8B-B14F-4D97-AF65-F5344CB8AC3E}">
        <p14:creationId xmlns:p14="http://schemas.microsoft.com/office/powerpoint/2010/main" val="15396158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>
            <a:extLst>
              <a:ext uri="{FF2B5EF4-FFF2-40B4-BE49-F238E27FC236}">
                <a16:creationId xmlns:a16="http://schemas.microsoft.com/office/drawing/2014/main" id="{B1F9ABA1-EFBB-436E-AD5A-CA4C682680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插件需求   </a:t>
            </a:r>
            <a:r>
              <a:rPr lang="zh-CN" altLang="en-US" dirty="0"/>
              <a:t>式样说明</a:t>
            </a:r>
            <a:br>
              <a:rPr lang="en-US" altLang="zh-CN" dirty="0"/>
            </a:br>
            <a:endParaRPr lang="en-US" altLang="zh-CN" b="1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DFC90C3-17EE-4C7A-82A2-9115876279B3}"/>
              </a:ext>
            </a:extLst>
          </p:cNvPr>
          <p:cNvSpPr/>
          <p:nvPr/>
        </p:nvSpPr>
        <p:spPr>
          <a:xfrm>
            <a:off x="961291" y="1293202"/>
            <a:ext cx="5404339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zh-CN" altLang="en-US" sz="4400" dirty="0">
                <a:latin typeface="Source Code Pro"/>
              </a:rPr>
              <a:t>插件设置界面</a:t>
            </a:r>
            <a:endParaRPr lang="en-US" altLang="zh-CN" sz="4400" dirty="0">
              <a:latin typeface="Source Code Pro"/>
            </a:endParaRPr>
          </a:p>
          <a:p>
            <a:br>
              <a:rPr lang="en-US" altLang="zh-CN" dirty="0">
                <a:latin typeface="Source Code Pro"/>
              </a:rPr>
            </a:br>
            <a:r>
              <a:rPr lang="zh-CN" altLang="en-US" sz="2800" dirty="0">
                <a:latin typeface="Source Code Pro"/>
              </a:rPr>
              <a:t>点击按钮用于保存输入框中的值</a:t>
            </a:r>
            <a:endParaRPr lang="ja-JP" altLang="en-US" dirty="0">
              <a:latin typeface="Source Code Pro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411A2AA-DD45-40F3-9E1E-2FBB524E6D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0675" y="2873375"/>
            <a:ext cx="8344633" cy="3351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41311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E48BCE10-2B41-4F0D-90BC-F478C918BFC8}"/>
              </a:ext>
            </a:extLst>
          </p:cNvPr>
          <p:cNvSpPr/>
          <p:nvPr/>
        </p:nvSpPr>
        <p:spPr>
          <a:xfrm>
            <a:off x="873368" y="624987"/>
            <a:ext cx="746174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400" dirty="0">
                <a:latin typeface="Source Code Pro"/>
              </a:rPr>
              <a:t>2. </a:t>
            </a:r>
            <a:r>
              <a:rPr lang="zh-CN" altLang="en-US" sz="4400" dirty="0">
                <a:latin typeface="Source Code Pro"/>
              </a:rPr>
              <a:t>前台显示画面</a:t>
            </a:r>
            <a:br>
              <a:rPr lang="en-US" altLang="zh-CN" dirty="0">
                <a:latin typeface="Source Code Pro"/>
              </a:rPr>
            </a:br>
            <a:r>
              <a:rPr lang="zh-CN" altLang="en-US" sz="2800" dirty="0">
                <a:latin typeface="Source Code Pro"/>
              </a:rPr>
              <a:t>在列表画面，显示插件设置画面保存的值</a:t>
            </a:r>
            <a:endParaRPr lang="zh-CN" altLang="en-US" sz="2800" dirty="0"/>
          </a:p>
          <a:p>
            <a:endParaRPr lang="ja-JP" altLang="en-US" dirty="0">
              <a:latin typeface="Source Code Pro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404C391F-42FE-4EDD-ADA7-20BC3E5D8AE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4375" y="2533202"/>
            <a:ext cx="8199194" cy="3952599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A90D103E-031B-446B-AEE1-A6618D57DE8A}"/>
              </a:ext>
            </a:extLst>
          </p:cNvPr>
          <p:cNvSpPr/>
          <p:nvPr/>
        </p:nvSpPr>
        <p:spPr>
          <a:xfrm>
            <a:off x="1771283" y="4712677"/>
            <a:ext cx="1112594" cy="298939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27812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073B576-F5BE-4295-AB3D-BF3E2D6D23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4315" y="2483317"/>
            <a:ext cx="4683369" cy="1325563"/>
          </a:xfrm>
        </p:spPr>
        <p:txBody>
          <a:bodyPr/>
          <a:lstStyle/>
          <a:p>
            <a:r>
              <a:rPr lang="zh-CN" altLang="en-US" dirty="0"/>
              <a:t>插件设置画面开发</a:t>
            </a:r>
          </a:p>
        </p:txBody>
      </p:sp>
    </p:spTree>
    <p:extLst>
      <p:ext uri="{BB962C8B-B14F-4D97-AF65-F5344CB8AC3E}">
        <p14:creationId xmlns:p14="http://schemas.microsoft.com/office/powerpoint/2010/main" val="26803473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2EF087-75FE-4718-945F-A0DDDB364D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741" y="347873"/>
            <a:ext cx="10515600" cy="1325563"/>
          </a:xfrm>
        </p:spPr>
        <p:txBody>
          <a:bodyPr/>
          <a:lstStyle/>
          <a:p>
            <a:r>
              <a:rPr lang="zh-CN" altLang="en-US" dirty="0"/>
              <a:t>先定义</a:t>
            </a:r>
            <a:r>
              <a:rPr lang="en-US" altLang="zh-CN" dirty="0" err="1"/>
              <a:t>mainfest.json</a:t>
            </a:r>
            <a:endParaRPr lang="zh-CN" altLang="en-US" dirty="0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DB1E4AB-5F73-4998-8968-E653DD9F9720}"/>
              </a:ext>
            </a:extLst>
          </p:cNvPr>
          <p:cNvSpPr/>
          <p:nvPr/>
        </p:nvSpPr>
        <p:spPr>
          <a:xfrm>
            <a:off x="1266092" y="1573992"/>
            <a:ext cx="10249633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rgbClr val="9CDCFE"/>
                </a:solidFill>
                <a:latin typeface="Consolas" panose="020B0609020204030204" pitchFamily="49" charset="0"/>
              </a:rPr>
              <a:t>"config"</a:t>
            </a:r>
            <a:r>
              <a:rPr lang="en-US" altLang="zh-CN" sz="2800" b="1" dirty="0">
                <a:solidFill>
                  <a:srgbClr val="D4D4D4"/>
                </a:solidFill>
                <a:latin typeface="Consolas" panose="020B0609020204030204" pitchFamily="49" charset="0"/>
              </a:rPr>
              <a:t>: {</a:t>
            </a:r>
          </a:p>
          <a:p>
            <a:r>
              <a:rPr lang="en-US" altLang="zh-CN" sz="2800" b="1" dirty="0">
                <a:solidFill>
                  <a:srgbClr val="9CDCFE"/>
                </a:solidFill>
                <a:latin typeface="Consolas" panose="020B0609020204030204" pitchFamily="49" charset="0"/>
              </a:rPr>
              <a:t>    "html"</a:t>
            </a:r>
            <a:r>
              <a:rPr lang="en-US" altLang="zh-CN" sz="2800" b="1" dirty="0">
                <a:solidFill>
                  <a:srgbClr val="D4D4D4"/>
                </a:solidFill>
                <a:latin typeface="Consolas" panose="020B0609020204030204" pitchFamily="49" charset="0"/>
              </a:rPr>
              <a:t>: </a:t>
            </a:r>
            <a:r>
              <a:rPr lang="en-US" altLang="zh-CN" sz="2800" b="1" dirty="0">
                <a:solidFill>
                  <a:srgbClr val="CE9178"/>
                </a:solidFill>
                <a:latin typeface="Consolas" panose="020B0609020204030204" pitchFamily="49" charset="0"/>
              </a:rPr>
              <a:t>"html/config.html"</a:t>
            </a:r>
            <a:r>
              <a:rPr lang="en-US" altLang="zh-CN" sz="2800" b="1" dirty="0">
                <a:solidFill>
                  <a:srgbClr val="D4D4D4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en-US" altLang="zh-CN" sz="2800" b="1" dirty="0">
                <a:solidFill>
                  <a:srgbClr val="9CDCFE"/>
                </a:solidFill>
                <a:latin typeface="Consolas" panose="020B0609020204030204" pitchFamily="49" charset="0"/>
              </a:rPr>
              <a:t>    "</a:t>
            </a:r>
            <a:r>
              <a:rPr lang="en-US" altLang="zh-CN" sz="2800" b="1" dirty="0" err="1">
                <a:solidFill>
                  <a:srgbClr val="9CDCFE"/>
                </a:solidFill>
                <a:latin typeface="Consolas" panose="020B0609020204030204" pitchFamily="49" charset="0"/>
              </a:rPr>
              <a:t>js</a:t>
            </a:r>
            <a:r>
              <a:rPr lang="en-US" altLang="zh-CN" sz="2800" b="1" dirty="0">
                <a:solidFill>
                  <a:srgbClr val="9CDCFE"/>
                </a:solidFill>
                <a:latin typeface="Consolas" panose="020B0609020204030204" pitchFamily="49" charset="0"/>
              </a:rPr>
              <a:t>"</a:t>
            </a:r>
            <a:r>
              <a:rPr lang="en-US" altLang="zh-CN" sz="2800" b="1" dirty="0">
                <a:solidFill>
                  <a:srgbClr val="D4D4D4"/>
                </a:solidFill>
                <a:latin typeface="Consolas" panose="020B0609020204030204" pitchFamily="49" charset="0"/>
              </a:rPr>
              <a:t>: [</a:t>
            </a:r>
          </a:p>
          <a:p>
            <a:r>
              <a:rPr lang="en-US" altLang="zh-CN" sz="2800" b="1" dirty="0">
                <a:solidFill>
                  <a:srgbClr val="CE9178"/>
                </a:solidFill>
                <a:latin typeface="Consolas" panose="020B0609020204030204" pitchFamily="49" charset="0"/>
              </a:rPr>
              <a:t>        "</a:t>
            </a:r>
            <a:r>
              <a:rPr lang="en-US" altLang="zh-CN" sz="2800" b="1" dirty="0" err="1">
                <a:solidFill>
                  <a:srgbClr val="CE9178"/>
                </a:solidFill>
                <a:latin typeface="Consolas" panose="020B0609020204030204" pitchFamily="49" charset="0"/>
              </a:rPr>
              <a:t>js</a:t>
            </a:r>
            <a:r>
              <a:rPr lang="en-US" altLang="zh-CN" sz="2800" b="1" dirty="0">
                <a:solidFill>
                  <a:srgbClr val="CE9178"/>
                </a:solidFill>
                <a:latin typeface="Consolas" panose="020B0609020204030204" pitchFamily="49" charset="0"/>
              </a:rPr>
              <a:t>/config.js"</a:t>
            </a:r>
            <a:endParaRPr lang="en-US" altLang="zh-CN" sz="2800" b="1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altLang="zh-CN" sz="2800" b="1" dirty="0">
                <a:solidFill>
                  <a:srgbClr val="D4D4D4"/>
                </a:solidFill>
                <a:latin typeface="Consolas" panose="020B0609020204030204" pitchFamily="49" charset="0"/>
              </a:rPr>
              <a:t>    ],</a:t>
            </a:r>
          </a:p>
          <a:p>
            <a:r>
              <a:rPr lang="en-US" altLang="zh-CN" sz="2800" b="1" dirty="0">
                <a:solidFill>
                  <a:srgbClr val="9CDCFE"/>
                </a:solidFill>
                <a:latin typeface="Consolas" panose="020B0609020204030204" pitchFamily="49" charset="0"/>
              </a:rPr>
              <a:t>   "</a:t>
            </a:r>
            <a:r>
              <a:rPr lang="en-US" altLang="zh-CN" sz="2800" b="1" dirty="0" err="1">
                <a:solidFill>
                  <a:srgbClr val="9CDCFE"/>
                </a:solidFill>
                <a:latin typeface="Consolas" panose="020B0609020204030204" pitchFamily="49" charset="0"/>
              </a:rPr>
              <a:t>css</a:t>
            </a:r>
            <a:r>
              <a:rPr lang="en-US" altLang="zh-CN" sz="2800" b="1" dirty="0">
                <a:solidFill>
                  <a:srgbClr val="9CDCFE"/>
                </a:solidFill>
                <a:latin typeface="Consolas" panose="020B0609020204030204" pitchFamily="49" charset="0"/>
              </a:rPr>
              <a:t>"</a:t>
            </a:r>
            <a:r>
              <a:rPr lang="en-US" altLang="zh-CN" sz="2800" b="1" dirty="0">
                <a:solidFill>
                  <a:srgbClr val="D4D4D4"/>
                </a:solidFill>
                <a:latin typeface="Consolas" panose="020B0609020204030204" pitchFamily="49" charset="0"/>
              </a:rPr>
              <a:t>: [</a:t>
            </a:r>
          </a:p>
          <a:p>
            <a:r>
              <a:rPr lang="en-US" altLang="zh-CN" sz="2800" b="1" dirty="0">
                <a:solidFill>
                  <a:srgbClr val="CE9178"/>
                </a:solidFill>
                <a:latin typeface="Consolas" panose="020B0609020204030204" pitchFamily="49" charset="0"/>
              </a:rPr>
              <a:t>       "</a:t>
            </a:r>
            <a:r>
              <a:rPr lang="en-US" altLang="zh-CN" sz="2800" b="1" dirty="0" err="1">
                <a:solidFill>
                  <a:srgbClr val="CE9178"/>
                </a:solidFill>
                <a:latin typeface="Consolas" panose="020B0609020204030204" pitchFamily="49" charset="0"/>
              </a:rPr>
              <a:t>css</a:t>
            </a:r>
            <a:r>
              <a:rPr lang="en-US" altLang="zh-CN" sz="2800" b="1" dirty="0">
                <a:solidFill>
                  <a:srgbClr val="CE9178"/>
                </a:solidFill>
                <a:latin typeface="Consolas" panose="020B0609020204030204" pitchFamily="49" charset="0"/>
              </a:rPr>
              <a:t>/51-modern-default.css"</a:t>
            </a:r>
            <a:endParaRPr lang="en-US" altLang="zh-CN" sz="2800" b="1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altLang="zh-CN" sz="2800" b="1" dirty="0">
                <a:solidFill>
                  <a:srgbClr val="D4D4D4"/>
                </a:solidFill>
                <a:latin typeface="Consolas" panose="020B0609020204030204" pitchFamily="49" charset="0"/>
              </a:rPr>
              <a:t>    ]</a:t>
            </a:r>
          </a:p>
          <a:p>
            <a:r>
              <a:rPr lang="en-US" altLang="zh-CN" sz="2800" b="1" dirty="0">
                <a:solidFill>
                  <a:srgbClr val="D4D4D4"/>
                </a:solidFill>
                <a:latin typeface="Consolas" panose="020B0609020204030204" pitchFamily="49" charset="0"/>
              </a:rPr>
              <a:t>}</a:t>
            </a:r>
            <a:endParaRPr lang="en-US" altLang="zh-CN" sz="2800" b="1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57213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>
            <a:extLst>
              <a:ext uri="{FF2B5EF4-FFF2-40B4-BE49-F238E27FC236}">
                <a16:creationId xmlns:a16="http://schemas.microsoft.com/office/drawing/2014/main" id="{B1F9ABA1-EFBB-436E-AD5A-CA4C682680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插件设置画面   </a:t>
            </a:r>
            <a:r>
              <a:rPr lang="en-US" altLang="zh-CN" dirty="0"/>
              <a:t>--</a:t>
            </a:r>
            <a:r>
              <a:rPr lang="en-US" altLang="zh-CN" dirty="0" err="1"/>
              <a:t>css</a:t>
            </a:r>
            <a:endParaRPr lang="en-US" altLang="zh-CN" b="1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DFC90C3-17EE-4C7A-82A2-9115876279B3}"/>
              </a:ext>
            </a:extLst>
          </p:cNvPr>
          <p:cNvSpPr/>
          <p:nvPr/>
        </p:nvSpPr>
        <p:spPr>
          <a:xfrm>
            <a:off x="838200" y="3737463"/>
            <a:ext cx="10848974" cy="20928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kintone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提供了和自身设计风格一致的样式表文件 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51-modern-default.css   (</a:t>
            </a:r>
            <a:r>
              <a:rPr lang="zh-CN" altLang="en-US" sz="2800" dirty="0">
                <a:hlinkClick r:id="rId3"/>
              </a:rPr>
              <a:t>样式表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把需要的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class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加到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HTML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元素上，然后把该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CSS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文件一起打包到插件中即可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ja-JP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BD48FD9-3BB9-41A9-A829-E056964977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F020F2B-C0A5-42F5-A219-4E4ECDF30310}"/>
              </a:ext>
            </a:extLst>
          </p:cNvPr>
          <p:cNvSpPr/>
          <p:nvPr/>
        </p:nvSpPr>
        <p:spPr>
          <a:xfrm>
            <a:off x="838200" y="1690688"/>
            <a:ext cx="81153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ja-JP" sz="2400" b="1" dirty="0">
                <a:latin typeface="Source Code Pro"/>
              </a:rPr>
              <a:t>- </a:t>
            </a:r>
            <a:r>
              <a:rPr lang="en-US" altLang="zh-CN" sz="2400" b="1" dirty="0">
                <a:latin typeface="Consolas" panose="020B0609020204030204" pitchFamily="49" charset="0"/>
              </a:rPr>
              <a:t>51-modern-default</a:t>
            </a:r>
            <a:r>
              <a:rPr lang="en-US" altLang="ja-JP" sz="2400" b="1" dirty="0">
                <a:latin typeface="Source Code Pro"/>
              </a:rPr>
              <a:t>.css //</a:t>
            </a:r>
            <a:r>
              <a:rPr lang="zh-CN" altLang="en-US" sz="2400" b="1" dirty="0">
                <a:latin typeface="Source Code Pro"/>
              </a:rPr>
              <a:t>设置画面的</a:t>
            </a:r>
            <a:r>
              <a:rPr lang="en-US" altLang="ja-JP" sz="2400" b="1" dirty="0">
                <a:latin typeface="Source Code Pro"/>
              </a:rPr>
              <a:t>CSS</a:t>
            </a:r>
            <a:endParaRPr lang="ja-JP" altLang="en-US" sz="2400" b="1" dirty="0">
              <a:latin typeface="Source Code Pro"/>
            </a:endParaRPr>
          </a:p>
          <a:p>
            <a:r>
              <a:rPr lang="en-US" altLang="ja-JP" sz="2400" dirty="0">
                <a:latin typeface="Source Code Pro"/>
              </a:rPr>
              <a:t>- config.html //</a:t>
            </a:r>
            <a:r>
              <a:rPr lang="zh-CN" altLang="en-US" sz="2400" dirty="0">
                <a:latin typeface="Source Code Pro"/>
              </a:rPr>
              <a:t>设置画面的</a:t>
            </a:r>
            <a:r>
              <a:rPr lang="en-US" altLang="ja-JP" sz="2400" dirty="0">
                <a:latin typeface="Source Code Pro"/>
              </a:rPr>
              <a:t>html</a:t>
            </a:r>
            <a:endParaRPr lang="ja-JP" altLang="en-US" sz="2400" dirty="0">
              <a:latin typeface="Source Code Pro"/>
            </a:endParaRPr>
          </a:p>
          <a:p>
            <a:r>
              <a:rPr lang="en-US" altLang="ja-JP" sz="2400" dirty="0">
                <a:latin typeface="Source Code Pro"/>
              </a:rPr>
              <a:t>- config.js //</a:t>
            </a:r>
            <a:r>
              <a:rPr lang="zh-CN" altLang="en-US" sz="2400" dirty="0">
                <a:latin typeface="Source Code Pro"/>
              </a:rPr>
              <a:t>设置画面的</a:t>
            </a:r>
            <a:r>
              <a:rPr lang="en-US" altLang="ja-JP" sz="2400" dirty="0">
                <a:latin typeface="Source Code Pro"/>
              </a:rPr>
              <a:t>JavaScript</a:t>
            </a:r>
            <a:endParaRPr lang="ja-JP" altLang="en-US" sz="2400" dirty="0">
              <a:latin typeface="Source Code Pro"/>
            </a:endParaRPr>
          </a:p>
        </p:txBody>
      </p:sp>
    </p:spTree>
    <p:extLst>
      <p:ext uri="{BB962C8B-B14F-4D97-AF65-F5344CB8AC3E}">
        <p14:creationId xmlns:p14="http://schemas.microsoft.com/office/powerpoint/2010/main" val="41225035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06310E4-A5FF-48D5-B9F3-A7420388E3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35378"/>
            <a:ext cx="10515600" cy="4351338"/>
          </a:xfrm>
        </p:spPr>
        <p:txBody>
          <a:bodyPr>
            <a:normAutofit lnSpcReduction="10000"/>
          </a:bodyPr>
          <a:lstStyle/>
          <a:p>
            <a:r>
              <a:rPr lang="zh-CN" altLang="en-US" dirty="0"/>
              <a:t>例：</a:t>
            </a:r>
            <a:endParaRPr lang="en-US" altLang="zh-CN" dirty="0"/>
          </a:p>
          <a:p>
            <a:r>
              <a:rPr lang="en-US" altLang="zh-CN" dirty="0"/>
              <a:t>HTML</a:t>
            </a:r>
          </a:p>
          <a:p>
            <a:r>
              <a:rPr lang="zh-CN" altLang="zh-CN" dirty="0">
                <a:solidFill>
                  <a:srgbClr val="000000"/>
                </a:solidFill>
                <a:latin typeface="Arial Unicode MS"/>
                <a:ea typeface="Source Code Pro"/>
              </a:rPr>
              <a:t>&lt;</a:t>
            </a:r>
            <a:r>
              <a:rPr lang="zh-CN" altLang="zh-CN" dirty="0">
                <a:solidFill>
                  <a:srgbClr val="000080"/>
                </a:solidFill>
                <a:latin typeface="Arial Unicode MS"/>
                <a:ea typeface="Source Code Pro"/>
              </a:rPr>
              <a:t>div </a:t>
            </a:r>
            <a:r>
              <a:rPr lang="zh-CN" altLang="zh-CN" dirty="0">
                <a:solidFill>
                  <a:srgbClr val="0000FF"/>
                </a:solidFill>
                <a:latin typeface="Arial Unicode MS"/>
                <a:ea typeface="Source Code Pro"/>
              </a:rPr>
              <a:t>class=</a:t>
            </a:r>
            <a:r>
              <a:rPr lang="zh-CN" altLang="zh-CN" dirty="0">
                <a:solidFill>
                  <a:srgbClr val="008000"/>
                </a:solidFill>
                <a:latin typeface="Arial Unicode MS"/>
                <a:ea typeface="Source Code Pro"/>
              </a:rPr>
              <a:t>"kintoneplugin-label"</a:t>
            </a:r>
            <a:r>
              <a:rPr lang="zh-CN" altLang="zh-CN" dirty="0">
                <a:solidFill>
                  <a:srgbClr val="000000"/>
                </a:solidFill>
                <a:latin typeface="Arial Unicode MS"/>
                <a:ea typeface="Source Code Pro"/>
              </a:rPr>
              <a:t>&gt;Sample Plugin&lt;/</a:t>
            </a:r>
            <a:r>
              <a:rPr lang="zh-CN" altLang="zh-CN" dirty="0">
                <a:solidFill>
                  <a:srgbClr val="000080"/>
                </a:solidFill>
                <a:latin typeface="Arial Unicode MS"/>
                <a:ea typeface="Source Code Pro"/>
              </a:rPr>
              <a:t>div</a:t>
            </a:r>
            <a:r>
              <a:rPr lang="zh-CN" altLang="zh-CN" dirty="0">
                <a:solidFill>
                  <a:srgbClr val="000000"/>
                </a:solidFill>
                <a:latin typeface="Arial Unicode MS"/>
                <a:ea typeface="Source Code Pro"/>
              </a:rPr>
              <a:t>&gt;</a:t>
            </a:r>
            <a:endParaRPr lang="zh-CN" altLang="zh-CN" dirty="0">
              <a:latin typeface="Arial" panose="020B0604020202020204" pitchFamily="34" charset="0"/>
            </a:endParaRPr>
          </a:p>
          <a:p>
            <a:endParaRPr lang="en-US" altLang="ja-JP" dirty="0">
              <a:latin typeface="Source Code Pro"/>
            </a:endParaRPr>
          </a:p>
          <a:p>
            <a:r>
              <a:rPr lang="en-US" altLang="zh-CN" dirty="0" err="1"/>
              <a:t>manifest.json</a:t>
            </a:r>
            <a:endParaRPr lang="en-US" altLang="zh-CN" dirty="0"/>
          </a:p>
          <a:p>
            <a:r>
              <a:rPr lang="zh-CN" altLang="zh-CN" dirty="0">
                <a:solidFill>
                  <a:srgbClr val="660E7A"/>
                </a:solidFill>
                <a:latin typeface="Arial Unicode MS"/>
                <a:ea typeface="Source Code Pro"/>
              </a:rPr>
              <a:t>"config"</a:t>
            </a:r>
            <a:r>
              <a:rPr lang="zh-CN" altLang="zh-CN" dirty="0">
                <a:solidFill>
                  <a:srgbClr val="000000"/>
                </a:solidFill>
                <a:latin typeface="Arial Unicode MS"/>
                <a:ea typeface="Source Code Pro"/>
              </a:rPr>
              <a:t>: {</a:t>
            </a:r>
            <a:br>
              <a:rPr lang="zh-CN" altLang="zh-CN" dirty="0">
                <a:solidFill>
                  <a:srgbClr val="000000"/>
                </a:solidFill>
                <a:latin typeface="Arial Unicode MS"/>
                <a:ea typeface="Source Code Pro"/>
              </a:rPr>
            </a:br>
            <a:r>
              <a:rPr lang="zh-CN" altLang="zh-CN" dirty="0">
                <a:solidFill>
                  <a:srgbClr val="000000"/>
                </a:solidFill>
                <a:latin typeface="Arial Unicode MS"/>
                <a:ea typeface="Source Code Pro"/>
              </a:rPr>
              <a:t>  </a:t>
            </a:r>
            <a:r>
              <a:rPr lang="zh-CN" altLang="zh-CN" dirty="0">
                <a:solidFill>
                  <a:srgbClr val="660E7A"/>
                </a:solidFill>
                <a:latin typeface="Arial Unicode MS"/>
                <a:ea typeface="Source Code Pro"/>
              </a:rPr>
              <a:t>"css"</a:t>
            </a:r>
            <a:r>
              <a:rPr lang="zh-CN" altLang="zh-CN" dirty="0">
                <a:solidFill>
                  <a:srgbClr val="000000"/>
                </a:solidFill>
                <a:latin typeface="Arial Unicode MS"/>
                <a:ea typeface="Source Code Pro"/>
              </a:rPr>
              <a:t>: [</a:t>
            </a:r>
            <a:br>
              <a:rPr lang="zh-CN" altLang="zh-CN" dirty="0">
                <a:solidFill>
                  <a:srgbClr val="000000"/>
                </a:solidFill>
                <a:latin typeface="Arial Unicode MS"/>
                <a:ea typeface="Source Code Pro"/>
              </a:rPr>
            </a:br>
            <a:r>
              <a:rPr lang="zh-CN" altLang="zh-CN" dirty="0">
                <a:solidFill>
                  <a:srgbClr val="000000"/>
                </a:solidFill>
                <a:latin typeface="Arial Unicode MS"/>
                <a:ea typeface="Source Code Pro"/>
              </a:rPr>
              <a:t>    </a:t>
            </a:r>
            <a:r>
              <a:rPr lang="zh-CN" altLang="zh-CN" dirty="0">
                <a:solidFill>
                  <a:srgbClr val="008000"/>
                </a:solidFill>
                <a:latin typeface="Arial Unicode MS"/>
                <a:ea typeface="Source Code Pro"/>
              </a:rPr>
              <a:t>"css/51-modern-default.css"</a:t>
            </a:r>
            <a:br>
              <a:rPr lang="zh-CN" altLang="zh-CN" dirty="0">
                <a:solidFill>
                  <a:srgbClr val="008000"/>
                </a:solidFill>
                <a:latin typeface="Arial Unicode MS"/>
                <a:ea typeface="Source Code Pro"/>
              </a:rPr>
            </a:br>
            <a:r>
              <a:rPr lang="zh-CN" altLang="zh-CN" dirty="0">
                <a:solidFill>
                  <a:srgbClr val="008000"/>
                </a:solidFill>
                <a:latin typeface="Arial Unicode MS"/>
                <a:ea typeface="Source Code Pro"/>
              </a:rPr>
              <a:t>  </a:t>
            </a:r>
            <a:r>
              <a:rPr lang="zh-CN" altLang="zh-CN" dirty="0">
                <a:solidFill>
                  <a:srgbClr val="000000"/>
                </a:solidFill>
                <a:latin typeface="Arial Unicode MS"/>
                <a:ea typeface="Source Code Pro"/>
              </a:rPr>
              <a:t>]</a:t>
            </a:r>
            <a:br>
              <a:rPr lang="zh-CN" altLang="zh-CN" dirty="0">
                <a:solidFill>
                  <a:srgbClr val="000000"/>
                </a:solidFill>
                <a:latin typeface="Arial Unicode MS"/>
                <a:ea typeface="Source Code Pro"/>
              </a:rPr>
            </a:br>
            <a:r>
              <a:rPr lang="zh-CN" altLang="zh-CN" dirty="0">
                <a:solidFill>
                  <a:srgbClr val="000000"/>
                </a:solidFill>
                <a:latin typeface="Arial Unicode MS"/>
                <a:ea typeface="Source Code Pro"/>
              </a:rPr>
              <a:t>}</a:t>
            </a:r>
            <a:endParaRPr lang="ja-JP" altLang="en-US" dirty="0">
              <a:latin typeface="Arial Unicode MS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459821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>
            <a:extLst>
              <a:ext uri="{FF2B5EF4-FFF2-40B4-BE49-F238E27FC236}">
                <a16:creationId xmlns:a16="http://schemas.microsoft.com/office/drawing/2014/main" id="{B1F9ABA1-EFBB-436E-AD5A-CA4C682680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插件设置画面   </a:t>
            </a:r>
            <a:r>
              <a:rPr lang="en-US" altLang="zh-CN" dirty="0"/>
              <a:t>-- html</a:t>
            </a:r>
            <a:endParaRPr lang="en-US" altLang="zh-CN" b="1" dirty="0"/>
          </a:p>
        </p:txBody>
      </p:sp>
      <p:sp>
        <p:nvSpPr>
          <p:cNvPr id="13" name="内容占位符 2">
            <a:extLst>
              <a:ext uri="{FF2B5EF4-FFF2-40B4-BE49-F238E27FC236}">
                <a16:creationId xmlns:a16="http://schemas.microsoft.com/office/drawing/2014/main" id="{32238488-0325-4522-8501-105D53C0F2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5119"/>
            <a:ext cx="10515600" cy="558006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插件设置画面由</a:t>
            </a:r>
            <a:r>
              <a:rPr lang="en-US" altLang="zh-CN" dirty="0"/>
              <a:t>html, </a:t>
            </a:r>
            <a:r>
              <a:rPr lang="en-US" altLang="zh-CN" dirty="0" err="1"/>
              <a:t>css</a:t>
            </a:r>
            <a:r>
              <a:rPr lang="en-US" altLang="zh-CN" dirty="0"/>
              <a:t>, </a:t>
            </a:r>
            <a:r>
              <a:rPr lang="en-US" altLang="zh-CN" dirty="0" err="1"/>
              <a:t>js</a:t>
            </a:r>
            <a:r>
              <a:rPr lang="zh-CN" altLang="en-US" dirty="0"/>
              <a:t>文件组成</a:t>
            </a:r>
            <a:endParaRPr lang="en-US" altLang="zh-CN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1AC9232-D7B1-42F2-AF4F-A6066E6C9055}"/>
              </a:ext>
            </a:extLst>
          </p:cNvPr>
          <p:cNvSpPr/>
          <p:nvPr/>
        </p:nvSpPr>
        <p:spPr>
          <a:xfrm>
            <a:off x="1544516" y="2901454"/>
            <a:ext cx="81153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ja-JP" sz="2400" dirty="0">
                <a:latin typeface="Source Code Pro"/>
              </a:rPr>
              <a:t>- </a:t>
            </a:r>
            <a:r>
              <a:rPr lang="en-US" altLang="zh-CN" sz="2400" dirty="0">
                <a:latin typeface="Consolas" panose="020B0609020204030204" pitchFamily="49" charset="0"/>
              </a:rPr>
              <a:t>51-modern-default</a:t>
            </a:r>
            <a:r>
              <a:rPr lang="en-US" altLang="ja-JP" sz="2400" dirty="0">
                <a:latin typeface="Source Code Pro"/>
              </a:rPr>
              <a:t>.css //</a:t>
            </a:r>
            <a:r>
              <a:rPr lang="zh-CN" altLang="en-US" sz="2400" dirty="0">
                <a:latin typeface="Source Code Pro"/>
              </a:rPr>
              <a:t>设置画面的</a:t>
            </a:r>
            <a:r>
              <a:rPr lang="en-US" altLang="ja-JP" sz="2400" dirty="0">
                <a:latin typeface="Source Code Pro"/>
              </a:rPr>
              <a:t>CSS</a:t>
            </a:r>
            <a:endParaRPr lang="ja-JP" altLang="en-US" sz="2400" dirty="0">
              <a:latin typeface="Source Code Pro"/>
            </a:endParaRPr>
          </a:p>
          <a:p>
            <a:r>
              <a:rPr lang="en-US" altLang="ja-JP" sz="2400" b="1" dirty="0">
                <a:latin typeface="Source Code Pro"/>
              </a:rPr>
              <a:t>- config.html //</a:t>
            </a:r>
            <a:r>
              <a:rPr lang="zh-CN" altLang="en-US" sz="2400" b="1" dirty="0">
                <a:latin typeface="Source Code Pro"/>
              </a:rPr>
              <a:t>设置画面的</a:t>
            </a:r>
            <a:r>
              <a:rPr lang="en-US" altLang="ja-JP" sz="2400" b="1" dirty="0">
                <a:latin typeface="Source Code Pro"/>
              </a:rPr>
              <a:t>html</a:t>
            </a:r>
            <a:endParaRPr lang="ja-JP" altLang="en-US" sz="2400" b="1" dirty="0">
              <a:latin typeface="Source Code Pro"/>
            </a:endParaRPr>
          </a:p>
          <a:p>
            <a:r>
              <a:rPr lang="en-US" altLang="ja-JP" sz="2400" dirty="0">
                <a:latin typeface="Source Code Pro"/>
              </a:rPr>
              <a:t>- config.js //</a:t>
            </a:r>
            <a:r>
              <a:rPr lang="zh-CN" altLang="en-US" sz="2400" dirty="0">
                <a:latin typeface="Source Code Pro"/>
              </a:rPr>
              <a:t>设置画面的</a:t>
            </a:r>
            <a:r>
              <a:rPr lang="en-US" altLang="ja-JP" sz="2400" dirty="0">
                <a:latin typeface="Source Code Pro"/>
              </a:rPr>
              <a:t>JavaScript</a:t>
            </a:r>
            <a:endParaRPr lang="ja-JP" altLang="en-US" sz="2400" dirty="0">
              <a:latin typeface="Source Code Pro"/>
            </a:endParaRPr>
          </a:p>
        </p:txBody>
      </p:sp>
    </p:spTree>
    <p:extLst>
      <p:ext uri="{BB962C8B-B14F-4D97-AF65-F5344CB8AC3E}">
        <p14:creationId xmlns:p14="http://schemas.microsoft.com/office/powerpoint/2010/main" val="14118649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777F1F-E318-4790-BAE1-34EA7958A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config.html</a:t>
            </a:r>
            <a:endParaRPr lang="zh-CN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797F340-2F77-4DEF-A667-1C2E84F7BA3E}"/>
              </a:ext>
            </a:extLst>
          </p:cNvPr>
          <p:cNvSpPr/>
          <p:nvPr/>
        </p:nvSpPr>
        <p:spPr>
          <a:xfrm>
            <a:off x="1025768" y="2864004"/>
            <a:ext cx="10808677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US" altLang="zh-CN" sz="2800" b="1" dirty="0">
                <a:solidFill>
                  <a:srgbClr val="569CD6"/>
                </a:solidFill>
                <a:latin typeface="Consolas" panose="020B0609020204030204" pitchFamily="49" charset="0"/>
              </a:rPr>
              <a:t>div</a:t>
            </a:r>
            <a:r>
              <a:rPr lang="en-US" altLang="zh-CN" sz="2800" b="1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2800" b="1" dirty="0">
                <a:solidFill>
                  <a:srgbClr val="9CDCFE"/>
                </a:solidFill>
                <a:latin typeface="Consolas" panose="020B0609020204030204" pitchFamily="49" charset="0"/>
              </a:rPr>
              <a:t>style</a:t>
            </a:r>
            <a:r>
              <a:rPr lang="en-US" altLang="zh-CN" sz="2800" b="1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altLang="zh-CN" sz="2800" b="1" dirty="0">
                <a:solidFill>
                  <a:srgbClr val="CE9178"/>
                </a:solidFill>
                <a:latin typeface="Consolas" panose="020B0609020204030204" pitchFamily="49" charset="0"/>
              </a:rPr>
              <a:t>"height: 200px"</a:t>
            </a:r>
            <a:r>
              <a:rPr lang="en-US" altLang="zh-CN" sz="2800" b="1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US" altLang="zh-CN" sz="2800" b="1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altLang="zh-CN" sz="2800" b="1" dirty="0">
                <a:solidFill>
                  <a:srgbClr val="808080"/>
                </a:solidFill>
                <a:latin typeface="Consolas" panose="020B0609020204030204" pitchFamily="49" charset="0"/>
              </a:rPr>
              <a:t>	&lt;</a:t>
            </a:r>
            <a:r>
              <a:rPr lang="en-US" altLang="zh-CN" sz="2800" b="1" dirty="0">
                <a:solidFill>
                  <a:srgbClr val="569CD6"/>
                </a:solidFill>
                <a:latin typeface="Consolas" panose="020B0609020204030204" pitchFamily="49" charset="0"/>
              </a:rPr>
              <a:t>div</a:t>
            </a:r>
            <a:r>
              <a:rPr lang="en-US" altLang="zh-CN" sz="2800" b="1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r>
              <a:rPr lang="en-US" altLang="zh-CN" sz="2800" b="1" dirty="0">
                <a:solidFill>
                  <a:srgbClr val="D4D4D4"/>
                </a:solidFill>
                <a:latin typeface="Consolas" panose="020B0609020204030204" pitchFamily="49" charset="0"/>
              </a:rPr>
              <a:t>demo </a:t>
            </a:r>
            <a:r>
              <a:rPr lang="zh-CN" altLang="en-US" sz="2800" b="1" dirty="0">
                <a:solidFill>
                  <a:srgbClr val="D4D4D4"/>
                </a:solidFill>
                <a:latin typeface="Consolas" panose="020B0609020204030204" pitchFamily="49" charset="0"/>
              </a:rPr>
              <a:t>插件</a:t>
            </a:r>
            <a:r>
              <a:rPr lang="en-US" altLang="zh-CN" sz="2800" b="1" dirty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en-US" altLang="zh-CN" sz="2800" b="1" dirty="0">
                <a:solidFill>
                  <a:srgbClr val="569CD6"/>
                </a:solidFill>
                <a:latin typeface="Consolas" panose="020B0609020204030204" pitchFamily="49" charset="0"/>
              </a:rPr>
              <a:t>div</a:t>
            </a:r>
            <a:r>
              <a:rPr lang="en-US" altLang="zh-CN" sz="2800" b="1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r>
              <a:rPr lang="en-US" altLang="zh-CN" sz="2800" b="1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2800" b="1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US" altLang="zh-CN" sz="2800" b="1" dirty="0">
                <a:solidFill>
                  <a:srgbClr val="569CD6"/>
                </a:solidFill>
                <a:latin typeface="Consolas" panose="020B0609020204030204" pitchFamily="49" charset="0"/>
              </a:rPr>
              <a:t>input</a:t>
            </a:r>
            <a:r>
              <a:rPr lang="en-US" altLang="zh-CN" sz="2800" b="1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2800" b="1" dirty="0">
                <a:solidFill>
                  <a:srgbClr val="9CDCFE"/>
                </a:solidFill>
                <a:latin typeface="Consolas" panose="020B0609020204030204" pitchFamily="49" charset="0"/>
              </a:rPr>
              <a:t>id</a:t>
            </a:r>
            <a:r>
              <a:rPr lang="en-US" altLang="zh-CN" sz="2800" b="1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altLang="zh-CN" sz="2800" b="1" dirty="0">
                <a:solidFill>
                  <a:srgbClr val="CE9178"/>
                </a:solidFill>
                <a:latin typeface="Consolas" panose="020B0609020204030204" pitchFamily="49" charset="0"/>
              </a:rPr>
              <a:t>"msg"</a:t>
            </a:r>
            <a:r>
              <a:rPr lang="en-US" altLang="zh-CN" sz="2800" b="1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r>
              <a:rPr lang="en-US" altLang="zh-CN" sz="2800" b="1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2800" b="1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US" altLang="zh-CN" sz="2800" b="1" dirty="0">
                <a:solidFill>
                  <a:srgbClr val="569CD6"/>
                </a:solidFill>
                <a:latin typeface="Consolas" panose="020B0609020204030204" pitchFamily="49" charset="0"/>
              </a:rPr>
              <a:t>button</a:t>
            </a:r>
            <a:r>
              <a:rPr lang="en-US" altLang="zh-CN" sz="2800" b="1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2800" b="1" dirty="0">
                <a:solidFill>
                  <a:srgbClr val="9CDCFE"/>
                </a:solidFill>
                <a:latin typeface="Consolas" panose="020B0609020204030204" pitchFamily="49" charset="0"/>
              </a:rPr>
              <a:t>id</a:t>
            </a:r>
            <a:r>
              <a:rPr lang="en-US" altLang="zh-CN" sz="2800" b="1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altLang="zh-CN" sz="2800" b="1" dirty="0">
                <a:solidFill>
                  <a:srgbClr val="CE9178"/>
                </a:solidFill>
                <a:latin typeface="Consolas" panose="020B0609020204030204" pitchFamily="49" charset="0"/>
              </a:rPr>
              <a:t>"save"</a:t>
            </a:r>
            <a:r>
              <a:rPr lang="en-US" altLang="zh-CN" sz="2800" b="1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r>
              <a:rPr lang="zh-CN" altLang="en-US" sz="2800" b="1" dirty="0">
                <a:solidFill>
                  <a:srgbClr val="D4D4D4"/>
                </a:solidFill>
                <a:latin typeface="Consolas" panose="020B0609020204030204" pitchFamily="49" charset="0"/>
              </a:rPr>
              <a:t>保存</a:t>
            </a:r>
            <a:r>
              <a:rPr lang="en-US" altLang="zh-CN" sz="2800" b="1" dirty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en-US" altLang="zh-CN" sz="2800" b="1" dirty="0">
                <a:solidFill>
                  <a:srgbClr val="569CD6"/>
                </a:solidFill>
                <a:latin typeface="Consolas" panose="020B0609020204030204" pitchFamily="49" charset="0"/>
              </a:rPr>
              <a:t>button</a:t>
            </a:r>
            <a:r>
              <a:rPr lang="en-US" altLang="zh-CN" sz="2800" b="1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US" altLang="zh-CN" sz="2800" b="1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altLang="zh-CN" sz="2800" b="1" dirty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en-US" altLang="zh-CN" sz="2800" b="1" dirty="0">
                <a:solidFill>
                  <a:srgbClr val="569CD6"/>
                </a:solidFill>
                <a:latin typeface="Consolas" panose="020B0609020204030204" pitchFamily="49" charset="0"/>
              </a:rPr>
              <a:t>div</a:t>
            </a:r>
            <a:r>
              <a:rPr lang="en-US" altLang="zh-CN" sz="2800" b="1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US" altLang="zh-CN" sz="2800" b="1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45274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>
            <a:extLst>
              <a:ext uri="{FF2B5EF4-FFF2-40B4-BE49-F238E27FC236}">
                <a16:creationId xmlns:a16="http://schemas.microsoft.com/office/drawing/2014/main" id="{B1F9ABA1-EFBB-436E-AD5A-CA4C682680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插件设置画面   </a:t>
            </a:r>
            <a:r>
              <a:rPr lang="en-US" altLang="zh-CN" dirty="0"/>
              <a:t>-- </a:t>
            </a:r>
            <a:r>
              <a:rPr lang="en-US" altLang="zh-CN" dirty="0" err="1"/>
              <a:t>js</a:t>
            </a:r>
            <a:endParaRPr lang="en-US" altLang="zh-CN" b="1" dirty="0"/>
          </a:p>
        </p:txBody>
      </p:sp>
      <p:sp>
        <p:nvSpPr>
          <p:cNvPr id="13" name="内容占位符 2">
            <a:extLst>
              <a:ext uri="{FF2B5EF4-FFF2-40B4-BE49-F238E27FC236}">
                <a16:creationId xmlns:a16="http://schemas.microsoft.com/office/drawing/2014/main" id="{32238488-0325-4522-8501-105D53C0F2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1525" y="1560087"/>
            <a:ext cx="10515600" cy="558006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插件设置画面由</a:t>
            </a:r>
            <a:r>
              <a:rPr lang="en-US" altLang="zh-CN" dirty="0"/>
              <a:t>html, </a:t>
            </a:r>
            <a:r>
              <a:rPr lang="en-US" altLang="zh-CN" dirty="0" err="1"/>
              <a:t>css</a:t>
            </a:r>
            <a:r>
              <a:rPr lang="en-US" altLang="zh-CN" dirty="0"/>
              <a:t>, </a:t>
            </a:r>
            <a:r>
              <a:rPr lang="en-US" altLang="zh-CN" dirty="0" err="1"/>
              <a:t>js</a:t>
            </a:r>
            <a:r>
              <a:rPr lang="zh-CN" altLang="en-US" dirty="0"/>
              <a:t>文件组成</a:t>
            </a:r>
            <a:endParaRPr lang="en-US" altLang="zh-CN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37B8F52-4D14-4F6D-9157-CBA28E44971E}"/>
              </a:ext>
            </a:extLst>
          </p:cNvPr>
          <p:cNvSpPr/>
          <p:nvPr/>
        </p:nvSpPr>
        <p:spPr>
          <a:xfrm>
            <a:off x="2107224" y="3313055"/>
            <a:ext cx="756431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ja-JP" sz="2400" dirty="0">
                <a:latin typeface="Source Code Pro"/>
              </a:rPr>
              <a:t>- </a:t>
            </a:r>
            <a:r>
              <a:rPr lang="en-US" altLang="zh-CN" sz="2400" dirty="0">
                <a:latin typeface="Consolas" panose="020B0609020204030204" pitchFamily="49" charset="0"/>
              </a:rPr>
              <a:t>51-modern-default</a:t>
            </a:r>
            <a:r>
              <a:rPr lang="en-US" altLang="ja-JP" sz="2400" dirty="0">
                <a:latin typeface="Source Code Pro"/>
              </a:rPr>
              <a:t>.css //</a:t>
            </a:r>
            <a:r>
              <a:rPr lang="zh-CN" altLang="en-US" sz="2400" dirty="0">
                <a:latin typeface="Source Code Pro"/>
              </a:rPr>
              <a:t>设置画面的</a:t>
            </a:r>
            <a:r>
              <a:rPr lang="en-US" altLang="ja-JP" sz="2400" dirty="0">
                <a:latin typeface="Source Code Pro"/>
              </a:rPr>
              <a:t>CSS</a:t>
            </a:r>
            <a:endParaRPr lang="ja-JP" altLang="en-US" sz="2400" dirty="0">
              <a:latin typeface="Source Code Pro"/>
            </a:endParaRPr>
          </a:p>
          <a:p>
            <a:r>
              <a:rPr lang="en-US" altLang="ja-JP" sz="2400" dirty="0">
                <a:latin typeface="Source Code Pro"/>
              </a:rPr>
              <a:t>- config.html //</a:t>
            </a:r>
            <a:r>
              <a:rPr lang="zh-CN" altLang="en-US" sz="2400" dirty="0">
                <a:latin typeface="Source Code Pro"/>
              </a:rPr>
              <a:t>设置画面的</a:t>
            </a:r>
            <a:r>
              <a:rPr lang="en-US" altLang="ja-JP" sz="2400" dirty="0">
                <a:latin typeface="Source Code Pro"/>
              </a:rPr>
              <a:t>html</a:t>
            </a:r>
            <a:endParaRPr lang="ja-JP" altLang="en-US" sz="2400" dirty="0">
              <a:latin typeface="Source Code Pro"/>
            </a:endParaRPr>
          </a:p>
          <a:p>
            <a:r>
              <a:rPr lang="en-US" altLang="ja-JP" sz="2400" b="1" dirty="0">
                <a:latin typeface="Source Code Pro"/>
              </a:rPr>
              <a:t>- config.js //</a:t>
            </a:r>
            <a:r>
              <a:rPr lang="zh-CN" altLang="en-US" sz="2400" b="1" dirty="0">
                <a:latin typeface="Source Code Pro"/>
              </a:rPr>
              <a:t>设置画面的</a:t>
            </a:r>
            <a:r>
              <a:rPr lang="en-US" altLang="ja-JP" sz="2400" b="1" dirty="0">
                <a:latin typeface="Source Code Pro"/>
              </a:rPr>
              <a:t>JavaScript</a:t>
            </a:r>
            <a:endParaRPr lang="ja-JP" altLang="en-US" sz="2400" b="1" dirty="0">
              <a:latin typeface="Source Code Pro"/>
            </a:endParaRPr>
          </a:p>
        </p:txBody>
      </p:sp>
    </p:spTree>
    <p:extLst>
      <p:ext uri="{BB962C8B-B14F-4D97-AF65-F5344CB8AC3E}">
        <p14:creationId xmlns:p14="http://schemas.microsoft.com/office/powerpoint/2010/main" val="2405556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809BC3F8-08C0-4D0B-A986-6EAE76ACD776}"/>
              </a:ext>
            </a:extLst>
          </p:cNvPr>
          <p:cNvSpPr/>
          <p:nvPr/>
        </p:nvSpPr>
        <p:spPr>
          <a:xfrm>
            <a:off x="715107" y="1879046"/>
            <a:ext cx="10761786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2400" b="1" dirty="0">
                <a:solidFill>
                  <a:srgbClr val="569CD6"/>
                </a:solidFill>
                <a:latin typeface="Consolas" panose="020B0609020204030204" pitchFamily="49" charset="0"/>
              </a:rPr>
              <a:t>function</a:t>
            </a:r>
            <a:r>
              <a:rPr lang="en-US" altLang="zh-CN" sz="2400" b="1" dirty="0">
                <a:solidFill>
                  <a:srgbClr val="D4D4D4"/>
                </a:solidFill>
                <a:latin typeface="Consolas" panose="020B0609020204030204" pitchFamily="49" charset="0"/>
              </a:rPr>
              <a:t> (</a:t>
            </a:r>
            <a:r>
              <a:rPr lang="en-US" altLang="zh-CN" sz="2400" b="1" dirty="0">
                <a:solidFill>
                  <a:srgbClr val="9CDCFE"/>
                </a:solidFill>
                <a:latin typeface="Consolas" panose="020B0609020204030204" pitchFamily="49" charset="0"/>
              </a:rPr>
              <a:t>PLUGIN_ID</a:t>
            </a:r>
            <a:r>
              <a:rPr lang="en-US" altLang="zh-CN" sz="2400" b="1" dirty="0">
                <a:solidFill>
                  <a:srgbClr val="D4D4D4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en-US" altLang="zh-CN" sz="2400" b="1" dirty="0">
                <a:solidFill>
                  <a:srgbClr val="CE9178"/>
                </a:solidFill>
                <a:latin typeface="Consolas" panose="020B0609020204030204" pitchFamily="49" charset="0"/>
              </a:rPr>
              <a:t>    "use strict"</a:t>
            </a:r>
            <a:r>
              <a:rPr lang="en-US" altLang="zh-CN" sz="2400" b="1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altLang="zh-CN" sz="2400" b="1" dirty="0">
                <a:solidFill>
                  <a:srgbClr val="569CD6"/>
                </a:solidFill>
                <a:latin typeface="Consolas" panose="020B0609020204030204" pitchFamily="49" charset="0"/>
              </a:rPr>
              <a:t>    var</a:t>
            </a:r>
            <a:r>
              <a:rPr lang="en-US" altLang="zh-CN" sz="2400" b="1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2400" b="1" dirty="0">
                <a:solidFill>
                  <a:srgbClr val="9CDCFE"/>
                </a:solidFill>
                <a:latin typeface="Consolas" panose="020B0609020204030204" pitchFamily="49" charset="0"/>
              </a:rPr>
              <a:t>msg</a:t>
            </a:r>
            <a:r>
              <a:rPr lang="en-US" altLang="zh-CN" sz="2400" b="1" dirty="0">
                <a:solidFill>
                  <a:srgbClr val="D4D4D4"/>
                </a:solidFill>
                <a:latin typeface="Consolas" panose="020B0609020204030204" pitchFamily="49" charset="0"/>
              </a:rPr>
              <a:t> = </a:t>
            </a:r>
            <a:r>
              <a:rPr lang="en-US" altLang="zh-CN" sz="2400" b="1" dirty="0" err="1">
                <a:solidFill>
                  <a:srgbClr val="9CDCFE"/>
                </a:solidFill>
                <a:latin typeface="Consolas" panose="020B0609020204030204" pitchFamily="49" charset="0"/>
              </a:rPr>
              <a:t>document</a:t>
            </a:r>
            <a:r>
              <a:rPr lang="en-US" altLang="zh-CN" sz="2400" b="1" dirty="0" err="1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US" altLang="zh-CN" sz="2400" b="1" dirty="0" err="1">
                <a:solidFill>
                  <a:srgbClr val="DCDCAA"/>
                </a:solidFill>
                <a:latin typeface="Consolas" panose="020B0609020204030204" pitchFamily="49" charset="0"/>
              </a:rPr>
              <a:t>getElementById</a:t>
            </a:r>
            <a:r>
              <a:rPr lang="en-US" altLang="zh-CN" sz="2400" b="1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2400" b="1" dirty="0">
                <a:solidFill>
                  <a:srgbClr val="CE9178"/>
                </a:solidFill>
                <a:latin typeface="Consolas" panose="020B0609020204030204" pitchFamily="49" charset="0"/>
              </a:rPr>
              <a:t>"msg"</a:t>
            </a:r>
            <a:r>
              <a:rPr lang="en-US" altLang="zh-CN" sz="2400" b="1" dirty="0">
                <a:solidFill>
                  <a:srgbClr val="D4D4D4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altLang="zh-CN" sz="2400" b="1" dirty="0">
                <a:solidFill>
                  <a:srgbClr val="569CD6"/>
                </a:solidFill>
                <a:latin typeface="Consolas" panose="020B0609020204030204" pitchFamily="49" charset="0"/>
              </a:rPr>
              <a:t>    var</a:t>
            </a:r>
            <a:r>
              <a:rPr lang="en-US" altLang="zh-CN" sz="2400" b="1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2400" b="1" dirty="0">
                <a:solidFill>
                  <a:srgbClr val="9CDCFE"/>
                </a:solidFill>
                <a:latin typeface="Consolas" panose="020B0609020204030204" pitchFamily="49" charset="0"/>
              </a:rPr>
              <a:t>config</a:t>
            </a:r>
            <a:r>
              <a:rPr lang="en-US" altLang="zh-CN" sz="2400" b="1" dirty="0">
                <a:solidFill>
                  <a:srgbClr val="D4D4D4"/>
                </a:solidFill>
                <a:latin typeface="Consolas" panose="020B0609020204030204" pitchFamily="49" charset="0"/>
              </a:rPr>
              <a:t> = </a:t>
            </a:r>
            <a:r>
              <a:rPr lang="en-US" altLang="zh-CN" sz="2400" b="1" dirty="0" err="1">
                <a:solidFill>
                  <a:srgbClr val="9CDCFE"/>
                </a:solidFill>
                <a:latin typeface="Consolas" panose="020B0609020204030204" pitchFamily="49" charset="0"/>
              </a:rPr>
              <a:t>kintone</a:t>
            </a:r>
            <a:r>
              <a:rPr lang="en-US" altLang="zh-CN" sz="2400" b="1" dirty="0" err="1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US" altLang="zh-CN" sz="2400" b="1" dirty="0" err="1">
                <a:solidFill>
                  <a:srgbClr val="9CDCFE"/>
                </a:solidFill>
                <a:latin typeface="Consolas" panose="020B0609020204030204" pitchFamily="49" charset="0"/>
              </a:rPr>
              <a:t>plugin</a:t>
            </a:r>
            <a:r>
              <a:rPr lang="en-US" altLang="zh-CN" sz="2400" b="1" dirty="0" err="1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US" altLang="zh-CN" sz="2400" b="1" dirty="0" err="1">
                <a:solidFill>
                  <a:srgbClr val="9CDCFE"/>
                </a:solidFill>
                <a:latin typeface="Consolas" panose="020B0609020204030204" pitchFamily="49" charset="0"/>
              </a:rPr>
              <a:t>app</a:t>
            </a:r>
            <a:r>
              <a:rPr lang="en-US" altLang="zh-CN" sz="2400" b="1" dirty="0" err="1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US" altLang="zh-CN" sz="2400" b="1" dirty="0" err="1">
                <a:solidFill>
                  <a:srgbClr val="DCDCAA"/>
                </a:solidFill>
                <a:latin typeface="Consolas" panose="020B0609020204030204" pitchFamily="49" charset="0"/>
              </a:rPr>
              <a:t>getConfig</a:t>
            </a:r>
            <a:r>
              <a:rPr lang="en-US" altLang="zh-CN" sz="2400" b="1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2400" b="1" dirty="0">
                <a:solidFill>
                  <a:srgbClr val="9CDCFE"/>
                </a:solidFill>
                <a:latin typeface="Consolas" panose="020B0609020204030204" pitchFamily="49" charset="0"/>
              </a:rPr>
              <a:t>PLUGIN_ID</a:t>
            </a:r>
            <a:r>
              <a:rPr lang="en-US" altLang="zh-CN" sz="2400" b="1" dirty="0">
                <a:solidFill>
                  <a:srgbClr val="D4D4D4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altLang="zh-CN" sz="2400" b="1" dirty="0">
                <a:solidFill>
                  <a:srgbClr val="C586C0"/>
                </a:solidFill>
                <a:latin typeface="Consolas" panose="020B0609020204030204" pitchFamily="49" charset="0"/>
              </a:rPr>
              <a:t>    if</a:t>
            </a:r>
            <a:r>
              <a:rPr lang="en-US" altLang="zh-CN" sz="2400" b="1" dirty="0">
                <a:solidFill>
                  <a:srgbClr val="D4D4D4"/>
                </a:solidFill>
                <a:latin typeface="Consolas" panose="020B0609020204030204" pitchFamily="49" charset="0"/>
              </a:rPr>
              <a:t> (</a:t>
            </a:r>
            <a:r>
              <a:rPr lang="en-US" altLang="zh-CN" sz="2400" b="1" dirty="0" err="1">
                <a:solidFill>
                  <a:srgbClr val="9CDCFE"/>
                </a:solidFill>
                <a:latin typeface="Consolas" panose="020B0609020204030204" pitchFamily="49" charset="0"/>
              </a:rPr>
              <a:t>config</a:t>
            </a:r>
            <a:r>
              <a:rPr lang="en-US" altLang="zh-CN" sz="2400" b="1" dirty="0" err="1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US" altLang="zh-CN" sz="2400" b="1" dirty="0" err="1">
                <a:solidFill>
                  <a:srgbClr val="DCDCAA"/>
                </a:solidFill>
                <a:latin typeface="Consolas" panose="020B0609020204030204" pitchFamily="49" charset="0"/>
              </a:rPr>
              <a:t>hasOwnProperty</a:t>
            </a:r>
            <a:r>
              <a:rPr lang="en-US" altLang="zh-CN" sz="2400" b="1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2400" b="1" dirty="0">
                <a:solidFill>
                  <a:srgbClr val="CE9178"/>
                </a:solidFill>
                <a:latin typeface="Consolas" panose="020B0609020204030204" pitchFamily="49" charset="0"/>
              </a:rPr>
              <a:t>"message"</a:t>
            </a:r>
            <a:r>
              <a:rPr lang="en-US" altLang="zh-CN" sz="2400" b="1" dirty="0">
                <a:solidFill>
                  <a:srgbClr val="D4D4D4"/>
                </a:solidFill>
                <a:latin typeface="Consolas" panose="020B0609020204030204" pitchFamily="49" charset="0"/>
              </a:rPr>
              <a:t>)) {</a:t>
            </a:r>
          </a:p>
          <a:p>
            <a:r>
              <a:rPr lang="en-US" altLang="zh-CN" sz="2400" b="1" dirty="0">
                <a:solidFill>
                  <a:srgbClr val="9CDCFE"/>
                </a:solidFill>
                <a:latin typeface="Consolas" panose="020B0609020204030204" pitchFamily="49" charset="0"/>
              </a:rPr>
              <a:t>        </a:t>
            </a:r>
            <a:r>
              <a:rPr lang="en-US" altLang="zh-CN" sz="2400" b="1" dirty="0" err="1">
                <a:solidFill>
                  <a:srgbClr val="9CDCFE"/>
                </a:solidFill>
                <a:latin typeface="Consolas" panose="020B0609020204030204" pitchFamily="49" charset="0"/>
              </a:rPr>
              <a:t>msg</a:t>
            </a:r>
            <a:r>
              <a:rPr lang="en-US" altLang="zh-CN" sz="2400" b="1" dirty="0" err="1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US" altLang="zh-CN" sz="2400" b="1" dirty="0" err="1">
                <a:solidFill>
                  <a:srgbClr val="9CDCFE"/>
                </a:solidFill>
                <a:latin typeface="Consolas" panose="020B0609020204030204" pitchFamily="49" charset="0"/>
              </a:rPr>
              <a:t>value</a:t>
            </a:r>
            <a:r>
              <a:rPr lang="en-US" altLang="zh-CN" sz="2400" b="1" dirty="0">
                <a:solidFill>
                  <a:srgbClr val="D4D4D4"/>
                </a:solidFill>
                <a:latin typeface="Consolas" panose="020B0609020204030204" pitchFamily="49" charset="0"/>
              </a:rPr>
              <a:t> = </a:t>
            </a:r>
            <a:r>
              <a:rPr lang="en-US" altLang="zh-CN" sz="2400" b="1" dirty="0">
                <a:solidFill>
                  <a:srgbClr val="9CDCFE"/>
                </a:solidFill>
                <a:latin typeface="Consolas" panose="020B0609020204030204" pitchFamily="49" charset="0"/>
              </a:rPr>
              <a:t>config</a:t>
            </a:r>
            <a:r>
              <a:rPr lang="en-US" altLang="zh-CN" sz="2400" b="1" dirty="0">
                <a:solidFill>
                  <a:srgbClr val="D4D4D4"/>
                </a:solidFill>
                <a:latin typeface="Consolas" panose="020B0609020204030204" pitchFamily="49" charset="0"/>
              </a:rPr>
              <a:t>[</a:t>
            </a:r>
            <a:r>
              <a:rPr lang="en-US" altLang="zh-CN" sz="2400" b="1" dirty="0">
                <a:solidFill>
                  <a:srgbClr val="CE9178"/>
                </a:solidFill>
                <a:latin typeface="Consolas" panose="020B0609020204030204" pitchFamily="49" charset="0"/>
              </a:rPr>
              <a:t>"message"</a:t>
            </a:r>
            <a:r>
              <a:rPr lang="en-US" altLang="zh-CN" sz="2400" b="1" dirty="0">
                <a:solidFill>
                  <a:srgbClr val="D4D4D4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en-US" altLang="zh-CN" sz="2400" b="1" dirty="0">
                <a:solidFill>
                  <a:srgbClr val="D4D4D4"/>
                </a:solidFill>
                <a:latin typeface="Consolas" panose="020B0609020204030204" pitchFamily="49" charset="0"/>
              </a:rPr>
              <a:t>    }</a:t>
            </a:r>
          </a:p>
          <a:p>
            <a:r>
              <a:rPr lang="en-US" altLang="zh-CN" sz="2400" b="1" dirty="0">
                <a:solidFill>
                  <a:srgbClr val="9CDCFE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2400" b="1" dirty="0" err="1">
                <a:solidFill>
                  <a:srgbClr val="9CDCFE"/>
                </a:solidFill>
                <a:latin typeface="Consolas" panose="020B0609020204030204" pitchFamily="49" charset="0"/>
              </a:rPr>
              <a:t>document</a:t>
            </a:r>
            <a:r>
              <a:rPr lang="en-US" altLang="zh-CN" sz="2400" b="1" dirty="0" err="1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US" altLang="zh-CN" sz="2400" b="1" dirty="0" err="1">
                <a:solidFill>
                  <a:srgbClr val="DCDCAA"/>
                </a:solidFill>
                <a:latin typeface="Consolas" panose="020B0609020204030204" pitchFamily="49" charset="0"/>
              </a:rPr>
              <a:t>getElementById</a:t>
            </a:r>
            <a:r>
              <a:rPr lang="en-US" altLang="zh-CN" sz="2400" b="1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2400" b="1" dirty="0">
                <a:solidFill>
                  <a:srgbClr val="CE9178"/>
                </a:solidFill>
                <a:latin typeface="Consolas" panose="020B0609020204030204" pitchFamily="49" charset="0"/>
              </a:rPr>
              <a:t>"save"</a:t>
            </a:r>
            <a:r>
              <a:rPr lang="en-US" altLang="zh-CN" sz="2400" b="1" dirty="0">
                <a:solidFill>
                  <a:srgbClr val="D4D4D4"/>
                </a:solidFill>
                <a:latin typeface="Consolas" panose="020B0609020204030204" pitchFamily="49" charset="0"/>
              </a:rPr>
              <a:t>).</a:t>
            </a:r>
            <a:r>
              <a:rPr lang="en-US" altLang="zh-CN" sz="2400" b="1" dirty="0">
                <a:solidFill>
                  <a:srgbClr val="DCDCAA"/>
                </a:solidFill>
                <a:latin typeface="Consolas" panose="020B0609020204030204" pitchFamily="49" charset="0"/>
              </a:rPr>
              <a:t>onclick</a:t>
            </a:r>
            <a:r>
              <a:rPr lang="en-US" altLang="zh-CN" sz="2400" b="1" dirty="0">
                <a:solidFill>
                  <a:srgbClr val="D4D4D4"/>
                </a:solidFill>
                <a:latin typeface="Consolas" panose="020B0609020204030204" pitchFamily="49" charset="0"/>
              </a:rPr>
              <a:t> = </a:t>
            </a:r>
            <a:r>
              <a:rPr lang="en-US" altLang="zh-CN" sz="2400" b="1" dirty="0">
                <a:solidFill>
                  <a:srgbClr val="569CD6"/>
                </a:solidFill>
                <a:latin typeface="Consolas" panose="020B0609020204030204" pitchFamily="49" charset="0"/>
              </a:rPr>
              <a:t>function</a:t>
            </a:r>
            <a:r>
              <a:rPr lang="en-US" altLang="zh-CN" sz="2400" b="1" dirty="0">
                <a:solidFill>
                  <a:srgbClr val="D4D4D4"/>
                </a:solidFill>
                <a:latin typeface="Consolas" panose="020B0609020204030204" pitchFamily="49" charset="0"/>
              </a:rPr>
              <a:t> () {</a:t>
            </a:r>
          </a:p>
          <a:p>
            <a:r>
              <a:rPr lang="en-US" altLang="zh-CN" sz="2400" b="1" dirty="0">
                <a:solidFill>
                  <a:srgbClr val="9CDCFE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2400" b="1" dirty="0" err="1">
                <a:solidFill>
                  <a:srgbClr val="9CDCFE"/>
                </a:solidFill>
                <a:latin typeface="Consolas" panose="020B0609020204030204" pitchFamily="49" charset="0"/>
              </a:rPr>
              <a:t>kintone</a:t>
            </a:r>
            <a:r>
              <a:rPr lang="en-US" altLang="zh-CN" sz="2400" b="1" dirty="0" err="1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US" altLang="zh-CN" sz="2400" b="1" dirty="0" err="1">
                <a:solidFill>
                  <a:srgbClr val="9CDCFE"/>
                </a:solidFill>
                <a:latin typeface="Consolas" panose="020B0609020204030204" pitchFamily="49" charset="0"/>
              </a:rPr>
              <a:t>plugin</a:t>
            </a:r>
            <a:r>
              <a:rPr lang="en-US" altLang="zh-CN" sz="2400" b="1" dirty="0" err="1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US" altLang="zh-CN" sz="2400" b="1" dirty="0" err="1">
                <a:solidFill>
                  <a:srgbClr val="9CDCFE"/>
                </a:solidFill>
                <a:latin typeface="Consolas" panose="020B0609020204030204" pitchFamily="49" charset="0"/>
              </a:rPr>
              <a:t>app</a:t>
            </a:r>
            <a:r>
              <a:rPr lang="en-US" altLang="zh-CN" sz="2400" b="1" dirty="0" err="1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US" altLang="zh-CN" sz="2400" b="1" dirty="0" err="1">
                <a:solidFill>
                  <a:srgbClr val="DCDCAA"/>
                </a:solidFill>
                <a:latin typeface="Consolas" panose="020B0609020204030204" pitchFamily="49" charset="0"/>
              </a:rPr>
              <a:t>setConfig</a:t>
            </a:r>
            <a:r>
              <a:rPr lang="en-US" altLang="zh-CN" sz="2400" b="1" dirty="0">
                <a:solidFill>
                  <a:srgbClr val="D4D4D4"/>
                </a:solidFill>
                <a:latin typeface="Consolas" panose="020B0609020204030204" pitchFamily="49" charset="0"/>
              </a:rPr>
              <a:t>({ </a:t>
            </a:r>
            <a:r>
              <a:rPr lang="en-US" altLang="zh-CN" sz="2400" b="1" dirty="0">
                <a:solidFill>
                  <a:srgbClr val="CE9178"/>
                </a:solidFill>
                <a:latin typeface="Consolas" panose="020B0609020204030204" pitchFamily="49" charset="0"/>
              </a:rPr>
              <a:t>"message"</a:t>
            </a:r>
            <a:r>
              <a:rPr lang="en-US" altLang="zh-CN" sz="2400" b="1" dirty="0">
                <a:solidFill>
                  <a:srgbClr val="9CDCFE"/>
                </a:solidFill>
                <a:latin typeface="Consolas" panose="020B0609020204030204" pitchFamily="49" charset="0"/>
              </a:rPr>
              <a:t>:</a:t>
            </a:r>
            <a:r>
              <a:rPr lang="en-US" altLang="zh-CN" sz="2400" b="1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2400" b="1" dirty="0" err="1">
                <a:solidFill>
                  <a:srgbClr val="9CDCFE"/>
                </a:solidFill>
                <a:latin typeface="Consolas" panose="020B0609020204030204" pitchFamily="49" charset="0"/>
              </a:rPr>
              <a:t>msg</a:t>
            </a:r>
            <a:r>
              <a:rPr lang="en-US" altLang="zh-CN" sz="2400" b="1" dirty="0" err="1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US" altLang="zh-CN" sz="2400" b="1" dirty="0" err="1">
                <a:solidFill>
                  <a:srgbClr val="9CDCFE"/>
                </a:solidFill>
                <a:latin typeface="Consolas" panose="020B0609020204030204" pitchFamily="49" charset="0"/>
              </a:rPr>
              <a:t>value</a:t>
            </a:r>
            <a:r>
              <a:rPr lang="en-US" altLang="zh-CN" sz="2400" b="1" dirty="0">
                <a:solidFill>
                  <a:srgbClr val="D4D4D4"/>
                </a:solidFill>
                <a:latin typeface="Consolas" panose="020B0609020204030204" pitchFamily="49" charset="0"/>
              </a:rPr>
              <a:t> });</a:t>
            </a:r>
          </a:p>
          <a:p>
            <a:r>
              <a:rPr lang="en-US" altLang="zh-CN" sz="2400" b="1" dirty="0">
                <a:solidFill>
                  <a:srgbClr val="D4D4D4"/>
                </a:solidFill>
                <a:latin typeface="Consolas" panose="020B0609020204030204" pitchFamily="49" charset="0"/>
              </a:rPr>
              <a:t>    };</a:t>
            </a:r>
          </a:p>
          <a:p>
            <a:r>
              <a:rPr lang="en-US" altLang="zh-CN" sz="2400" b="1" dirty="0">
                <a:solidFill>
                  <a:srgbClr val="D4D4D4"/>
                </a:solidFill>
                <a:latin typeface="Consolas" panose="020B0609020204030204" pitchFamily="49" charset="0"/>
              </a:rPr>
              <a:t>})(</a:t>
            </a:r>
            <a:r>
              <a:rPr lang="en-US" altLang="zh-CN" sz="2400" b="1" dirty="0" err="1">
                <a:solidFill>
                  <a:srgbClr val="9CDCFE"/>
                </a:solidFill>
                <a:latin typeface="Consolas" panose="020B0609020204030204" pitchFamily="49" charset="0"/>
              </a:rPr>
              <a:t>kintone</a:t>
            </a:r>
            <a:r>
              <a:rPr lang="en-US" altLang="zh-CN" sz="2400" b="1" dirty="0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US" altLang="zh-CN" sz="2400" b="1" dirty="0">
                <a:solidFill>
                  <a:srgbClr val="9CDCFE"/>
                </a:solidFill>
                <a:latin typeface="Consolas" panose="020B0609020204030204" pitchFamily="49" charset="0"/>
              </a:rPr>
              <a:t>$PLUGIN_ID</a:t>
            </a:r>
            <a:r>
              <a:rPr lang="en-US" altLang="zh-CN" sz="2400" b="1" dirty="0">
                <a:solidFill>
                  <a:srgbClr val="D4D4D4"/>
                </a:solidFill>
                <a:latin typeface="Consolas" panose="020B0609020204030204" pitchFamily="49" charset="0"/>
              </a:rPr>
              <a:t>);</a:t>
            </a:r>
            <a:endParaRPr lang="en-US" altLang="zh-CN" sz="2400" b="1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58ECE99A-A902-46D8-89AC-CB9AB36F83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altLang="zh-CN" dirty="0"/>
              <a:t>config.js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836667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2EF087-75FE-4718-945F-A0DDDB364D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0757" y="2870721"/>
            <a:ext cx="4790485" cy="1325563"/>
          </a:xfrm>
        </p:spPr>
        <p:txBody>
          <a:bodyPr>
            <a:normAutofit/>
          </a:bodyPr>
          <a:lstStyle/>
          <a:p>
            <a:r>
              <a:rPr lang="zh-CN" altLang="en-US" dirty="0"/>
              <a:t>前台的自定义开发</a:t>
            </a:r>
          </a:p>
        </p:txBody>
      </p:sp>
    </p:spTree>
    <p:extLst>
      <p:ext uri="{BB962C8B-B14F-4D97-AF65-F5344CB8AC3E}">
        <p14:creationId xmlns:p14="http://schemas.microsoft.com/office/powerpoint/2010/main" val="14900330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2EF087-75FE-4718-945F-A0DDDB364D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741" y="347873"/>
            <a:ext cx="10515600" cy="1325563"/>
          </a:xfrm>
        </p:spPr>
        <p:txBody>
          <a:bodyPr/>
          <a:lstStyle/>
          <a:p>
            <a:r>
              <a:rPr lang="zh-CN" altLang="en-US" dirty="0"/>
              <a:t>定义</a:t>
            </a:r>
            <a:r>
              <a:rPr lang="en-US" altLang="zh-CN" dirty="0" err="1"/>
              <a:t>mainfest.json</a:t>
            </a:r>
            <a:endParaRPr lang="zh-CN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2185D70-8F91-4892-85E2-411F08177A2D}"/>
              </a:ext>
            </a:extLst>
          </p:cNvPr>
          <p:cNvSpPr/>
          <p:nvPr/>
        </p:nvSpPr>
        <p:spPr>
          <a:xfrm>
            <a:off x="1890663" y="1673436"/>
            <a:ext cx="9785521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rgbClr val="9CDCFE"/>
                </a:solidFill>
                <a:latin typeface="Consolas" panose="020B0609020204030204" pitchFamily="49" charset="0"/>
              </a:rPr>
              <a:t>"desktop"</a:t>
            </a:r>
            <a:r>
              <a:rPr lang="en-US" altLang="zh-CN" sz="2800" b="1" dirty="0">
                <a:solidFill>
                  <a:srgbClr val="D4D4D4"/>
                </a:solidFill>
                <a:latin typeface="Consolas" panose="020B0609020204030204" pitchFamily="49" charset="0"/>
              </a:rPr>
              <a:t>: {</a:t>
            </a:r>
          </a:p>
          <a:p>
            <a:r>
              <a:rPr lang="en-US" altLang="zh-CN" sz="2800" b="1" dirty="0">
                <a:solidFill>
                  <a:srgbClr val="9CDCFE"/>
                </a:solidFill>
                <a:latin typeface="Consolas" panose="020B0609020204030204" pitchFamily="49" charset="0"/>
              </a:rPr>
              <a:t>    "</a:t>
            </a:r>
            <a:r>
              <a:rPr lang="en-US" altLang="zh-CN" sz="2800" b="1" dirty="0" err="1">
                <a:solidFill>
                  <a:srgbClr val="9CDCFE"/>
                </a:solidFill>
                <a:latin typeface="Consolas" panose="020B0609020204030204" pitchFamily="49" charset="0"/>
              </a:rPr>
              <a:t>js</a:t>
            </a:r>
            <a:r>
              <a:rPr lang="en-US" altLang="zh-CN" sz="2800" b="1" dirty="0">
                <a:solidFill>
                  <a:srgbClr val="9CDCFE"/>
                </a:solidFill>
                <a:latin typeface="Consolas" panose="020B0609020204030204" pitchFamily="49" charset="0"/>
              </a:rPr>
              <a:t>"</a:t>
            </a:r>
            <a:r>
              <a:rPr lang="en-US" altLang="zh-CN" sz="2800" b="1" dirty="0">
                <a:solidFill>
                  <a:srgbClr val="D4D4D4"/>
                </a:solidFill>
                <a:latin typeface="Consolas" panose="020B0609020204030204" pitchFamily="49" charset="0"/>
              </a:rPr>
              <a:t>: [</a:t>
            </a:r>
          </a:p>
          <a:p>
            <a:r>
              <a:rPr lang="en-US" altLang="zh-CN" sz="2800" b="1" dirty="0">
                <a:solidFill>
                  <a:srgbClr val="CE9178"/>
                </a:solidFill>
                <a:latin typeface="Consolas" panose="020B0609020204030204" pitchFamily="49" charset="0"/>
              </a:rPr>
              <a:t>        "</a:t>
            </a:r>
            <a:r>
              <a:rPr lang="en-US" altLang="zh-CN" sz="2800" b="1" dirty="0" err="1">
                <a:solidFill>
                  <a:srgbClr val="CE9178"/>
                </a:solidFill>
                <a:latin typeface="Consolas" panose="020B0609020204030204" pitchFamily="49" charset="0"/>
              </a:rPr>
              <a:t>js</a:t>
            </a:r>
            <a:r>
              <a:rPr lang="en-US" altLang="zh-CN" sz="2800" b="1" dirty="0">
                <a:solidFill>
                  <a:srgbClr val="CE9178"/>
                </a:solidFill>
                <a:latin typeface="Consolas" panose="020B0609020204030204" pitchFamily="49" charset="0"/>
              </a:rPr>
              <a:t>/desktop.js"</a:t>
            </a:r>
            <a:endParaRPr lang="en-US" altLang="zh-CN" sz="2800" b="1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altLang="zh-CN" sz="2800" b="1" dirty="0">
                <a:solidFill>
                  <a:srgbClr val="D4D4D4"/>
                </a:solidFill>
                <a:latin typeface="Consolas" panose="020B0609020204030204" pitchFamily="49" charset="0"/>
              </a:rPr>
              <a:t>    ],</a:t>
            </a:r>
          </a:p>
          <a:p>
            <a:r>
              <a:rPr lang="en-US" altLang="zh-CN" sz="2800" b="1" dirty="0">
                <a:solidFill>
                  <a:srgbClr val="9CDCFE"/>
                </a:solidFill>
                <a:latin typeface="Consolas" panose="020B0609020204030204" pitchFamily="49" charset="0"/>
              </a:rPr>
              <a:t>    "</a:t>
            </a:r>
            <a:r>
              <a:rPr lang="en-US" altLang="zh-CN" sz="2800" b="1" dirty="0" err="1">
                <a:solidFill>
                  <a:srgbClr val="9CDCFE"/>
                </a:solidFill>
                <a:latin typeface="Consolas" panose="020B0609020204030204" pitchFamily="49" charset="0"/>
              </a:rPr>
              <a:t>css</a:t>
            </a:r>
            <a:r>
              <a:rPr lang="en-US" altLang="zh-CN" sz="2800" b="1" dirty="0">
                <a:solidFill>
                  <a:srgbClr val="9CDCFE"/>
                </a:solidFill>
                <a:latin typeface="Consolas" panose="020B0609020204030204" pitchFamily="49" charset="0"/>
              </a:rPr>
              <a:t>"</a:t>
            </a:r>
            <a:r>
              <a:rPr lang="en-US" altLang="zh-CN" sz="2800" b="1" dirty="0">
                <a:solidFill>
                  <a:srgbClr val="D4D4D4"/>
                </a:solidFill>
                <a:latin typeface="Consolas" panose="020B0609020204030204" pitchFamily="49" charset="0"/>
              </a:rPr>
              <a:t>: [</a:t>
            </a:r>
          </a:p>
          <a:p>
            <a:r>
              <a:rPr lang="en-US" altLang="zh-CN" sz="2800" b="1" dirty="0">
                <a:solidFill>
                  <a:srgbClr val="CE9178"/>
                </a:solidFill>
                <a:latin typeface="Consolas" panose="020B0609020204030204" pitchFamily="49" charset="0"/>
              </a:rPr>
              <a:t>        "</a:t>
            </a:r>
            <a:r>
              <a:rPr lang="en-US" altLang="zh-CN" sz="2800" b="1" dirty="0" err="1">
                <a:solidFill>
                  <a:srgbClr val="CE9178"/>
                </a:solidFill>
                <a:latin typeface="Consolas" panose="020B0609020204030204" pitchFamily="49" charset="0"/>
              </a:rPr>
              <a:t>css</a:t>
            </a:r>
            <a:r>
              <a:rPr lang="en-US" altLang="zh-CN" sz="2800" b="1" dirty="0">
                <a:solidFill>
                  <a:srgbClr val="CE9178"/>
                </a:solidFill>
                <a:latin typeface="Consolas" panose="020B0609020204030204" pitchFamily="49" charset="0"/>
              </a:rPr>
              <a:t>/51-modern-default.css"</a:t>
            </a:r>
            <a:endParaRPr lang="en-US" altLang="zh-CN" sz="2800" b="1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altLang="zh-CN" sz="2800" b="1" dirty="0">
                <a:solidFill>
                  <a:srgbClr val="D4D4D4"/>
                </a:solidFill>
                <a:latin typeface="Consolas" panose="020B0609020204030204" pitchFamily="49" charset="0"/>
              </a:rPr>
              <a:t>    ]</a:t>
            </a:r>
          </a:p>
          <a:p>
            <a:r>
              <a:rPr lang="en-US" altLang="zh-CN" sz="2800" b="1" dirty="0">
                <a:solidFill>
                  <a:srgbClr val="D4D4D4"/>
                </a:solidFill>
                <a:latin typeface="Consolas" panose="020B0609020204030204" pitchFamily="49" charset="0"/>
              </a:rPr>
              <a:t>},</a:t>
            </a:r>
            <a:endParaRPr lang="en-US" altLang="zh-CN" sz="2800" b="1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75388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>
            <a:extLst>
              <a:ext uri="{FF2B5EF4-FFF2-40B4-BE49-F238E27FC236}">
                <a16:creationId xmlns:a16="http://schemas.microsoft.com/office/drawing/2014/main" id="{B1F9ABA1-EFBB-436E-AD5A-CA4C682680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插件设置</a:t>
            </a:r>
            <a:endParaRPr lang="en-US" altLang="zh-CN" b="1" dirty="0"/>
          </a:p>
        </p:txBody>
      </p:sp>
      <p:sp>
        <p:nvSpPr>
          <p:cNvPr id="13" name="内容占位符 2">
            <a:extLst>
              <a:ext uri="{FF2B5EF4-FFF2-40B4-BE49-F238E27FC236}">
                <a16:creationId xmlns:a16="http://schemas.microsoft.com/office/drawing/2014/main" id="{32238488-0325-4522-8501-105D53C0F2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19258"/>
            <a:ext cx="10515600" cy="558006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用户画面可以自定义</a:t>
            </a:r>
            <a:r>
              <a:rPr lang="en-US" altLang="zh-CN" dirty="0"/>
              <a:t> </a:t>
            </a:r>
            <a:r>
              <a:rPr lang="en-US" altLang="zh-CN" dirty="0" err="1"/>
              <a:t>css</a:t>
            </a:r>
            <a:r>
              <a:rPr lang="en-US" altLang="zh-CN" dirty="0"/>
              <a:t> </a:t>
            </a:r>
            <a:r>
              <a:rPr lang="zh-CN" altLang="en-US" dirty="0"/>
              <a:t>和 </a:t>
            </a:r>
            <a:r>
              <a:rPr lang="en-US" altLang="zh-CN" dirty="0" err="1"/>
              <a:t>js</a:t>
            </a:r>
            <a:r>
              <a:rPr lang="en-US" altLang="zh-CN" dirty="0"/>
              <a:t> </a:t>
            </a:r>
            <a:r>
              <a:rPr lang="zh-CN" altLang="en-US" dirty="0"/>
              <a:t>文件</a:t>
            </a:r>
            <a:endParaRPr lang="en-US" altLang="zh-CN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DFC90C3-17EE-4C7A-82A2-9115876279B3}"/>
              </a:ext>
            </a:extLst>
          </p:cNvPr>
          <p:cNvSpPr/>
          <p:nvPr/>
        </p:nvSpPr>
        <p:spPr>
          <a:xfrm>
            <a:off x="1246309" y="3105834"/>
            <a:ext cx="81153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ja-JP" sz="2400" dirty="0">
                <a:latin typeface="Source Code Pro"/>
              </a:rPr>
              <a:t>- </a:t>
            </a:r>
            <a:r>
              <a:rPr lang="en-US" altLang="zh-CN" sz="2400" dirty="0">
                <a:latin typeface="Consolas" panose="020B0609020204030204" pitchFamily="49" charset="0"/>
              </a:rPr>
              <a:t>51-modern-default.css </a:t>
            </a:r>
            <a:r>
              <a:rPr lang="en-US" altLang="ja-JP" sz="2400" dirty="0">
                <a:latin typeface="Source Code Pro"/>
              </a:rPr>
              <a:t>//PC</a:t>
            </a:r>
            <a:r>
              <a:rPr lang="ja-JP" altLang="en-US" sz="2400" dirty="0">
                <a:latin typeface="Source Code Pro"/>
              </a:rPr>
              <a:t>用</a:t>
            </a:r>
            <a:r>
              <a:rPr lang="en-US" altLang="ja-JP" sz="2400" dirty="0">
                <a:latin typeface="Source Code Pro"/>
              </a:rPr>
              <a:t>CSS</a:t>
            </a:r>
            <a:endParaRPr lang="ja-JP" altLang="en-US" sz="2400" dirty="0">
              <a:latin typeface="Source Code Pro"/>
            </a:endParaRPr>
          </a:p>
          <a:p>
            <a:r>
              <a:rPr lang="en-US" altLang="ja-JP" sz="2400" b="1" dirty="0">
                <a:latin typeface="Source Code Pro"/>
              </a:rPr>
              <a:t>- </a:t>
            </a:r>
            <a:r>
              <a:rPr lang="en-US" altLang="zh-CN" sz="2400" b="1" dirty="0">
                <a:latin typeface="Source Code Pro"/>
              </a:rPr>
              <a:t>desktop</a:t>
            </a:r>
            <a:r>
              <a:rPr lang="en-US" altLang="ja-JP" sz="2400" b="1" dirty="0">
                <a:latin typeface="Source Code Pro"/>
              </a:rPr>
              <a:t>.js //</a:t>
            </a:r>
            <a:r>
              <a:rPr lang="en-US" altLang="zh-CN" sz="2400" b="1" dirty="0">
                <a:latin typeface="Source Code Pro"/>
              </a:rPr>
              <a:t>PC</a:t>
            </a:r>
            <a:r>
              <a:rPr lang="ja-JP" altLang="en-US" sz="2400" b="1" dirty="0">
                <a:latin typeface="Source Code Pro"/>
              </a:rPr>
              <a:t>用</a:t>
            </a:r>
            <a:r>
              <a:rPr lang="en-US" altLang="ja-JP" sz="2400" b="1" dirty="0">
                <a:latin typeface="Source Code Pro"/>
              </a:rPr>
              <a:t>JavaScript</a:t>
            </a:r>
            <a:endParaRPr lang="ja-JP" altLang="en-US" sz="2400" b="1" dirty="0">
              <a:latin typeface="Source Code Pro"/>
            </a:endParaRPr>
          </a:p>
        </p:txBody>
      </p:sp>
    </p:spTree>
    <p:extLst>
      <p:ext uri="{BB962C8B-B14F-4D97-AF65-F5344CB8AC3E}">
        <p14:creationId xmlns:p14="http://schemas.microsoft.com/office/powerpoint/2010/main" val="46937384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462ED45A-F5CF-4949-96E9-A397E2570A57}"/>
              </a:ext>
            </a:extLst>
          </p:cNvPr>
          <p:cNvSpPr/>
          <p:nvPr/>
        </p:nvSpPr>
        <p:spPr>
          <a:xfrm>
            <a:off x="668215" y="982176"/>
            <a:ext cx="11289323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2400" b="1" dirty="0">
                <a:solidFill>
                  <a:srgbClr val="569CD6"/>
                </a:solidFill>
                <a:latin typeface="Consolas" panose="020B0609020204030204" pitchFamily="49" charset="0"/>
              </a:rPr>
              <a:t>function</a:t>
            </a:r>
            <a:r>
              <a:rPr lang="en-US" altLang="zh-CN" sz="2400" b="1" dirty="0">
                <a:solidFill>
                  <a:srgbClr val="D4D4D4"/>
                </a:solidFill>
                <a:latin typeface="Consolas" panose="020B0609020204030204" pitchFamily="49" charset="0"/>
              </a:rPr>
              <a:t> (</a:t>
            </a:r>
            <a:r>
              <a:rPr lang="en-US" altLang="zh-CN" sz="2400" b="1" dirty="0">
                <a:solidFill>
                  <a:srgbClr val="9CDCFE"/>
                </a:solidFill>
                <a:latin typeface="Consolas" panose="020B0609020204030204" pitchFamily="49" charset="0"/>
              </a:rPr>
              <a:t>PLUGIN_ID</a:t>
            </a:r>
            <a:r>
              <a:rPr lang="en-US" altLang="zh-CN" sz="2400" b="1" dirty="0">
                <a:solidFill>
                  <a:srgbClr val="D4D4D4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en-US" altLang="zh-CN" sz="2400" b="1" dirty="0">
                <a:solidFill>
                  <a:srgbClr val="CE9178"/>
                </a:solidFill>
                <a:latin typeface="Consolas" panose="020B0609020204030204" pitchFamily="49" charset="0"/>
              </a:rPr>
              <a:t>    "use strict"</a:t>
            </a:r>
            <a:r>
              <a:rPr lang="en-US" altLang="zh-CN" sz="2400" b="1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altLang="zh-CN" sz="2400" b="1" dirty="0">
                <a:solidFill>
                  <a:srgbClr val="569CD6"/>
                </a:solidFill>
                <a:latin typeface="Consolas" panose="020B0609020204030204" pitchFamily="49" charset="0"/>
              </a:rPr>
              <a:t>    var</a:t>
            </a:r>
            <a:r>
              <a:rPr lang="en-US" altLang="zh-CN" sz="2400" b="1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2400" b="1" dirty="0">
                <a:solidFill>
                  <a:srgbClr val="9CDCFE"/>
                </a:solidFill>
                <a:latin typeface="Consolas" panose="020B0609020204030204" pitchFamily="49" charset="0"/>
              </a:rPr>
              <a:t>config</a:t>
            </a:r>
            <a:r>
              <a:rPr lang="en-US" altLang="zh-CN" sz="2400" b="1" dirty="0">
                <a:solidFill>
                  <a:srgbClr val="D4D4D4"/>
                </a:solidFill>
                <a:latin typeface="Consolas" panose="020B0609020204030204" pitchFamily="49" charset="0"/>
              </a:rPr>
              <a:t> = </a:t>
            </a:r>
            <a:r>
              <a:rPr lang="en-US" altLang="zh-CN" sz="2400" b="1" dirty="0" err="1">
                <a:solidFill>
                  <a:srgbClr val="9CDCFE"/>
                </a:solidFill>
                <a:latin typeface="Consolas" panose="020B0609020204030204" pitchFamily="49" charset="0"/>
              </a:rPr>
              <a:t>kintone</a:t>
            </a:r>
            <a:r>
              <a:rPr lang="en-US" altLang="zh-CN" sz="2400" b="1" dirty="0" err="1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US" altLang="zh-CN" sz="2400" b="1" dirty="0" err="1">
                <a:solidFill>
                  <a:srgbClr val="9CDCFE"/>
                </a:solidFill>
                <a:latin typeface="Consolas" panose="020B0609020204030204" pitchFamily="49" charset="0"/>
              </a:rPr>
              <a:t>plugin</a:t>
            </a:r>
            <a:r>
              <a:rPr lang="en-US" altLang="zh-CN" sz="2400" b="1" dirty="0" err="1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US" altLang="zh-CN" sz="2400" b="1" dirty="0" err="1">
                <a:solidFill>
                  <a:srgbClr val="9CDCFE"/>
                </a:solidFill>
                <a:latin typeface="Consolas" panose="020B0609020204030204" pitchFamily="49" charset="0"/>
              </a:rPr>
              <a:t>app</a:t>
            </a:r>
            <a:r>
              <a:rPr lang="en-US" altLang="zh-CN" sz="2400" b="1" dirty="0" err="1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US" altLang="zh-CN" sz="2400" b="1" dirty="0" err="1">
                <a:solidFill>
                  <a:srgbClr val="DCDCAA"/>
                </a:solidFill>
                <a:latin typeface="Consolas" panose="020B0609020204030204" pitchFamily="49" charset="0"/>
              </a:rPr>
              <a:t>getConfig</a:t>
            </a:r>
            <a:r>
              <a:rPr lang="en-US" altLang="zh-CN" sz="2400" b="1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2400" b="1" dirty="0">
                <a:solidFill>
                  <a:srgbClr val="9CDCFE"/>
                </a:solidFill>
                <a:latin typeface="Consolas" panose="020B0609020204030204" pitchFamily="49" charset="0"/>
              </a:rPr>
              <a:t>PLUGIN_ID</a:t>
            </a:r>
            <a:r>
              <a:rPr lang="en-US" altLang="zh-CN" sz="2400" b="1" dirty="0">
                <a:solidFill>
                  <a:srgbClr val="D4D4D4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altLang="zh-CN" sz="2400" b="1" dirty="0">
                <a:solidFill>
                  <a:srgbClr val="569CD6"/>
                </a:solidFill>
                <a:latin typeface="Consolas" panose="020B0609020204030204" pitchFamily="49" charset="0"/>
              </a:rPr>
              <a:t>    var</a:t>
            </a:r>
            <a:r>
              <a:rPr lang="en-US" altLang="zh-CN" sz="2400" b="1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2400" b="1" dirty="0">
                <a:solidFill>
                  <a:srgbClr val="9CDCFE"/>
                </a:solidFill>
                <a:latin typeface="Consolas" panose="020B0609020204030204" pitchFamily="49" charset="0"/>
              </a:rPr>
              <a:t>msg</a:t>
            </a:r>
            <a:r>
              <a:rPr lang="en-US" altLang="zh-CN" sz="2400" b="1" dirty="0">
                <a:solidFill>
                  <a:srgbClr val="D4D4D4"/>
                </a:solidFill>
                <a:latin typeface="Consolas" panose="020B0609020204030204" pitchFamily="49" charset="0"/>
              </a:rPr>
              <a:t> = </a:t>
            </a:r>
            <a:r>
              <a:rPr lang="en-US" altLang="zh-CN" sz="2400" b="1" dirty="0" err="1">
                <a:solidFill>
                  <a:srgbClr val="9CDCFE"/>
                </a:solidFill>
                <a:latin typeface="Consolas" panose="020B0609020204030204" pitchFamily="49" charset="0"/>
              </a:rPr>
              <a:t>config</a:t>
            </a:r>
            <a:r>
              <a:rPr lang="en-US" altLang="zh-CN" sz="2400" b="1" dirty="0" err="1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US" altLang="zh-CN" sz="2400" b="1" dirty="0" err="1">
                <a:solidFill>
                  <a:srgbClr val="DCDCAA"/>
                </a:solidFill>
                <a:latin typeface="Consolas" panose="020B0609020204030204" pitchFamily="49" charset="0"/>
              </a:rPr>
              <a:t>hasOwnProperty</a:t>
            </a:r>
            <a:r>
              <a:rPr lang="en-US" altLang="zh-CN" sz="2400" b="1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2400" b="1" dirty="0">
                <a:solidFill>
                  <a:srgbClr val="CE9178"/>
                </a:solidFill>
                <a:latin typeface="Consolas" panose="020B0609020204030204" pitchFamily="49" charset="0"/>
              </a:rPr>
              <a:t>"message"</a:t>
            </a:r>
            <a:r>
              <a:rPr lang="en-US" altLang="zh-CN" sz="2400" b="1" dirty="0">
                <a:solidFill>
                  <a:srgbClr val="D4D4D4"/>
                </a:solidFill>
                <a:latin typeface="Consolas" panose="020B0609020204030204" pitchFamily="49" charset="0"/>
              </a:rPr>
              <a:t>) ? </a:t>
            </a:r>
            <a:r>
              <a:rPr lang="en-US" altLang="zh-CN" sz="2400" b="1" dirty="0">
                <a:solidFill>
                  <a:srgbClr val="9CDCFE"/>
                </a:solidFill>
                <a:latin typeface="Consolas" panose="020B0609020204030204" pitchFamily="49" charset="0"/>
              </a:rPr>
              <a:t>config</a:t>
            </a:r>
            <a:r>
              <a:rPr lang="en-US" altLang="zh-CN" sz="2400" b="1" dirty="0">
                <a:solidFill>
                  <a:srgbClr val="D4D4D4"/>
                </a:solidFill>
                <a:latin typeface="Consolas" panose="020B0609020204030204" pitchFamily="49" charset="0"/>
              </a:rPr>
              <a:t>[</a:t>
            </a:r>
            <a:r>
              <a:rPr lang="en-US" altLang="zh-CN" sz="2400" b="1" dirty="0">
                <a:solidFill>
                  <a:srgbClr val="CE9178"/>
                </a:solidFill>
                <a:latin typeface="Consolas" panose="020B0609020204030204" pitchFamily="49" charset="0"/>
              </a:rPr>
              <a:t>"message"</a:t>
            </a:r>
            <a:r>
              <a:rPr lang="en-US" altLang="zh-CN" sz="2400" b="1" dirty="0">
                <a:solidFill>
                  <a:srgbClr val="D4D4D4"/>
                </a:solidFill>
                <a:latin typeface="Consolas" panose="020B0609020204030204" pitchFamily="49" charset="0"/>
              </a:rPr>
              <a:t>] : </a:t>
            </a:r>
            <a:r>
              <a:rPr lang="en-US" altLang="zh-CN" sz="2400" b="1" dirty="0">
                <a:solidFill>
                  <a:srgbClr val="CE9178"/>
                </a:solidFill>
                <a:latin typeface="Consolas" panose="020B0609020204030204" pitchFamily="49" charset="0"/>
              </a:rPr>
              <a:t>""</a:t>
            </a:r>
            <a:r>
              <a:rPr lang="en-US" altLang="zh-CN" sz="2400" b="1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altLang="zh-CN" sz="2400" b="1" dirty="0">
                <a:solidFill>
                  <a:srgbClr val="9CDCFE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2400" b="1" dirty="0" err="1">
                <a:solidFill>
                  <a:srgbClr val="9CDCFE"/>
                </a:solidFill>
                <a:latin typeface="Consolas" panose="020B0609020204030204" pitchFamily="49" charset="0"/>
              </a:rPr>
              <a:t>kintone</a:t>
            </a:r>
            <a:r>
              <a:rPr lang="en-US" altLang="zh-CN" sz="2400" b="1" dirty="0" err="1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US" altLang="zh-CN" sz="2400" b="1" dirty="0" err="1">
                <a:solidFill>
                  <a:srgbClr val="9CDCFE"/>
                </a:solidFill>
                <a:latin typeface="Consolas" panose="020B0609020204030204" pitchFamily="49" charset="0"/>
              </a:rPr>
              <a:t>events</a:t>
            </a:r>
            <a:r>
              <a:rPr lang="en-US" altLang="zh-CN" sz="2400" b="1" dirty="0" err="1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US" altLang="zh-CN" sz="2400" b="1" dirty="0" err="1">
                <a:solidFill>
                  <a:srgbClr val="DCDCAA"/>
                </a:solidFill>
                <a:latin typeface="Consolas" panose="020B0609020204030204" pitchFamily="49" charset="0"/>
              </a:rPr>
              <a:t>on</a:t>
            </a:r>
            <a:r>
              <a:rPr lang="en-US" altLang="zh-CN" sz="2400" b="1" dirty="0">
                <a:solidFill>
                  <a:srgbClr val="D4D4D4"/>
                </a:solidFill>
                <a:latin typeface="Consolas" panose="020B0609020204030204" pitchFamily="49" charset="0"/>
              </a:rPr>
              <a:t>([</a:t>
            </a:r>
            <a:r>
              <a:rPr lang="en-US" altLang="zh-CN" sz="2400" b="1" dirty="0">
                <a:solidFill>
                  <a:srgbClr val="CE9178"/>
                </a:solidFill>
                <a:latin typeface="Consolas" panose="020B0609020204030204" pitchFamily="49" charset="0"/>
              </a:rPr>
              <a:t>'</a:t>
            </a:r>
            <a:r>
              <a:rPr lang="en-US" altLang="zh-CN" sz="2400" b="1" dirty="0" err="1">
                <a:solidFill>
                  <a:srgbClr val="CE9178"/>
                </a:solidFill>
                <a:latin typeface="Consolas" panose="020B0609020204030204" pitchFamily="49" charset="0"/>
              </a:rPr>
              <a:t>app.record.index.show</a:t>
            </a:r>
            <a:r>
              <a:rPr lang="en-US" altLang="zh-CN" sz="2400" b="1" dirty="0">
                <a:solidFill>
                  <a:srgbClr val="CE9178"/>
                </a:solidFill>
                <a:latin typeface="Consolas" panose="020B0609020204030204" pitchFamily="49" charset="0"/>
              </a:rPr>
              <a:t>'</a:t>
            </a:r>
            <a:r>
              <a:rPr lang="en-US" altLang="zh-CN" sz="2400" b="1" dirty="0">
                <a:solidFill>
                  <a:srgbClr val="D4D4D4"/>
                </a:solidFill>
                <a:latin typeface="Consolas" panose="020B0609020204030204" pitchFamily="49" charset="0"/>
              </a:rPr>
              <a:t>], </a:t>
            </a:r>
            <a:r>
              <a:rPr lang="en-US" altLang="zh-CN" sz="2400" b="1" dirty="0">
                <a:solidFill>
                  <a:srgbClr val="569CD6"/>
                </a:solidFill>
                <a:latin typeface="Consolas" panose="020B0609020204030204" pitchFamily="49" charset="0"/>
              </a:rPr>
              <a:t>function</a:t>
            </a:r>
            <a:r>
              <a:rPr lang="en-US" altLang="zh-CN" sz="2400" b="1" dirty="0">
                <a:solidFill>
                  <a:srgbClr val="D4D4D4"/>
                </a:solidFill>
                <a:latin typeface="Consolas" panose="020B0609020204030204" pitchFamily="49" charset="0"/>
              </a:rPr>
              <a:t> (</a:t>
            </a:r>
            <a:r>
              <a:rPr lang="en-US" altLang="zh-CN" sz="2400" b="1" dirty="0">
                <a:solidFill>
                  <a:srgbClr val="9CDCFE"/>
                </a:solidFill>
                <a:latin typeface="Consolas" panose="020B0609020204030204" pitchFamily="49" charset="0"/>
              </a:rPr>
              <a:t>event</a:t>
            </a:r>
            <a:r>
              <a:rPr lang="en-US" altLang="zh-CN" sz="2400" b="1" dirty="0">
                <a:solidFill>
                  <a:srgbClr val="D4D4D4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en-US" altLang="zh-CN" sz="2400" b="1" dirty="0">
                <a:solidFill>
                  <a:srgbClr val="569CD6"/>
                </a:solidFill>
                <a:latin typeface="Consolas" panose="020B0609020204030204" pitchFamily="49" charset="0"/>
              </a:rPr>
              <a:t>        var</a:t>
            </a:r>
            <a:r>
              <a:rPr lang="en-US" altLang="zh-CN" sz="2400" b="1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2400" b="1" dirty="0" err="1">
                <a:solidFill>
                  <a:srgbClr val="9CDCFE"/>
                </a:solidFill>
                <a:latin typeface="Consolas" panose="020B0609020204030204" pitchFamily="49" charset="0"/>
              </a:rPr>
              <a:t>space_element</a:t>
            </a:r>
            <a:r>
              <a:rPr lang="en-US" altLang="zh-CN" sz="2400" b="1" dirty="0">
                <a:solidFill>
                  <a:srgbClr val="D4D4D4"/>
                </a:solidFill>
                <a:latin typeface="Consolas" panose="020B0609020204030204" pitchFamily="49" charset="0"/>
              </a:rPr>
              <a:t> = </a:t>
            </a:r>
            <a:r>
              <a:rPr lang="en-US" altLang="zh-CN" sz="2400" b="1" dirty="0" err="1">
                <a:solidFill>
                  <a:srgbClr val="9CDCFE"/>
                </a:solidFill>
                <a:latin typeface="Consolas" panose="020B0609020204030204" pitchFamily="49" charset="0"/>
              </a:rPr>
              <a:t>kintone</a:t>
            </a:r>
            <a:r>
              <a:rPr lang="en-US" altLang="zh-CN" sz="2400" b="1" dirty="0" err="1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US" altLang="zh-CN" sz="2400" b="1" dirty="0" err="1">
                <a:solidFill>
                  <a:srgbClr val="9CDCFE"/>
                </a:solidFill>
                <a:latin typeface="Consolas" panose="020B0609020204030204" pitchFamily="49" charset="0"/>
              </a:rPr>
              <a:t>app</a:t>
            </a:r>
            <a:r>
              <a:rPr lang="en-US" altLang="zh-CN" sz="2400" b="1" dirty="0" err="1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US" altLang="zh-CN" sz="2400" b="1" dirty="0" err="1">
                <a:solidFill>
                  <a:srgbClr val="DCDCAA"/>
                </a:solidFill>
                <a:latin typeface="Consolas" panose="020B0609020204030204" pitchFamily="49" charset="0"/>
              </a:rPr>
              <a:t>getHeaderSpaceElement</a:t>
            </a:r>
            <a:r>
              <a:rPr lang="en-US" altLang="zh-CN" sz="2400" b="1" dirty="0">
                <a:solidFill>
                  <a:srgbClr val="D4D4D4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altLang="zh-CN" sz="2400" b="1" dirty="0">
                <a:solidFill>
                  <a:srgbClr val="569CD6"/>
                </a:solidFill>
                <a:latin typeface="Consolas" panose="020B0609020204030204" pitchFamily="49" charset="0"/>
              </a:rPr>
              <a:t>        var</a:t>
            </a:r>
            <a:r>
              <a:rPr lang="en-US" altLang="zh-CN" sz="2400" b="1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2400" b="1" dirty="0" err="1">
                <a:solidFill>
                  <a:srgbClr val="9CDCFE"/>
                </a:solidFill>
                <a:latin typeface="Consolas" panose="020B0609020204030204" pitchFamily="49" charset="0"/>
              </a:rPr>
              <a:t>newDiv</a:t>
            </a:r>
            <a:r>
              <a:rPr lang="en-US" altLang="zh-CN" sz="2400" b="1" dirty="0">
                <a:solidFill>
                  <a:srgbClr val="D4D4D4"/>
                </a:solidFill>
                <a:latin typeface="Consolas" panose="020B0609020204030204" pitchFamily="49" charset="0"/>
              </a:rPr>
              <a:t> = </a:t>
            </a:r>
            <a:r>
              <a:rPr lang="en-US" altLang="zh-CN" sz="2400" b="1" dirty="0" err="1">
                <a:solidFill>
                  <a:srgbClr val="9CDCFE"/>
                </a:solidFill>
                <a:latin typeface="Consolas" panose="020B0609020204030204" pitchFamily="49" charset="0"/>
              </a:rPr>
              <a:t>document</a:t>
            </a:r>
            <a:r>
              <a:rPr lang="en-US" altLang="zh-CN" sz="2400" b="1" dirty="0" err="1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US" altLang="zh-CN" sz="2400" b="1" dirty="0" err="1">
                <a:solidFill>
                  <a:srgbClr val="DCDCAA"/>
                </a:solidFill>
                <a:latin typeface="Consolas" panose="020B0609020204030204" pitchFamily="49" charset="0"/>
              </a:rPr>
              <a:t>createElement</a:t>
            </a:r>
            <a:r>
              <a:rPr lang="en-US" altLang="zh-CN" sz="2400" b="1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2400" b="1" dirty="0">
                <a:solidFill>
                  <a:srgbClr val="CE9178"/>
                </a:solidFill>
                <a:latin typeface="Consolas" panose="020B0609020204030204" pitchFamily="49" charset="0"/>
              </a:rPr>
              <a:t>"div"</a:t>
            </a:r>
            <a:r>
              <a:rPr lang="en-US" altLang="zh-CN" sz="2400" b="1" dirty="0">
                <a:solidFill>
                  <a:srgbClr val="D4D4D4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altLang="zh-CN" sz="2400" b="1" dirty="0">
                <a:solidFill>
                  <a:srgbClr val="9CDCFE"/>
                </a:solidFill>
                <a:latin typeface="Consolas" panose="020B0609020204030204" pitchFamily="49" charset="0"/>
              </a:rPr>
              <a:t>        </a:t>
            </a:r>
            <a:r>
              <a:rPr lang="en-US" altLang="zh-CN" sz="2400" b="1" dirty="0" err="1">
                <a:solidFill>
                  <a:srgbClr val="9CDCFE"/>
                </a:solidFill>
                <a:latin typeface="Consolas" panose="020B0609020204030204" pitchFamily="49" charset="0"/>
              </a:rPr>
              <a:t>newDiv</a:t>
            </a:r>
            <a:r>
              <a:rPr lang="en-US" altLang="zh-CN" sz="2400" b="1" dirty="0" err="1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US" altLang="zh-CN" sz="2400" b="1" dirty="0" err="1">
                <a:solidFill>
                  <a:srgbClr val="DCDCAA"/>
                </a:solidFill>
                <a:latin typeface="Consolas" panose="020B0609020204030204" pitchFamily="49" charset="0"/>
              </a:rPr>
              <a:t>appendChild</a:t>
            </a:r>
            <a:r>
              <a:rPr lang="en-US" altLang="zh-CN" sz="2400" b="1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2400" b="1" dirty="0" err="1">
                <a:solidFill>
                  <a:srgbClr val="9CDCFE"/>
                </a:solidFill>
                <a:latin typeface="Consolas" panose="020B0609020204030204" pitchFamily="49" charset="0"/>
              </a:rPr>
              <a:t>document</a:t>
            </a:r>
            <a:r>
              <a:rPr lang="en-US" altLang="zh-CN" sz="2400" b="1" dirty="0" err="1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US" altLang="zh-CN" sz="2400" b="1" dirty="0" err="1">
                <a:solidFill>
                  <a:srgbClr val="DCDCAA"/>
                </a:solidFill>
                <a:latin typeface="Consolas" panose="020B0609020204030204" pitchFamily="49" charset="0"/>
              </a:rPr>
              <a:t>createTextNode</a:t>
            </a:r>
            <a:r>
              <a:rPr lang="en-US" altLang="zh-CN" sz="2400" b="1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2400" b="1" dirty="0">
                <a:solidFill>
                  <a:srgbClr val="9CDCFE"/>
                </a:solidFill>
                <a:latin typeface="Consolas" panose="020B0609020204030204" pitchFamily="49" charset="0"/>
              </a:rPr>
              <a:t>msg</a:t>
            </a:r>
            <a:r>
              <a:rPr lang="en-US" altLang="zh-CN" sz="2400" b="1" dirty="0">
                <a:solidFill>
                  <a:srgbClr val="D4D4D4"/>
                </a:solidFill>
                <a:latin typeface="Consolas" panose="020B0609020204030204" pitchFamily="49" charset="0"/>
              </a:rPr>
              <a:t>));</a:t>
            </a:r>
          </a:p>
          <a:p>
            <a:r>
              <a:rPr lang="en-US" altLang="zh-CN" sz="2400" b="1" dirty="0">
                <a:solidFill>
                  <a:srgbClr val="9CDCFE"/>
                </a:solidFill>
                <a:latin typeface="Consolas" panose="020B0609020204030204" pitchFamily="49" charset="0"/>
              </a:rPr>
              <a:t>        </a:t>
            </a:r>
            <a:r>
              <a:rPr lang="en-US" altLang="zh-CN" sz="2400" b="1" dirty="0" err="1">
                <a:solidFill>
                  <a:srgbClr val="9CDCFE"/>
                </a:solidFill>
                <a:latin typeface="Consolas" panose="020B0609020204030204" pitchFamily="49" charset="0"/>
              </a:rPr>
              <a:t>space_element</a:t>
            </a:r>
            <a:r>
              <a:rPr lang="en-US" altLang="zh-CN" sz="2400" b="1" dirty="0" err="1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US" altLang="zh-CN" sz="2400" b="1" dirty="0" err="1">
                <a:solidFill>
                  <a:srgbClr val="DCDCAA"/>
                </a:solidFill>
                <a:latin typeface="Consolas" panose="020B0609020204030204" pitchFamily="49" charset="0"/>
              </a:rPr>
              <a:t>appendChild</a:t>
            </a:r>
            <a:r>
              <a:rPr lang="en-US" altLang="zh-CN" sz="2400" b="1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2400" b="1" dirty="0" err="1">
                <a:solidFill>
                  <a:srgbClr val="9CDCFE"/>
                </a:solidFill>
                <a:latin typeface="Consolas" panose="020B0609020204030204" pitchFamily="49" charset="0"/>
              </a:rPr>
              <a:t>newDiv</a:t>
            </a:r>
            <a:r>
              <a:rPr lang="en-US" altLang="zh-CN" sz="2400" b="1" dirty="0">
                <a:solidFill>
                  <a:srgbClr val="D4D4D4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altLang="zh-CN" sz="2400" b="1" dirty="0">
                <a:solidFill>
                  <a:srgbClr val="D4D4D4"/>
                </a:solidFill>
                <a:latin typeface="Consolas" panose="020B0609020204030204" pitchFamily="49" charset="0"/>
              </a:rPr>
              <a:t>    });</a:t>
            </a:r>
          </a:p>
          <a:p>
            <a:r>
              <a:rPr lang="en-US" altLang="zh-CN" sz="2400" b="1" dirty="0">
                <a:solidFill>
                  <a:srgbClr val="D4D4D4"/>
                </a:solidFill>
                <a:latin typeface="Consolas" panose="020B0609020204030204" pitchFamily="49" charset="0"/>
              </a:rPr>
              <a:t>})(</a:t>
            </a:r>
            <a:r>
              <a:rPr lang="en-US" altLang="zh-CN" sz="2400" b="1" dirty="0" err="1">
                <a:solidFill>
                  <a:srgbClr val="9CDCFE"/>
                </a:solidFill>
                <a:latin typeface="Consolas" panose="020B0609020204030204" pitchFamily="49" charset="0"/>
              </a:rPr>
              <a:t>kintone</a:t>
            </a:r>
            <a:r>
              <a:rPr lang="en-US" altLang="zh-CN" sz="2400" b="1" dirty="0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US" altLang="zh-CN" sz="2400" b="1" dirty="0">
                <a:solidFill>
                  <a:srgbClr val="9CDCFE"/>
                </a:solidFill>
                <a:latin typeface="Consolas" panose="020B0609020204030204" pitchFamily="49" charset="0"/>
              </a:rPr>
              <a:t>$PLUGIN_ID</a:t>
            </a:r>
            <a:r>
              <a:rPr lang="en-US" altLang="zh-CN" sz="2400" b="1" dirty="0">
                <a:solidFill>
                  <a:srgbClr val="D4D4D4"/>
                </a:solidFill>
                <a:latin typeface="Consolas" panose="020B0609020204030204" pitchFamily="49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160478093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>
            <a:extLst>
              <a:ext uri="{FF2B5EF4-FFF2-40B4-BE49-F238E27FC236}">
                <a16:creationId xmlns:a16="http://schemas.microsoft.com/office/drawing/2014/main" id="{5DCDD2D9-C1F4-43EC-9CBA-1A70D1FE11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9034" y="2967981"/>
            <a:ext cx="2558243" cy="1325563"/>
          </a:xfrm>
        </p:spPr>
        <p:txBody>
          <a:bodyPr/>
          <a:lstStyle/>
          <a:p>
            <a:r>
              <a:rPr lang="zh-CN" altLang="en-US" dirty="0"/>
              <a:t>打包插件</a:t>
            </a:r>
          </a:p>
        </p:txBody>
      </p:sp>
    </p:spTree>
    <p:extLst>
      <p:ext uri="{BB962C8B-B14F-4D97-AF65-F5344CB8AC3E}">
        <p14:creationId xmlns:p14="http://schemas.microsoft.com/office/powerpoint/2010/main" val="33267122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535968-5728-454F-A3B1-C1EB2B6A5B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plugin-packer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B753295-24CD-4F74-A0D5-E2A06664BF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它是一个</a:t>
            </a:r>
            <a:r>
              <a:rPr lang="en-US" altLang="zh-CN" dirty="0"/>
              <a:t>CLI</a:t>
            </a:r>
            <a:r>
              <a:rPr lang="zh-CN" altLang="en-US" dirty="0"/>
              <a:t>工具，可以打包到插件目录并为插件生成一个</a:t>
            </a:r>
            <a:r>
              <a:rPr lang="en-US" altLang="zh-CN" dirty="0"/>
              <a:t>zip</a:t>
            </a:r>
            <a:r>
              <a:rPr lang="zh-CN" altLang="en-US" dirty="0"/>
              <a:t>文件。</a:t>
            </a:r>
          </a:p>
          <a:p>
            <a:r>
              <a:rPr lang="zh-CN" altLang="en-US" dirty="0"/>
              <a:t>因为它支持</a:t>
            </a:r>
            <a:r>
              <a:rPr lang="en-US" altLang="zh-CN" dirty="0" err="1"/>
              <a:t>npm</a:t>
            </a:r>
            <a:r>
              <a:rPr lang="zh-CN" altLang="en-US" dirty="0"/>
              <a:t>，所以它可以在</a:t>
            </a:r>
            <a:r>
              <a:rPr lang="en-US" altLang="zh-CN" dirty="0"/>
              <a:t>Windows / macOS / Linux</a:t>
            </a:r>
            <a:r>
              <a:rPr lang="zh-CN" altLang="en-US" dirty="0"/>
              <a:t>的任何环境中轻松执行。</a:t>
            </a:r>
          </a:p>
          <a:p>
            <a:r>
              <a:rPr lang="zh-CN" altLang="en-US" dirty="0"/>
              <a:t>源代码可在</a:t>
            </a:r>
            <a:r>
              <a:rPr lang="en-US" altLang="zh-CN" dirty="0">
                <a:hlinkClick r:id="rId2"/>
              </a:rPr>
              <a:t>GitHub</a:t>
            </a:r>
            <a:r>
              <a:rPr lang="zh-CN" altLang="en-US" dirty="0">
                <a:hlinkClick r:id="rId2"/>
              </a:rPr>
              <a:t>上获得</a:t>
            </a:r>
            <a:r>
              <a:rPr lang="zh-CN" altLang="en-US" dirty="0"/>
              <a:t>。</a:t>
            </a:r>
          </a:p>
          <a:p>
            <a:r>
              <a:rPr lang="en-US" altLang="zh-CN" dirty="0"/>
              <a:t>※</a:t>
            </a:r>
            <a:r>
              <a:rPr lang="zh-CN" altLang="en-US" dirty="0"/>
              <a:t>使用此工具时，</a:t>
            </a:r>
            <a:r>
              <a:rPr lang="en-US" altLang="zh-CN" dirty="0"/>
              <a:t>Node</a:t>
            </a:r>
            <a:r>
              <a:rPr lang="zh-CN" altLang="en-US" dirty="0"/>
              <a:t>的版本需要为</a:t>
            </a:r>
            <a:r>
              <a:rPr lang="en-US" altLang="zh-CN" dirty="0"/>
              <a:t>6</a:t>
            </a:r>
            <a:r>
              <a:rPr lang="zh-CN" altLang="en-US" dirty="0"/>
              <a:t>或更多。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8012351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25545C9D-444F-45EA-B379-D5409C65F89A}"/>
              </a:ext>
            </a:extLst>
          </p:cNvPr>
          <p:cNvSpPr txBox="1">
            <a:spLocks/>
          </p:cNvSpPr>
          <p:nvPr/>
        </p:nvSpPr>
        <p:spPr>
          <a:xfrm>
            <a:off x="838200" y="1585119"/>
            <a:ext cx="10515600" cy="5580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zh-CN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690A6A3-B6BE-42AA-B3CB-393F8E8EC73A}"/>
              </a:ext>
            </a:extLst>
          </p:cNvPr>
          <p:cNvSpPr/>
          <p:nvPr/>
        </p:nvSpPr>
        <p:spPr>
          <a:xfrm>
            <a:off x="1260231" y="976679"/>
            <a:ext cx="8639909" cy="53347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lang="en-US" altLang="zh-CN" sz="2800" b="1" dirty="0">
                <a:latin typeface="Source Code Pro"/>
              </a:rPr>
              <a:t>Installation</a:t>
            </a:r>
          </a:p>
          <a:p>
            <a:r>
              <a:rPr lang="en-US" altLang="zh-CN" sz="2400" dirty="0">
                <a:latin typeface="Source Code Pro"/>
              </a:rPr>
              <a:t>  </a:t>
            </a:r>
            <a:r>
              <a:rPr lang="en-US" altLang="zh-CN" sz="2400" dirty="0" err="1">
                <a:latin typeface="Source Code Pro"/>
              </a:rPr>
              <a:t>npm</a:t>
            </a:r>
            <a:r>
              <a:rPr lang="en-US" altLang="zh-CN" sz="2400" dirty="0">
                <a:latin typeface="Source Code Pro"/>
              </a:rPr>
              <a:t> install -g @</a:t>
            </a:r>
            <a:r>
              <a:rPr lang="en-US" altLang="zh-CN" sz="2400" dirty="0" err="1">
                <a:latin typeface="Source Code Pro"/>
              </a:rPr>
              <a:t>kintone</a:t>
            </a:r>
            <a:r>
              <a:rPr lang="en-US" altLang="zh-CN" sz="2400" dirty="0">
                <a:latin typeface="Source Code Pro"/>
              </a:rPr>
              <a:t>/plugin-packer</a:t>
            </a:r>
            <a:endParaRPr lang="en-US" altLang="ja-JP" sz="2800" b="1" dirty="0">
              <a:latin typeface="Source Code Pro"/>
            </a:endParaRPr>
          </a:p>
          <a:p>
            <a:endParaRPr lang="en-US" altLang="ja-JP" sz="2800" b="1" dirty="0">
              <a:latin typeface="Source Code Pro"/>
            </a:endParaRPr>
          </a:p>
          <a:p>
            <a:pPr>
              <a:spcAft>
                <a:spcPts val="1000"/>
              </a:spcAft>
            </a:pPr>
            <a:r>
              <a:rPr lang="en-US" altLang="ja-JP" sz="2800" b="1" dirty="0">
                <a:latin typeface="Source Code Pro"/>
              </a:rPr>
              <a:t>Sample </a:t>
            </a:r>
            <a:r>
              <a:rPr lang="en-US" altLang="zh-CN" sz="2800" b="1" dirty="0">
                <a:latin typeface="Source Code Pro"/>
              </a:rPr>
              <a:t>command</a:t>
            </a:r>
            <a:endParaRPr lang="en-US" altLang="ja-JP" sz="2800" b="1" dirty="0">
              <a:latin typeface="Source Code Pro"/>
            </a:endParaRPr>
          </a:p>
          <a:p>
            <a:r>
              <a:rPr lang="en-US" altLang="ja-JP" sz="2400" dirty="0">
                <a:latin typeface="Source Code Pro"/>
              </a:rPr>
              <a:t>1. </a:t>
            </a:r>
            <a:r>
              <a:rPr lang="en-US" altLang="ja-JP" sz="2400" dirty="0" err="1">
                <a:latin typeface="Source Code Pro"/>
              </a:rPr>
              <a:t>kintone</a:t>
            </a:r>
            <a:r>
              <a:rPr lang="en-US" altLang="ja-JP" sz="2400" dirty="0">
                <a:latin typeface="Source Code Pro"/>
              </a:rPr>
              <a:t>-plugin-packer "E:\kintone_plugin_sample\sample"</a:t>
            </a:r>
          </a:p>
          <a:p>
            <a:endParaRPr lang="en-US" altLang="ja-JP" sz="2400" dirty="0">
              <a:latin typeface="Source Code Pro"/>
            </a:endParaRPr>
          </a:p>
          <a:p>
            <a:r>
              <a:rPr lang="en-US" altLang="ja-JP" sz="2400" dirty="0">
                <a:latin typeface="Source Code Pro"/>
              </a:rPr>
              <a:t>2. </a:t>
            </a:r>
            <a:r>
              <a:rPr lang="en-US" altLang="ja-JP" sz="2400" dirty="0" err="1">
                <a:latin typeface="Source Code Pro"/>
              </a:rPr>
              <a:t>kintone</a:t>
            </a:r>
            <a:r>
              <a:rPr lang="en-US" altLang="ja-JP" sz="2400" dirty="0">
                <a:latin typeface="Source Code Pro"/>
              </a:rPr>
              <a:t>-plugin-packer "E:\kintone_plugin_sample\sample"</a:t>
            </a:r>
          </a:p>
          <a:p>
            <a:r>
              <a:rPr lang="en-US" altLang="ja-JP" sz="2400">
                <a:latin typeface="Source Code Pro"/>
              </a:rPr>
              <a:t>     -</a:t>
            </a:r>
            <a:r>
              <a:rPr lang="en-US" altLang="ja-JP" sz="2400" dirty="0">
                <a:latin typeface="Source Code Pro"/>
              </a:rPr>
              <a:t>out "E:\kintone_plugin_sample\plugin\sample.zip"</a:t>
            </a:r>
          </a:p>
          <a:p>
            <a:r>
              <a:rPr lang="en-US" altLang="ja-JP" sz="2400" dirty="0">
                <a:latin typeface="Source Code Pro"/>
              </a:rPr>
              <a:t>     -</a:t>
            </a:r>
            <a:r>
              <a:rPr lang="en-US" altLang="ja-JP" sz="2400" dirty="0" err="1">
                <a:latin typeface="Source Code Pro"/>
              </a:rPr>
              <a:t>ppk</a:t>
            </a:r>
            <a:r>
              <a:rPr lang="en-US" altLang="ja-JP" sz="2400" dirty="0">
                <a:latin typeface="Source Code Pro"/>
              </a:rPr>
              <a:t> "E:\kintone_plugin_sample\plugin\sample.ppk"</a:t>
            </a:r>
          </a:p>
        </p:txBody>
      </p:sp>
    </p:spTree>
    <p:extLst>
      <p:ext uri="{BB962C8B-B14F-4D97-AF65-F5344CB8AC3E}">
        <p14:creationId xmlns:p14="http://schemas.microsoft.com/office/powerpoint/2010/main" val="86951981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BF99EE-F990-4691-8527-5A8ED346D7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Web</a:t>
            </a:r>
            <a:r>
              <a:rPr lang="zh-CN" altLang="en-US" b="1" dirty="0"/>
              <a:t>版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E2AAA61-984D-42E2-A5A7-33CEF2FB96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505732" cy="4351338"/>
          </a:xfrm>
        </p:spPr>
        <p:txBody>
          <a:bodyPr>
            <a:normAutofit/>
          </a:bodyPr>
          <a:lstStyle/>
          <a:p>
            <a:r>
              <a:rPr lang="zh-CN" altLang="en-US" sz="2400" dirty="0"/>
              <a:t>还有一个</a:t>
            </a:r>
            <a:r>
              <a:rPr lang="zh-CN" altLang="en-US" sz="2400" b="1" dirty="0"/>
              <a:t>用于</a:t>
            </a:r>
            <a:r>
              <a:rPr lang="en-US" altLang="zh-CN" sz="2400" b="1" dirty="0"/>
              <a:t>Web</a:t>
            </a:r>
            <a:r>
              <a:rPr lang="zh-CN" altLang="en-US" sz="2400" b="1" dirty="0"/>
              <a:t>的插件包装器 </a:t>
            </a:r>
            <a:r>
              <a:rPr lang="zh-CN" altLang="en-US" sz="2400" dirty="0"/>
              <a:t>，可以通过拖放每个目录的</a:t>
            </a:r>
            <a:r>
              <a:rPr lang="en-US" altLang="zh-CN" sz="2400" dirty="0" err="1"/>
              <a:t>src</a:t>
            </a:r>
            <a:r>
              <a:rPr lang="zh-CN" altLang="en-US" sz="2400" dirty="0"/>
              <a:t>目录来打包  。</a:t>
            </a:r>
            <a:endParaRPr lang="en-US" altLang="zh-CN" sz="2400" dirty="0"/>
          </a:p>
          <a:p>
            <a:endParaRPr lang="en-US" altLang="zh-CN" sz="2400" dirty="0">
              <a:hlinkClick r:id="rId2"/>
            </a:endParaRPr>
          </a:p>
          <a:p>
            <a:pPr marL="0" indent="0">
              <a:buNone/>
            </a:pPr>
            <a:r>
              <a:rPr lang="en-US" altLang="zh-CN" sz="2400" dirty="0">
                <a:hlinkClick r:id="rId2"/>
              </a:rPr>
              <a:t>https://kintone.github.io/plugin-packer/</a:t>
            </a:r>
            <a:endParaRPr lang="zh-CN" altLang="en-US" sz="2400" dirty="0"/>
          </a:p>
        </p:txBody>
      </p:sp>
      <p:pic>
        <p:nvPicPr>
          <p:cNvPr id="5" name="图片 4" descr="图片包含 屏幕截图&#10;&#10;描述已自动生成">
            <a:extLst>
              <a:ext uri="{FF2B5EF4-FFF2-40B4-BE49-F238E27FC236}">
                <a16:creationId xmlns:a16="http://schemas.microsoft.com/office/drawing/2014/main" id="{E6F63376-FE28-451F-B609-7171F5E178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4577" y="1456167"/>
            <a:ext cx="5625487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666235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3807C8-923B-426B-B0E3-B6681F17B8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导入</a:t>
            </a:r>
            <a:endParaRPr lang="zh-CN" altLang="en-US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652E809-E3CE-4CF2-952D-FDC46EA2EDF6}"/>
              </a:ext>
            </a:extLst>
          </p:cNvPr>
          <p:cNvSpPr/>
          <p:nvPr/>
        </p:nvSpPr>
        <p:spPr>
          <a:xfrm>
            <a:off x="741948" y="1562491"/>
            <a:ext cx="822960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lang="zh-CN" altLang="en-US" sz="2000" b="1" dirty="0">
                <a:latin typeface="Source Code Pro"/>
              </a:rPr>
              <a:t>业务云系统管理 </a:t>
            </a:r>
            <a:r>
              <a:rPr lang="en-US" altLang="zh-CN" sz="2000" b="1" dirty="0">
                <a:latin typeface="Source Code Pro"/>
              </a:rPr>
              <a:t>&gt; </a:t>
            </a:r>
            <a:r>
              <a:rPr lang="zh-CN" altLang="en-US" sz="2000" b="1" dirty="0">
                <a:latin typeface="Source Code Pro"/>
              </a:rPr>
              <a:t>插件</a:t>
            </a:r>
            <a:endParaRPr lang="en-US" altLang="zh-CN" sz="2000" b="1" dirty="0">
              <a:latin typeface="Source Code Pro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C05E44C-EF06-40AE-B868-D7192C5543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0057" y="2170696"/>
            <a:ext cx="6695518" cy="4322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535308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>
            <a:extLst>
              <a:ext uri="{FF2B5EF4-FFF2-40B4-BE49-F238E27FC236}">
                <a16:creationId xmlns:a16="http://schemas.microsoft.com/office/drawing/2014/main" id="{B1F9ABA1-EFBB-436E-AD5A-CA4C682680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Others</a:t>
            </a:r>
          </a:p>
        </p:txBody>
      </p:sp>
      <p:sp>
        <p:nvSpPr>
          <p:cNvPr id="13" name="内容占位符 2">
            <a:extLst>
              <a:ext uri="{FF2B5EF4-FFF2-40B4-BE49-F238E27FC236}">
                <a16:creationId xmlns:a16="http://schemas.microsoft.com/office/drawing/2014/main" id="{32238488-0325-4522-8501-105D53C0F2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5119"/>
            <a:ext cx="10515600" cy="558006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 err="1"/>
              <a:t>Cybozu</a:t>
            </a:r>
            <a:r>
              <a:rPr lang="en-US" altLang="zh-CN" dirty="0"/>
              <a:t> CDN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DFC90C3-17EE-4C7A-82A2-9115876279B3}"/>
              </a:ext>
            </a:extLst>
          </p:cNvPr>
          <p:cNvSpPr/>
          <p:nvPr/>
        </p:nvSpPr>
        <p:spPr>
          <a:xfrm>
            <a:off x="838201" y="2295525"/>
            <a:ext cx="10848974" cy="34470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提供了各种可使用的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JS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CSS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库，具体可参考开发者网站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例： </a:t>
            </a:r>
            <a:r>
              <a:rPr lang="en-US" altLang="zh-CN" sz="2800" dirty="0" err="1"/>
              <a:t>manifest.json</a:t>
            </a:r>
            <a:endParaRPr lang="en-US" altLang="zh-CN" sz="2800" dirty="0"/>
          </a:p>
          <a:p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2400" dirty="0">
                <a:solidFill>
                  <a:srgbClr val="660E7A"/>
                </a:solidFill>
                <a:latin typeface="Arial Unicode MS"/>
                <a:ea typeface="Source Code Pro"/>
              </a:rPr>
              <a:t>"config"</a:t>
            </a:r>
            <a:r>
              <a:rPr lang="zh-CN" altLang="zh-CN" sz="2400" dirty="0">
                <a:solidFill>
                  <a:srgbClr val="000000"/>
                </a:solidFill>
                <a:latin typeface="Arial Unicode MS"/>
                <a:ea typeface="Source Code Pro"/>
              </a:rPr>
              <a:t>: {</a:t>
            </a:r>
            <a:br>
              <a:rPr lang="zh-CN" altLang="zh-CN" sz="2400" dirty="0">
                <a:solidFill>
                  <a:srgbClr val="000000"/>
                </a:solidFill>
                <a:latin typeface="Arial Unicode MS"/>
                <a:ea typeface="Source Code Pro"/>
              </a:rPr>
            </a:br>
            <a:r>
              <a:rPr lang="zh-CN" altLang="zh-CN" sz="2400" dirty="0">
                <a:solidFill>
                  <a:srgbClr val="000000"/>
                </a:solidFill>
                <a:latin typeface="Arial Unicode MS"/>
                <a:ea typeface="Source Code Pro"/>
              </a:rPr>
              <a:t>  </a:t>
            </a:r>
            <a:r>
              <a:rPr lang="zh-CN" altLang="zh-CN" sz="2400" dirty="0">
                <a:solidFill>
                  <a:srgbClr val="660E7A"/>
                </a:solidFill>
                <a:latin typeface="Arial Unicode MS"/>
                <a:ea typeface="Source Code Pro"/>
              </a:rPr>
              <a:t>"js"</a:t>
            </a:r>
            <a:r>
              <a:rPr lang="zh-CN" altLang="zh-CN" sz="2400" dirty="0">
                <a:solidFill>
                  <a:srgbClr val="000000"/>
                </a:solidFill>
                <a:latin typeface="Arial Unicode MS"/>
                <a:ea typeface="Source Code Pro"/>
              </a:rPr>
              <a:t>: [</a:t>
            </a:r>
            <a:br>
              <a:rPr lang="zh-CN" altLang="zh-CN" sz="2400" dirty="0">
                <a:solidFill>
                  <a:srgbClr val="000000"/>
                </a:solidFill>
                <a:latin typeface="Arial Unicode MS"/>
                <a:ea typeface="Source Code Pro"/>
              </a:rPr>
            </a:br>
            <a:r>
              <a:rPr lang="zh-CN" altLang="zh-CN" sz="2400" dirty="0">
                <a:solidFill>
                  <a:srgbClr val="000000"/>
                </a:solidFill>
                <a:latin typeface="Arial Unicode MS"/>
                <a:ea typeface="Source Code Pro"/>
              </a:rPr>
              <a:t>    </a:t>
            </a:r>
            <a:r>
              <a:rPr lang="zh-CN" altLang="zh-CN" sz="2400" dirty="0">
                <a:solidFill>
                  <a:srgbClr val="008000"/>
                </a:solidFill>
                <a:latin typeface="Arial Unicode MS"/>
                <a:ea typeface="Source Code Pro"/>
              </a:rPr>
              <a:t>"https://js.cybozu.com/jquery/3.3.1/jquery.min.js"</a:t>
            </a:r>
            <a:r>
              <a:rPr lang="zh-CN" altLang="zh-CN" sz="2400" dirty="0">
                <a:solidFill>
                  <a:srgbClr val="000000"/>
                </a:solidFill>
                <a:latin typeface="Arial Unicode MS"/>
                <a:ea typeface="Source Code Pro"/>
              </a:rPr>
              <a:t>,</a:t>
            </a:r>
            <a:br>
              <a:rPr lang="zh-CN" altLang="zh-CN" sz="2400" dirty="0">
                <a:solidFill>
                  <a:srgbClr val="000000"/>
                </a:solidFill>
                <a:latin typeface="Arial Unicode MS"/>
                <a:ea typeface="Source Code Pro"/>
              </a:rPr>
            </a:br>
            <a:r>
              <a:rPr lang="zh-CN" altLang="zh-CN" sz="2400" dirty="0">
                <a:solidFill>
                  <a:srgbClr val="000000"/>
                </a:solidFill>
                <a:latin typeface="Arial Unicode MS"/>
                <a:ea typeface="Source Code Pro"/>
              </a:rPr>
              <a:t>    </a:t>
            </a:r>
            <a:r>
              <a:rPr lang="zh-CN" altLang="zh-CN" sz="2400" dirty="0">
                <a:solidFill>
                  <a:srgbClr val="008000"/>
                </a:solidFill>
                <a:latin typeface="Arial Unicode MS"/>
                <a:ea typeface="Source Code Pro"/>
              </a:rPr>
              <a:t>"https://js.cybozu.com/jsrender/0.9.91/jsrender.min.js"</a:t>
            </a:r>
            <a:br>
              <a:rPr lang="zh-CN" altLang="zh-CN" sz="2400" dirty="0">
                <a:solidFill>
                  <a:srgbClr val="008000"/>
                </a:solidFill>
                <a:latin typeface="Arial Unicode MS"/>
                <a:ea typeface="Source Code Pro"/>
              </a:rPr>
            </a:br>
            <a:r>
              <a:rPr lang="zh-CN" altLang="zh-CN" sz="2400" dirty="0">
                <a:solidFill>
                  <a:srgbClr val="008000"/>
                </a:solidFill>
                <a:latin typeface="Arial Unicode MS"/>
                <a:ea typeface="Source Code Pro"/>
              </a:rPr>
              <a:t>  </a:t>
            </a:r>
            <a:r>
              <a:rPr lang="zh-CN" altLang="zh-CN" sz="2400" dirty="0">
                <a:solidFill>
                  <a:srgbClr val="000000"/>
                </a:solidFill>
                <a:latin typeface="Arial Unicode MS"/>
                <a:ea typeface="Source Code Pro"/>
              </a:rPr>
              <a:t>]</a:t>
            </a:r>
            <a:endParaRPr lang="en-US" altLang="zh-CN" sz="2400" dirty="0">
              <a:solidFill>
                <a:srgbClr val="000000"/>
              </a:solidFill>
              <a:latin typeface="Arial Unicode MS"/>
              <a:ea typeface="Source Code Pro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400" dirty="0">
                <a:solidFill>
                  <a:srgbClr val="000000"/>
                </a:solidFill>
                <a:latin typeface="Arial Unicode MS"/>
              </a:rPr>
              <a:t>}</a:t>
            </a:r>
            <a:endParaRPr lang="zh-CN" altLang="zh-CN" sz="6600" dirty="0">
              <a:latin typeface="Arial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BD48FD9-3BB9-41A9-A829-E056964977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713247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4B2C4077-E7B6-4D0E-8810-4B01794C5D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5350" y="2016506"/>
            <a:ext cx="10458450" cy="5849541"/>
          </a:xfrm>
        </p:spPr>
        <p:txBody>
          <a:bodyPr>
            <a:noAutofit/>
          </a:bodyPr>
          <a:lstStyle/>
          <a:p>
            <a:pPr marL="457200" indent="-457200">
              <a:buAutoNum type="arabicPeriod"/>
            </a:pPr>
            <a:r>
              <a:rPr lang="en-US" altLang="zh-CN" dirty="0" err="1"/>
              <a:t>kintone</a:t>
            </a:r>
            <a:r>
              <a:rPr lang="en-US" altLang="zh-CN" dirty="0"/>
              <a:t> </a:t>
            </a:r>
            <a:r>
              <a:rPr lang="zh-CN" altLang="en-US" dirty="0"/>
              <a:t>插件开发流程</a:t>
            </a:r>
            <a:br>
              <a:rPr lang="en-US" altLang="zh-CN" dirty="0"/>
            </a:br>
            <a:r>
              <a:rPr lang="en-US" altLang="zh-CN" dirty="0" err="1"/>
              <a:t>zh</a:t>
            </a:r>
            <a:r>
              <a:rPr lang="en-US" altLang="zh-CN" dirty="0"/>
              <a:t>: https://cybozudev.kf5.com/hc/kb/article/1000664/</a:t>
            </a:r>
            <a:br>
              <a:rPr lang="en-US" altLang="zh-CN" dirty="0"/>
            </a:br>
            <a:endParaRPr lang="en-US" altLang="zh-CN" dirty="0"/>
          </a:p>
          <a:p>
            <a:pPr marL="457200" indent="-457200">
              <a:buAutoNum type="arabicPeriod"/>
            </a:pPr>
            <a:r>
              <a:rPr lang="zh-CN" altLang="en-US" dirty="0"/>
              <a:t>样式表</a:t>
            </a:r>
            <a:br>
              <a:rPr lang="en-US" altLang="zh-CN" dirty="0"/>
            </a:br>
            <a:r>
              <a:rPr lang="en-US" altLang="zh-CN" dirty="0"/>
              <a:t>https://cybozudev.kf5.com/hc/kb/article/1001101/</a:t>
            </a:r>
            <a:br>
              <a:rPr lang="en-US" altLang="zh-CN" dirty="0"/>
            </a:br>
            <a:br>
              <a:rPr lang="en-US" altLang="zh-CN" dirty="0"/>
            </a:br>
            <a:endParaRPr lang="en-US" altLang="zh-CN" dirty="0"/>
          </a:p>
          <a:p>
            <a:pPr marL="457200" indent="-457200">
              <a:buAutoNum type="arabicPeriod"/>
            </a:pPr>
            <a:r>
              <a:rPr lang="en-US" altLang="zh-CN" dirty="0" err="1"/>
              <a:t>Cybozu</a:t>
            </a:r>
            <a:r>
              <a:rPr lang="en-US" altLang="zh-CN" dirty="0"/>
              <a:t> CDN</a:t>
            </a:r>
            <a:br>
              <a:rPr lang="en-US" altLang="zh-CN" dirty="0"/>
            </a:br>
            <a:r>
              <a:rPr lang="en-US" altLang="zh-CN" dirty="0"/>
              <a:t>https://cybozudev.kf5.com/hc/kb/article/206405/</a:t>
            </a:r>
            <a:br>
              <a:rPr lang="en-US" altLang="zh-CN" sz="1600" dirty="0"/>
            </a:br>
            <a:endParaRPr lang="en-US" altLang="zh-CN" sz="1600" dirty="0"/>
          </a:p>
        </p:txBody>
      </p:sp>
      <p:sp>
        <p:nvSpPr>
          <p:cNvPr id="5" name="标题 11">
            <a:extLst>
              <a:ext uri="{FF2B5EF4-FFF2-40B4-BE49-F238E27FC236}">
                <a16:creationId xmlns:a16="http://schemas.microsoft.com/office/drawing/2014/main" id="{E5C4663D-582E-4CDE-A679-F8EF30933D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 b="1" dirty="0"/>
              <a:t>参考</a:t>
            </a:r>
            <a:endParaRPr lang="en-US" altLang="zh-CN" b="1" dirty="0"/>
          </a:p>
        </p:txBody>
      </p:sp>
    </p:spTree>
    <p:extLst>
      <p:ext uri="{BB962C8B-B14F-4D97-AF65-F5344CB8AC3E}">
        <p14:creationId xmlns:p14="http://schemas.microsoft.com/office/powerpoint/2010/main" val="257260996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主题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9050">
          <a:solidFill>
            <a:srgbClr val="FF0000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 主题​​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3200</TotalTime>
  <Words>1568</Words>
  <Application>Microsoft Office PowerPoint</Application>
  <PresentationFormat>宽屏</PresentationFormat>
  <Paragraphs>231</Paragraphs>
  <Slides>28</Slides>
  <Notes>20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28</vt:i4>
      </vt:variant>
    </vt:vector>
  </HeadingPairs>
  <TitlesOfParts>
    <vt:vector size="39" baseType="lpstr">
      <vt:lpstr>Arial Unicode MS</vt:lpstr>
      <vt:lpstr>Source Code Pro</vt:lpstr>
      <vt:lpstr>等线</vt:lpstr>
      <vt:lpstr>Microsoft YaHei</vt:lpstr>
      <vt:lpstr>Microsoft YaHei</vt:lpstr>
      <vt:lpstr>Arial</vt:lpstr>
      <vt:lpstr>Calibri</vt:lpstr>
      <vt:lpstr>Calibri Light</vt:lpstr>
      <vt:lpstr>Consolas</vt:lpstr>
      <vt:lpstr>Office 主题</vt:lpstr>
      <vt:lpstr>think-cell Slide</vt:lpstr>
      <vt:lpstr>kintone plugin 开发</vt:lpstr>
      <vt:lpstr>什么是kintone plugin?</vt:lpstr>
      <vt:lpstr>kintone plugin的原理</vt:lpstr>
      <vt:lpstr>准备</vt:lpstr>
      <vt:lpstr>目录结构</vt:lpstr>
      <vt:lpstr>The Manifest file</vt:lpstr>
      <vt:lpstr>PowerPoint 演示文稿</vt:lpstr>
      <vt:lpstr>插件需求   式样说明 </vt:lpstr>
      <vt:lpstr>PowerPoint 演示文稿</vt:lpstr>
      <vt:lpstr>插件设置画面开发</vt:lpstr>
      <vt:lpstr>先定义mainfest.json</vt:lpstr>
      <vt:lpstr>插件设置画面   --css</vt:lpstr>
      <vt:lpstr>PowerPoint 演示文稿</vt:lpstr>
      <vt:lpstr>插件设置画面   -- html</vt:lpstr>
      <vt:lpstr>config.html</vt:lpstr>
      <vt:lpstr>插件设置画面   -- js</vt:lpstr>
      <vt:lpstr>config.js</vt:lpstr>
      <vt:lpstr>前台的自定义开发</vt:lpstr>
      <vt:lpstr>定义mainfest.json</vt:lpstr>
      <vt:lpstr>插件设置</vt:lpstr>
      <vt:lpstr>PowerPoint 演示文稿</vt:lpstr>
      <vt:lpstr>打包插件</vt:lpstr>
      <vt:lpstr>plugin-packer</vt:lpstr>
      <vt:lpstr>PowerPoint 演示文稿</vt:lpstr>
      <vt:lpstr>Web版</vt:lpstr>
      <vt:lpstr>导入</vt:lpstr>
      <vt:lpstr>Others</vt:lpstr>
      <vt:lpstr>参考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slgu@cybozu.cn</dc:creator>
  <cp:lastModifiedBy>顾 三乐</cp:lastModifiedBy>
  <cp:revision>666</cp:revision>
  <dcterms:created xsi:type="dcterms:W3CDTF">2018-11-21T08:32:31Z</dcterms:created>
  <dcterms:modified xsi:type="dcterms:W3CDTF">2019-04-02T03:41:00Z</dcterms:modified>
</cp:coreProperties>
</file>