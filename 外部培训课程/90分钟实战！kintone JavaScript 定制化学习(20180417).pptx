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312" r:id="rId2"/>
    <p:sldId id="308" r:id="rId3"/>
    <p:sldId id="314" r:id="rId4"/>
    <p:sldId id="319" r:id="rId5"/>
    <p:sldId id="296" r:id="rId6"/>
    <p:sldId id="320" r:id="rId7"/>
    <p:sldId id="321" r:id="rId8"/>
    <p:sldId id="326" r:id="rId9"/>
    <p:sldId id="327" r:id="rId10"/>
    <p:sldId id="328" r:id="rId11"/>
    <p:sldId id="329" r:id="rId12"/>
    <p:sldId id="330" r:id="rId13"/>
    <p:sldId id="332" r:id="rId14"/>
    <p:sldId id="333" r:id="rId15"/>
    <p:sldId id="334" r:id="rId16"/>
    <p:sldId id="303" r:id="rId17"/>
    <p:sldId id="337" r:id="rId18"/>
    <p:sldId id="336" r:id="rId19"/>
    <p:sldId id="338" r:id="rId20"/>
    <p:sldId id="339" r:id="rId21"/>
    <p:sldId id="340" r:id="rId22"/>
    <p:sldId id="341" r:id="rId23"/>
    <p:sldId id="342" r:id="rId24"/>
    <p:sldId id="343" r:id="rId25"/>
    <p:sldId id="297" r:id="rId26"/>
    <p:sldId id="393" r:id="rId27"/>
    <p:sldId id="346" r:id="rId28"/>
    <p:sldId id="366" r:id="rId29"/>
    <p:sldId id="367" r:id="rId30"/>
    <p:sldId id="368" r:id="rId31"/>
    <p:sldId id="369" r:id="rId32"/>
    <p:sldId id="349" r:id="rId33"/>
    <p:sldId id="350" r:id="rId34"/>
    <p:sldId id="352" r:id="rId35"/>
    <p:sldId id="377" r:id="rId36"/>
    <p:sldId id="353" r:id="rId37"/>
    <p:sldId id="382" r:id="rId38"/>
    <p:sldId id="375" r:id="rId39"/>
    <p:sldId id="397" r:id="rId40"/>
    <p:sldId id="356" r:id="rId41"/>
    <p:sldId id="355" r:id="rId42"/>
    <p:sldId id="357" r:id="rId43"/>
    <p:sldId id="383" r:id="rId44"/>
    <p:sldId id="398" r:id="rId45"/>
    <p:sldId id="358" r:id="rId46"/>
    <p:sldId id="359" r:id="rId47"/>
    <p:sldId id="399" r:id="rId48"/>
    <p:sldId id="362" r:id="rId49"/>
    <p:sldId id="360" r:id="rId50"/>
    <p:sldId id="364" r:id="rId51"/>
    <p:sldId id="370" r:id="rId52"/>
    <p:sldId id="365" r:id="rId53"/>
    <p:sldId id="363" r:id="rId54"/>
    <p:sldId id="371" r:id="rId55"/>
    <p:sldId id="373" r:id="rId56"/>
    <p:sldId id="376" r:id="rId57"/>
    <p:sldId id="374" r:id="rId58"/>
    <p:sldId id="372" r:id="rId59"/>
    <p:sldId id="378" r:id="rId60"/>
    <p:sldId id="384" r:id="rId61"/>
    <p:sldId id="379" r:id="rId62"/>
    <p:sldId id="385" r:id="rId63"/>
    <p:sldId id="386" r:id="rId64"/>
    <p:sldId id="389" r:id="rId65"/>
    <p:sldId id="387" r:id="rId66"/>
    <p:sldId id="388" r:id="rId67"/>
    <p:sldId id="390" r:id="rId68"/>
    <p:sldId id="391" r:id="rId69"/>
    <p:sldId id="392" r:id="rId70"/>
    <p:sldId id="395" r:id="rId71"/>
    <p:sldId id="394" r:id="rId7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炳霞 (Zhang BingXia)" initials="张" lastIdx="1" clrIdx="0">
    <p:extLst>
      <p:ext uri="{19B8F6BF-5375-455C-9EA6-DF929625EA0E}">
        <p15:presenceInfo xmlns:p15="http://schemas.microsoft.com/office/powerpoint/2012/main" userId="张 炳霞 (Zhang BingXi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D5F0"/>
    <a:srgbClr val="FDA907"/>
    <a:srgbClr val="F89290"/>
    <a:srgbClr val="F45450"/>
    <a:srgbClr val="62C9E2"/>
    <a:srgbClr val="FFC000"/>
    <a:srgbClr val="7DCD92"/>
    <a:srgbClr val="1A7BAE"/>
    <a:srgbClr val="4BB968"/>
    <a:srgbClr val="FBE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4816" autoAdjust="0"/>
  </p:normalViewPr>
  <p:slideViewPr>
    <p:cSldViewPr>
      <p:cViewPr varScale="1">
        <p:scale>
          <a:sx n="145" d="100"/>
          <a:sy n="145" d="100"/>
        </p:scale>
        <p:origin x="258" y="120"/>
      </p:cViewPr>
      <p:guideLst>
        <p:guide orient="horz" pos="2159"/>
        <p:guide orient="horz" pos="1053"/>
        <p:guide pos="3844"/>
        <p:guide pos="1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F9645-F9FE-4491-900C-C37B6C0B90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482002D-093B-49A6-BF0C-0A5D62524209}">
      <dgm:prSet custT="1"/>
      <dgm:spPr>
        <a:solidFill>
          <a:srgbClr val="62C9E2"/>
        </a:solidFill>
        <a:ln>
          <a:solidFill>
            <a:srgbClr val="62C9E2"/>
          </a:solidFill>
        </a:ln>
      </dgm:spPr>
      <dgm:t>
        <a:bodyPr/>
        <a:lstStyle/>
        <a:p>
          <a:r>
            <a:rPr lang="en-US" sz="1100" b="1" dirty="0"/>
            <a:t>cybozu developer network</a:t>
          </a:r>
          <a:r>
            <a:rPr lang="zh-CN" altLang="en-US" sz="1100" b="1" dirty="0"/>
            <a:t>网站</a:t>
          </a:r>
          <a:endParaRPr lang="zh-CN" sz="1100" dirty="0"/>
        </a:p>
      </dgm:t>
    </dgm:pt>
    <dgm:pt modelId="{262DD8D2-20BD-4F28-9E08-1C5A4FFB3FDC}" type="par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CDDBF1D3-3983-485F-9252-D9869C52C2E6}" type="sib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42155B44-35DF-450B-BE6E-E1659B158AC0}">
      <dgm:prSet custT="1"/>
      <dgm:spPr>
        <a:solidFill>
          <a:srgbClr val="FDA907"/>
        </a:solidFill>
        <a:ln>
          <a:solidFill>
            <a:srgbClr val="FDA907"/>
          </a:solidFill>
        </a:ln>
      </dgm:spPr>
      <dgm:t>
        <a:bodyPr/>
        <a:lstStyle/>
        <a:p>
          <a:r>
            <a:rPr lang="en-US" sz="1100" b="1" dirty="0"/>
            <a:t>kintone</a:t>
          </a:r>
          <a:r>
            <a:rPr lang="zh-CN" sz="1100" b="1" dirty="0"/>
            <a:t>中国官网</a:t>
          </a:r>
          <a:endParaRPr lang="zh-CN" altLang="en-US" sz="1100" b="1" dirty="0"/>
        </a:p>
      </dgm:t>
    </dgm:pt>
    <dgm:pt modelId="{0931BF11-F11D-408D-A2DA-0ED69C8BB422}" type="par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67F2FEA2-A8C7-4CD1-8DD4-D4A3294DC861}" type="sib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18100290-5B97-4AFC-8A09-D80AE70FBC3F}">
      <dgm:prSet custT="1"/>
      <dgm:spPr>
        <a:solidFill>
          <a:srgbClr val="4BB968"/>
        </a:solidFill>
        <a:ln>
          <a:solidFill>
            <a:srgbClr val="4BB968"/>
          </a:solidFill>
        </a:ln>
      </dgm:spPr>
      <dgm:t>
        <a:bodyPr/>
        <a:lstStyle/>
        <a:p>
          <a:r>
            <a:rPr lang="zh-CN" altLang="en-US" sz="1100" b="1" dirty="0"/>
            <a:t>微信公众号</a:t>
          </a:r>
          <a:r>
            <a:rPr lang="en-US" altLang="zh-CN" sz="1100" b="1" dirty="0"/>
            <a:t>:</a:t>
          </a:r>
          <a:r>
            <a:rPr lang="en-US" altLang="zh-CN" sz="1100" b="1" dirty="0" err="1"/>
            <a:t>cybozu</a:t>
          </a:r>
          <a:r>
            <a:rPr lang="zh-CN" altLang="en-US" sz="1100" b="1" dirty="0"/>
            <a:t>开发者网站</a:t>
          </a:r>
          <a:endParaRPr lang="zh-CN" sz="1100" dirty="0"/>
        </a:p>
      </dgm:t>
    </dgm:pt>
    <dgm:pt modelId="{2B52976E-7E3A-4D80-91A7-75A1B634D2BD}" type="sib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64E4F109-63F3-47AF-BD42-23324141CCF3}" type="par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02422081-F09A-4DEC-AEF7-16B1605DCBF3}">
      <dgm:prSet custT="1"/>
      <dgm:spPr>
        <a:solidFill>
          <a:srgbClr val="62C9E2">
            <a:alpha val="20000"/>
          </a:srgbClr>
        </a:solidFill>
        <a:ln>
          <a:solidFill>
            <a:srgbClr val="62C9E2">
              <a:alpha val="20000"/>
            </a:srgbClr>
          </a:solidFill>
        </a:ln>
      </dgm:spPr>
      <dgm:t>
        <a:bodyPr/>
        <a:lstStyle/>
        <a:p>
          <a:r>
            <a:rPr lang="en-US" sz="1100" dirty="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dirty="0">
            <a:solidFill>
              <a:srgbClr val="62C9E2"/>
            </a:solidFill>
          </a:endParaRPr>
        </a:p>
      </dgm:t>
    </dgm:pt>
    <dgm:pt modelId="{6B780937-DE71-4AE9-9D9D-6E34478E1DC9}" type="sib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10E57AA-B5B4-4092-92DF-717C287AED02}" type="par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C2F2674-385E-4623-AB26-5BF3EB642258}">
      <dgm:prSet custT="1"/>
      <dgm:spPr>
        <a:solidFill>
          <a:srgbClr val="FDA907">
            <a:alpha val="20000"/>
          </a:srgbClr>
        </a:solidFill>
        <a:ln>
          <a:solidFill>
            <a:srgbClr val="FDA907">
              <a:alpha val="20000"/>
            </a:srgbClr>
          </a:solidFill>
        </a:ln>
      </dgm:spPr>
      <dgm:t>
        <a:bodyPr/>
        <a:lstStyle/>
        <a:p>
          <a:r>
            <a:rPr lang="en-US" altLang="zh-CN" sz="11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dirty="0"/>
        </a:p>
      </dgm:t>
    </dgm:pt>
    <dgm:pt modelId="{7645FA14-CFD8-42FA-8504-3A3FC9307F1F}" type="sib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797C1B13-5A5C-41B0-96DE-C43DCAF2CB05}" type="par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A1131A92-A7E2-4E83-9E7A-4D2EA0D5E6A4}">
      <dgm:prSet custT="1"/>
      <dgm:spPr>
        <a:solidFill>
          <a:srgbClr val="4BB968">
            <a:alpha val="20000"/>
          </a:srgbClr>
        </a:solidFill>
        <a:ln>
          <a:solidFill>
            <a:srgbClr val="4BB968">
              <a:alpha val="20000"/>
            </a:srgbClr>
          </a:solidFill>
        </a:ln>
      </dgm:spPr>
      <dgm:t>
        <a:bodyPr/>
        <a:lstStyle/>
        <a:p>
          <a:endParaRPr lang="zh-CN" altLang="en-US" sz="1100" dirty="0"/>
        </a:p>
      </dgm:t>
    </dgm:pt>
    <dgm:pt modelId="{85C0B018-9434-4FAA-AFEE-C2FCBF1B6E42}" type="sibTrans" cxnId="{A0C4FFDC-94ED-4AD7-A468-188C0641E8BB}">
      <dgm:prSet/>
      <dgm:spPr/>
      <dgm:t>
        <a:bodyPr/>
        <a:lstStyle/>
        <a:p>
          <a:endParaRPr lang="zh-CN" altLang="en-US"/>
        </a:p>
      </dgm:t>
    </dgm:pt>
    <dgm:pt modelId="{11AA4837-2671-4CEA-98A5-A2F604D27D3D}" type="parTrans" cxnId="{A0C4FFDC-94ED-4AD7-A468-188C0641E8BB}">
      <dgm:prSet/>
      <dgm:spPr/>
      <dgm:t>
        <a:bodyPr/>
        <a:lstStyle/>
        <a:p>
          <a:endParaRPr lang="zh-CN" altLang="en-US"/>
        </a:p>
      </dgm:t>
    </dgm:pt>
    <dgm:pt modelId="{52FA4DE0-5C9A-4166-A375-5BB65EBD2A0A}" type="pres">
      <dgm:prSet presAssocID="{5BAF9645-F9FE-4491-900C-C37B6C0B9099}" presName="Name0" presStyleCnt="0">
        <dgm:presLayoutVars>
          <dgm:dir/>
          <dgm:animLvl val="lvl"/>
          <dgm:resizeHandles val="exact"/>
        </dgm:presLayoutVars>
      </dgm:prSet>
      <dgm:spPr/>
    </dgm:pt>
    <dgm:pt modelId="{1B83B677-6649-4B2A-BE7E-EB5A086FAD1A}" type="pres">
      <dgm:prSet presAssocID="{C482002D-093B-49A6-BF0C-0A5D62524209}" presName="composite" presStyleCnt="0"/>
      <dgm:spPr/>
    </dgm:pt>
    <dgm:pt modelId="{02DE2194-79AC-412A-BEDC-D8DC2054B17B}" type="pres">
      <dgm:prSet presAssocID="{C482002D-093B-49A6-BF0C-0A5D6252420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2BFEC1A-A31A-4E95-9DE1-A04D0E37E9C5}" type="pres">
      <dgm:prSet presAssocID="{C482002D-093B-49A6-BF0C-0A5D62524209}" presName="desTx" presStyleLbl="alignAccFollowNode1" presStyleIdx="0" presStyleCnt="3">
        <dgm:presLayoutVars>
          <dgm:bulletEnabled val="1"/>
        </dgm:presLayoutVars>
      </dgm:prSet>
      <dgm:spPr/>
    </dgm:pt>
    <dgm:pt modelId="{D18B7241-E2F9-4BF9-8F9D-E95373023176}" type="pres">
      <dgm:prSet presAssocID="{CDDBF1D3-3983-485F-9252-D9869C52C2E6}" presName="space" presStyleCnt="0"/>
      <dgm:spPr/>
    </dgm:pt>
    <dgm:pt modelId="{D6A567B8-AF62-4206-9F46-CE5DFC4E4BE6}" type="pres">
      <dgm:prSet presAssocID="{18100290-5B97-4AFC-8A09-D80AE70FBC3F}" presName="composite" presStyleCnt="0"/>
      <dgm:spPr/>
    </dgm:pt>
    <dgm:pt modelId="{2F3E05CD-05E8-487D-97C0-F36C5B25A766}" type="pres">
      <dgm:prSet presAssocID="{18100290-5B97-4AFC-8A09-D80AE70FBC3F}" presName="parTx" presStyleLbl="alignNode1" presStyleIdx="1" presStyleCnt="3" custLinFactNeighborX="0" custLinFactNeighborY="1150">
        <dgm:presLayoutVars>
          <dgm:chMax val="0"/>
          <dgm:chPref val="0"/>
          <dgm:bulletEnabled val="1"/>
        </dgm:presLayoutVars>
      </dgm:prSet>
      <dgm:spPr/>
    </dgm:pt>
    <dgm:pt modelId="{E082B7CA-85BE-4FF1-8E83-B33DD293E2C5}" type="pres">
      <dgm:prSet presAssocID="{18100290-5B97-4AFC-8A09-D80AE70FBC3F}" presName="desTx" presStyleLbl="alignAccFollowNode1" presStyleIdx="1" presStyleCnt="3" custLinFactNeighborY="3551">
        <dgm:presLayoutVars>
          <dgm:bulletEnabled val="1"/>
        </dgm:presLayoutVars>
      </dgm:prSet>
      <dgm:spPr/>
    </dgm:pt>
    <dgm:pt modelId="{916010FC-73C2-4A20-BAF1-D3DB841A5D2F}" type="pres">
      <dgm:prSet presAssocID="{2B52976E-7E3A-4D80-91A7-75A1B634D2BD}" presName="space" presStyleCnt="0"/>
      <dgm:spPr/>
    </dgm:pt>
    <dgm:pt modelId="{E99C8C0B-735C-4792-8775-AE31569CBCAF}" type="pres">
      <dgm:prSet presAssocID="{42155B44-35DF-450B-BE6E-E1659B158AC0}" presName="composite" presStyleCnt="0"/>
      <dgm:spPr/>
    </dgm:pt>
    <dgm:pt modelId="{B12AE9C0-421F-483A-A5E4-1EF097948687}" type="pres">
      <dgm:prSet presAssocID="{42155B44-35DF-450B-BE6E-E1659B158AC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36BC6B-2E73-4C15-B318-8EEFBE07D2CC}" type="pres">
      <dgm:prSet presAssocID="{42155B44-35DF-450B-BE6E-E1659B158AC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14B30A-6A5D-4EBD-8EF0-F756C2CDBCDF}" srcId="{5BAF9645-F9FE-4491-900C-C37B6C0B9099}" destId="{42155B44-35DF-450B-BE6E-E1659B158AC0}" srcOrd="2" destOrd="0" parTransId="{0931BF11-F11D-408D-A2DA-0ED69C8BB422}" sibTransId="{67F2FEA2-A8C7-4CD1-8DD4-D4A3294DC861}"/>
    <dgm:cxn modelId="{5CCCF014-DF03-4C0A-9F10-83258132E5DE}" type="presOf" srcId="{42155B44-35DF-450B-BE6E-E1659B158AC0}" destId="{B12AE9C0-421F-483A-A5E4-1EF097948687}" srcOrd="0" destOrd="0" presId="urn:microsoft.com/office/officeart/2005/8/layout/hList1"/>
    <dgm:cxn modelId="{5A11CD1D-499A-4E94-810F-662BC789B4BD}" srcId="{42155B44-35DF-450B-BE6E-E1659B158AC0}" destId="{DC2F2674-385E-4623-AB26-5BF3EB642258}" srcOrd="0" destOrd="0" parTransId="{797C1B13-5A5C-41B0-96DE-C43DCAF2CB05}" sibTransId="{7645FA14-CFD8-42FA-8504-3A3FC9307F1F}"/>
    <dgm:cxn modelId="{5B120262-91D8-4CED-B234-AD20EA98D57D}" type="presOf" srcId="{C482002D-093B-49A6-BF0C-0A5D62524209}" destId="{02DE2194-79AC-412A-BEDC-D8DC2054B17B}" srcOrd="0" destOrd="0" presId="urn:microsoft.com/office/officeart/2005/8/layout/hList1"/>
    <dgm:cxn modelId="{44EC454E-EB08-4BBE-8BC6-B2B828008CBC}" type="presOf" srcId="{A1131A92-A7E2-4E83-9E7A-4D2EA0D5E6A4}" destId="{E082B7CA-85BE-4FF1-8E83-B33DD293E2C5}" srcOrd="0" destOrd="0" presId="urn:microsoft.com/office/officeart/2005/8/layout/hList1"/>
    <dgm:cxn modelId="{EB113BC4-F8EF-43B8-8535-C1BB85D0F7F8}" type="presOf" srcId="{02422081-F09A-4DEC-AEF7-16B1605DCBF3}" destId="{B2BFEC1A-A31A-4E95-9DE1-A04D0E37E9C5}" srcOrd="0" destOrd="0" presId="urn:microsoft.com/office/officeart/2005/8/layout/hList1"/>
    <dgm:cxn modelId="{5F63A6C9-09F3-4F14-A78B-7C36831C32C2}" type="presOf" srcId="{18100290-5B97-4AFC-8A09-D80AE70FBC3F}" destId="{2F3E05CD-05E8-487D-97C0-F36C5B25A766}" srcOrd="0" destOrd="0" presId="urn:microsoft.com/office/officeart/2005/8/layout/hList1"/>
    <dgm:cxn modelId="{8504BACE-ED63-458A-8023-4AF65FD35343}" srcId="{5BAF9645-F9FE-4491-900C-C37B6C0B9099}" destId="{C482002D-093B-49A6-BF0C-0A5D62524209}" srcOrd="0" destOrd="0" parTransId="{262DD8D2-20BD-4F28-9E08-1C5A4FFB3FDC}" sibTransId="{CDDBF1D3-3983-485F-9252-D9869C52C2E6}"/>
    <dgm:cxn modelId="{A0C4FFDC-94ED-4AD7-A468-188C0641E8BB}" srcId="{18100290-5B97-4AFC-8A09-D80AE70FBC3F}" destId="{A1131A92-A7E2-4E83-9E7A-4D2EA0D5E6A4}" srcOrd="0" destOrd="0" parTransId="{11AA4837-2671-4CEA-98A5-A2F604D27D3D}" sibTransId="{85C0B018-9434-4FAA-AFEE-C2FCBF1B6E42}"/>
    <dgm:cxn modelId="{2F8EBCDE-B104-4C9F-9F77-F466AEC78FDB}" srcId="{5BAF9645-F9FE-4491-900C-C37B6C0B9099}" destId="{18100290-5B97-4AFC-8A09-D80AE70FBC3F}" srcOrd="1" destOrd="0" parTransId="{64E4F109-63F3-47AF-BD42-23324141CCF3}" sibTransId="{2B52976E-7E3A-4D80-91A7-75A1B634D2BD}"/>
    <dgm:cxn modelId="{4011BDF4-0D69-47B0-A376-A55A29C474F8}" srcId="{C482002D-093B-49A6-BF0C-0A5D62524209}" destId="{02422081-F09A-4DEC-AEF7-16B1605DCBF3}" srcOrd="0" destOrd="0" parTransId="{D10E57AA-B5B4-4092-92DF-717C287AED02}" sibTransId="{6B780937-DE71-4AE9-9D9D-6E34478E1DC9}"/>
    <dgm:cxn modelId="{C643A8F6-8984-4A11-9247-F4E3BCF174D5}" type="presOf" srcId="{DC2F2674-385E-4623-AB26-5BF3EB642258}" destId="{0A36BC6B-2E73-4C15-B318-8EEFBE07D2CC}" srcOrd="0" destOrd="0" presId="urn:microsoft.com/office/officeart/2005/8/layout/hList1"/>
    <dgm:cxn modelId="{A7CF29FB-BE84-43F4-8721-80B8829E2ACD}" type="presOf" srcId="{5BAF9645-F9FE-4491-900C-C37B6C0B9099}" destId="{52FA4DE0-5C9A-4166-A375-5BB65EBD2A0A}" srcOrd="0" destOrd="0" presId="urn:microsoft.com/office/officeart/2005/8/layout/hList1"/>
    <dgm:cxn modelId="{0F41CA7B-5000-49A6-99E5-17C49FA7642E}" type="presParOf" srcId="{52FA4DE0-5C9A-4166-A375-5BB65EBD2A0A}" destId="{1B83B677-6649-4B2A-BE7E-EB5A086FAD1A}" srcOrd="0" destOrd="0" presId="urn:microsoft.com/office/officeart/2005/8/layout/hList1"/>
    <dgm:cxn modelId="{0F3D3EA0-7166-46DA-80BD-1A425FDB2160}" type="presParOf" srcId="{1B83B677-6649-4B2A-BE7E-EB5A086FAD1A}" destId="{02DE2194-79AC-412A-BEDC-D8DC2054B17B}" srcOrd="0" destOrd="0" presId="urn:microsoft.com/office/officeart/2005/8/layout/hList1"/>
    <dgm:cxn modelId="{E6C0C457-1923-4EB9-89B3-5162A0133BE9}" type="presParOf" srcId="{1B83B677-6649-4B2A-BE7E-EB5A086FAD1A}" destId="{B2BFEC1A-A31A-4E95-9DE1-A04D0E37E9C5}" srcOrd="1" destOrd="0" presId="urn:microsoft.com/office/officeart/2005/8/layout/hList1"/>
    <dgm:cxn modelId="{3F0A9209-3EC3-4CD8-80D1-19642CCCF163}" type="presParOf" srcId="{52FA4DE0-5C9A-4166-A375-5BB65EBD2A0A}" destId="{D18B7241-E2F9-4BF9-8F9D-E95373023176}" srcOrd="1" destOrd="0" presId="urn:microsoft.com/office/officeart/2005/8/layout/hList1"/>
    <dgm:cxn modelId="{3BF159A2-DDF0-4720-B405-5B4F3420B33A}" type="presParOf" srcId="{52FA4DE0-5C9A-4166-A375-5BB65EBD2A0A}" destId="{D6A567B8-AF62-4206-9F46-CE5DFC4E4BE6}" srcOrd="2" destOrd="0" presId="urn:microsoft.com/office/officeart/2005/8/layout/hList1"/>
    <dgm:cxn modelId="{4CE9E8E8-7207-4E9F-A0AF-BDAF8A2A0D2E}" type="presParOf" srcId="{D6A567B8-AF62-4206-9F46-CE5DFC4E4BE6}" destId="{2F3E05CD-05E8-487D-97C0-F36C5B25A766}" srcOrd="0" destOrd="0" presId="urn:microsoft.com/office/officeart/2005/8/layout/hList1"/>
    <dgm:cxn modelId="{5DE264E7-FB88-492F-AA75-4EF8DD329887}" type="presParOf" srcId="{D6A567B8-AF62-4206-9F46-CE5DFC4E4BE6}" destId="{E082B7CA-85BE-4FF1-8E83-B33DD293E2C5}" srcOrd="1" destOrd="0" presId="urn:microsoft.com/office/officeart/2005/8/layout/hList1"/>
    <dgm:cxn modelId="{FB5FFE86-9574-484C-B711-C07C503F0D79}" type="presParOf" srcId="{52FA4DE0-5C9A-4166-A375-5BB65EBD2A0A}" destId="{916010FC-73C2-4A20-BAF1-D3DB841A5D2F}" srcOrd="3" destOrd="0" presId="urn:microsoft.com/office/officeart/2005/8/layout/hList1"/>
    <dgm:cxn modelId="{956D3A80-ECF5-49DC-BD8A-323DDC24B11B}" type="presParOf" srcId="{52FA4DE0-5C9A-4166-A375-5BB65EBD2A0A}" destId="{E99C8C0B-735C-4792-8775-AE31569CBCAF}" srcOrd="4" destOrd="0" presId="urn:microsoft.com/office/officeart/2005/8/layout/hList1"/>
    <dgm:cxn modelId="{1EA4C944-255E-48D4-B82E-7EF471C7BD38}" type="presParOf" srcId="{E99C8C0B-735C-4792-8775-AE31569CBCAF}" destId="{B12AE9C0-421F-483A-A5E4-1EF097948687}" srcOrd="0" destOrd="0" presId="urn:microsoft.com/office/officeart/2005/8/layout/hList1"/>
    <dgm:cxn modelId="{D2FB8DF2-71AC-4A24-9215-5D740D947B90}" type="presParOf" srcId="{E99C8C0B-735C-4792-8775-AE31569CBCAF}" destId="{0A36BC6B-2E73-4C15-B318-8EEFBE07D2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E2194-79AC-412A-BEDC-D8DC2054B17B}">
      <dsp:nvSpPr>
        <dsp:cNvPr id="0" name=""/>
        <dsp:cNvSpPr/>
      </dsp:nvSpPr>
      <dsp:spPr>
        <a:xfrm>
          <a:off x="2404" y="12071"/>
          <a:ext cx="2344830" cy="460800"/>
        </a:xfrm>
        <a:prstGeom prst="rect">
          <a:avLst/>
        </a:prstGeom>
        <a:solidFill>
          <a:srgbClr val="62C9E2"/>
        </a:solidFill>
        <a:ln w="25400" cap="flat" cmpd="sng" algn="ctr">
          <a:solidFill>
            <a:srgbClr val="62C9E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cybozu developer network</a:t>
          </a:r>
          <a:r>
            <a:rPr lang="zh-CN" altLang="en-US" sz="1100" b="1" kern="1200" dirty="0"/>
            <a:t>网站</a:t>
          </a:r>
          <a:endParaRPr lang="zh-CN" sz="1100" kern="1200" dirty="0"/>
        </a:p>
      </dsp:txBody>
      <dsp:txXfrm>
        <a:off x="2404" y="12071"/>
        <a:ext cx="2344830" cy="460800"/>
      </dsp:txXfrm>
    </dsp:sp>
    <dsp:sp modelId="{B2BFEC1A-A31A-4E95-9DE1-A04D0E37E9C5}">
      <dsp:nvSpPr>
        <dsp:cNvPr id="0" name=""/>
        <dsp:cNvSpPr/>
      </dsp:nvSpPr>
      <dsp:spPr>
        <a:xfrm>
          <a:off x="2404" y="472871"/>
          <a:ext cx="2344830" cy="702720"/>
        </a:xfrm>
        <a:prstGeom prst="rect">
          <a:avLst/>
        </a:prstGeom>
        <a:solidFill>
          <a:srgbClr val="62C9E2">
            <a:alpha val="20000"/>
          </a:srgbClr>
        </a:solidFill>
        <a:ln w="25400" cap="flat" cmpd="sng" algn="ctr">
          <a:solidFill>
            <a:srgbClr val="62C9E2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kern="1200" dirty="0">
            <a:solidFill>
              <a:srgbClr val="62C9E2"/>
            </a:solidFill>
          </a:endParaRPr>
        </a:p>
      </dsp:txBody>
      <dsp:txXfrm>
        <a:off x="2404" y="472871"/>
        <a:ext cx="2344830" cy="702720"/>
      </dsp:txXfrm>
    </dsp:sp>
    <dsp:sp modelId="{2F3E05CD-05E8-487D-97C0-F36C5B25A766}">
      <dsp:nvSpPr>
        <dsp:cNvPr id="0" name=""/>
        <dsp:cNvSpPr/>
      </dsp:nvSpPr>
      <dsp:spPr>
        <a:xfrm>
          <a:off x="2675512" y="17370"/>
          <a:ext cx="2344830" cy="460800"/>
        </a:xfrm>
        <a:prstGeom prst="rect">
          <a:avLst/>
        </a:prstGeom>
        <a:solidFill>
          <a:srgbClr val="4BB968"/>
        </a:solidFill>
        <a:ln w="25400" cap="flat" cmpd="sng" algn="ctr">
          <a:solidFill>
            <a:srgbClr val="4BB96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微信公众号</a:t>
          </a:r>
          <a:r>
            <a:rPr lang="en-US" altLang="zh-CN" sz="1100" b="1" kern="1200" dirty="0"/>
            <a:t>:</a:t>
          </a:r>
          <a:r>
            <a:rPr lang="en-US" altLang="zh-CN" sz="1100" b="1" kern="1200" dirty="0" err="1"/>
            <a:t>cybozu</a:t>
          </a:r>
          <a:r>
            <a:rPr lang="zh-CN" altLang="en-US" sz="1100" b="1" kern="1200" dirty="0"/>
            <a:t>开发者网站</a:t>
          </a:r>
          <a:endParaRPr lang="zh-CN" sz="1100" kern="1200" dirty="0"/>
        </a:p>
      </dsp:txBody>
      <dsp:txXfrm>
        <a:off x="2675512" y="17370"/>
        <a:ext cx="2344830" cy="460800"/>
      </dsp:txXfrm>
    </dsp:sp>
    <dsp:sp modelId="{E082B7CA-85BE-4FF1-8E83-B33DD293E2C5}">
      <dsp:nvSpPr>
        <dsp:cNvPr id="0" name=""/>
        <dsp:cNvSpPr/>
      </dsp:nvSpPr>
      <dsp:spPr>
        <a:xfrm>
          <a:off x="2675512" y="484943"/>
          <a:ext cx="2344830" cy="702720"/>
        </a:xfrm>
        <a:prstGeom prst="rect">
          <a:avLst/>
        </a:prstGeom>
        <a:solidFill>
          <a:srgbClr val="4BB968">
            <a:alpha val="20000"/>
          </a:srgbClr>
        </a:solidFill>
        <a:ln w="25400" cap="flat" cmpd="sng" algn="ctr">
          <a:solidFill>
            <a:srgbClr val="4BB968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100" kern="1200" dirty="0"/>
        </a:p>
      </dsp:txBody>
      <dsp:txXfrm>
        <a:off x="2675512" y="484943"/>
        <a:ext cx="2344830" cy="702720"/>
      </dsp:txXfrm>
    </dsp:sp>
    <dsp:sp modelId="{B12AE9C0-421F-483A-A5E4-1EF097948687}">
      <dsp:nvSpPr>
        <dsp:cNvPr id="0" name=""/>
        <dsp:cNvSpPr/>
      </dsp:nvSpPr>
      <dsp:spPr>
        <a:xfrm>
          <a:off x="5348619" y="12071"/>
          <a:ext cx="2344830" cy="460800"/>
        </a:xfrm>
        <a:prstGeom prst="rect">
          <a:avLst/>
        </a:prstGeom>
        <a:solidFill>
          <a:srgbClr val="FDA907"/>
        </a:solidFill>
        <a:ln w="25400" cap="flat" cmpd="sng" algn="ctr">
          <a:solidFill>
            <a:srgbClr val="FDA90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kintone</a:t>
          </a:r>
          <a:r>
            <a:rPr lang="zh-CN" sz="1100" b="1" kern="1200" dirty="0"/>
            <a:t>中国官网</a:t>
          </a:r>
          <a:endParaRPr lang="zh-CN" altLang="en-US" sz="1100" b="1" kern="1200" dirty="0"/>
        </a:p>
      </dsp:txBody>
      <dsp:txXfrm>
        <a:off x="5348619" y="12071"/>
        <a:ext cx="2344830" cy="460800"/>
      </dsp:txXfrm>
    </dsp:sp>
    <dsp:sp modelId="{0A36BC6B-2E73-4C15-B318-8EEFBE07D2CC}">
      <dsp:nvSpPr>
        <dsp:cNvPr id="0" name=""/>
        <dsp:cNvSpPr/>
      </dsp:nvSpPr>
      <dsp:spPr>
        <a:xfrm>
          <a:off x="5348619" y="472871"/>
          <a:ext cx="2344830" cy="702720"/>
        </a:xfrm>
        <a:prstGeom prst="rect">
          <a:avLst/>
        </a:prstGeom>
        <a:solidFill>
          <a:srgbClr val="FDA907">
            <a:alpha val="20000"/>
          </a:srgbClr>
        </a:solidFill>
        <a:ln w="25400" cap="flat" cmpd="sng" algn="ctr">
          <a:solidFill>
            <a:srgbClr val="FDA907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kern="1200" dirty="0"/>
        </a:p>
      </dsp:txBody>
      <dsp:txXfrm>
        <a:off x="5348619" y="472871"/>
        <a:ext cx="2344830" cy="70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请大家在开始前按照提示设置以下内容。</a:t>
            </a:r>
            <a:endParaRPr lang="en-US" altLang="zh-CN" dirty="0"/>
          </a:p>
          <a:p>
            <a:pPr lvl="0" algn="l"/>
            <a:r>
              <a:rPr lang="en-US" altLang="zh-CN" sz="1200" b="1" kern="1200" dirty="0" err="1">
                <a:solidFill>
                  <a:srgbClr val="66D5F0"/>
                </a:solidFill>
                <a:latin typeface="+mj-ea"/>
                <a:ea typeface="+mn-ea"/>
                <a:cs typeface="+mn-cs"/>
              </a:rPr>
              <a:t>WiFi</a:t>
            </a:r>
            <a:r>
              <a:rPr lang="en-US" altLang="zh-CN" sz="1200" b="1" kern="1200" dirty="0">
                <a:solidFill>
                  <a:srgbClr val="66D5F0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请查看您所在会议桌上的提示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solidFill>
                  <a:srgbClr val="F39030"/>
                </a:solidFill>
                <a:latin typeface="+mj-ea"/>
                <a:ea typeface="+mn-ea"/>
                <a:cs typeface="+mn-cs"/>
              </a:rPr>
              <a:t>kintone</a:t>
            </a:r>
            <a:r>
              <a:rPr lang="zh-CN" altLang="en-US" sz="1200" b="1" kern="1200" dirty="0">
                <a:solidFill>
                  <a:srgbClr val="F39030"/>
                </a:solidFill>
                <a:latin typeface="+mj-ea"/>
                <a:ea typeface="+mn-ea"/>
                <a:cs typeface="+mn-cs"/>
              </a:rPr>
              <a:t>试用环境登录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签到时分发的纸张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上的用户名、密码。本次账号有效期为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两周。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之后如果想继续使用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，以下链接可获取免费试用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30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天的环境。</a:t>
            </a:r>
            <a:endParaRPr lang="zh-CN" altLang="en-US" sz="1200" b="1" kern="1200" dirty="0">
              <a:solidFill>
                <a:srgbClr val="F39030"/>
              </a:solidFill>
              <a:latin typeface="+mj-e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1200" dirty="0">
                <a:solidFill>
                  <a:srgbClr val="F39030"/>
                </a:solidFill>
                <a:latin typeface="+mj-ea"/>
                <a:ea typeface="+mn-ea"/>
                <a:cs typeface="+mn-cs"/>
              </a:rPr>
              <a:t>本次课程资料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可以在试用环境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home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页左边“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课程资料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”中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下载。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66D5F0"/>
                </a:solidFill>
                <a:latin typeface="微软雅黑"/>
              </a:rPr>
              <a:t>本次学习会后半程需要大家编程，所以在开始前如果</a:t>
            </a:r>
            <a:r>
              <a:rPr lang="zh-CN" altLang="en-US" dirty="0"/>
              <a:t>电脑内没有适用于编程的软件，我们在试用环境中为大家准备了。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可以在试用环境的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home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页左边“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必要软件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”中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下载。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课程开始后如果遇到什么困难可以举手示意，我们会有工作人员过来为您提供帮助。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现在大家都设置好了吗？如果大家都设置完成，那我们本次学习会就正式开始了。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5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86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刚才的课程，我们介绍了什么是</a:t>
            </a:r>
            <a:r>
              <a:rPr lang="en-US" altLang="zh-CN" dirty="0"/>
              <a:t>kintone</a:t>
            </a:r>
            <a:r>
              <a:rPr lang="zh-CN" altLang="en-US" dirty="0"/>
              <a:t>，以及</a:t>
            </a:r>
            <a:r>
              <a:rPr lang="en-US" altLang="zh-CN" dirty="0"/>
              <a:t>kintone</a:t>
            </a:r>
            <a:r>
              <a:rPr lang="zh-CN" altLang="en-US" dirty="0"/>
              <a:t>的基础操作。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这部分课程的内容，我们主要分两部分进行：</a:t>
            </a:r>
            <a:endParaRPr lang="en-US" altLang="zh-CN" dirty="0"/>
          </a:p>
          <a:p>
            <a:r>
              <a:rPr lang="zh-CN" altLang="en-US" dirty="0"/>
              <a:t>第一部分，</a:t>
            </a:r>
            <a:r>
              <a:rPr lang="en-US" altLang="zh-CN" dirty="0" err="1"/>
              <a:t>kintone</a:t>
            </a:r>
            <a:r>
              <a:rPr lang="zh-CN" altLang="en-US" dirty="0"/>
              <a:t>的扩充性。</a:t>
            </a:r>
            <a:endParaRPr lang="en-US" altLang="zh-CN" dirty="0"/>
          </a:p>
          <a:p>
            <a:r>
              <a:rPr lang="zh-CN" altLang="en-US" dirty="0"/>
              <a:t>第二部分，</a:t>
            </a:r>
            <a:r>
              <a:rPr lang="en-US" altLang="zh-CN" dirty="0" err="1"/>
              <a:t>kintone</a:t>
            </a:r>
            <a:r>
              <a:rPr lang="zh-CN" altLang="en-US" dirty="0"/>
              <a:t>的定制化实践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15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这些是我们这次课程需要用到的资料。</a:t>
            </a:r>
            <a:endParaRPr lang="en-US" altLang="zh-CN" dirty="0"/>
          </a:p>
          <a:p>
            <a:r>
              <a:rPr lang="zh-CN" altLang="en-US" dirty="0"/>
              <a:t>第一个是本次课程的</a:t>
            </a:r>
            <a:r>
              <a:rPr lang="en-US" altLang="zh-CN" dirty="0"/>
              <a:t>ppt</a:t>
            </a:r>
            <a:r>
              <a:rPr lang="zh-CN" altLang="en-US" dirty="0"/>
              <a:t>，大家可以在课后下载复习。</a:t>
            </a:r>
            <a:endParaRPr lang="en-US" altLang="zh-CN" dirty="0"/>
          </a:p>
          <a:p>
            <a:r>
              <a:rPr lang="zh-CN" altLang="en-US" dirty="0"/>
              <a:t>第二个是本次课程涉及到的代码，里面有一部分可以供大家练习填写。</a:t>
            </a:r>
            <a:endParaRPr lang="en-US" altLang="zh-CN" dirty="0"/>
          </a:p>
          <a:p>
            <a:r>
              <a:rPr lang="zh-CN" altLang="en-US" dirty="0"/>
              <a:t>当然有代码经验的小伙伴，完全可以脱离这个自己写。</a:t>
            </a:r>
            <a:endParaRPr lang="en-US" altLang="zh-CN" dirty="0"/>
          </a:p>
          <a:p>
            <a:r>
              <a:rPr lang="zh-CN" altLang="en-US" dirty="0"/>
              <a:t>第三个是本次课程的参考答案。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90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第一个我们要讲的是</a:t>
            </a:r>
            <a:r>
              <a:rPr lang="en-US" altLang="zh-CN" dirty="0"/>
              <a:t>kintone</a:t>
            </a:r>
            <a:r>
              <a:rPr lang="zh-CN" altLang="en-US" dirty="0"/>
              <a:t>的扩充性。</a:t>
            </a:r>
            <a:endParaRPr lang="en-US" altLang="zh-CN" dirty="0"/>
          </a:p>
          <a:p>
            <a:r>
              <a:rPr lang="zh-CN" altLang="en-US" dirty="0"/>
              <a:t>什么叫</a:t>
            </a:r>
            <a:r>
              <a:rPr lang="en-US" altLang="zh-CN" dirty="0" err="1"/>
              <a:t>kintone</a:t>
            </a:r>
            <a:r>
              <a:rPr lang="zh-CN" altLang="en-US" dirty="0"/>
              <a:t>的 “扩充性” 呢？</a:t>
            </a:r>
            <a:endParaRPr lang="en-US" altLang="zh-CN" dirty="0"/>
          </a:p>
          <a:p>
            <a:r>
              <a:rPr lang="zh-CN" altLang="en-US" dirty="0"/>
              <a:t>就是当标准功能满足不了现有的需求时，</a:t>
            </a:r>
            <a:endParaRPr lang="en-US" altLang="zh-CN" dirty="0"/>
          </a:p>
          <a:p>
            <a:r>
              <a:rPr lang="zh-CN" altLang="en-US" dirty="0"/>
              <a:t>我们可以通过少量的设置或者开发，来增加它的功能。</a:t>
            </a:r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/>
              <a:t>kintone</a:t>
            </a:r>
            <a:r>
              <a:rPr lang="zh-CN" altLang="en-US" dirty="0"/>
              <a:t>在设计开发之初，就具备一定的可扩充性。</a:t>
            </a:r>
            <a:endParaRPr lang="en-US" altLang="zh-CN" dirty="0"/>
          </a:p>
          <a:p>
            <a:r>
              <a:rPr lang="zh-CN" altLang="en-US" dirty="0"/>
              <a:t>所以我们可以利用这个来尝试一些有趣的事情。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309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kintone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r>
              <a:rPr lang="zh-CN" altLang="en-US" dirty="0"/>
              <a:t>，一般来说大致地可以分为</a:t>
            </a:r>
            <a:r>
              <a:rPr lang="en-US" altLang="zh-CN" dirty="0"/>
              <a:t>2</a:t>
            </a:r>
            <a:r>
              <a:rPr lang="zh-CN" altLang="en-US" dirty="0"/>
              <a:t>种。</a:t>
            </a:r>
            <a:endParaRPr lang="en-US" altLang="zh-CN" dirty="0"/>
          </a:p>
          <a:p>
            <a:r>
              <a:rPr lang="zh-CN" altLang="en-US" dirty="0"/>
              <a:t>一种是</a:t>
            </a:r>
            <a:r>
              <a:rPr lang="en-US" altLang="zh-CN" dirty="0"/>
              <a:t>JavaScript API</a:t>
            </a:r>
            <a:r>
              <a:rPr lang="zh-CN" altLang="en-US" dirty="0"/>
              <a:t>，另一种是</a:t>
            </a:r>
            <a:r>
              <a:rPr lang="en-US" altLang="zh-CN" dirty="0"/>
              <a:t>REST API</a:t>
            </a:r>
          </a:p>
          <a:p>
            <a:endParaRPr lang="en-US" altLang="zh-CN" dirty="0"/>
          </a:p>
          <a:p>
            <a:r>
              <a:rPr lang="en-US" altLang="zh-CN" dirty="0"/>
              <a:t>JavaScript API</a:t>
            </a:r>
            <a:r>
              <a:rPr lang="zh-CN" altLang="en-US" dirty="0"/>
              <a:t>主要是用于页面上的自定义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/>
              <a:t>REST API</a:t>
            </a:r>
            <a:r>
              <a:rPr lang="zh-CN" altLang="en-US" dirty="0"/>
              <a:t>呢，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系统整合。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093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那么，使用</a:t>
            </a:r>
            <a:r>
              <a:rPr lang="en-US" altLang="zh-CN" dirty="0"/>
              <a:t>JavaScript API</a:t>
            </a:r>
            <a:r>
              <a:rPr lang="zh-CN" altLang="en-US" dirty="0"/>
              <a:t>可以干些什么呢？我们一起看看。</a:t>
            </a:r>
            <a:endParaRPr lang="en-US" altLang="zh-CN" dirty="0"/>
          </a:p>
          <a:p>
            <a:r>
              <a:rPr lang="zh-CN" altLang="en-US" dirty="0"/>
              <a:t>首先，它可以对常用的事件自定义，比如常用的</a:t>
            </a:r>
            <a:r>
              <a:rPr lang="zh-CN" altLang="en-US" sz="1200" dirty="0">
                <a:latin typeface="+mn-ea"/>
                <a:ea typeface="+mn-ea"/>
              </a:rPr>
              <a:t>列表</a:t>
            </a:r>
            <a:r>
              <a:rPr lang="zh-CN" altLang="en-US" dirty="0"/>
              <a:t>、显示、添加、编辑、删除。</a:t>
            </a:r>
            <a:endParaRPr lang="en-US" altLang="zh-CN" dirty="0"/>
          </a:p>
          <a:p>
            <a:r>
              <a:rPr lang="zh-CN" altLang="en-US" dirty="0"/>
              <a:t>其次，使用</a:t>
            </a:r>
            <a:r>
              <a:rPr lang="en-US" altLang="zh-CN" dirty="0"/>
              <a:t>JavaScript API</a:t>
            </a:r>
            <a:r>
              <a:rPr lang="zh-CN" altLang="en-US" dirty="0"/>
              <a:t>可以获取页面上的值，还能对页面上的值进行更改。</a:t>
            </a:r>
            <a:endParaRPr lang="en-US" altLang="zh-CN" dirty="0"/>
          </a:p>
          <a:p>
            <a:r>
              <a:rPr lang="zh-CN" altLang="en-US" dirty="0"/>
              <a:t>然后呢，它还可以执行</a:t>
            </a:r>
            <a:r>
              <a:rPr lang="en-US" altLang="zh-CN" dirty="0"/>
              <a:t>REST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和外部</a:t>
            </a:r>
            <a:r>
              <a:rPr lang="en-US" altLang="zh-CN" dirty="0"/>
              <a:t>API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113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下面是使用</a:t>
            </a:r>
            <a:r>
              <a:rPr lang="en-US" altLang="zh-CN" dirty="0"/>
              <a:t>JavaScript API</a:t>
            </a:r>
            <a:r>
              <a:rPr lang="zh-CN" altLang="en-US" dirty="0"/>
              <a:t>开发的一些例子，</a:t>
            </a:r>
            <a:endParaRPr lang="en-US" altLang="zh-CN" dirty="0"/>
          </a:p>
          <a:p>
            <a:r>
              <a:rPr lang="zh-CN" altLang="en-US" dirty="0"/>
              <a:t>如图所示，它可以生成甘特图，</a:t>
            </a:r>
            <a:endParaRPr lang="en-US" altLang="zh-CN" dirty="0"/>
          </a:p>
          <a:p>
            <a:r>
              <a:rPr lang="zh-CN" altLang="en-US" dirty="0"/>
              <a:t>这个在我们的项目管理中时常用到。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53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这个是工作流里的批量审批，</a:t>
            </a:r>
            <a:endParaRPr lang="en-US" altLang="zh-CN" dirty="0"/>
          </a:p>
          <a:p>
            <a:r>
              <a:rPr lang="zh-CN" altLang="en-US" dirty="0"/>
              <a:t>有时候申请人多的时候，一个一个点非常麻烦，</a:t>
            </a:r>
            <a:endParaRPr lang="en-US" altLang="zh-CN" dirty="0"/>
          </a:p>
          <a:p>
            <a:r>
              <a:rPr lang="zh-CN" altLang="en-US" dirty="0"/>
              <a:t>直接一键审批，非常方便。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38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还可以在个人的门户页面上实现一些酷炫的设计改造。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比如，有个人非常喜欢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死亡金属音乐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，然后他就把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kintone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的门户页面改造成这样了。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614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491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REST API</a:t>
            </a:r>
            <a:r>
              <a:rPr lang="zh-CN" altLang="en-US" dirty="0"/>
              <a:t>，我们可以很方便的和其他系统服务进行整合。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比如我们经常使用的微信，可以在微信上获取</a:t>
            </a:r>
            <a:r>
              <a:rPr lang="en-US" altLang="zh-CN" dirty="0"/>
              <a:t>kintone</a:t>
            </a:r>
            <a:r>
              <a:rPr lang="zh-CN" altLang="en-US" dirty="0"/>
              <a:t>的记录信息，在微信上审批工作流。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通过</a:t>
            </a:r>
            <a:r>
              <a:rPr lang="en-US" altLang="zh-CN" dirty="0"/>
              <a:t>kintone</a:t>
            </a:r>
            <a:r>
              <a:rPr lang="zh-CN" altLang="en-US" dirty="0"/>
              <a:t>和</a:t>
            </a:r>
            <a:r>
              <a:rPr lang="en-US" altLang="zh-CN" dirty="0" err="1"/>
              <a:t>sendcloud</a:t>
            </a:r>
            <a:r>
              <a:rPr lang="zh-CN" altLang="en-US" dirty="0"/>
              <a:t>的整合，可以很方便的进行客户信息管理和跟踪，包括比如自动发送邮件和短信，定时群发等等。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另外我们还可以将</a:t>
            </a:r>
            <a:r>
              <a:rPr lang="en-US" altLang="zh-CN" dirty="0"/>
              <a:t>kintone</a:t>
            </a:r>
            <a:r>
              <a:rPr lang="zh-CN" altLang="en-US" dirty="0"/>
              <a:t>和智能设备进行整合，然后对收集到的这些数据进行统一的处理。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29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更多的文档、例子等等，可以在我们的</a:t>
            </a:r>
            <a:r>
              <a:rPr lang="en-US" altLang="zh-CN" dirty="0" err="1"/>
              <a:t>cybozu</a:t>
            </a:r>
            <a:r>
              <a:rPr lang="zh-CN" altLang="en-US" dirty="0"/>
              <a:t>开发者网站中查看。</a:t>
            </a:r>
            <a:endParaRPr lang="en-US" altLang="zh-CN" dirty="0"/>
          </a:p>
          <a:p>
            <a:r>
              <a:rPr lang="zh-CN" altLang="en-US" dirty="0"/>
              <a:t>下面我们介绍下这个网站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512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11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目前我们在运营的主要是三个网站，英文版，日文版和中文版。</a:t>
            </a:r>
            <a:endParaRPr lang="en-US" altLang="zh-CN" dirty="0"/>
          </a:p>
          <a:p>
            <a:r>
              <a:rPr lang="zh-CN" altLang="en-US" dirty="0"/>
              <a:t>这三个网站间除了所使用的语言不一样外，服务整合类的信息也是不一样的。</a:t>
            </a:r>
            <a:endParaRPr lang="en-US" altLang="zh-CN" dirty="0"/>
          </a:p>
          <a:p>
            <a:r>
              <a:rPr lang="zh-CN" altLang="en-US" dirty="0"/>
              <a:t>比如日文网站主要更偏向于和日本的本土服务进行整合，更偏向于日本人的使用习惯。</a:t>
            </a:r>
            <a:endParaRPr lang="en-US" altLang="zh-CN" dirty="0"/>
          </a:p>
          <a:p>
            <a:r>
              <a:rPr lang="zh-CN" altLang="en-US" dirty="0"/>
              <a:t>而中文版网站主要偏向于和中国本土的服务进行整合，更偏向于咱们中国人的使用习惯。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31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3204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左边是如何开发一个插件，开发的流程和方法。</a:t>
            </a:r>
            <a:endParaRPr lang="en-US" altLang="zh-CN" dirty="0"/>
          </a:p>
          <a:p>
            <a:r>
              <a:rPr lang="zh-CN" altLang="en-US" dirty="0"/>
              <a:t>右边是现成已开发的插件，大家可以直接使用。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7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（此处可能需要重新截图）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834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82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讨论社区，可以在上面提问，也可以在上面回答别人的问题。享受当大师的感觉！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4721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上海这次是第</a:t>
            </a:r>
            <a:r>
              <a:rPr lang="en-US" altLang="zh-CN" dirty="0"/>
              <a:t>1</a:t>
            </a:r>
            <a:r>
              <a:rPr lang="zh-CN" altLang="en-US" dirty="0"/>
              <a:t>届，</a:t>
            </a:r>
            <a:r>
              <a:rPr lang="en-US" altLang="zh-CN" dirty="0"/>
              <a:t>7</a:t>
            </a:r>
            <a:r>
              <a:rPr lang="zh-CN" altLang="en-US" dirty="0"/>
              <a:t>月份，</a:t>
            </a:r>
            <a:r>
              <a:rPr lang="en-US" altLang="zh-CN" dirty="0"/>
              <a:t>10</a:t>
            </a:r>
            <a:r>
              <a:rPr lang="zh-CN" altLang="en-US" dirty="0"/>
              <a:t>月份还会有</a:t>
            </a:r>
            <a:r>
              <a:rPr lang="en-US" altLang="zh-CN" dirty="0"/>
              <a:t>2</a:t>
            </a:r>
            <a:r>
              <a:rPr lang="zh-CN" altLang="en-US" dirty="0"/>
              <a:t>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565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663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接下去，我们就开始</a:t>
            </a:r>
            <a:r>
              <a:rPr lang="en-US" altLang="zh-CN" dirty="0" err="1"/>
              <a:t>kintone</a:t>
            </a:r>
            <a:r>
              <a:rPr lang="zh-CN" altLang="en-US" dirty="0"/>
              <a:t>定制化实践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92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在开始动手前，我们先做一下应用的准备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997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大家可以看一下自己的环境，右边有个应用列表，里面有个应用叫 “案件管理”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3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59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253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800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2317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kintone JavaScript API</a:t>
            </a:r>
            <a:r>
              <a:rPr lang="zh-CN" altLang="en-US" dirty="0"/>
              <a:t>的基本就是：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【</a:t>
            </a:r>
            <a:r>
              <a:rPr lang="zh-CN" altLang="en-US" dirty="0"/>
              <a:t>发生</a:t>
            </a:r>
            <a:r>
              <a:rPr lang="en-US" altLang="zh-CN" dirty="0"/>
              <a:t>XX</a:t>
            </a:r>
            <a:r>
              <a:rPr lang="zh-CN" altLang="en-US" dirty="0"/>
              <a:t>时</a:t>
            </a:r>
            <a:r>
              <a:rPr lang="en-US" altLang="zh-CN" dirty="0"/>
              <a:t>】</a:t>
            </a:r>
            <a:r>
              <a:rPr lang="zh-CN" altLang="en-US" dirty="0"/>
              <a:t>想要</a:t>
            </a:r>
            <a:r>
              <a:rPr lang="en-US" altLang="zh-CN" dirty="0"/>
              <a:t>【</a:t>
            </a:r>
            <a:r>
              <a:rPr lang="zh-CN" altLang="en-US" dirty="0"/>
              <a:t>执行</a:t>
            </a:r>
            <a:r>
              <a:rPr lang="en-US" altLang="zh-CN" dirty="0"/>
              <a:t>YY</a:t>
            </a:r>
            <a:r>
              <a:rPr lang="zh-CN" altLang="en-US" dirty="0"/>
              <a:t>处理</a:t>
            </a:r>
            <a:r>
              <a:rPr lang="en-US" altLang="zh-CN" dirty="0"/>
              <a:t>】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其中，这个 </a:t>
            </a:r>
            <a:r>
              <a:rPr lang="en-US" altLang="zh-CN" dirty="0"/>
              <a:t>XX </a:t>
            </a:r>
            <a:r>
              <a:rPr lang="zh-CN" altLang="en-US" dirty="0"/>
              <a:t>就是事件。</a:t>
            </a:r>
            <a:r>
              <a:rPr lang="en-US" altLang="zh-CN" dirty="0"/>
              <a:t>YY </a:t>
            </a:r>
            <a:r>
              <a:rPr lang="zh-CN" altLang="en-US" dirty="0"/>
              <a:t>就是自定义处理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7623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应用到实际中：</a:t>
            </a:r>
            <a:endParaRPr lang="en-US" altLang="zh-CN" dirty="0"/>
          </a:p>
          <a:p>
            <a:r>
              <a:rPr lang="zh-CN" altLang="en-US" dirty="0"/>
              <a:t>当打开记录详情页面，我们获取到记录的信息，并针对这些信息进行自定义。</a:t>
            </a:r>
            <a:endParaRPr lang="en-US" altLang="zh-CN" dirty="0"/>
          </a:p>
          <a:p>
            <a:r>
              <a:rPr lang="zh-CN" altLang="en-US" dirty="0"/>
              <a:t>比如：我们可以显示或者隐藏电话号码。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0144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事件处理的基本写法：</a:t>
            </a:r>
            <a:r>
              <a:rPr lang="en-US" altLang="zh-CN" dirty="0" err="1"/>
              <a:t>kintone.events.on</a:t>
            </a:r>
            <a:r>
              <a:rPr lang="en-US" altLang="zh-CN" dirty="0"/>
              <a:t>(event, handler(event)   );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这个空白的地方，就是我们所要做的自定义处理。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4061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8775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进入</a:t>
            </a:r>
            <a:r>
              <a:rPr lang="en-US" altLang="zh-CN" dirty="0"/>
              <a:t>cybozu developer network</a:t>
            </a:r>
            <a:r>
              <a:rPr lang="zh-CN" altLang="en-US" dirty="0"/>
              <a:t>的首页，</a:t>
            </a:r>
            <a:endParaRPr lang="en-US" altLang="zh-CN" dirty="0"/>
          </a:p>
          <a:p>
            <a:r>
              <a:rPr lang="zh-CN" altLang="en-US" dirty="0"/>
              <a:t>点击</a:t>
            </a:r>
            <a:r>
              <a:rPr lang="en-US" altLang="zh-CN" dirty="0"/>
              <a:t>kintone JavaScript API</a:t>
            </a:r>
            <a:r>
              <a:rPr lang="zh-CN" altLang="en-US" dirty="0"/>
              <a:t>， 进入</a:t>
            </a:r>
            <a:r>
              <a:rPr lang="en-US" altLang="zh-CN" dirty="0"/>
              <a:t>JavaScript API</a:t>
            </a:r>
            <a:r>
              <a:rPr lang="zh-CN" altLang="en-US" dirty="0"/>
              <a:t>列表，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在列表里找到 “记录显示事件”，点击进入后，就可以看到记录详情页面上所有可以使用的事件和操作了。</a:t>
            </a:r>
            <a:endParaRPr lang="en-US" altLang="zh-CN" dirty="0"/>
          </a:p>
          <a:p>
            <a:r>
              <a:rPr lang="zh-CN" altLang="en-US" dirty="0"/>
              <a:t>比如：</a:t>
            </a:r>
            <a:endParaRPr lang="en-US" altLang="zh-CN" dirty="0"/>
          </a:p>
          <a:p>
            <a:r>
              <a:rPr lang="zh-CN" altLang="en-US" dirty="0"/>
              <a:t>上面一部分是事件，比如</a:t>
            </a:r>
            <a:r>
              <a:rPr lang="en-US" altLang="zh-CN" dirty="0"/>
              <a:t>: …</a:t>
            </a:r>
          </a:p>
          <a:p>
            <a:endParaRPr lang="en-US" altLang="zh-CN" dirty="0"/>
          </a:p>
          <a:p>
            <a:r>
              <a:rPr lang="zh-CN" altLang="en-US" dirty="0"/>
              <a:t>下面一部分是操作，比如</a:t>
            </a:r>
            <a:r>
              <a:rPr lang="en-US" altLang="zh-CN" dirty="0"/>
              <a:t>: 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83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讲了这么多，我们来试试看吧。</a:t>
            </a:r>
            <a:endParaRPr lang="en-US" altLang="zh-CN" dirty="0"/>
          </a:p>
          <a:p>
            <a:r>
              <a:rPr lang="zh-CN" altLang="en-US" dirty="0"/>
              <a:t>我们的任务是：</a:t>
            </a:r>
            <a:r>
              <a:rPr lang="en-US" altLang="zh-CN" dirty="0"/>
              <a:t>1. </a:t>
            </a:r>
            <a:r>
              <a:rPr lang="en-US" altLang="zh-CN" dirty="0" err="1"/>
              <a:t>xxxx</a:t>
            </a:r>
            <a:r>
              <a:rPr lang="zh-CN" altLang="en-US" dirty="0"/>
              <a:t>，</a:t>
            </a:r>
            <a:r>
              <a:rPr lang="en-US" altLang="zh-CN" dirty="0"/>
              <a:t>2. </a:t>
            </a:r>
            <a:r>
              <a:rPr lang="en-US" altLang="zh-CN" dirty="0" err="1"/>
              <a:t>xxxx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（备注：当</a:t>
            </a:r>
            <a:r>
              <a:rPr lang="en-US" altLang="zh-CN" dirty="0"/>
              <a:t>Garoon</a:t>
            </a:r>
            <a:r>
              <a:rPr lang="zh-CN" altLang="en-US" dirty="0"/>
              <a:t>是默认选项时，添加需要）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0811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0766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4955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4273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5990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7557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我们用文本编辑器打开</a:t>
            </a:r>
            <a:r>
              <a:rPr lang="en-US" altLang="zh-CN" dirty="0"/>
              <a:t>sample.js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0325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先进行需求分析，我们需要找出来这个任务里的事件和自定义部分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503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我先示范第一个事件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630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如何查找这个事件呢？</a:t>
            </a:r>
            <a:endParaRPr lang="en-US" altLang="zh-CN" dirty="0"/>
          </a:p>
          <a:p>
            <a:r>
              <a:rPr lang="zh-CN" altLang="en-US" dirty="0"/>
              <a:t>这儿有个小贴士。</a:t>
            </a:r>
          </a:p>
          <a:p>
            <a:r>
              <a:rPr lang="zh-CN" altLang="en-US" dirty="0"/>
              <a:t>我们进入之前介绍过的</a:t>
            </a:r>
            <a:r>
              <a:rPr lang="en-US" altLang="zh-CN" dirty="0" err="1"/>
              <a:t>cybozu</a:t>
            </a:r>
            <a:r>
              <a:rPr lang="en-US" altLang="zh-CN" dirty="0"/>
              <a:t> developer network</a:t>
            </a:r>
            <a:r>
              <a:rPr lang="zh-CN" altLang="en-US" dirty="0"/>
              <a:t>网站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首页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文档和工具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kintone JavaScript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记录添加事件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在这个页面里，上面列着的是事件，下面列着的是在时间发生时刻执行的操作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 “记录添加页面显示时的事件”，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0631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在这个页面里，我们就可以看到需要查找的事件名字写法了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因为我们现在是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版的，所以我们选择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app.record.create.show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6451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7014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接下去需要大家一起来尝试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70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我们打开</a:t>
            </a:r>
            <a:r>
              <a:rPr lang="en-US" altLang="zh-CN" dirty="0"/>
              <a:t>sample.js</a:t>
            </a:r>
            <a:r>
              <a:rPr lang="zh-CN" altLang="en-US" dirty="0"/>
              <a:t>文件，把在红色的字体部分，把事件填进去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449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6863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291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好了，刚才我们填写了当什么什么的时候，现在我们开始填写干什么，也就是操作了。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8274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5144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拿好值之后，我们可以在之后对它进行操作。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572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597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IE</a:t>
            </a:r>
            <a:r>
              <a:rPr lang="zh-CN" altLang="en-US" dirty="0"/>
              <a:t>里面叫控制台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0621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当产品名为 </a:t>
            </a:r>
            <a:r>
              <a:rPr lang="en-US" altLang="zh-CN" dirty="0"/>
              <a:t>xxx</a:t>
            </a:r>
            <a:r>
              <a:rPr lang="zh-CN" altLang="en-US" dirty="0"/>
              <a:t> 的时候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4271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755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我们基于前面写的代码里，继续写。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0637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下面给大家介绍一个</a:t>
            </a:r>
            <a:r>
              <a:rPr lang="en-US" altLang="zh-CN" dirty="0"/>
              <a:t>JavaScript</a:t>
            </a:r>
            <a:r>
              <a:rPr lang="zh-CN" altLang="en-US" dirty="0"/>
              <a:t>函数。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984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21855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第一个任务，第二个任务的所有代码应该是这样的。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没有填完的，可以参照这块再填一下。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70723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接下来，我们将</a:t>
            </a:r>
            <a:r>
              <a:rPr lang="en-US" altLang="zh-CN" dirty="0"/>
              <a:t>JavaScript</a:t>
            </a:r>
            <a:r>
              <a:rPr lang="zh-CN" altLang="en-US" dirty="0"/>
              <a:t>文件上传到应用里。</a:t>
            </a:r>
            <a:endParaRPr lang="en-US" altLang="zh-CN" dirty="0"/>
          </a:p>
          <a:p>
            <a:r>
              <a:rPr lang="zh-CN" altLang="en-US" dirty="0"/>
              <a:t>首先，我们先点击 “设置” 按钮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43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选择 “设置” 栏，点击 “通过</a:t>
            </a:r>
            <a:r>
              <a:rPr lang="en-US" altLang="zh-CN" dirty="0"/>
              <a:t>JavaScript/CSS</a:t>
            </a:r>
            <a:r>
              <a:rPr lang="zh-CN" altLang="en-US" dirty="0"/>
              <a:t>自定义”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52022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JavaScript</a:t>
            </a:r>
            <a:r>
              <a:rPr lang="zh-CN" altLang="en-US" dirty="0"/>
              <a:t>文件（电脑专用）栏，通过上传添加我们刚才写好的</a:t>
            </a:r>
            <a:r>
              <a:rPr lang="en-US" altLang="zh-CN" dirty="0"/>
              <a:t>sample.js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zh-CN" altLang="en-US" dirty="0"/>
              <a:t>再点击保存。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85053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最后一步：别忘记更新应用哦！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2558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成功了吗？</a:t>
            </a:r>
            <a:endParaRPr lang="en-US" altLang="zh-CN" dirty="0"/>
          </a:p>
          <a:p>
            <a:r>
              <a:rPr lang="zh-CN" altLang="en-US" dirty="0"/>
              <a:t>大家有什么提问吗？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09653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 5</a:t>
            </a:r>
            <a:r>
              <a:rPr lang="zh-CN" altLang="en-US" dirty="0"/>
              <a:t>月份</a:t>
            </a:r>
            <a:r>
              <a:rPr lang="en-US" altLang="zh-CN"/>
              <a:t>local</a:t>
            </a:r>
            <a:r>
              <a:rPr lang="zh-CN" altLang="en-US"/>
              <a:t>学习</a:t>
            </a:r>
            <a:r>
              <a:rPr lang="zh-CN" altLang="en-US" dirty="0"/>
              <a:t>会介绍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5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E05036-268D-45F3-B09D-CC67008DF79E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32CD06-1B1F-414B-B4FE-31E1F85B81F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FB4022A-BBFC-42BA-B5AD-219EDFE7BE49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350168-D733-40F3-8008-C1E3A15A97FC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E83656-7932-4486-84C9-E7CE3178D44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8A92E5-160A-463C-8A42-C2B4DDA97872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BCB39C-B571-4FAE-AD83-3C56671202CF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09FD10D-B83E-489C-A23D-83BB085930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F6F023-3388-4DFA-B290-C08530C2CFB5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C954331-23A4-4B71-A4CB-58B1F761A477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F887FB-4A05-40F2-A212-D4E163B2F8C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86D66A-0081-4E9F-9DEC-63BDA23E871F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D591B4-D3C2-48BA-B84E-42133E130F72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FFD7933-5AEB-4EFB-A137-E299B9E87D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A58BA5-38FD-490E-A4EB-EC85AEDC0EB7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2661083-F71D-42F6-8583-D032B2B57F46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282CFF8-2478-4E96-B97A-86F5169648A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8EC397-24B0-47A1-9741-70B5CBE3E78E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0FBC38-9EA5-485D-82C7-D310F88722B0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593B03-534B-4CEE-B9DF-8D7E5B7F199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83AB6E9-C55F-42A0-B182-C067CCAD9993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1D2D8B-4DA7-486F-859B-FBEF371BD3E9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C444A7A-FFB8-4BB2-A6C6-6C92F19DCAD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F52FA3-F5FE-4DE5-8F3D-54EB048B3C4C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1489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A65D2-8FAD-4D76-8784-B0DFBE8D81B0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1E52-4521-4A04-9B01-2C3910F23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220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" y="1"/>
            <a:ext cx="2006857" cy="5142857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74900" y="1678544"/>
            <a:ext cx="6769100" cy="2139553"/>
          </a:xfrm>
        </p:spPr>
        <p:txBody>
          <a:bodyPr anchor="ctr">
            <a:normAutofit/>
          </a:bodyPr>
          <a:lstStyle>
            <a:lvl1pPr algn="l">
              <a:defRPr sz="2700" b="1">
                <a:solidFill>
                  <a:schemeClr val="tx2"/>
                </a:solidFill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5" name="スライド番号プレースホルダー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3F877-7F44-B647-97A3-89F3E3AC0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523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190" y="3766243"/>
            <a:ext cx="3923810" cy="1373562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8650" y="685332"/>
            <a:ext cx="7886700" cy="45958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362076"/>
            <a:ext cx="7886700" cy="3448049"/>
          </a:xfrm>
        </p:spPr>
        <p:txBody>
          <a:bodyPr>
            <a:normAutofit/>
          </a:bodyPr>
          <a:lstStyle>
            <a:lvl1pPr marL="243000" indent="-243000">
              <a:defRPr sz="2100"/>
            </a:lvl1pPr>
            <a:lvl2pPr marL="243000" indent="0">
              <a:buFontTx/>
              <a:buNone/>
              <a:defRPr sz="2100"/>
            </a:lvl2pPr>
            <a:lvl3pPr marL="513000">
              <a:defRPr sz="1800"/>
            </a:lvl3pPr>
            <a:lvl4pPr marL="513000" indent="0">
              <a:buFontTx/>
              <a:buNone/>
              <a:defRPr sz="1800"/>
            </a:lvl4pPr>
            <a:lvl5pPr marL="891000" indent="-17145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スライド番号プレースホルダー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3F877-7F44-B647-97A3-89F3E3AC0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411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0D07AA-D6A0-4511-9255-3945168B88EB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86485"/>
            <a:ext cx="1510693" cy="3318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9" r:id="rId6"/>
    <p:sldLayoutId id="2147483667" r:id="rId7"/>
    <p:sldLayoutId id="2147483653" r:id="rId8"/>
    <p:sldLayoutId id="2147483662" r:id="rId9"/>
    <p:sldLayoutId id="2147483654" r:id="rId10"/>
    <p:sldLayoutId id="2147483651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8" r:id="rId17"/>
    <p:sldLayoutId id="2147483670" r:id="rId18"/>
    <p:sldLayoutId id="2147483671" r:id="rId19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camp.cybozu.cn/k/#/porta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ybozudev.kf5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ybozudev.kf5.com/" TargetMode="External"/><Relationship Id="rId5" Type="http://schemas.openxmlformats.org/officeDocument/2006/relationships/hyperlink" Target="https://developer.cybozu.io/hc/ja" TargetMode="External"/><Relationship Id="rId4" Type="http://schemas.openxmlformats.org/officeDocument/2006/relationships/hyperlink" Target="https://developer.kintone.io/hc/en-u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ybozudev.kf5.com/hc/kb/article/206907/" TargetMode="Externa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3.pn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65.sv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g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91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/>
          <p:cNvCxnSpPr>
            <a:cxnSpLocks/>
          </p:cNvCxnSpPr>
          <p:nvPr/>
        </p:nvCxnSpPr>
        <p:spPr>
          <a:xfrm>
            <a:off x="1145663" y="3021800"/>
            <a:ext cx="625766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34364D-513D-4286-AB19-E3307679F45F}"/>
              </a:ext>
            </a:extLst>
          </p:cNvPr>
          <p:cNvGrpSpPr/>
          <p:nvPr/>
        </p:nvGrpSpPr>
        <p:grpSpPr>
          <a:xfrm>
            <a:off x="1145663" y="2623154"/>
            <a:ext cx="7386777" cy="1208736"/>
            <a:chOff x="1145663" y="2443134"/>
            <a:chExt cx="7386777" cy="1208736"/>
          </a:xfrm>
        </p:grpSpPr>
        <p:cxnSp>
          <p:nvCxnSpPr>
            <p:cNvPr id="24" name="直接连接符 23"/>
            <p:cNvCxnSpPr>
              <a:cxnSpLocks/>
            </p:cNvCxnSpPr>
            <p:nvPr/>
          </p:nvCxnSpPr>
          <p:spPr>
            <a:xfrm>
              <a:off x="1145663" y="3471850"/>
              <a:ext cx="6355056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7323704" y="2443134"/>
              <a:ext cx="1208736" cy="12087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390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200" b="1">
                <a:solidFill>
                  <a:srgbClr val="F39030"/>
                </a:solidFill>
                <a:latin typeface="微软雅黑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051720" y="2872847"/>
              <a:ext cx="5528626" cy="499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登录试用环境，页面左边“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课程资料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”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下载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403331" y="2780752"/>
              <a:ext cx="1049482" cy="611312"/>
            </a:xfrm>
            <a:prstGeom prst="rect">
              <a:avLst/>
            </a:prstGeom>
          </p:spPr>
          <p:txBody>
            <a:bodyPr wrap="square" tIns="72000">
              <a:spAutoFit/>
            </a:bodyPr>
            <a:lstStyle/>
            <a:p>
              <a:pPr lvl="0" algn="ctr"/>
              <a:r>
                <a:rPr lang="zh-CN" altLang="en-US" sz="1600" b="1" dirty="0">
                  <a:solidFill>
                    <a:srgbClr val="F39030"/>
                  </a:solidFill>
                  <a:latin typeface="+mj-ea"/>
                  <a:ea typeface="+mj-ea"/>
                </a:rPr>
                <a:t>本次课程</a:t>
              </a:r>
              <a:endParaRPr lang="en-US" altLang="zh-CN" sz="1600" b="1" dirty="0">
                <a:solidFill>
                  <a:srgbClr val="F39030"/>
                </a:solidFill>
                <a:latin typeface="+mj-ea"/>
                <a:ea typeface="+mj-ea"/>
              </a:endParaRPr>
            </a:p>
            <a:p>
              <a:pPr lvl="0" algn="ctr"/>
              <a:r>
                <a:rPr lang="zh-CN" altLang="en-US" sz="1600" b="1" dirty="0">
                  <a:solidFill>
                    <a:srgbClr val="F39030"/>
                  </a:solidFill>
                  <a:latin typeface="+mj-ea"/>
                  <a:ea typeface="+mj-ea"/>
                </a:rPr>
                <a:t>资料下载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开课前提示</a:t>
            </a:r>
          </a:p>
        </p:txBody>
      </p:sp>
      <p:cxnSp>
        <p:nvCxnSpPr>
          <p:cNvPr id="20" name="直接连接符 19"/>
          <p:cNvCxnSpPr>
            <a:cxnSpLocks/>
          </p:cNvCxnSpPr>
          <p:nvPr/>
        </p:nvCxnSpPr>
        <p:spPr>
          <a:xfrm>
            <a:off x="0" y="963205"/>
            <a:ext cx="7386549" cy="1110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cxnSpLocks/>
          </p:cNvCxnSpPr>
          <p:nvPr/>
        </p:nvCxnSpPr>
        <p:spPr>
          <a:xfrm>
            <a:off x="1094259" y="1716655"/>
            <a:ext cx="653808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7317305" y="681540"/>
            <a:ext cx="1208736" cy="1208736"/>
          </a:xfrm>
          <a:prstGeom prst="ellipse">
            <a:avLst/>
          </a:prstGeom>
          <a:solidFill>
            <a:schemeClr val="bg1"/>
          </a:solidFill>
          <a:ln w="28575">
            <a:solidFill>
              <a:srgbClr val="66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86549" y="990466"/>
            <a:ext cx="10494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b="1" dirty="0" err="1">
                <a:solidFill>
                  <a:srgbClr val="66D5F0"/>
                </a:solidFill>
                <a:latin typeface="+mj-ea"/>
                <a:ea typeface="+mj-ea"/>
              </a:rPr>
              <a:t>WiFi</a:t>
            </a:r>
            <a:endParaRPr lang="en-US" altLang="zh-CN" sz="1600" b="1" dirty="0">
              <a:solidFill>
                <a:srgbClr val="66D5F0"/>
              </a:solidFill>
              <a:latin typeface="+mj-ea"/>
              <a:ea typeface="+mj-ea"/>
            </a:endParaRPr>
          </a:p>
          <a:p>
            <a:pPr lvl="0" algn="ctr"/>
            <a:r>
              <a:rPr lang="zh-CN" altLang="en-US" sz="1600" b="1" dirty="0">
                <a:solidFill>
                  <a:srgbClr val="66D5F0"/>
                </a:solidFill>
                <a:latin typeface="+mj-ea"/>
                <a:ea typeface="+mj-ea"/>
              </a:rPr>
              <a:t>环境设定</a:t>
            </a:r>
          </a:p>
        </p:txBody>
      </p:sp>
      <p:sp>
        <p:nvSpPr>
          <p:cNvPr id="27" name="椭圆 26"/>
          <p:cNvSpPr/>
          <p:nvPr/>
        </p:nvSpPr>
        <p:spPr>
          <a:xfrm>
            <a:off x="431540" y="1626646"/>
            <a:ext cx="1485164" cy="148516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390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 dirty="0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9381" y="1829313"/>
            <a:ext cx="10494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b="1" dirty="0">
                <a:solidFill>
                  <a:srgbClr val="F39030"/>
                </a:solidFill>
                <a:latin typeface="+mj-ea"/>
                <a:ea typeface="+mj-ea"/>
              </a:rPr>
              <a:t>kintone</a:t>
            </a:r>
          </a:p>
          <a:p>
            <a:pPr lvl="0" algn="ctr"/>
            <a:r>
              <a:rPr lang="zh-CN" altLang="en-US" sz="1600" b="1" dirty="0">
                <a:solidFill>
                  <a:srgbClr val="F39030"/>
                </a:solidFill>
                <a:latin typeface="+mj-ea"/>
                <a:ea typeface="+mj-ea"/>
              </a:rPr>
              <a:t>试用环境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A135D1C-B541-4A27-8A3A-75CCE2944A9A}"/>
              </a:ext>
            </a:extLst>
          </p:cNvPr>
          <p:cNvGrpSpPr/>
          <p:nvPr/>
        </p:nvGrpSpPr>
        <p:grpSpPr>
          <a:xfrm>
            <a:off x="617959" y="3478249"/>
            <a:ext cx="8526041" cy="1208736"/>
            <a:chOff x="617959" y="3343234"/>
            <a:chExt cx="8526041" cy="1208736"/>
          </a:xfrm>
        </p:grpSpPr>
        <p:cxnSp>
          <p:nvCxnSpPr>
            <p:cNvPr id="22" name="直接连接符 21"/>
            <p:cNvCxnSpPr>
              <a:cxnSpLocks/>
            </p:cNvCxnSpPr>
            <p:nvPr/>
          </p:nvCxnSpPr>
          <p:spPr>
            <a:xfrm>
              <a:off x="1094259" y="4416955"/>
              <a:ext cx="8049741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/>
            <p:cNvSpPr/>
            <p:nvPr/>
          </p:nvSpPr>
          <p:spPr>
            <a:xfrm>
              <a:off x="617959" y="3343234"/>
              <a:ext cx="1208736" cy="12087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66D5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200" b="1">
                <a:solidFill>
                  <a:srgbClr val="1A7BAE"/>
                </a:solidFill>
                <a:latin typeface="微软雅黑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714197" y="3697165"/>
              <a:ext cx="10224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1600" b="1" dirty="0">
                  <a:solidFill>
                    <a:srgbClr val="66D5F0"/>
                  </a:solidFill>
                  <a:latin typeface="微软雅黑"/>
                </a:rPr>
                <a:t>必要软件下载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2051720" y="3520186"/>
              <a:ext cx="6570729" cy="806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登录试用环境，页面左边“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必要软件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”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下载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可用于编程的文本编辑器：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Notepad++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，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Sublime Text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等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浏览器：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Chrome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2051720" y="1581640"/>
            <a:ext cx="6570729" cy="93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u="sng" dirty="0">
                <a:solidFill>
                  <a:schemeClr val="accent4">
                    <a:lumMod val="75000"/>
                  </a:schemeClr>
                </a:solidFill>
                <a:hlinkClick r:id="rId3"/>
              </a:rPr>
              <a:t>https://</a:t>
            </a:r>
            <a:r>
              <a:rPr lang="en-US" altLang="zh-CN" sz="2400" u="sng" dirty="0">
                <a:solidFill>
                  <a:schemeClr val="accent4">
                    <a:lumMod val="75000"/>
                  </a:schemeClr>
                </a:solidFill>
                <a:hlinkClick r:id="rId3"/>
              </a:rPr>
              <a:t>devcamp.cybozu.cn/k/#/portal</a:t>
            </a:r>
            <a:endParaRPr lang="en-US" altLang="zh-CN" sz="24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签到时分发的纸张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上的用户名、密码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546775" y="1082016"/>
            <a:ext cx="457557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请查看您所在会议桌上的提示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B30F3B-9923-41BA-B1AC-2AEA4D883E5C}"/>
              </a:ext>
            </a:extLst>
          </p:cNvPr>
          <p:cNvSpPr txBox="1"/>
          <p:nvPr/>
        </p:nvSpPr>
        <p:spPr>
          <a:xfrm>
            <a:off x="2051720" y="2465758"/>
            <a:ext cx="4959955" cy="511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如果继续使用</a:t>
            </a:r>
            <a:r>
              <a:rPr lang="en-US" altLang="zh-CN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，以下链接可获取免费试用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30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天的环境：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https://www.cybozu.cn/contact/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8E665A-0D2D-4C09-85A0-FB5568F0EEEE}"/>
              </a:ext>
            </a:extLst>
          </p:cNvPr>
          <p:cNvSpPr txBox="1"/>
          <p:nvPr/>
        </p:nvSpPr>
        <p:spPr>
          <a:xfrm>
            <a:off x="629023" y="242734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账号有效期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两周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50369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1331640" y="1851670"/>
            <a:ext cx="64807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rgbClr val="FDA907"/>
                </a:solidFill>
                <a:latin typeface="+mj-ea"/>
                <a:ea typeface="+mj-ea"/>
              </a:rPr>
              <a:t>90</a:t>
            </a:r>
            <a:r>
              <a:rPr lang="zh-CN" altLang="en-US" sz="4800" dirty="0">
                <a:solidFill>
                  <a:srgbClr val="FDA907"/>
                </a:solidFill>
                <a:latin typeface="+mj-ea"/>
                <a:ea typeface="+mj-ea"/>
              </a:rPr>
              <a:t>分钟实战！</a:t>
            </a:r>
            <a:endParaRPr lang="en-US" altLang="zh-CN" sz="4800" dirty="0">
              <a:solidFill>
                <a:srgbClr val="FDA907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3200" dirty="0">
                <a:solidFill>
                  <a:srgbClr val="66D5F0"/>
                </a:solidFill>
                <a:latin typeface="+mj-ea"/>
                <a:ea typeface="+mj-ea"/>
              </a:rPr>
              <a:t>kintone JavaScript </a:t>
            </a:r>
            <a:r>
              <a:rPr lang="zh-CN" altLang="en-US" sz="3200" dirty="0">
                <a:solidFill>
                  <a:srgbClr val="66D5F0"/>
                </a:solidFill>
                <a:latin typeface="+mj-ea"/>
                <a:ea typeface="+mj-ea"/>
              </a:rPr>
              <a:t>定制化学习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A0057E-5014-4A88-B8EA-D7BC3E3E1C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390" y="3381840"/>
            <a:ext cx="789067" cy="154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33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6228786B-E576-43BA-B947-F997ADE38041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本课程内容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00F50D-8A8D-4C0D-976B-EC0D29A80BB1}"/>
              </a:ext>
            </a:extLst>
          </p:cNvPr>
          <p:cNvGrpSpPr/>
          <p:nvPr/>
        </p:nvGrpSpPr>
        <p:grpSpPr>
          <a:xfrm>
            <a:off x="332864" y="861338"/>
            <a:ext cx="4717155" cy="2771080"/>
            <a:chOff x="693880" y="1041580"/>
            <a:chExt cx="4717155" cy="277108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DBA88AAD-9EAC-44AA-B40C-4EA823C8F39D}"/>
                </a:ext>
              </a:extLst>
            </p:cNvPr>
            <p:cNvSpPr/>
            <p:nvPr/>
          </p:nvSpPr>
          <p:spPr>
            <a:xfrm>
              <a:off x="693880" y="130294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776556B-D926-4CE1-A99F-590D84AED93E}"/>
                </a:ext>
              </a:extLst>
            </p:cNvPr>
            <p:cNvSpPr txBox="1"/>
            <p:nvPr/>
          </p:nvSpPr>
          <p:spPr>
            <a:xfrm>
              <a:off x="972576" y="1041580"/>
              <a:ext cx="4438459" cy="2771080"/>
            </a:xfrm>
            <a:prstGeom prst="rect">
              <a:avLst/>
            </a:prstGeom>
            <a:noFill/>
          </p:spPr>
          <p:txBody>
            <a:bodyPr wrap="none" tIns="46800" spcCol="72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1. kintone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的扩充性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1.1 JavaScript API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1.2 REST API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1.3 cybozu developer network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是什么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1.4 cybozu developer network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</a:rPr>
                <a:t>界面介绍</a:t>
              </a:r>
            </a:p>
            <a:p>
              <a:pPr>
                <a:lnSpc>
                  <a:spcPct val="150000"/>
                </a:lnSpc>
              </a:pP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4BBFD08-694A-4753-BC7B-500714B7E83F}"/>
              </a:ext>
            </a:extLst>
          </p:cNvPr>
          <p:cNvGrpSpPr/>
          <p:nvPr/>
        </p:nvGrpSpPr>
        <p:grpSpPr>
          <a:xfrm>
            <a:off x="5202069" y="878104"/>
            <a:ext cx="3555395" cy="3139321"/>
            <a:chOff x="4227016" y="878104"/>
            <a:chExt cx="3288435" cy="313932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50834B4-2B3D-4BD6-8F9A-F8093E500B98}"/>
                </a:ext>
              </a:extLst>
            </p:cNvPr>
            <p:cNvSpPr/>
            <p:nvPr/>
          </p:nvSpPr>
          <p:spPr>
            <a:xfrm>
              <a:off x="4227016" y="112292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CDF5298-368F-48D7-A397-FF2CB737DB49}"/>
                </a:ext>
              </a:extLst>
            </p:cNvPr>
            <p:cNvSpPr txBox="1"/>
            <p:nvPr/>
          </p:nvSpPr>
          <p:spPr>
            <a:xfrm>
              <a:off x="4532779" y="878104"/>
              <a:ext cx="2982672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2. kintone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定制化实践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2.1 JavaScript API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事件介绍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2.2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字段表示非表示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2.3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保存后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confirm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提示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2.4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如何上传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js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文件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0024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6228786B-E576-43BA-B947-F997ADE38041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本课程需要用到的资料目录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00F50D-8A8D-4C0D-976B-EC0D29A80BB1}"/>
              </a:ext>
            </a:extLst>
          </p:cNvPr>
          <p:cNvGrpSpPr/>
          <p:nvPr/>
        </p:nvGrpSpPr>
        <p:grpSpPr>
          <a:xfrm>
            <a:off x="465762" y="861449"/>
            <a:ext cx="7891542" cy="647421"/>
            <a:chOff x="657541" y="1041580"/>
            <a:chExt cx="7891542" cy="647421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DBA88AAD-9EAC-44AA-B40C-4EA823C8F39D}"/>
                </a:ext>
              </a:extLst>
            </p:cNvPr>
            <p:cNvSpPr/>
            <p:nvPr/>
          </p:nvSpPr>
          <p:spPr>
            <a:xfrm>
              <a:off x="657541" y="1302944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776556B-D926-4CE1-A99F-590D84AED93E}"/>
                </a:ext>
              </a:extLst>
            </p:cNvPr>
            <p:cNvSpPr txBox="1"/>
            <p:nvPr/>
          </p:nvSpPr>
          <p:spPr>
            <a:xfrm>
              <a:off x="981242" y="1041580"/>
              <a:ext cx="7567841" cy="647421"/>
            </a:xfrm>
            <a:prstGeom prst="rect">
              <a:avLst/>
            </a:prstGeom>
            <a:noFill/>
          </p:spPr>
          <p:txBody>
            <a:bodyPr wrap="none" tIns="46800" spcCol="72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1. 90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分钟实战！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kintone JavaScript 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定制化学习</a:t>
              </a: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.pptx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4BBFD08-694A-4753-BC7B-500714B7E83F}"/>
              </a:ext>
            </a:extLst>
          </p:cNvPr>
          <p:cNvGrpSpPr/>
          <p:nvPr/>
        </p:nvGrpSpPr>
        <p:grpSpPr>
          <a:xfrm>
            <a:off x="465762" y="1443485"/>
            <a:ext cx="4974534" cy="923330"/>
            <a:chOff x="4246459" y="878104"/>
            <a:chExt cx="4601016" cy="92333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50834B4-2B3D-4BD6-8F9A-F8093E500B98}"/>
                </a:ext>
              </a:extLst>
            </p:cNvPr>
            <p:cNvSpPr/>
            <p:nvPr/>
          </p:nvSpPr>
          <p:spPr>
            <a:xfrm>
              <a:off x="4246459" y="1103129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CDF5298-368F-48D7-A397-FF2CB737DB49}"/>
                </a:ext>
              </a:extLst>
            </p:cNvPr>
            <p:cNvSpPr txBox="1"/>
            <p:nvPr/>
          </p:nvSpPr>
          <p:spPr>
            <a:xfrm>
              <a:off x="4532779" y="878104"/>
              <a:ext cx="43146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2. sample.js 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（需要填空）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08863BF-1F2C-4480-B037-83CBD732E2B6}"/>
              </a:ext>
            </a:extLst>
          </p:cNvPr>
          <p:cNvGrpSpPr/>
          <p:nvPr/>
        </p:nvGrpSpPr>
        <p:grpSpPr>
          <a:xfrm>
            <a:off x="465762" y="2008460"/>
            <a:ext cx="4974534" cy="923330"/>
            <a:chOff x="4246459" y="878104"/>
            <a:chExt cx="4601016" cy="92333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6B0B9FB-C066-456E-8477-3751726A88E8}"/>
                </a:ext>
              </a:extLst>
            </p:cNvPr>
            <p:cNvSpPr/>
            <p:nvPr/>
          </p:nvSpPr>
          <p:spPr>
            <a:xfrm>
              <a:off x="4246459" y="1103129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CF4091A-49E5-49BB-98CA-B1228B6B430C}"/>
                </a:ext>
              </a:extLst>
            </p:cNvPr>
            <p:cNvSpPr txBox="1"/>
            <p:nvPr/>
          </p:nvSpPr>
          <p:spPr>
            <a:xfrm>
              <a:off x="4532779" y="878104"/>
              <a:ext cx="43146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3. answer.js 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（参考答案）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endParaRPr>
            </a:p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DC90F5D8-C6EA-43B3-BAF2-52FF7172CC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70" y="3246825"/>
            <a:ext cx="942786" cy="15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1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A9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272382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5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25592" y="1397264"/>
            <a:ext cx="40318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latin typeface="Impact"/>
              </a:rPr>
              <a:t>kinone</a:t>
            </a:r>
            <a:r>
              <a:rPr lang="zh-CN" altLang="en-US" sz="4400" dirty="0">
                <a:solidFill>
                  <a:schemeClr val="bg1"/>
                </a:solidFill>
                <a:latin typeface="Impact"/>
              </a:rPr>
              <a:t>的扩充性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12DD88-222E-4605-9DE1-B74F3D58DF13}"/>
              </a:ext>
            </a:extLst>
          </p:cNvPr>
          <p:cNvSpPr/>
          <p:nvPr/>
        </p:nvSpPr>
        <p:spPr>
          <a:xfrm>
            <a:off x="3993391" y="2691666"/>
            <a:ext cx="53941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kintone API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入门系列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https://cybozudev.kf5.com/hc/kb/section/106248/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7580FA-6E0F-47B3-91EA-A6DFFFCCDA7A}"/>
              </a:ext>
            </a:extLst>
          </p:cNvPr>
          <p:cNvSpPr/>
          <p:nvPr/>
        </p:nvSpPr>
        <p:spPr>
          <a:xfrm>
            <a:off x="3851920" y="2166705"/>
            <a:ext cx="5178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</a:rPr>
              <a:t>可弥补标准功能不足的</a:t>
            </a:r>
            <a:r>
              <a:rPr lang="en-US" altLang="zh-CN" sz="2000" dirty="0">
                <a:solidFill>
                  <a:schemeClr val="bg1"/>
                </a:solidFill>
              </a:rPr>
              <a:t>kintone</a:t>
            </a:r>
            <a:r>
              <a:rPr lang="zh-CN" altLang="en-US" sz="2000" dirty="0">
                <a:solidFill>
                  <a:schemeClr val="bg1"/>
                </a:solidFill>
              </a:rPr>
              <a:t>定制化开发。</a:t>
            </a:r>
          </a:p>
        </p:txBody>
      </p:sp>
    </p:spTree>
    <p:extLst>
      <p:ext uri="{BB962C8B-B14F-4D97-AF65-F5344CB8AC3E}">
        <p14:creationId xmlns:p14="http://schemas.microsoft.com/office/powerpoint/2010/main" val="4223966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7920880" cy="3517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dirty="0">
                <a:latin typeface="+mn-ea"/>
                <a:ea typeface="+mn-ea"/>
              </a:rPr>
              <a:t>k</a:t>
            </a:r>
            <a:r>
              <a:rPr kumimoji="1" lang="en-US" altLang="ja-JP" sz="1800" dirty="0">
                <a:latin typeface="+mn-ea"/>
                <a:ea typeface="+mn-ea"/>
              </a:rPr>
              <a:t>intone</a:t>
            </a:r>
            <a:r>
              <a:rPr kumimoji="1" lang="zh-CN" altLang="en-US" sz="1800" dirty="0">
                <a:latin typeface="+mn-ea"/>
                <a:ea typeface="+mn-ea"/>
              </a:rPr>
              <a:t>的</a:t>
            </a:r>
            <a:r>
              <a:rPr kumimoji="1" lang="en-US" altLang="zh-CN" sz="1800" dirty="0">
                <a:latin typeface="+mn-ea"/>
                <a:ea typeface="+mn-ea"/>
              </a:rPr>
              <a:t>API</a:t>
            </a:r>
            <a:r>
              <a:rPr kumimoji="1" lang="zh-CN" altLang="en-US" sz="1800" dirty="0">
                <a:latin typeface="+mn-ea"/>
                <a:ea typeface="+mn-ea"/>
              </a:rPr>
              <a:t>，一般来说大致地可以分为</a:t>
            </a:r>
            <a:r>
              <a:rPr kumimoji="1" lang="en-US" altLang="zh-CN" sz="1800" dirty="0">
                <a:latin typeface="+mn-ea"/>
                <a:ea typeface="+mn-ea"/>
              </a:rPr>
              <a:t>2</a:t>
            </a:r>
            <a:r>
              <a:rPr kumimoji="1" lang="zh-CN" altLang="en-US" sz="1800" dirty="0">
                <a:latin typeface="+mn-ea"/>
                <a:ea typeface="+mn-ea"/>
              </a:rPr>
              <a:t>种：</a:t>
            </a:r>
            <a:endParaRPr kumimoji="1" lang="ja-JP" altLang="en-US" sz="1800" dirty="0">
              <a:latin typeface="+mn-ea"/>
              <a:ea typeface="+mn-ea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的扩充性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04158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F462162-B050-43C9-BA1E-7F433C386297}"/>
              </a:ext>
            </a:extLst>
          </p:cNvPr>
          <p:cNvGrpSpPr/>
          <p:nvPr/>
        </p:nvGrpSpPr>
        <p:grpSpPr>
          <a:xfrm>
            <a:off x="1332822" y="1806665"/>
            <a:ext cx="5849469" cy="2548530"/>
            <a:chOff x="971600" y="1480812"/>
            <a:chExt cx="7057678" cy="3424149"/>
          </a:xfrm>
        </p:grpSpPr>
        <p:sp>
          <p:nvSpPr>
            <p:cNvPr id="31" name="角丸四角形 5">
              <a:extLst>
                <a:ext uri="{FF2B5EF4-FFF2-40B4-BE49-F238E27FC236}">
                  <a16:creationId xmlns:a16="http://schemas.microsoft.com/office/drawing/2014/main" id="{159C3162-07B5-45DD-92EA-3FC266893549}"/>
                </a:ext>
              </a:extLst>
            </p:cNvPr>
            <p:cNvSpPr/>
            <p:nvPr/>
          </p:nvSpPr>
          <p:spPr>
            <a:xfrm>
              <a:off x="5425756" y="1480812"/>
              <a:ext cx="2473376" cy="748768"/>
            </a:xfrm>
            <a:prstGeom prst="roundRect">
              <a:avLst>
                <a:gd name="adj" fmla="val 50000"/>
              </a:avLst>
            </a:prstGeom>
            <a:solidFill>
              <a:srgbClr val="63BDD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REST</a:t>
              </a:r>
              <a:r>
                <a:rPr lang="ja-JP" altLang="en-US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API</a:t>
              </a:r>
              <a:endParaRPr lang="ja-JP" altLang="en-US" sz="2400" dirty="0">
                <a:solidFill>
                  <a:schemeClr val="bg1"/>
                </a:solidFill>
                <a:ea typeface="Meiryo" charset="-128"/>
                <a:cs typeface="Meiryo" charset="-128"/>
              </a:endParaRPr>
            </a:p>
          </p:txBody>
        </p:sp>
        <p:sp>
          <p:nvSpPr>
            <p:cNvPr id="54" name="テキスト ボックス 6">
              <a:extLst>
                <a:ext uri="{FF2B5EF4-FFF2-40B4-BE49-F238E27FC236}">
                  <a16:creationId xmlns:a16="http://schemas.microsoft.com/office/drawing/2014/main" id="{F1AE3DAA-F8A7-45E0-8BB7-0E29F2050470}"/>
                </a:ext>
              </a:extLst>
            </p:cNvPr>
            <p:cNvSpPr txBox="1"/>
            <p:nvPr/>
          </p:nvSpPr>
          <p:spPr>
            <a:xfrm>
              <a:off x="6025634" y="4367382"/>
              <a:ext cx="1460635" cy="537579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dirty="0">
                  <a:solidFill>
                    <a:srgbClr val="FDA907"/>
                  </a:solidFill>
                  <a:latin typeface="+mn-ea"/>
                  <a:cs typeface="Meiryo" charset="-128"/>
                </a:rPr>
                <a:t>系统整合</a:t>
              </a:r>
              <a:endParaRPr lang="ja-JP" altLang="en-US" sz="2000" dirty="0">
                <a:solidFill>
                  <a:srgbClr val="FDA907"/>
                </a:solidFill>
                <a:latin typeface="+mn-ea"/>
                <a:cs typeface="Meiryo" charset="-128"/>
              </a:endParaRPr>
            </a:p>
          </p:txBody>
        </p:sp>
        <p:sp>
          <p:nvSpPr>
            <p:cNvPr id="55" name="テキスト ボックス 7">
              <a:extLst>
                <a:ext uri="{FF2B5EF4-FFF2-40B4-BE49-F238E27FC236}">
                  <a16:creationId xmlns:a16="http://schemas.microsoft.com/office/drawing/2014/main" id="{23AB6BE9-AA43-4EBE-8071-4942313DD0F4}"/>
                </a:ext>
              </a:extLst>
            </p:cNvPr>
            <p:cNvSpPr txBox="1"/>
            <p:nvPr/>
          </p:nvSpPr>
          <p:spPr>
            <a:xfrm>
              <a:off x="1589318" y="4367382"/>
              <a:ext cx="1770091" cy="537579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dirty="0">
                  <a:solidFill>
                    <a:srgbClr val="FDA907"/>
                  </a:solidFill>
                  <a:latin typeface="+mn-ea"/>
                  <a:cs typeface="Meiryo" charset="-128"/>
                </a:rPr>
                <a:t>页面自定义</a:t>
              </a:r>
              <a:endParaRPr lang="ja-JP" altLang="en-US" sz="2000" dirty="0">
                <a:solidFill>
                  <a:srgbClr val="FDA907"/>
                </a:solidFill>
                <a:latin typeface="+mn-ea"/>
                <a:cs typeface="Meiryo" charset="-128"/>
              </a:endParaRPr>
            </a:p>
          </p:txBody>
        </p:sp>
        <p:sp>
          <p:nvSpPr>
            <p:cNvPr id="56" name="角丸四角形 8">
              <a:extLst>
                <a:ext uri="{FF2B5EF4-FFF2-40B4-BE49-F238E27FC236}">
                  <a16:creationId xmlns:a16="http://schemas.microsoft.com/office/drawing/2014/main" id="{87139A5E-AA17-4396-9BFE-2EB6129F0AC5}"/>
                </a:ext>
              </a:extLst>
            </p:cNvPr>
            <p:cNvSpPr/>
            <p:nvPr/>
          </p:nvSpPr>
          <p:spPr>
            <a:xfrm>
              <a:off x="971600" y="1484115"/>
              <a:ext cx="2983517" cy="748768"/>
            </a:xfrm>
            <a:prstGeom prst="roundRect">
              <a:avLst>
                <a:gd name="adj" fmla="val 50000"/>
              </a:avLst>
            </a:prstGeom>
            <a:solidFill>
              <a:srgbClr val="63BDD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JavaScript</a:t>
              </a:r>
              <a:r>
                <a:rPr lang="ja-JP" altLang="en-US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 </a:t>
              </a:r>
              <a:r>
                <a:rPr lang="en-US" altLang="ja-JP" sz="2400" dirty="0">
                  <a:solidFill>
                    <a:schemeClr val="bg1"/>
                  </a:solidFill>
                  <a:ea typeface="Meiryo" charset="-128"/>
                  <a:cs typeface="Meiryo" charset="-128"/>
                </a:rPr>
                <a:t>API</a:t>
              </a:r>
              <a:endParaRPr lang="ja-JP" altLang="en-US" sz="2400" dirty="0">
                <a:solidFill>
                  <a:schemeClr val="bg1"/>
                </a:solidFill>
                <a:ea typeface="Meiryo" charset="-128"/>
                <a:cs typeface="Meiryo" charset="-128"/>
              </a:endParaRPr>
            </a:p>
          </p:txBody>
        </p:sp>
        <p:pic>
          <p:nvPicPr>
            <p:cNvPr id="57" name="図 10">
              <a:extLst>
                <a:ext uri="{FF2B5EF4-FFF2-40B4-BE49-F238E27FC236}">
                  <a16:creationId xmlns:a16="http://schemas.microsoft.com/office/drawing/2014/main" id="{B232E206-7EC3-42FF-935E-FE114641D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871" y="2543434"/>
              <a:ext cx="2657475" cy="1476375"/>
            </a:xfrm>
            <a:prstGeom prst="rect">
              <a:avLst/>
            </a:prstGeom>
          </p:spPr>
        </p:pic>
        <p:pic>
          <p:nvPicPr>
            <p:cNvPr id="58" name="図 11">
              <a:extLst>
                <a:ext uri="{FF2B5EF4-FFF2-40B4-BE49-F238E27FC236}">
                  <a16:creationId xmlns:a16="http://schemas.microsoft.com/office/drawing/2014/main" id="{7D7B02C0-B169-4A8E-843B-372B7C19D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5603" y="2592414"/>
              <a:ext cx="2733675" cy="1504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9970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6840760" cy="23471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常用事件自定义</a:t>
            </a:r>
            <a:r>
              <a:rPr lang="ja-JP" altLang="en-US" sz="2400" dirty="0">
                <a:latin typeface="+mn-ea"/>
                <a:ea typeface="+mn-ea"/>
              </a:rPr>
              <a:t>（</a:t>
            </a:r>
            <a:r>
              <a:rPr lang="zh-CN" altLang="en-US" sz="2400" dirty="0">
                <a:latin typeface="+mn-ea"/>
                <a:ea typeface="+mn-ea"/>
              </a:rPr>
              <a:t>列表</a:t>
            </a:r>
            <a:r>
              <a:rPr lang="ja-JP" altLang="en-US" sz="2400" dirty="0">
                <a:latin typeface="+mn-ea"/>
                <a:ea typeface="+mn-ea"/>
              </a:rPr>
              <a:t>、</a:t>
            </a:r>
            <a:r>
              <a:rPr lang="zh-CN" altLang="en-US" sz="2400" dirty="0">
                <a:latin typeface="+mn-ea"/>
                <a:ea typeface="+mn-ea"/>
              </a:rPr>
              <a:t>显示</a:t>
            </a:r>
            <a:r>
              <a:rPr lang="ja-JP" altLang="en-US" sz="2400" dirty="0">
                <a:latin typeface="+mn-ea"/>
                <a:ea typeface="+mn-ea"/>
              </a:rPr>
              <a:t>、</a:t>
            </a:r>
            <a:r>
              <a:rPr lang="zh-CN" altLang="en-US" sz="2400" dirty="0">
                <a:latin typeface="+mn-ea"/>
                <a:ea typeface="+mn-ea"/>
              </a:rPr>
              <a:t>添加</a:t>
            </a:r>
            <a:r>
              <a:rPr lang="ja-JP" altLang="en-US" sz="2400" dirty="0">
                <a:latin typeface="+mn-ea"/>
                <a:ea typeface="+mn-ea"/>
              </a:rPr>
              <a:t>、</a:t>
            </a:r>
            <a:r>
              <a:rPr lang="zh-CN" altLang="en-US" sz="2400" dirty="0">
                <a:latin typeface="+mn-ea"/>
                <a:ea typeface="+mn-ea"/>
              </a:rPr>
              <a:t>编辑</a:t>
            </a:r>
            <a:r>
              <a:rPr lang="ja-JP" altLang="en-US" sz="2400" dirty="0">
                <a:latin typeface="+mn-ea"/>
                <a:ea typeface="+mn-ea"/>
              </a:rPr>
              <a:t>、</a:t>
            </a:r>
            <a:r>
              <a:rPr lang="zh-CN" altLang="en-US" sz="2400" dirty="0">
                <a:latin typeface="+mn-ea"/>
                <a:ea typeface="+mn-ea"/>
              </a:rPr>
              <a:t>删除</a:t>
            </a:r>
            <a:r>
              <a:rPr lang="ja-JP" altLang="en-US" sz="2400" dirty="0">
                <a:latin typeface="+mn-ea"/>
                <a:ea typeface="+mn-ea"/>
              </a:rPr>
              <a:t>）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页面上值的获取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设定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执行</a:t>
            </a:r>
            <a:r>
              <a:rPr lang="en-US" altLang="ja-JP" sz="2400" dirty="0">
                <a:latin typeface="+mn-ea"/>
                <a:ea typeface="+mn-ea"/>
              </a:rPr>
              <a:t>REST</a:t>
            </a:r>
            <a:r>
              <a:rPr lang="ja-JP" altLang="en-US" sz="2400" dirty="0">
                <a:latin typeface="+mn-ea"/>
                <a:ea typeface="+mn-ea"/>
              </a:rPr>
              <a:t> </a:t>
            </a:r>
            <a:r>
              <a:rPr lang="en-US" altLang="ja-JP" sz="2400" dirty="0">
                <a:latin typeface="+mn-ea"/>
                <a:ea typeface="+mn-ea"/>
              </a:rPr>
              <a:t>API</a:t>
            </a: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执行</a:t>
            </a:r>
            <a:r>
              <a:rPr lang="ja-JP" altLang="en-US" sz="2400" dirty="0">
                <a:latin typeface="+mn-ea"/>
                <a:ea typeface="+mn-ea"/>
              </a:rPr>
              <a:t>外部</a:t>
            </a:r>
            <a:r>
              <a:rPr lang="en-US" altLang="ja-JP" sz="2400" dirty="0">
                <a:latin typeface="+mn-ea"/>
                <a:ea typeface="+mn-ea"/>
              </a:rPr>
              <a:t>API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12292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EE86-B1B9-4AC7-8C71-61C6433E4943}"/>
              </a:ext>
            </a:extLst>
          </p:cNvPr>
          <p:cNvSpPr/>
          <p:nvPr/>
        </p:nvSpPr>
        <p:spPr>
          <a:xfrm>
            <a:off x="287834" y="167165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CB68FC-99BF-4316-83F9-40BBA746F0BB}"/>
              </a:ext>
            </a:extLst>
          </p:cNvPr>
          <p:cNvSpPr/>
          <p:nvPr/>
        </p:nvSpPr>
        <p:spPr>
          <a:xfrm>
            <a:off x="287834" y="225671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038FFB3-4B89-43F3-8AED-C607C26BA6C7}"/>
              </a:ext>
            </a:extLst>
          </p:cNvPr>
          <p:cNvSpPr/>
          <p:nvPr/>
        </p:nvSpPr>
        <p:spPr>
          <a:xfrm>
            <a:off x="290221" y="279677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DE1F59-0D67-4A47-890D-1741928EEE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45" y="3300540"/>
            <a:ext cx="960135" cy="15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1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pic>
        <p:nvPicPr>
          <p:cNvPr id="2050" name="Picture 2" descr="https://cybozudev.kf5.com/attachments/download/1122150/00157f6faa99ba4900b0a30e6d9540f/">
            <a:extLst>
              <a:ext uri="{FF2B5EF4-FFF2-40B4-BE49-F238E27FC236}">
                <a16:creationId xmlns:a16="http://schemas.microsoft.com/office/drawing/2014/main" id="{613B6AAB-ACB8-4629-BDD6-51BE1D6A8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0" y="1275734"/>
            <a:ext cx="7498713" cy="354626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79031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甘特图显示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0532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95182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批量审批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7FEA25-4937-420E-82B6-A7BD623B8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249142"/>
            <a:ext cx="5958414" cy="376666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662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08F77-2434-4C04-A471-8AAA03968199}"/>
              </a:ext>
            </a:extLst>
          </p:cNvPr>
          <p:cNvSpPr/>
          <p:nvPr/>
        </p:nvSpPr>
        <p:spPr>
          <a:xfrm>
            <a:off x="2951822" y="951570"/>
            <a:ext cx="2745303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j-ea"/>
              </a:rPr>
              <a:t>页面自定义设计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182C7C-2318-4B83-A767-B650C237C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1239784"/>
            <a:ext cx="6399534" cy="390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9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2131D063-47BC-4447-914F-5CB6F8208F79}"/>
              </a:ext>
            </a:extLst>
          </p:cNvPr>
          <p:cNvSpPr>
            <a:spLocks noGrp="1"/>
          </p:cNvSpPr>
          <p:nvPr/>
        </p:nvSpPr>
        <p:spPr>
          <a:xfrm>
            <a:off x="611560" y="944681"/>
            <a:ext cx="4185465" cy="3112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4000" marR="0" indent="-3240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Meiryo UI" panose="020B0604030504040204" pitchFamily="50" charset="-128"/>
              <a:buChar char="▌"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1pPr>
            <a:lvl2pPr marL="32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2pPr>
            <a:lvl3pPr marL="684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3pPr>
            <a:lvl4pPr marL="68400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4pPr>
            <a:lvl5pPr marL="1188000" marR="0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" charset="-128"/>
                <a:ea typeface="Meiryo" charset="-128"/>
                <a:cs typeface="Meiryo" charset="-12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获取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添加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更新</a:t>
            </a:r>
            <a:r>
              <a:rPr lang="ja-JP" altLang="en-US" sz="2400" dirty="0">
                <a:latin typeface="+mn-ea"/>
                <a:ea typeface="+mn-ea"/>
              </a:rPr>
              <a:t>・</a:t>
            </a:r>
            <a:r>
              <a:rPr lang="zh-CN" altLang="en-US" sz="2400" dirty="0">
                <a:latin typeface="+mn-ea"/>
                <a:ea typeface="+mn-ea"/>
              </a:rPr>
              <a:t>删除记录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更改访问权限</a:t>
            </a:r>
            <a:endParaRPr lang="en-US" altLang="ja-JP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上传下载文件</a:t>
            </a:r>
            <a:endParaRPr lang="en-US" altLang="zh-CN" sz="2400" dirty="0">
              <a:latin typeface="+mn-ea"/>
              <a:ea typeface="+mn-ea"/>
            </a:endParaRPr>
          </a:p>
          <a:p>
            <a:pPr marL="0" indent="0">
              <a:buClr>
                <a:srgbClr val="62C9E2"/>
              </a:buClr>
              <a:buSzPct val="235000"/>
              <a:buNone/>
            </a:pPr>
            <a:r>
              <a:rPr lang="zh-CN" altLang="en-US" sz="2400" dirty="0">
                <a:latin typeface="+mn-ea"/>
                <a:ea typeface="+mn-ea"/>
              </a:rPr>
              <a:t>批量处理记录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REST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API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7F9614D-84D1-49E0-83FA-0E5BEF8D99D8}"/>
              </a:ext>
            </a:extLst>
          </p:cNvPr>
          <p:cNvSpPr/>
          <p:nvPr/>
        </p:nvSpPr>
        <p:spPr>
          <a:xfrm>
            <a:off x="287834" y="112292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D8EE86-B1B9-4AC7-8C71-61C6433E4943}"/>
              </a:ext>
            </a:extLst>
          </p:cNvPr>
          <p:cNvSpPr/>
          <p:nvPr/>
        </p:nvSpPr>
        <p:spPr>
          <a:xfrm>
            <a:off x="287834" y="167165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CB68FC-99BF-4316-83F9-40BBA746F0BB}"/>
              </a:ext>
            </a:extLst>
          </p:cNvPr>
          <p:cNvSpPr/>
          <p:nvPr/>
        </p:nvSpPr>
        <p:spPr>
          <a:xfrm>
            <a:off x="287834" y="225671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1BE240B-EB71-4809-B72D-D2C1794A729A}"/>
              </a:ext>
            </a:extLst>
          </p:cNvPr>
          <p:cNvSpPr/>
          <p:nvPr/>
        </p:nvSpPr>
        <p:spPr>
          <a:xfrm>
            <a:off x="296525" y="283311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rgbClr val="66D5F0"/>
              </a:buClr>
              <a:buSzPct val="128000"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2A2582-34D3-400A-ABB3-90A4CB6887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95" y="3336835"/>
            <a:ext cx="1675815" cy="167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9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id="{C01330C8-C06D-4FC9-A771-BC2480F91172}"/>
              </a:ext>
            </a:extLst>
          </p:cNvPr>
          <p:cNvSpPr/>
          <p:nvPr/>
        </p:nvSpPr>
        <p:spPr>
          <a:xfrm>
            <a:off x="1262757" y="1208957"/>
            <a:ext cx="3459215" cy="3459215"/>
          </a:xfrm>
          <a:prstGeom prst="ellipse">
            <a:avLst/>
          </a:prstGeom>
          <a:solidFill>
            <a:schemeClr val="bg1"/>
          </a:solidFill>
          <a:ln>
            <a:solidFill>
              <a:srgbClr val="FDA907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77C9014-C268-4430-8087-A352002DD757}"/>
              </a:ext>
            </a:extLst>
          </p:cNvPr>
          <p:cNvSpPr/>
          <p:nvPr/>
        </p:nvSpPr>
        <p:spPr>
          <a:xfrm>
            <a:off x="1885416" y="3045800"/>
            <a:ext cx="2213897" cy="1141540"/>
          </a:xfrm>
          <a:custGeom>
            <a:avLst/>
            <a:gdLst>
              <a:gd name="connsiteX0" fmla="*/ 0 w 2213897"/>
              <a:gd name="connsiteY0" fmla="*/ 0 h 1141540"/>
              <a:gd name="connsiteX1" fmla="*/ 2213897 w 2213897"/>
              <a:gd name="connsiteY1" fmla="*/ 0 h 1141540"/>
              <a:gd name="connsiteX2" fmla="*/ 2213897 w 2213897"/>
              <a:gd name="connsiteY2" fmla="*/ 1141540 h 1141540"/>
              <a:gd name="connsiteX3" fmla="*/ 0 w 2213897"/>
              <a:gd name="connsiteY3" fmla="*/ 1141540 h 1141540"/>
              <a:gd name="connsiteX4" fmla="*/ 0 w 2213897"/>
              <a:gd name="connsiteY4" fmla="*/ 0 h 1141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3897" h="1141540">
                <a:moveTo>
                  <a:pt x="0" y="0"/>
                </a:moveTo>
                <a:lnTo>
                  <a:pt x="2213897" y="0"/>
                </a:lnTo>
                <a:lnTo>
                  <a:pt x="2213897" y="1141540"/>
                </a:lnTo>
                <a:lnTo>
                  <a:pt x="0" y="1141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marL="0" lvl="0" indent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6500" kern="1200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B02787C-DFED-4FC2-932A-EF60D5056C93}"/>
              </a:ext>
            </a:extLst>
          </p:cNvPr>
          <p:cNvSpPr/>
          <p:nvPr/>
        </p:nvSpPr>
        <p:spPr>
          <a:xfrm>
            <a:off x="6984299" y="1208957"/>
            <a:ext cx="288001" cy="1037764"/>
          </a:xfrm>
          <a:custGeom>
            <a:avLst/>
            <a:gdLst>
              <a:gd name="connsiteX0" fmla="*/ 0 w 288001"/>
              <a:gd name="connsiteY0" fmla="*/ 0 h 1037764"/>
              <a:gd name="connsiteX1" fmla="*/ 288001 w 288001"/>
              <a:gd name="connsiteY1" fmla="*/ 0 h 1037764"/>
              <a:gd name="connsiteX2" fmla="*/ 288001 w 288001"/>
              <a:gd name="connsiteY2" fmla="*/ 1037764 h 1037764"/>
              <a:gd name="connsiteX3" fmla="*/ 0 w 288001"/>
              <a:gd name="connsiteY3" fmla="*/ 1037764 h 1037764"/>
              <a:gd name="connsiteX4" fmla="*/ 0 w 288001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1" h="1037764">
                <a:moveTo>
                  <a:pt x="0" y="0"/>
                </a:moveTo>
                <a:lnTo>
                  <a:pt x="288001" y="0"/>
                </a:lnTo>
                <a:lnTo>
                  <a:pt x="288001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0" rIns="53340" bIns="0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微信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CBBD7290-8D4E-487D-AB3E-098F1AA0ADBC}"/>
              </a:ext>
            </a:extLst>
          </p:cNvPr>
          <p:cNvSpPr/>
          <p:nvPr/>
        </p:nvSpPr>
        <p:spPr>
          <a:xfrm>
            <a:off x="6486172" y="2419682"/>
            <a:ext cx="264846" cy="1037764"/>
          </a:xfrm>
          <a:custGeom>
            <a:avLst/>
            <a:gdLst>
              <a:gd name="connsiteX0" fmla="*/ 0 w 264846"/>
              <a:gd name="connsiteY0" fmla="*/ 0 h 1037764"/>
              <a:gd name="connsiteX1" fmla="*/ 264846 w 264846"/>
              <a:gd name="connsiteY1" fmla="*/ 0 h 1037764"/>
              <a:gd name="connsiteX2" fmla="*/ 264846 w 264846"/>
              <a:gd name="connsiteY2" fmla="*/ 1037764 h 1037764"/>
              <a:gd name="connsiteX3" fmla="*/ 0 w 264846"/>
              <a:gd name="connsiteY3" fmla="*/ 1037764 h 1037764"/>
              <a:gd name="connsiteX4" fmla="*/ 0 w 264846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846" h="1037764">
                <a:moveTo>
                  <a:pt x="0" y="0"/>
                </a:moveTo>
                <a:lnTo>
                  <a:pt x="264846" y="0"/>
                </a:lnTo>
                <a:lnTo>
                  <a:pt x="264846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0" rIns="45720" bIns="0" numCol="1" spcCol="1270" anchor="ctr" anchorCtr="0">
            <a:noAutofit/>
          </a:bodyPr>
          <a:lstStyle/>
          <a:p>
            <a:pPr marL="0" lvl="0" indent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邮件</a:t>
            </a: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C330D86-722F-4C04-9E19-E82AC86B8D9F}"/>
              </a:ext>
            </a:extLst>
          </p:cNvPr>
          <p:cNvSpPr/>
          <p:nvPr/>
        </p:nvSpPr>
        <p:spPr>
          <a:xfrm>
            <a:off x="6984299" y="3630407"/>
            <a:ext cx="288001" cy="1037764"/>
          </a:xfrm>
          <a:custGeom>
            <a:avLst/>
            <a:gdLst>
              <a:gd name="connsiteX0" fmla="*/ 0 w 288001"/>
              <a:gd name="connsiteY0" fmla="*/ 0 h 1037764"/>
              <a:gd name="connsiteX1" fmla="*/ 288001 w 288001"/>
              <a:gd name="connsiteY1" fmla="*/ 0 h 1037764"/>
              <a:gd name="connsiteX2" fmla="*/ 288001 w 288001"/>
              <a:gd name="connsiteY2" fmla="*/ 1037764 h 1037764"/>
              <a:gd name="connsiteX3" fmla="*/ 0 w 288001"/>
              <a:gd name="connsiteY3" fmla="*/ 1037764 h 1037764"/>
              <a:gd name="connsiteX4" fmla="*/ 0 w 288001"/>
              <a:gd name="connsiteY4" fmla="*/ 0 h 103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1" h="1037764">
                <a:moveTo>
                  <a:pt x="0" y="0"/>
                </a:moveTo>
                <a:lnTo>
                  <a:pt x="288001" y="0"/>
                </a:lnTo>
                <a:lnTo>
                  <a:pt x="288001" y="1037764"/>
                </a:lnTo>
                <a:lnTo>
                  <a:pt x="0" y="103776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0" rIns="53340" bIns="0" numCol="1" spcCol="1270" anchor="ctr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100" kern="1200" dirty="0"/>
              <a:t>机器人</a:t>
            </a:r>
            <a:endParaRPr lang="en-US" altLang="zh-CN" sz="1100" kern="1200" dirty="0"/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REST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 API 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实例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73474CF8-955F-41FB-B281-7C4FDC9061B9}"/>
              </a:ext>
            </a:extLst>
          </p:cNvPr>
          <p:cNvSpPr/>
          <p:nvPr/>
        </p:nvSpPr>
        <p:spPr>
          <a:xfrm>
            <a:off x="2068454" y="3606865"/>
            <a:ext cx="1808532" cy="54657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REST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 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Meiryo" charset="-128"/>
                <a:cs typeface="Meiryo" charset="-128"/>
              </a:rPr>
              <a:t>API</a:t>
            </a:r>
            <a:endParaRPr lang="ja-JP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Meiryo" charset="-128"/>
              <a:cs typeface="Meiryo" charset="-128"/>
            </a:endParaRPr>
          </a:p>
        </p:txBody>
      </p:sp>
      <p:pic>
        <p:nvPicPr>
          <p:cNvPr id="7" name="図 16">
            <a:extLst>
              <a:ext uri="{FF2B5EF4-FFF2-40B4-BE49-F238E27FC236}">
                <a16:creationId xmlns:a16="http://schemas.microsoft.com/office/drawing/2014/main" id="{8FCB9864-B173-4E3E-99D2-052A50E53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645" y="1845662"/>
            <a:ext cx="1216375" cy="1671193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8E6854-F37F-41EF-9379-09FBE11DAC79}"/>
              </a:ext>
            </a:extLst>
          </p:cNvPr>
          <p:cNvGrpSpPr/>
          <p:nvPr/>
        </p:nvGrpSpPr>
        <p:grpSpPr>
          <a:xfrm>
            <a:off x="5946534" y="1208957"/>
            <a:ext cx="1037764" cy="1037764"/>
            <a:chOff x="5946534" y="1208957"/>
            <a:chExt cx="1037764" cy="1037764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C2BA76F-6460-4A1C-A527-6C7DA6CE2C77}"/>
                </a:ext>
              </a:extLst>
            </p:cNvPr>
            <p:cNvSpPr/>
            <p:nvPr/>
          </p:nvSpPr>
          <p:spPr>
            <a:xfrm>
              <a:off x="5946534" y="1208957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3591615"/>
                <a:satOff val="15458"/>
                <a:lumOff val="4179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3074" name="Picture 2" descr="「微信」の画像検索結果">
              <a:extLst>
                <a:ext uri="{FF2B5EF4-FFF2-40B4-BE49-F238E27FC236}">
                  <a16:creationId xmlns:a16="http://schemas.microsoft.com/office/drawing/2014/main" id="{5AAF8277-6D6E-4703-8350-B1767A87E0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370" y="1491630"/>
              <a:ext cx="474523" cy="47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7B39E9F-CD44-4B5A-AC83-5B9683C430F4}"/>
              </a:ext>
            </a:extLst>
          </p:cNvPr>
          <p:cNvCxnSpPr>
            <a:cxnSpLocks/>
          </p:cNvCxnSpPr>
          <p:nvPr/>
        </p:nvCxnSpPr>
        <p:spPr>
          <a:xfrm>
            <a:off x="4228694" y="1716655"/>
            <a:ext cx="171019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97E2F20-66A0-49FE-82AF-DA8E3255706A}"/>
              </a:ext>
            </a:extLst>
          </p:cNvPr>
          <p:cNvCxnSpPr>
            <a:cxnSpLocks/>
          </p:cNvCxnSpPr>
          <p:nvPr/>
        </p:nvCxnSpPr>
        <p:spPr>
          <a:xfrm>
            <a:off x="4721972" y="2886785"/>
            <a:ext cx="72008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521D933-B635-4130-8E51-88C688FFFCE1}"/>
              </a:ext>
            </a:extLst>
          </p:cNvPr>
          <p:cNvCxnSpPr>
            <a:cxnSpLocks/>
          </p:cNvCxnSpPr>
          <p:nvPr/>
        </p:nvCxnSpPr>
        <p:spPr>
          <a:xfrm>
            <a:off x="4228694" y="4146925"/>
            <a:ext cx="1710190" cy="0"/>
          </a:xfrm>
          <a:prstGeom prst="straightConnector1">
            <a:avLst/>
          </a:prstGeom>
          <a:ln w="19050">
            <a:solidFill>
              <a:srgbClr val="FDA907"/>
            </a:solidFill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308224A-CED9-4F06-B8A2-F907D482A8FC}"/>
              </a:ext>
            </a:extLst>
          </p:cNvPr>
          <p:cNvGrpSpPr/>
          <p:nvPr/>
        </p:nvGrpSpPr>
        <p:grpSpPr>
          <a:xfrm>
            <a:off x="5448407" y="2419682"/>
            <a:ext cx="1037764" cy="1037764"/>
            <a:chOff x="5448407" y="2419682"/>
            <a:chExt cx="1037764" cy="1037764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9B07E27-80E0-409D-9E68-83050C14EC40}"/>
                </a:ext>
              </a:extLst>
            </p:cNvPr>
            <p:cNvSpPr/>
            <p:nvPr/>
          </p:nvSpPr>
          <p:spPr>
            <a:xfrm>
              <a:off x="5448407" y="2419682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7183231"/>
                <a:satOff val="30917"/>
                <a:lumOff val="8358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C6787F5-0CDA-4A42-B8F3-5B41FDAE1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1339" y="2841780"/>
              <a:ext cx="932600" cy="190665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511FB23-DF39-48D0-ABEF-21852049F4C9}"/>
              </a:ext>
            </a:extLst>
          </p:cNvPr>
          <p:cNvGrpSpPr/>
          <p:nvPr/>
        </p:nvGrpSpPr>
        <p:grpSpPr>
          <a:xfrm>
            <a:off x="5946534" y="3630407"/>
            <a:ext cx="1037764" cy="1037764"/>
            <a:chOff x="5946534" y="3630407"/>
            <a:chExt cx="1037764" cy="1037764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CD5D4FB-180F-4BFF-8695-8DFD2F0980A8}"/>
                </a:ext>
              </a:extLst>
            </p:cNvPr>
            <p:cNvSpPr/>
            <p:nvPr/>
          </p:nvSpPr>
          <p:spPr>
            <a:xfrm>
              <a:off x="5946534" y="3630407"/>
              <a:ext cx="1037764" cy="10377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tint val="50000"/>
                <a:hueOff val="-10774846"/>
                <a:satOff val="46375"/>
                <a:lumOff val="12537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C53B9E2-A008-4193-AFA6-F0DE5A1D1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97022" y="3753186"/>
              <a:ext cx="523218" cy="800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6439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173CA7E-A6B2-4E55-BF48-51E65829A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15" y="231490"/>
            <a:ext cx="5535615" cy="4675315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  <a:effectLst>
            <a:outerShdw sx="1000" sy="1000" algn="tl" rotWithShape="0">
              <a:schemeClr val="tx1"/>
            </a:outerShdw>
          </a:effectLst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621E4896-7186-4A26-A000-2FC88A71FEBC}"/>
              </a:ext>
            </a:extLst>
          </p:cNvPr>
          <p:cNvSpPr/>
          <p:nvPr/>
        </p:nvSpPr>
        <p:spPr>
          <a:xfrm>
            <a:off x="5877145" y="2029087"/>
            <a:ext cx="3060340" cy="1080120"/>
          </a:xfrm>
          <a:prstGeom prst="wedgeRoundRectCallout">
            <a:avLst>
              <a:gd name="adj1" fmla="val 35620"/>
              <a:gd name="adj2" fmla="val 20038"/>
              <a:gd name="adj3" fmla="val 16667"/>
            </a:avLst>
          </a:prstGeom>
          <a:solidFill>
            <a:schemeClr val="lt1">
              <a:alpha val="69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cybozu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DA907"/>
                </a:solidFill>
              </a:rPr>
              <a:t>developer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network</a:t>
            </a:r>
          </a:p>
          <a:p>
            <a:pPr algn="ctr"/>
            <a:r>
              <a:rPr lang="en-US" altLang="zh-CN" sz="1200" dirty="0">
                <a:hlinkClick r:id="rId4"/>
              </a:rPr>
              <a:t>https://cybozudev.kf5.com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364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网站介绍</a:t>
            </a:r>
          </a:p>
        </p:txBody>
      </p:sp>
      <p:sp>
        <p:nvSpPr>
          <p:cNvPr id="35" name="内容占位符 6">
            <a:extLst>
              <a:ext uri="{FF2B5EF4-FFF2-40B4-BE49-F238E27FC236}">
                <a16:creationId xmlns:a16="http://schemas.microsoft.com/office/drawing/2014/main" id="{77F92EF2-CB4C-4E6D-908B-A48A0A196964}"/>
              </a:ext>
            </a:extLst>
          </p:cNvPr>
          <p:cNvSpPr txBox="1">
            <a:spLocks/>
          </p:cNvSpPr>
          <p:nvPr/>
        </p:nvSpPr>
        <p:spPr>
          <a:xfrm>
            <a:off x="926594" y="950210"/>
            <a:ext cx="7290810" cy="6430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cybozu developer network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是一个可供</a:t>
            </a:r>
            <a:r>
              <a:rPr lang="zh-CN" altLang="en-US" sz="2000" b="1" dirty="0">
                <a:solidFill>
                  <a:srgbClr val="ED6C00"/>
                </a:solidFill>
                <a:latin typeface="+mn-ea"/>
              </a:rPr>
              <a:t>开发者们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互相商讨、互相解答问题的开放社区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3BB5795-493A-43A5-90CA-4D3FBD20F248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utoShape 2" descr="https://git.oschina.net/cybozudev/zhcn/raw/master/img/banner02.png">
            <a:extLst>
              <a:ext uri="{FF2B5EF4-FFF2-40B4-BE49-F238E27FC236}">
                <a16:creationId xmlns:a16="http://schemas.microsoft.com/office/drawing/2014/main" id="{28F64F03-4131-410A-9594-FA9EC20FEA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64C31AB-F782-409F-B218-1C878B8D643A}"/>
              </a:ext>
            </a:extLst>
          </p:cNvPr>
          <p:cNvSpPr txBox="1"/>
          <p:nvPr/>
        </p:nvSpPr>
        <p:spPr>
          <a:xfrm>
            <a:off x="926594" y="2875749"/>
            <a:ext cx="3646048" cy="1631216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D6C00"/>
                </a:solidFill>
              </a:rPr>
              <a:t>服务对象</a:t>
            </a:r>
            <a:endParaRPr lang="en-US" altLang="zh-CN" sz="2800" b="1" dirty="0">
              <a:solidFill>
                <a:srgbClr val="ED6C00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sz="2400" dirty="0">
                <a:solidFill>
                  <a:srgbClr val="74C4D8"/>
                </a:solidFill>
              </a:rPr>
              <a:t>企业内的工程师</a:t>
            </a:r>
            <a:endParaRPr lang="en-US" altLang="ja-JP" sz="2400" dirty="0">
              <a:solidFill>
                <a:srgbClr val="74C4D8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sz="2400" dirty="0">
                <a:solidFill>
                  <a:srgbClr val="74C4D8"/>
                </a:solidFill>
              </a:rPr>
              <a:t>社区参加者</a:t>
            </a:r>
            <a:endParaRPr lang="en-US" altLang="ja-JP" sz="2400" dirty="0">
              <a:solidFill>
                <a:srgbClr val="74C4D8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zh-CN" altLang="en-US" sz="2400" dirty="0">
                <a:solidFill>
                  <a:srgbClr val="74C4D8"/>
                </a:solidFill>
              </a:rPr>
              <a:t>学生工程师</a:t>
            </a:r>
            <a:r>
              <a:rPr lang="ja-JP" altLang="en-US" sz="2400" dirty="0">
                <a:solidFill>
                  <a:srgbClr val="74C4D8"/>
                </a:solidFill>
              </a:rPr>
              <a:t>（</a:t>
            </a:r>
            <a:r>
              <a:rPr lang="zh-CN" altLang="en-US" sz="2400" dirty="0">
                <a:solidFill>
                  <a:srgbClr val="74C4D8"/>
                </a:solidFill>
              </a:rPr>
              <a:t>预备军</a:t>
            </a:r>
            <a:r>
              <a:rPr lang="ja-JP" alt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8B8F3D-2277-46B2-96D4-5822FB3918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00" y="3516855"/>
            <a:ext cx="1595851" cy="1515556"/>
          </a:xfrm>
          <a:prstGeom prst="rect">
            <a:avLst/>
          </a:prstGeom>
        </p:spPr>
      </p:pic>
      <p:sp>
        <p:nvSpPr>
          <p:cNvPr id="9" name="内容占位符 6">
            <a:extLst>
              <a:ext uri="{FF2B5EF4-FFF2-40B4-BE49-F238E27FC236}">
                <a16:creationId xmlns:a16="http://schemas.microsoft.com/office/drawing/2014/main" id="{22C82DB0-7A3B-4416-818F-71DA700886EC}"/>
              </a:ext>
            </a:extLst>
          </p:cNvPr>
          <p:cNvSpPr txBox="1">
            <a:spLocks/>
          </p:cNvSpPr>
          <p:nvPr/>
        </p:nvSpPr>
        <p:spPr>
          <a:xfrm>
            <a:off x="926594" y="1838037"/>
            <a:ext cx="7290810" cy="6430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对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kintone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开发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感兴趣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，想要从事开发的人，都可以关注我们这个社区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BBFA71E-C9E9-4717-AC50-EB6457A44A4C}"/>
              </a:ext>
            </a:extLst>
          </p:cNvPr>
          <p:cNvSpPr/>
          <p:nvPr/>
        </p:nvSpPr>
        <p:spPr>
          <a:xfrm>
            <a:off x="382177" y="202302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393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>
            <a:extLst>
              <a:ext uri="{FF2B5EF4-FFF2-40B4-BE49-F238E27FC236}">
                <a16:creationId xmlns:a16="http://schemas.microsoft.com/office/drawing/2014/main" id="{6732BEC2-7981-4CFF-BA57-8BD02E000E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6"/>
          <a:stretch/>
        </p:blipFill>
        <p:spPr>
          <a:xfrm>
            <a:off x="-356048" y="2419350"/>
            <a:ext cx="9856095" cy="2724150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</p:spPr>
      </p:pic>
      <p:sp>
        <p:nvSpPr>
          <p:cNvPr id="29" name="TextBox 6">
            <a:extLst>
              <a:ext uri="{FF2B5EF4-FFF2-40B4-BE49-F238E27FC236}">
                <a16:creationId xmlns:a16="http://schemas.microsoft.com/office/drawing/2014/main" id="{6710116A-AAC6-40DD-B8E3-BC2438A30659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网站介绍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BAFC316-5782-42F3-B970-E95F62B06C44}"/>
              </a:ext>
            </a:extLst>
          </p:cNvPr>
          <p:cNvCxnSpPr>
            <a:cxnSpLocks/>
            <a:stCxn id="104" idx="1"/>
            <a:endCxn id="86" idx="2"/>
          </p:cNvCxnSpPr>
          <p:nvPr/>
        </p:nvCxnSpPr>
        <p:spPr>
          <a:xfrm flipH="1" flipV="1">
            <a:off x="1863448" y="2009564"/>
            <a:ext cx="930855" cy="10639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1DCE6BD-3E3E-4B20-8815-1767E397F25E}"/>
              </a:ext>
            </a:extLst>
          </p:cNvPr>
          <p:cNvCxnSpPr>
            <a:cxnSpLocks/>
            <a:stCxn id="104" idx="3"/>
            <a:endCxn id="91" idx="2"/>
          </p:cNvCxnSpPr>
          <p:nvPr/>
        </p:nvCxnSpPr>
        <p:spPr>
          <a:xfrm flipV="1">
            <a:off x="5974281" y="2009564"/>
            <a:ext cx="960482" cy="10639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0A5CB9D-19BC-4AB4-8A89-4B0B19FAAA75}"/>
              </a:ext>
            </a:extLst>
          </p:cNvPr>
          <p:cNvCxnSpPr>
            <a:cxnSpLocks/>
            <a:stCxn id="86" idx="3"/>
            <a:endCxn id="91" idx="1"/>
          </p:cNvCxnSpPr>
          <p:nvPr/>
        </p:nvCxnSpPr>
        <p:spPr>
          <a:xfrm>
            <a:off x="3251479" y="1570577"/>
            <a:ext cx="2265626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E0BE7E18-9F44-449D-8265-A3F82BEACD59}"/>
              </a:ext>
            </a:extLst>
          </p:cNvPr>
          <p:cNvSpPr/>
          <p:nvPr/>
        </p:nvSpPr>
        <p:spPr>
          <a:xfrm>
            <a:off x="475417" y="1131590"/>
            <a:ext cx="2776062" cy="877974"/>
          </a:xfrm>
          <a:prstGeom prst="roundRect">
            <a:avLst/>
          </a:prstGeom>
          <a:ln>
            <a:solidFill>
              <a:srgbClr val="62C9E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62C9E2"/>
                </a:solidFill>
                <a:latin typeface="+mn-ea"/>
              </a:rPr>
              <a:t>英文</a:t>
            </a:r>
            <a:endParaRPr lang="en-US" altLang="zh-CN" sz="3200" b="1" dirty="0">
              <a:solidFill>
                <a:srgbClr val="62C9E2"/>
              </a:solidFill>
              <a:latin typeface="+mn-ea"/>
            </a:endParaRPr>
          </a:p>
          <a:p>
            <a:pPr algn="ctr"/>
            <a:r>
              <a:rPr lang="en-US" altLang="zh-CN" sz="1200" dirty="0">
                <a:hlinkClick r:id="rId4"/>
              </a:rPr>
              <a:t>https://developer.kintone.io</a:t>
            </a:r>
            <a:endParaRPr lang="zh-CN" altLang="en-US" sz="1200" dirty="0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8360CEBC-7F2B-4422-9479-9F6E1E8CD18E}"/>
              </a:ext>
            </a:extLst>
          </p:cNvPr>
          <p:cNvSpPr/>
          <p:nvPr/>
        </p:nvSpPr>
        <p:spPr>
          <a:xfrm>
            <a:off x="5517105" y="1131590"/>
            <a:ext cx="2835315" cy="877974"/>
          </a:xfrm>
          <a:prstGeom prst="roundRect">
            <a:avLst/>
          </a:prstGeom>
          <a:ln>
            <a:solidFill>
              <a:srgbClr val="7DCD9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7DCD92"/>
                </a:solidFill>
                <a:latin typeface="+mn-ea"/>
              </a:rPr>
              <a:t>日文</a:t>
            </a:r>
            <a:endParaRPr lang="en-US" altLang="zh-CN" sz="3200" b="1" dirty="0">
              <a:solidFill>
                <a:srgbClr val="7DCD92"/>
              </a:solidFill>
              <a:latin typeface="+mn-ea"/>
            </a:endParaRPr>
          </a:p>
          <a:p>
            <a:pPr algn="ctr"/>
            <a:r>
              <a:rPr lang="en-US" altLang="zh-CN" sz="1200" dirty="0">
                <a:hlinkClick r:id="rId5"/>
              </a:rPr>
              <a:t>https://developer.cybozu.io</a:t>
            </a:r>
            <a:endParaRPr lang="zh-CN" altLang="en-US" sz="1200" dirty="0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6FDE6D0C-03A4-421B-98C7-FFF20C29FC82}"/>
              </a:ext>
            </a:extLst>
          </p:cNvPr>
          <p:cNvSpPr/>
          <p:nvPr/>
        </p:nvSpPr>
        <p:spPr>
          <a:xfrm>
            <a:off x="2794303" y="2448551"/>
            <a:ext cx="3179978" cy="1249943"/>
          </a:xfrm>
          <a:prstGeom prst="roundRect">
            <a:avLst/>
          </a:prstGeom>
          <a:ln w="444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rgbClr val="ED6C00"/>
                </a:solidFill>
                <a:latin typeface="+mn-ea"/>
              </a:rPr>
              <a:t>中文</a:t>
            </a:r>
            <a:endParaRPr lang="en-US" altLang="zh-CN" sz="4400" b="1" dirty="0">
              <a:solidFill>
                <a:srgbClr val="ED6C00"/>
              </a:solidFill>
              <a:latin typeface="+mn-ea"/>
            </a:endParaRPr>
          </a:p>
          <a:p>
            <a:pPr algn="ctr"/>
            <a:r>
              <a:rPr lang="en-US" altLang="zh-CN" dirty="0">
                <a:hlinkClick r:id="rId6"/>
              </a:rPr>
              <a:t>https://cybozudev.kf5.com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5296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3184688" y="2708886"/>
            <a:ext cx="1734458" cy="15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如您想要详细地学习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式样，轻松地使用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SDK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来开发，我们提供了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文档，让我们通过简单易懂的表述为您介绍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文档。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464" y="2751770"/>
            <a:ext cx="1734459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在社区里，可以灌水，可以和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developer network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的成员分享问题、解决问题。通过互相的交流，不断地提高开发水平。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77999" y="2753004"/>
            <a:ext cx="1734459" cy="15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本教程从弹出对话框这个简单的自定义开始。在后半部分，还会介绍使用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kintone JavaScript 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 API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来进行自定义的例子。</a:t>
            </a:r>
          </a:p>
        </p:txBody>
      </p:sp>
      <p:sp>
        <p:nvSpPr>
          <p:cNvPr id="57" name="矩形 56"/>
          <p:cNvSpPr/>
          <p:nvPr/>
        </p:nvSpPr>
        <p:spPr>
          <a:xfrm>
            <a:off x="431541" y="1041580"/>
            <a:ext cx="2340258" cy="3072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Tips &amp; </a:t>
            </a:r>
            <a:r>
              <a:rPr lang="zh-CN" altLang="en-US" sz="1400" b="1" dirty="0">
                <a:solidFill>
                  <a:schemeClr val="bg1"/>
                </a:solidFill>
              </a:rPr>
              <a:t>范例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8962" y="1399703"/>
            <a:ext cx="2517853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为了满足“光看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API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文档不明白，想要更简单易懂的学习文档”的需求，我们还可以学习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Tips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和范例，不仅仅可以学习到使用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JavaScript API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、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REST API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开发的方法，还可以提问。</a:t>
            </a:r>
          </a:p>
        </p:txBody>
      </p:sp>
      <p:sp>
        <p:nvSpPr>
          <p:cNvPr id="59" name="矩形 58"/>
          <p:cNvSpPr/>
          <p:nvPr/>
        </p:nvSpPr>
        <p:spPr>
          <a:xfrm>
            <a:off x="431542" y="2751770"/>
            <a:ext cx="2340257" cy="307296"/>
          </a:xfrm>
          <a:prstGeom prst="rect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免费的插件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74597" y="3109893"/>
            <a:ext cx="239720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只需要在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安装插件，然后应用到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的应用里，就可以简单实现与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JavaScript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自定义同等的功能扩展，以及和其他服务的整合。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74B2946-1F2C-4EA8-A369-0D1E5BEF9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60" y="1067440"/>
            <a:ext cx="1656136" cy="149377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1C7ACB2-1CFD-4804-994B-6018DA52C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004" y="1056899"/>
            <a:ext cx="1653445" cy="150431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62B054B-84F8-48E5-B294-86EB3093E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016" y="1067440"/>
            <a:ext cx="1667114" cy="1504310"/>
          </a:xfrm>
          <a:prstGeom prst="rect">
            <a:avLst/>
          </a:prstGeom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E51A0A2A-001D-4AFE-9D5C-2E09942ECDEC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网站内容介绍</a:t>
            </a:r>
          </a:p>
        </p:txBody>
      </p:sp>
    </p:spTree>
    <p:extLst>
      <p:ext uri="{BB962C8B-B14F-4D97-AF65-F5344CB8AC3E}">
        <p14:creationId xmlns:p14="http://schemas.microsoft.com/office/powerpoint/2010/main" val="751774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80B6CA-3F89-4999-9BFC-95FDB44F74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" t="4321" r="33074" b="617"/>
          <a:stretch/>
        </p:blipFill>
        <p:spPr>
          <a:xfrm>
            <a:off x="2996825" y="1355021"/>
            <a:ext cx="3420380" cy="2798666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12E9AB6A-E3A9-471B-ADD3-FF2E1B14594D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API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A4D7284-99C1-4026-8760-A471C39A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25" y="825484"/>
            <a:ext cx="2183481" cy="3857741"/>
          </a:xfrm>
          <a:prstGeom prst="rect">
            <a:avLst/>
          </a:prstGeom>
          <a:solidFill>
            <a:srgbClr val="F89290"/>
          </a:solidFill>
          <a:ln w="9525">
            <a:solidFill>
              <a:srgbClr val="F89290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B90A39-6A85-49E4-B04A-9CD25DAC4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265" y="836981"/>
            <a:ext cx="1724236" cy="3866000"/>
          </a:xfrm>
          <a:prstGeom prst="rect">
            <a:avLst/>
          </a:prstGeom>
          <a:ln>
            <a:solidFill>
              <a:srgbClr val="F45450"/>
            </a:solidFill>
          </a:ln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18D9095-14D1-416C-9FA4-1FDF99359BC5}"/>
              </a:ext>
            </a:extLst>
          </p:cNvPr>
          <p:cNvSpPr/>
          <p:nvPr/>
        </p:nvSpPr>
        <p:spPr>
          <a:xfrm>
            <a:off x="4346974" y="2751770"/>
            <a:ext cx="1665185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33FB7B0-7B98-4723-BFF2-C4386229D419}"/>
              </a:ext>
            </a:extLst>
          </p:cNvPr>
          <p:cNvCxnSpPr>
            <a:cxnSpLocks/>
          </p:cNvCxnSpPr>
          <p:nvPr/>
        </p:nvCxnSpPr>
        <p:spPr>
          <a:xfrm>
            <a:off x="6012159" y="2931790"/>
            <a:ext cx="945106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4EB268F-4B35-47E3-BDD8-1539B3516777}"/>
              </a:ext>
            </a:extLst>
          </p:cNvPr>
          <p:cNvSpPr/>
          <p:nvPr/>
        </p:nvSpPr>
        <p:spPr>
          <a:xfrm>
            <a:off x="4346973" y="2332994"/>
            <a:ext cx="1665185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36973F7-DC4D-47EA-B707-239C2D2623CB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2480007" y="2508970"/>
            <a:ext cx="1866966" cy="4044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887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64810F4-0230-4A35-9CBC-8C39BF702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46" y="1491630"/>
            <a:ext cx="4114912" cy="17101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27907B-2CA7-4FDD-BFE2-6AAF6A612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26" t="1045"/>
          <a:stretch/>
        </p:blipFill>
        <p:spPr>
          <a:xfrm>
            <a:off x="5157065" y="591529"/>
            <a:ext cx="3218773" cy="4263835"/>
          </a:xfrm>
          <a:prstGeom prst="rect">
            <a:avLst/>
          </a:prstGeom>
          <a:solidFill>
            <a:srgbClr val="F89290"/>
          </a:solidFill>
          <a:ln w="9525">
            <a:solidFill>
              <a:srgbClr val="F89290"/>
            </a:solidFill>
          </a:ln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9CEC24DA-DFC5-4E5D-8F06-8EE47CE11875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Tips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45C6D3-4F78-444D-8AD3-B2EF8B00C057}"/>
              </a:ext>
            </a:extLst>
          </p:cNvPr>
          <p:cNvSpPr/>
          <p:nvPr/>
        </p:nvSpPr>
        <p:spPr>
          <a:xfrm>
            <a:off x="2456767" y="2436735"/>
            <a:ext cx="126014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77759FA-D023-43FF-B123-BDCA54984D27}"/>
              </a:ext>
            </a:extLst>
          </p:cNvPr>
          <p:cNvCxnSpPr>
            <a:cxnSpLocks/>
          </p:cNvCxnSpPr>
          <p:nvPr/>
        </p:nvCxnSpPr>
        <p:spPr>
          <a:xfrm>
            <a:off x="3716906" y="2616755"/>
            <a:ext cx="1440159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811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FC70B1D-E638-46CB-B182-0F2CC261F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934" y="1000855"/>
            <a:ext cx="3374758" cy="3150350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EF232184-9FD5-4F0F-82D8-D5F09EFE62EF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插件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48A294-F46F-4FD6-B507-1B3778E79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25" y="1836380"/>
            <a:ext cx="2070720" cy="1975878"/>
          </a:xfrm>
          <a:prstGeom prst="rect">
            <a:avLst/>
          </a:prstGeom>
          <a:ln w="9525">
            <a:solidFill>
              <a:srgbClr val="F8929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ABEBCBA-F0C9-4862-8B73-342975388F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053" y="794560"/>
            <a:ext cx="2399399" cy="3982435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BE216AEB-C033-43BA-B05C-A6BCBE9FAA67}"/>
              </a:ext>
            </a:extLst>
          </p:cNvPr>
          <p:cNvSpPr/>
          <p:nvPr/>
        </p:nvSpPr>
        <p:spPr>
          <a:xfrm>
            <a:off x="5607115" y="1675930"/>
            <a:ext cx="422577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EF56359-7907-4960-8C7B-2C15D66F9271}"/>
              </a:ext>
            </a:extLst>
          </p:cNvPr>
          <p:cNvCxnSpPr>
            <a:cxnSpLocks/>
          </p:cNvCxnSpPr>
          <p:nvPr/>
        </p:nvCxnSpPr>
        <p:spPr>
          <a:xfrm>
            <a:off x="6029692" y="1855950"/>
            <a:ext cx="382361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A08C3B-5B76-41EF-AD1D-4BF11D22AA87}"/>
              </a:ext>
            </a:extLst>
          </p:cNvPr>
          <p:cNvSpPr/>
          <p:nvPr/>
        </p:nvSpPr>
        <p:spPr>
          <a:xfrm>
            <a:off x="3822787" y="3312861"/>
            <a:ext cx="1289274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50F7FCD-4BA5-4D38-B3D7-1A20B2828F93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367247" y="3492881"/>
            <a:ext cx="1455540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44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5BBCD7F5-C309-4B06-8030-076FB805F0EF}"/>
              </a:ext>
            </a:extLst>
          </p:cNvPr>
          <p:cNvGrpSpPr/>
          <p:nvPr/>
        </p:nvGrpSpPr>
        <p:grpSpPr>
          <a:xfrm>
            <a:off x="4454544" y="1060894"/>
            <a:ext cx="4527164" cy="3297701"/>
            <a:chOff x="4032514" y="1361971"/>
            <a:chExt cx="6036218" cy="439693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9F60BDE-28D3-40D9-9C9E-5729E112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6090" y="4482556"/>
              <a:ext cx="3581400" cy="127635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A56F167-1609-420F-8D44-68A2B1B60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2514" y="1361971"/>
              <a:ext cx="6036218" cy="3047698"/>
            </a:xfrm>
            <a:prstGeom prst="rect">
              <a:avLst/>
            </a:prstGeom>
          </p:spPr>
        </p:pic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DDE8AC4-CE25-4551-8B21-2025EEEB493E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服务整合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120DA1-498E-41BE-A7B3-FDE4C337B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401620"/>
            <a:ext cx="3851920" cy="18019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E5CCC14-B8C8-4E42-8183-A41E6700263D}"/>
              </a:ext>
            </a:extLst>
          </p:cNvPr>
          <p:cNvSpPr/>
          <p:nvPr/>
        </p:nvSpPr>
        <p:spPr>
          <a:xfrm>
            <a:off x="4454544" y="861560"/>
            <a:ext cx="4617956" cy="3690410"/>
          </a:xfrm>
          <a:prstGeom prst="rect">
            <a:avLst/>
          </a:prstGeom>
          <a:noFill/>
          <a:ln w="9525">
            <a:solidFill>
              <a:srgbClr val="F89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9935A58-CD83-44CC-8F1A-CA98FBB39D99}"/>
              </a:ext>
            </a:extLst>
          </p:cNvPr>
          <p:cNvSpPr/>
          <p:nvPr/>
        </p:nvSpPr>
        <p:spPr>
          <a:xfrm>
            <a:off x="2432982" y="2843551"/>
            <a:ext cx="1373933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ABA31EB-C10A-4230-B3AC-D0CC2F0E51C9}"/>
              </a:ext>
            </a:extLst>
          </p:cNvPr>
          <p:cNvCxnSpPr>
            <a:cxnSpLocks/>
          </p:cNvCxnSpPr>
          <p:nvPr/>
        </p:nvCxnSpPr>
        <p:spPr>
          <a:xfrm>
            <a:off x="3806915" y="3021800"/>
            <a:ext cx="647629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37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4AEE890-13CF-4182-8A11-245675589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75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7C90584-3F9C-4623-96BB-E0A5DC1C1C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5" t="1256" r="-1" b="1"/>
          <a:stretch/>
        </p:blipFill>
        <p:spPr>
          <a:xfrm>
            <a:off x="4681247" y="863029"/>
            <a:ext cx="4031213" cy="3651766"/>
          </a:xfrm>
          <a:prstGeom prst="rect">
            <a:avLst/>
          </a:prstGeom>
          <a:ln w="9525">
            <a:solidFill>
              <a:srgbClr val="F89290"/>
            </a:solidFill>
          </a:ln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01E4C82F-0A3D-43AF-93AA-82989D1F205A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社区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6299F4-FE03-4120-A537-F7B6C639E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50" y="1349560"/>
            <a:ext cx="3603396" cy="263223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C6CE80-8118-4FC8-96CB-210815A993A7}"/>
              </a:ext>
            </a:extLst>
          </p:cNvPr>
          <p:cNvSpPr/>
          <p:nvPr/>
        </p:nvSpPr>
        <p:spPr>
          <a:xfrm>
            <a:off x="2678407" y="2661759"/>
            <a:ext cx="1443156" cy="139515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B073D05-6F86-496C-A728-656F93C05198}"/>
              </a:ext>
            </a:extLst>
          </p:cNvPr>
          <p:cNvCxnSpPr>
            <a:cxnSpLocks/>
          </p:cNvCxnSpPr>
          <p:nvPr/>
        </p:nvCxnSpPr>
        <p:spPr>
          <a:xfrm>
            <a:off x="4121563" y="3426845"/>
            <a:ext cx="540447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059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https://git.oschina.net/cybozudev/zhcn/raw/master/img/devcamp2.jpg">
            <a:extLst>
              <a:ext uri="{FF2B5EF4-FFF2-40B4-BE49-F238E27FC236}">
                <a16:creationId xmlns:a16="http://schemas.microsoft.com/office/drawing/2014/main" id="{D46D851C-B904-42CE-859B-1384936AE1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10" r="-1" b="2058"/>
          <a:stretch/>
        </p:blipFill>
        <p:spPr bwMode="auto">
          <a:xfrm>
            <a:off x="15" y="2023110"/>
            <a:ext cx="5665868" cy="312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git.oschina.net/cybozudev/zhcn/raw/master/img/devcamp3.jpg">
            <a:extLst>
              <a:ext uri="{FF2B5EF4-FFF2-40B4-BE49-F238E27FC236}">
                <a16:creationId xmlns:a16="http://schemas.microsoft.com/office/drawing/2014/main" id="{4C0B7030-7893-4403-AF6E-28B2B75E6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" r="17588" b="3"/>
          <a:stretch/>
        </p:blipFill>
        <p:spPr bwMode="auto">
          <a:xfrm>
            <a:off x="1" y="8"/>
            <a:ext cx="2772617" cy="191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git.oschina.net/cybozudev/zhcn/raw/master/img/devcamp6.jpg">
            <a:extLst>
              <a:ext uri="{FF2B5EF4-FFF2-40B4-BE49-F238E27FC236}">
                <a16:creationId xmlns:a16="http://schemas.microsoft.com/office/drawing/2014/main" id="{054A652F-2143-44FA-8DC3-8ADA19C49C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1" r="-1" b="-1"/>
          <a:stretch/>
        </p:blipFill>
        <p:spPr bwMode="auto">
          <a:xfrm>
            <a:off x="2893267" y="8"/>
            <a:ext cx="2772616" cy="190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91E8445-50E2-4C15-BCF9-0AC74DE50275}"/>
              </a:ext>
            </a:extLst>
          </p:cNvPr>
          <p:cNvSpPr txBox="1"/>
          <p:nvPr/>
        </p:nvSpPr>
        <p:spPr>
          <a:xfrm>
            <a:off x="5899559" y="500063"/>
            <a:ext cx="2764381" cy="2441897"/>
          </a:xfrm>
          <a:prstGeom prst="ellipse">
            <a:avLst/>
          </a:prstGeom>
        </p:spPr>
        <p:txBody>
          <a:bodyPr vert="horz" lIns="68580" tIns="34290" rIns="68580" bIns="3429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zh-CN" altLang="en-US" sz="45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学习会</a:t>
            </a:r>
            <a:endParaRPr lang="en-US" altLang="zh-CN" sz="45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21A2CC-7BDA-4465-BF64-DEBD7963CB5A}"/>
              </a:ext>
            </a:extLst>
          </p:cNvPr>
          <p:cNvSpPr txBox="1"/>
          <p:nvPr/>
        </p:nvSpPr>
        <p:spPr>
          <a:xfrm>
            <a:off x="6466152" y="2931790"/>
            <a:ext cx="156966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定期召开的学习会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BA32C0-AE12-40FD-AFC5-C30CC7799145}"/>
              </a:ext>
            </a:extLst>
          </p:cNvPr>
          <p:cNvCxnSpPr/>
          <p:nvPr/>
        </p:nvCxnSpPr>
        <p:spPr>
          <a:xfrm>
            <a:off x="6282190" y="2751770"/>
            <a:ext cx="198022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36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1D94BF-8C79-4568-B5E9-E6A62D56FDF1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目前召开学习会的地区</a:t>
            </a:r>
          </a:p>
        </p:txBody>
      </p:sp>
      <p:pic>
        <p:nvPicPr>
          <p:cNvPr id="7170" name="Picture 2" descr="「日本 icon」の画像検索結果">
            <a:extLst>
              <a:ext uri="{FF2B5EF4-FFF2-40B4-BE49-F238E27FC236}">
                <a16:creationId xmlns:a16="http://schemas.microsoft.com/office/drawing/2014/main" id="{313FEDED-BEC6-4EBE-83DD-31D3BD785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16655"/>
            <a:ext cx="2700300" cy="185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「america icon」の画像検索結果">
            <a:extLst>
              <a:ext uri="{FF2B5EF4-FFF2-40B4-BE49-F238E27FC236}">
                <a16:creationId xmlns:a16="http://schemas.microsoft.com/office/drawing/2014/main" id="{8CADE50D-3FCD-4DEB-860D-FF2AE95A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763" y="1768548"/>
            <a:ext cx="1761647" cy="1761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22DD925-CCB2-431C-B3EF-7D28D907C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2398" y="1447583"/>
            <a:ext cx="2816290" cy="2394600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01F8FA8E-1A64-40FA-8118-648D5E5BF546}"/>
              </a:ext>
            </a:extLst>
          </p:cNvPr>
          <p:cNvSpPr/>
          <p:nvPr/>
        </p:nvSpPr>
        <p:spPr>
          <a:xfrm>
            <a:off x="827505" y="3741880"/>
            <a:ext cx="1584255" cy="405045"/>
          </a:xfrm>
          <a:prstGeom prst="wedgeRoundRectCallout">
            <a:avLst>
              <a:gd name="adj1" fmla="val -5937"/>
              <a:gd name="adj2" fmla="val -142986"/>
              <a:gd name="adj3" fmla="val 16667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日本多地召开</a:t>
            </a:r>
          </a:p>
        </p:txBody>
      </p:sp>
    </p:spTree>
    <p:extLst>
      <p:ext uri="{BB962C8B-B14F-4D97-AF65-F5344CB8AC3E}">
        <p14:creationId xmlns:p14="http://schemas.microsoft.com/office/powerpoint/2010/main" val="2978397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5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F892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3173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8" y="2155090"/>
            <a:ext cx="53133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</a:rPr>
              <a:t>来吧！让我们亲自动手来试试看吧！</a:t>
            </a:r>
          </a:p>
        </p:txBody>
      </p:sp>
      <p:sp>
        <p:nvSpPr>
          <p:cNvPr id="3" name="矩形 2"/>
          <p:cNvSpPr/>
          <p:nvPr/>
        </p:nvSpPr>
        <p:spPr>
          <a:xfrm>
            <a:off x="3989813" y="1397264"/>
            <a:ext cx="47676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latin typeface="Impact"/>
              </a:rPr>
              <a:t>kintone</a:t>
            </a:r>
            <a:r>
              <a:rPr lang="zh-CN" altLang="en-US" sz="4400" dirty="0">
                <a:solidFill>
                  <a:schemeClr val="bg1"/>
                </a:solidFill>
                <a:latin typeface="Impact"/>
              </a:rPr>
              <a:t>定制化实践</a:t>
            </a: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学习本课程可以掌握常用的一些 </a:t>
            </a: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JavaScript API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的使用方法，并利用</a:t>
            </a:r>
            <a:endParaRPr lang="en-US" altLang="zh-CN" sz="1100" dirty="0">
              <a:solidFill>
                <a:schemeClr val="bg1"/>
              </a:solidFill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JavaScript API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来进行简单的</a:t>
            </a: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kintone 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自定义开发。</a:t>
            </a:r>
          </a:p>
        </p:txBody>
      </p:sp>
    </p:spTree>
    <p:extLst>
      <p:ext uri="{BB962C8B-B14F-4D97-AF65-F5344CB8AC3E}">
        <p14:creationId xmlns:p14="http://schemas.microsoft.com/office/powerpoint/2010/main" val="268172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2186735" y="2121700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FDA907"/>
                </a:solidFill>
                <a:latin typeface="+mj-ea"/>
                <a:ea typeface="+mj-ea"/>
              </a:rPr>
              <a:t>应用准备！</a:t>
            </a:r>
            <a:endParaRPr lang="en-US" altLang="zh-CN" sz="4800" dirty="0">
              <a:solidFill>
                <a:srgbClr val="FDA907"/>
              </a:solidFill>
              <a:latin typeface="+mj-ea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69" y="1176595"/>
            <a:ext cx="2125176" cy="248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99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285B9A2-70D5-483E-B0A5-A33EA3BEE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65" y="884338"/>
            <a:ext cx="7722350" cy="4259162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添加应用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366A5F-8617-4FB3-87FB-D36AAAB63EC0}"/>
              </a:ext>
            </a:extLst>
          </p:cNvPr>
          <p:cNvSpPr/>
          <p:nvPr/>
        </p:nvSpPr>
        <p:spPr>
          <a:xfrm>
            <a:off x="5292080" y="3696876"/>
            <a:ext cx="3015335" cy="270030"/>
          </a:xfrm>
          <a:prstGeom prst="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404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添加记录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EE52C2-67AD-4C25-9DCF-25F50E5B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25" y="1581640"/>
            <a:ext cx="6597684" cy="3150350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900657-4535-4DE2-BDC5-241B064218F4}"/>
              </a:ext>
            </a:extLst>
          </p:cNvPr>
          <p:cNvSpPr txBox="1"/>
          <p:nvPr/>
        </p:nvSpPr>
        <p:spPr>
          <a:xfrm>
            <a:off x="206515" y="1086585"/>
            <a:ext cx="377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添加一条记录后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“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设置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按钮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A83428-D4FF-4778-8A97-2F39FF5F8F8A}"/>
              </a:ext>
            </a:extLst>
          </p:cNvPr>
          <p:cNvSpPr/>
          <p:nvPr/>
        </p:nvSpPr>
        <p:spPr>
          <a:xfrm>
            <a:off x="6102171" y="3246826"/>
            <a:ext cx="360040" cy="360040"/>
          </a:xfrm>
          <a:prstGeom prst="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EB76B16B-0752-450F-A12E-0F7ED410AD48}"/>
              </a:ext>
            </a:extLst>
          </p:cNvPr>
          <p:cNvSpPr/>
          <p:nvPr/>
        </p:nvSpPr>
        <p:spPr>
          <a:xfrm>
            <a:off x="7002270" y="4191930"/>
            <a:ext cx="1260139" cy="298486"/>
          </a:xfrm>
          <a:prstGeom prst="wedgeRoundRectCallout">
            <a:avLst>
              <a:gd name="adj1" fmla="val -76947"/>
              <a:gd name="adj2" fmla="val 2824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添加的记录</a:t>
            </a:r>
          </a:p>
        </p:txBody>
      </p:sp>
    </p:spTree>
    <p:extLst>
      <p:ext uri="{BB962C8B-B14F-4D97-AF65-F5344CB8AC3E}">
        <p14:creationId xmlns:p14="http://schemas.microsoft.com/office/powerpoint/2010/main" val="229024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更改字段名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900657-4535-4DE2-BDC5-241B064218F4}"/>
              </a:ext>
            </a:extLst>
          </p:cNvPr>
          <p:cNvSpPr txBox="1"/>
          <p:nvPr/>
        </p:nvSpPr>
        <p:spPr>
          <a:xfrm>
            <a:off x="501686" y="114419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“预期时间”的字段代码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改为“预期时间”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404EB65-2271-4E73-817D-EB5F97B57ADF}"/>
              </a:ext>
            </a:extLst>
          </p:cNvPr>
          <p:cNvGrpSpPr/>
          <p:nvPr/>
        </p:nvGrpSpPr>
        <p:grpSpPr>
          <a:xfrm>
            <a:off x="2546775" y="2075834"/>
            <a:ext cx="1352550" cy="1485900"/>
            <a:chOff x="1691680" y="1715794"/>
            <a:chExt cx="1352550" cy="14859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4659816-3159-4E40-AE06-631DA5186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1715794"/>
              <a:ext cx="1352550" cy="1485900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4A83428-D4FF-4778-8A97-2F39FF5F8F8A}"/>
                </a:ext>
              </a:extLst>
            </p:cNvPr>
            <p:cNvSpPr/>
            <p:nvPr/>
          </p:nvSpPr>
          <p:spPr>
            <a:xfrm>
              <a:off x="2231726" y="2075834"/>
              <a:ext cx="630083" cy="315036"/>
            </a:xfrm>
            <a:prstGeom prst="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CB80975-F935-48E4-8782-46B45E9045BB}"/>
              </a:ext>
            </a:extLst>
          </p:cNvPr>
          <p:cNvGrpSpPr/>
          <p:nvPr/>
        </p:nvGrpSpPr>
        <p:grpSpPr>
          <a:xfrm>
            <a:off x="611560" y="2293710"/>
            <a:ext cx="1247775" cy="914400"/>
            <a:chOff x="206515" y="1702354"/>
            <a:chExt cx="1247775" cy="91440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2C9B616-83E8-4AD1-9FFD-E801DD7F6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515" y="1702354"/>
              <a:ext cx="1247775" cy="914400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C968B5D-4DEB-454C-87C2-4E1E922AE44E}"/>
                </a:ext>
              </a:extLst>
            </p:cNvPr>
            <p:cNvSpPr/>
            <p:nvPr/>
          </p:nvSpPr>
          <p:spPr>
            <a:xfrm>
              <a:off x="1045157" y="1760798"/>
              <a:ext cx="360040" cy="315036"/>
            </a:xfrm>
            <a:prstGeom prst="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CEB1FBF-C8FD-40BE-8AC5-5793EFC59EB4}"/>
              </a:ext>
            </a:extLst>
          </p:cNvPr>
          <p:cNvCxnSpPr>
            <a:cxnSpLocks/>
          </p:cNvCxnSpPr>
          <p:nvPr/>
        </p:nvCxnSpPr>
        <p:spPr>
          <a:xfrm>
            <a:off x="3986935" y="2750910"/>
            <a:ext cx="540447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DD7E682-E83D-47B4-9ED6-F08819E2C548}"/>
              </a:ext>
            </a:extLst>
          </p:cNvPr>
          <p:cNvCxnSpPr>
            <a:cxnSpLocks/>
          </p:cNvCxnSpPr>
          <p:nvPr/>
        </p:nvCxnSpPr>
        <p:spPr>
          <a:xfrm>
            <a:off x="1916705" y="2750910"/>
            <a:ext cx="540447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788FD86-8E66-46B2-B090-267095B85A24}"/>
              </a:ext>
            </a:extLst>
          </p:cNvPr>
          <p:cNvGrpSpPr/>
          <p:nvPr/>
        </p:nvGrpSpPr>
        <p:grpSpPr>
          <a:xfrm>
            <a:off x="4617005" y="1086585"/>
            <a:ext cx="4043872" cy="3687583"/>
            <a:chOff x="4617005" y="1086585"/>
            <a:chExt cx="4043872" cy="3687583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4886CB7-47D2-48A9-BE3E-690E60234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7005" y="1086585"/>
              <a:ext cx="4043872" cy="3687583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0DA2D1A-71A4-43CE-89F6-AC131C7B1C1E}"/>
                </a:ext>
              </a:extLst>
            </p:cNvPr>
            <p:cNvSpPr/>
            <p:nvPr/>
          </p:nvSpPr>
          <p:spPr>
            <a:xfrm>
              <a:off x="4707015" y="3741880"/>
              <a:ext cx="1125125" cy="315036"/>
            </a:xfrm>
            <a:prstGeom prst="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60443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F17050A-D1B7-40E4-8BF1-248A5D56B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920" y="726545"/>
            <a:ext cx="4112465" cy="4230470"/>
          </a:xfrm>
          <a:prstGeom prst="rect">
            <a:avLst/>
          </a:prstGeom>
          <a:ln>
            <a:solidFill>
              <a:srgbClr val="F89290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541109-E74A-41DB-A09C-996E72B0B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63" y="1896675"/>
            <a:ext cx="2524125" cy="895350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更改字段名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900657-4535-4DE2-BDC5-241B064218F4}"/>
              </a:ext>
            </a:extLst>
          </p:cNvPr>
          <p:cNvSpPr txBox="1"/>
          <p:nvPr/>
        </p:nvSpPr>
        <p:spPr>
          <a:xfrm>
            <a:off x="501686" y="1144194"/>
            <a:ext cx="321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进度”的字段代码改为“进度”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761229F-5A5D-46EE-9E9C-E8EF2D32865F}"/>
              </a:ext>
            </a:extLst>
          </p:cNvPr>
          <p:cNvGrpSpPr/>
          <p:nvPr/>
        </p:nvGrpSpPr>
        <p:grpSpPr>
          <a:xfrm>
            <a:off x="688200" y="3291830"/>
            <a:ext cx="2533650" cy="1400175"/>
            <a:chOff x="375512" y="3397880"/>
            <a:chExt cx="2533650" cy="1400175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CE88730-57BB-48BC-A858-C3D7C7F36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5512" y="3397880"/>
              <a:ext cx="2533650" cy="1400175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4A83428-D4FF-4778-8A97-2F39FF5F8F8A}"/>
                </a:ext>
              </a:extLst>
            </p:cNvPr>
            <p:cNvSpPr/>
            <p:nvPr/>
          </p:nvSpPr>
          <p:spPr>
            <a:xfrm>
              <a:off x="2013293" y="3782931"/>
              <a:ext cx="758507" cy="315036"/>
            </a:xfrm>
            <a:prstGeom prst="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6C968B5D-4DEB-454C-87C2-4E1E922AE44E}"/>
              </a:ext>
            </a:extLst>
          </p:cNvPr>
          <p:cNvSpPr/>
          <p:nvPr/>
        </p:nvSpPr>
        <p:spPr>
          <a:xfrm>
            <a:off x="2816805" y="1896675"/>
            <a:ext cx="360040" cy="315036"/>
          </a:xfrm>
          <a:prstGeom prst="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CEB1FBF-C8FD-40BE-8AC5-5793EFC59EB4}"/>
              </a:ext>
            </a:extLst>
          </p:cNvPr>
          <p:cNvCxnSpPr>
            <a:cxnSpLocks/>
          </p:cNvCxnSpPr>
          <p:nvPr/>
        </p:nvCxnSpPr>
        <p:spPr>
          <a:xfrm>
            <a:off x="3311860" y="4058621"/>
            <a:ext cx="540447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DD7E682-E83D-47B4-9ED6-F08819E2C548}"/>
              </a:ext>
            </a:extLst>
          </p:cNvPr>
          <p:cNvCxnSpPr>
            <a:cxnSpLocks/>
          </p:cNvCxnSpPr>
          <p:nvPr/>
        </p:nvCxnSpPr>
        <p:spPr>
          <a:xfrm>
            <a:off x="1961710" y="2841780"/>
            <a:ext cx="0" cy="428043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0DA2D1A-71A4-43CE-89F6-AC131C7B1C1E}"/>
              </a:ext>
            </a:extLst>
          </p:cNvPr>
          <p:cNvSpPr/>
          <p:nvPr/>
        </p:nvSpPr>
        <p:spPr>
          <a:xfrm>
            <a:off x="4021185" y="4063116"/>
            <a:ext cx="1090875" cy="315036"/>
          </a:xfrm>
          <a:prstGeom prst="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33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387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保存表单、更新应用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0A5B26-AEDC-43BD-820A-BC107B26244C}"/>
              </a:ext>
            </a:extLst>
          </p:cNvPr>
          <p:cNvGrpSpPr/>
          <p:nvPr/>
        </p:nvGrpSpPr>
        <p:grpSpPr>
          <a:xfrm>
            <a:off x="410707" y="1806665"/>
            <a:ext cx="8256748" cy="1980220"/>
            <a:chOff x="341530" y="2301720"/>
            <a:chExt cx="8256748" cy="198022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DE5FF47-B63D-44BE-B96D-CF76C5754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530" y="2301720"/>
              <a:ext cx="8256748" cy="1980220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C968B5D-4DEB-454C-87C2-4E1E922AE44E}"/>
                </a:ext>
              </a:extLst>
            </p:cNvPr>
            <p:cNvSpPr/>
            <p:nvPr/>
          </p:nvSpPr>
          <p:spPr>
            <a:xfrm>
              <a:off x="566555" y="3696874"/>
              <a:ext cx="1305145" cy="585065"/>
            </a:xfrm>
            <a:prstGeom prst="rect">
              <a:avLst/>
            </a:prstGeom>
            <a:noFill/>
            <a:ln>
              <a:solidFill>
                <a:srgbClr val="F892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F541081-1DC3-4E7F-B048-EA430728AAA8}"/>
                </a:ext>
              </a:extLst>
            </p:cNvPr>
            <p:cNvSpPr/>
            <p:nvPr/>
          </p:nvSpPr>
          <p:spPr>
            <a:xfrm>
              <a:off x="7227295" y="2704074"/>
              <a:ext cx="1305145" cy="497746"/>
            </a:xfrm>
            <a:prstGeom prst="rect">
              <a:avLst/>
            </a:prstGeom>
            <a:noFill/>
            <a:ln>
              <a:solidFill>
                <a:srgbClr val="F892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F15CE-F0E7-4292-9F79-A3504585F438}"/>
              </a:ext>
            </a:extLst>
          </p:cNvPr>
          <p:cNvSpPr txBox="1"/>
          <p:nvPr/>
        </p:nvSpPr>
        <p:spPr>
          <a:xfrm>
            <a:off x="410707" y="1276515"/>
            <a:ext cx="7679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点击 “保存表单”按钮后，点击“更新应用”按钮保存刚才的设置。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9D056DE-282A-4D18-97CE-6D51D405B9F6}"/>
              </a:ext>
            </a:extLst>
          </p:cNvPr>
          <p:cNvSpPr/>
          <p:nvPr/>
        </p:nvSpPr>
        <p:spPr>
          <a:xfrm>
            <a:off x="2008384" y="3336833"/>
            <a:ext cx="315035" cy="315035"/>
          </a:xfrm>
          <a:prstGeom prst="ellipse">
            <a:avLst/>
          </a:prstGeom>
          <a:solidFill>
            <a:srgbClr val="F454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D29B30D-F40E-46D8-B83E-A14D04FB3772}"/>
              </a:ext>
            </a:extLst>
          </p:cNvPr>
          <p:cNvSpPr/>
          <p:nvPr/>
        </p:nvSpPr>
        <p:spPr>
          <a:xfrm>
            <a:off x="7791526" y="2774272"/>
            <a:ext cx="315035" cy="315035"/>
          </a:xfrm>
          <a:prstGeom prst="ellipse">
            <a:avLst/>
          </a:prstGeom>
          <a:solidFill>
            <a:srgbClr val="F454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288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373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lt"/>
              </a:rPr>
              <a:t>JavaScript API </a:t>
            </a:r>
            <a:r>
              <a:rPr lang="zh-CN" altLang="en-US" sz="2800" b="1" dirty="0">
                <a:latin typeface="+mj-lt"/>
              </a:rPr>
              <a:t>事件介绍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E12D98-47D4-4B15-A9B7-89892FEFF8FB}"/>
              </a:ext>
            </a:extLst>
          </p:cNvPr>
          <p:cNvSpPr txBox="1"/>
          <p:nvPr/>
        </p:nvSpPr>
        <p:spPr>
          <a:xfrm>
            <a:off x="2659288" y="1986685"/>
            <a:ext cx="3195355" cy="369332"/>
          </a:xfrm>
          <a:prstGeom prst="rect">
            <a:avLst/>
          </a:prstGeom>
          <a:solidFill>
            <a:srgbClr val="FFC000"/>
          </a:solidFill>
          <a:ln>
            <a:solidFill>
              <a:srgbClr val="FDA90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kintone JavaScript API</a:t>
            </a:r>
            <a:r>
              <a:rPr lang="zh-CN" altLang="en-US" dirty="0"/>
              <a:t>的基本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C3C538-0D89-455A-AD4C-04DCC4D51C28}"/>
              </a:ext>
            </a:extLst>
          </p:cNvPr>
          <p:cNvSpPr txBox="1"/>
          <p:nvPr/>
        </p:nvSpPr>
        <p:spPr>
          <a:xfrm>
            <a:off x="566555" y="2346725"/>
            <a:ext cx="8010890" cy="1077218"/>
          </a:xfrm>
          <a:prstGeom prst="rect">
            <a:avLst/>
          </a:prstGeom>
          <a:noFill/>
          <a:ln w="25400">
            <a:solidFill>
              <a:srgbClr val="FDA907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>
              <a:latin typeface="+mn-ea"/>
            </a:endParaRPr>
          </a:p>
          <a:p>
            <a:pPr algn="ctr"/>
            <a:r>
              <a:rPr lang="zh-CN" altLang="en-US" sz="3600" dirty="0"/>
              <a:t>当</a:t>
            </a:r>
            <a:r>
              <a:rPr lang="en-US" altLang="zh-CN" sz="3600" dirty="0"/>
              <a:t>【</a:t>
            </a:r>
            <a:r>
              <a:rPr lang="zh-CN" altLang="en-US" sz="3600" dirty="0"/>
              <a:t>发生</a:t>
            </a:r>
            <a:r>
              <a:rPr lang="en-US" altLang="zh-CN" sz="3600" b="1" dirty="0">
                <a:solidFill>
                  <a:srgbClr val="FDA907"/>
                </a:solidFill>
              </a:rPr>
              <a:t>XX</a:t>
            </a:r>
            <a:r>
              <a:rPr lang="zh-CN" altLang="en-US" sz="3600" dirty="0"/>
              <a:t>时</a:t>
            </a:r>
            <a:r>
              <a:rPr lang="en-US" altLang="zh-CN" sz="3600" dirty="0"/>
              <a:t>】</a:t>
            </a:r>
            <a:r>
              <a:rPr lang="zh-CN" altLang="en-US" sz="3600" dirty="0"/>
              <a:t>想要</a:t>
            </a:r>
            <a:r>
              <a:rPr lang="en-US" altLang="zh-CN" sz="3600" dirty="0"/>
              <a:t>【</a:t>
            </a:r>
            <a:r>
              <a:rPr lang="zh-CN" altLang="en-US" sz="3600" dirty="0"/>
              <a:t>执行</a:t>
            </a:r>
            <a:r>
              <a:rPr lang="en-US" altLang="zh-CN" sz="3600" b="1" dirty="0">
                <a:solidFill>
                  <a:srgbClr val="62C9E2"/>
                </a:solidFill>
              </a:rPr>
              <a:t>YY</a:t>
            </a:r>
            <a:r>
              <a:rPr lang="zh-CN" altLang="en-US" sz="3600" dirty="0"/>
              <a:t>处理</a:t>
            </a:r>
            <a:r>
              <a:rPr lang="en-US" altLang="zh-CN" sz="3600" dirty="0"/>
              <a:t>】</a:t>
            </a:r>
            <a:endParaRPr lang="en-US" altLang="zh-CN" sz="3600" b="1" dirty="0">
              <a:solidFill>
                <a:srgbClr val="62C9E2"/>
              </a:solidFill>
            </a:endParaRPr>
          </a:p>
          <a:p>
            <a:pPr algn="ctr"/>
            <a:endParaRPr lang="zh-CN" altLang="en-US" sz="1400" dirty="0">
              <a:solidFill>
                <a:srgbClr val="62C9E2"/>
              </a:solidFill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0805072C-9813-44A3-BCED-832980F71B85}"/>
              </a:ext>
            </a:extLst>
          </p:cNvPr>
          <p:cNvSpPr/>
          <p:nvPr/>
        </p:nvSpPr>
        <p:spPr>
          <a:xfrm>
            <a:off x="2765841" y="3868891"/>
            <a:ext cx="1176089" cy="683080"/>
          </a:xfrm>
          <a:prstGeom prst="wedgeRoundRectCallout">
            <a:avLst>
              <a:gd name="adj1" fmla="val -40665"/>
              <a:gd name="adj2" fmla="val -14515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Event</a:t>
            </a:r>
          </a:p>
          <a:p>
            <a:pPr algn="ctr"/>
            <a:r>
              <a:rPr lang="en-US" altLang="zh-CN" sz="2000" dirty="0"/>
              <a:t>(</a:t>
            </a:r>
            <a:r>
              <a:rPr lang="zh-CN" altLang="en-US" sz="2000" dirty="0"/>
              <a:t>事件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DEDE20B-87AA-4972-A582-8B825BAFD55F}"/>
              </a:ext>
            </a:extLst>
          </p:cNvPr>
          <p:cNvSpPr/>
          <p:nvPr/>
        </p:nvSpPr>
        <p:spPr>
          <a:xfrm>
            <a:off x="6552220" y="3868890"/>
            <a:ext cx="1176089" cy="683080"/>
          </a:xfrm>
          <a:prstGeom prst="wedgeRoundRectCallout">
            <a:avLst>
              <a:gd name="adj1" fmla="val -40665"/>
              <a:gd name="adj2" fmla="val -14515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Handler</a:t>
            </a:r>
          </a:p>
          <a:p>
            <a:pPr algn="ctr"/>
            <a:r>
              <a:rPr lang="en-US" altLang="zh-CN" sz="2400" dirty="0"/>
              <a:t>(</a:t>
            </a:r>
            <a:r>
              <a:rPr lang="zh-CN" altLang="en-US" sz="1600" dirty="0"/>
              <a:t>自定义</a:t>
            </a:r>
            <a:r>
              <a:rPr lang="en-US" altLang="zh-C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6562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88EEE62-6554-4E27-B2EC-BE95B7A9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865" y="1421469"/>
            <a:ext cx="3649290" cy="3638834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373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lt"/>
              </a:rPr>
              <a:t>JavaScript API </a:t>
            </a:r>
            <a:r>
              <a:rPr lang="zh-CN" altLang="en-US" sz="2800" b="1" dirty="0">
                <a:latin typeface="+mj-lt"/>
              </a:rPr>
              <a:t>事件介绍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F27D39-7639-43EC-8297-8903C69DF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47" y="1431585"/>
            <a:ext cx="4365485" cy="363883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7ACAF73-5530-4093-8B68-DC065BE09114}"/>
              </a:ext>
            </a:extLst>
          </p:cNvPr>
          <p:cNvSpPr txBox="1"/>
          <p:nvPr/>
        </p:nvSpPr>
        <p:spPr>
          <a:xfrm>
            <a:off x="476521" y="903844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例：</a:t>
            </a:r>
            <a:r>
              <a:rPr lang="zh-CN" altLang="en-US" b="1" dirty="0">
                <a:solidFill>
                  <a:srgbClr val="FDA907"/>
                </a:solidFill>
              </a:rPr>
              <a:t>打开</a:t>
            </a:r>
            <a:r>
              <a:rPr lang="zh-CN" altLang="en-US" dirty="0"/>
              <a:t>记录详情页面的时候，针对获取到的记录信息，进行</a:t>
            </a:r>
            <a:r>
              <a:rPr lang="zh-CN" altLang="en-US" b="1" dirty="0">
                <a:solidFill>
                  <a:srgbClr val="66D5F0"/>
                </a:solidFill>
              </a:rPr>
              <a:t>自定义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B6815E-52CB-4996-85C2-9E4AC218F3EE}"/>
              </a:ext>
            </a:extLst>
          </p:cNvPr>
          <p:cNvSpPr/>
          <p:nvPr/>
        </p:nvSpPr>
        <p:spPr>
          <a:xfrm>
            <a:off x="481957" y="3831890"/>
            <a:ext cx="1080120" cy="405045"/>
          </a:xfrm>
          <a:prstGeom prst="rect">
            <a:avLst/>
          </a:prstGeom>
          <a:noFill/>
          <a:ln w="25400" cap="flat" cmpd="sng" algn="ctr">
            <a:solidFill>
              <a:srgbClr val="F454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E45E4B2-4CEE-4A52-9DC0-33EC21A3068E}"/>
              </a:ext>
            </a:extLst>
          </p:cNvPr>
          <p:cNvSpPr/>
          <p:nvPr/>
        </p:nvSpPr>
        <p:spPr>
          <a:xfrm>
            <a:off x="6788043" y="4551970"/>
            <a:ext cx="2161975" cy="518449"/>
          </a:xfrm>
          <a:prstGeom prst="wedgeRoundRectCallout">
            <a:avLst>
              <a:gd name="adj1" fmla="val -48095"/>
              <a:gd name="adj2" fmla="val -192818"/>
              <a:gd name="adj3" fmla="val 16667"/>
            </a:avLst>
          </a:prstGeom>
          <a:solidFill>
            <a:schemeClr val="bg1">
              <a:lumMod val="65000"/>
              <a:alpha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记录详细页面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842807F-3074-4C3D-A827-7ACAEC6C3AF3}"/>
              </a:ext>
            </a:extLst>
          </p:cNvPr>
          <p:cNvSpPr/>
          <p:nvPr/>
        </p:nvSpPr>
        <p:spPr>
          <a:xfrm>
            <a:off x="1157032" y="4551970"/>
            <a:ext cx="1029703" cy="360040"/>
          </a:xfrm>
          <a:prstGeom prst="wedgeRoundRectCallout">
            <a:avLst>
              <a:gd name="adj1" fmla="val -55781"/>
              <a:gd name="adj2" fmla="val -134457"/>
              <a:gd name="adj3" fmla="val 16667"/>
            </a:avLst>
          </a:prstGeom>
          <a:solidFill>
            <a:srgbClr val="F89290"/>
          </a:solidFill>
          <a:ln>
            <a:solidFill>
              <a:srgbClr val="F454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显示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E13A4993-A9AA-46AA-A48B-FF8D7540586F}"/>
              </a:ext>
            </a:extLst>
          </p:cNvPr>
          <p:cNvSpPr/>
          <p:nvPr/>
        </p:nvSpPr>
        <p:spPr>
          <a:xfrm>
            <a:off x="1157032" y="1887271"/>
            <a:ext cx="1485164" cy="772343"/>
          </a:xfrm>
          <a:prstGeom prst="wedgeRoundRectCallout">
            <a:avLst>
              <a:gd name="adj1" fmla="val -40665"/>
              <a:gd name="adj2" fmla="val -14515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Event</a:t>
            </a:r>
          </a:p>
          <a:p>
            <a:pPr algn="ctr"/>
            <a:r>
              <a:rPr lang="en-US" altLang="zh-CN" sz="2400" dirty="0"/>
              <a:t>(</a:t>
            </a:r>
            <a:r>
              <a:rPr lang="zh-CN" altLang="en-US" sz="2400" dirty="0"/>
              <a:t>事件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F201F5FD-5561-402F-A0F0-06346848AB86}"/>
              </a:ext>
            </a:extLst>
          </p:cNvPr>
          <p:cNvSpPr/>
          <p:nvPr/>
        </p:nvSpPr>
        <p:spPr>
          <a:xfrm>
            <a:off x="6795745" y="2031690"/>
            <a:ext cx="1395155" cy="817348"/>
          </a:xfrm>
          <a:prstGeom prst="wedgeRoundRectCallout">
            <a:avLst>
              <a:gd name="adj1" fmla="val -40665"/>
              <a:gd name="adj2" fmla="val -14515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Handler</a:t>
            </a:r>
          </a:p>
          <a:p>
            <a:pPr algn="ctr"/>
            <a:r>
              <a:rPr lang="en-US" altLang="zh-CN" sz="2400" dirty="0"/>
              <a:t>(</a:t>
            </a:r>
            <a:r>
              <a:rPr lang="zh-CN" altLang="en-US" sz="2400" dirty="0"/>
              <a:t>自定义</a:t>
            </a:r>
            <a:r>
              <a:rPr lang="en-US" altLang="zh-CN" sz="2400" dirty="0"/>
              <a:t>)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F5D0253B-76ED-477B-B59D-96916A93C442}"/>
              </a:ext>
            </a:extLst>
          </p:cNvPr>
          <p:cNvSpPr/>
          <p:nvPr/>
        </p:nvSpPr>
        <p:spPr>
          <a:xfrm>
            <a:off x="5112060" y="4461960"/>
            <a:ext cx="1083797" cy="360040"/>
          </a:xfrm>
          <a:prstGeom prst="wedgeRoundRectCallout">
            <a:avLst>
              <a:gd name="adj1" fmla="val -55781"/>
              <a:gd name="adj2" fmla="val -134457"/>
              <a:gd name="adj3" fmla="val 16667"/>
            </a:avLst>
          </a:prstGeom>
          <a:solidFill>
            <a:srgbClr val="F89290"/>
          </a:solidFill>
          <a:ln>
            <a:solidFill>
              <a:srgbClr val="F454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隐藏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E1CAD6-FF31-4C34-9C98-1025E57D803E}"/>
              </a:ext>
            </a:extLst>
          </p:cNvPr>
          <p:cNvSpPr/>
          <p:nvPr/>
        </p:nvSpPr>
        <p:spPr>
          <a:xfrm>
            <a:off x="4976331" y="3831890"/>
            <a:ext cx="45719" cy="315035"/>
          </a:xfrm>
          <a:prstGeom prst="rect">
            <a:avLst/>
          </a:prstGeom>
          <a:noFill/>
          <a:ln w="25400" cap="flat" cmpd="sng" algn="ctr">
            <a:solidFill>
              <a:srgbClr val="F4545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809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373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lt"/>
              </a:rPr>
              <a:t>JavaScript API </a:t>
            </a:r>
            <a:r>
              <a:rPr lang="zh-CN" altLang="en-US" sz="2800" b="1" dirty="0">
                <a:latin typeface="+mj-lt"/>
              </a:rPr>
              <a:t>事件介绍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6558EC0-33D3-4160-BC18-D8D016291BCA}"/>
              </a:ext>
            </a:extLst>
          </p:cNvPr>
          <p:cNvGrpSpPr/>
          <p:nvPr/>
        </p:nvGrpSpPr>
        <p:grpSpPr>
          <a:xfrm>
            <a:off x="486291" y="1976619"/>
            <a:ext cx="8145905" cy="1395060"/>
            <a:chOff x="468273" y="2102342"/>
            <a:chExt cx="7425825" cy="139506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742F0F3-4A31-4A2E-B423-E9CFD22B1A92}"/>
                </a:ext>
              </a:extLst>
            </p:cNvPr>
            <p:cNvSpPr txBox="1"/>
            <p:nvPr/>
          </p:nvSpPr>
          <p:spPr>
            <a:xfrm>
              <a:off x="468273" y="2481739"/>
              <a:ext cx="7425825" cy="1015663"/>
            </a:xfrm>
            <a:prstGeom prst="rect">
              <a:avLst/>
            </a:prstGeom>
            <a:noFill/>
            <a:ln w="25400">
              <a:solidFill>
                <a:srgbClr val="FDA907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altLang="zh-CN" sz="2800" b="1" dirty="0" err="1"/>
                <a:t>kintone.events.on</a:t>
              </a:r>
              <a:r>
                <a:rPr lang="en-US" altLang="zh-CN" sz="2800" b="1" dirty="0"/>
                <a:t>(event, handler(event));</a:t>
              </a:r>
            </a:p>
            <a:p>
              <a:pPr algn="ctr"/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B7D463-6BFD-4349-8CF6-3CA54857D099}"/>
                </a:ext>
              </a:extLst>
            </p:cNvPr>
            <p:cNvSpPr txBox="1"/>
            <p:nvPr/>
          </p:nvSpPr>
          <p:spPr>
            <a:xfrm>
              <a:off x="3086835" y="2102342"/>
              <a:ext cx="2295255" cy="369332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DA907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事件处理的基本写法</a:t>
              </a:r>
            </a:p>
          </p:txBody>
        </p:sp>
      </p:grp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40962398-A5EE-49E5-B936-C3131E370B79}"/>
              </a:ext>
            </a:extLst>
          </p:cNvPr>
          <p:cNvSpPr/>
          <p:nvPr/>
        </p:nvSpPr>
        <p:spPr>
          <a:xfrm>
            <a:off x="6237185" y="3606865"/>
            <a:ext cx="2259996" cy="540060"/>
          </a:xfrm>
          <a:prstGeom prst="wedgeRoundRectCallout">
            <a:avLst>
              <a:gd name="adj1" fmla="val -40665"/>
              <a:gd name="adj2" fmla="val -14515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自定义处理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6B1D12-08B3-4813-BD6E-22DFBECB5F62}"/>
              </a:ext>
            </a:extLst>
          </p:cNvPr>
          <p:cNvSpPr/>
          <p:nvPr/>
        </p:nvSpPr>
        <p:spPr>
          <a:xfrm>
            <a:off x="5292080" y="2661760"/>
            <a:ext cx="2520280" cy="40504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547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DAC9FF5-E84F-4ADD-AFBF-5A0E7F48DE5E}"/>
              </a:ext>
            </a:extLst>
          </p:cNvPr>
          <p:cNvSpPr txBox="1"/>
          <p:nvPr/>
        </p:nvSpPr>
        <p:spPr>
          <a:xfrm>
            <a:off x="386535" y="1806665"/>
            <a:ext cx="8145905" cy="1415772"/>
          </a:xfrm>
          <a:prstGeom prst="rect">
            <a:avLst/>
          </a:prstGeom>
          <a:noFill/>
          <a:ln w="25400">
            <a:solidFill>
              <a:srgbClr val="FDA907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b="1" dirty="0"/>
              <a:t>kintone.events.on(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b="1" dirty="0">
                <a:ea typeface="Meiryo UI" panose="020B0604030504040204" pitchFamily="50" charset="-128"/>
                <a:cs typeface="Meiryo UI" panose="020B0604030504040204" pitchFamily="50" charset="-128"/>
              </a:rPr>
              <a:t>app.record.detail.show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zh-CN" b="1" dirty="0"/>
              <a:t>, function(event) {</a:t>
            </a:r>
          </a:p>
          <a:p>
            <a:r>
              <a:rPr lang="en-US" altLang="zh-CN" b="1" dirty="0"/>
              <a:t>    window.alert(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zh-CN" altLang="en-US" b="1" dirty="0"/>
              <a:t>记录显示事件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zh-CN" b="1" dirty="0"/>
              <a:t>);</a:t>
            </a:r>
          </a:p>
          <a:p>
            <a:r>
              <a:rPr lang="en-US" altLang="zh-CN" b="1" dirty="0"/>
              <a:t>});</a:t>
            </a:r>
          </a:p>
          <a:p>
            <a:pPr algn="ctr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373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+mj-lt"/>
              </a:rPr>
              <a:t>JavaScript API </a:t>
            </a:r>
            <a:r>
              <a:rPr lang="zh-CN" altLang="en-US" sz="2800" b="1" dirty="0">
                <a:latin typeface="+mj-lt"/>
              </a:rPr>
              <a:t>事件介绍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A5A2DE-EF11-444E-AFDB-2BE8C1A04017}"/>
              </a:ext>
            </a:extLst>
          </p:cNvPr>
          <p:cNvSpPr/>
          <p:nvPr/>
        </p:nvSpPr>
        <p:spPr>
          <a:xfrm>
            <a:off x="2501771" y="2110341"/>
            <a:ext cx="2610290" cy="232370"/>
          </a:xfrm>
          <a:prstGeom prst="rect">
            <a:avLst/>
          </a:prstGeom>
          <a:noFill/>
          <a:ln w="12700">
            <a:solidFill>
              <a:srgbClr val="F45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3C68EE5A-3E67-4BC4-BC95-F4458860E1A0}"/>
              </a:ext>
            </a:extLst>
          </p:cNvPr>
          <p:cNvSpPr/>
          <p:nvPr/>
        </p:nvSpPr>
        <p:spPr>
          <a:xfrm>
            <a:off x="4932040" y="1230615"/>
            <a:ext cx="1444192" cy="418432"/>
          </a:xfrm>
          <a:prstGeom prst="wedgeRoundRectCallout">
            <a:avLst>
              <a:gd name="adj1" fmla="val -69392"/>
              <a:gd name="adj2" fmla="val 15988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事件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4CC5868D-76D2-4928-B7A1-680A26351362}"/>
              </a:ext>
            </a:extLst>
          </p:cNvPr>
          <p:cNvSpPr/>
          <p:nvPr/>
        </p:nvSpPr>
        <p:spPr>
          <a:xfrm>
            <a:off x="628479" y="2121700"/>
            <a:ext cx="6463801" cy="618309"/>
          </a:xfrm>
          <a:custGeom>
            <a:avLst/>
            <a:gdLst>
              <a:gd name="connsiteX0" fmla="*/ 4632960 w 6557555"/>
              <a:gd name="connsiteY0" fmla="*/ 235132 h 618309"/>
              <a:gd name="connsiteX1" fmla="*/ 4632960 w 6557555"/>
              <a:gd name="connsiteY1" fmla="*/ 235132 h 618309"/>
              <a:gd name="connsiteX2" fmla="*/ 4624252 w 6557555"/>
              <a:gd name="connsiteY2" fmla="*/ 0 h 618309"/>
              <a:gd name="connsiteX3" fmla="*/ 6557555 w 6557555"/>
              <a:gd name="connsiteY3" fmla="*/ 0 h 618309"/>
              <a:gd name="connsiteX4" fmla="*/ 6557555 w 6557555"/>
              <a:gd name="connsiteY4" fmla="*/ 470263 h 618309"/>
              <a:gd name="connsiteX5" fmla="*/ 6557555 w 6557555"/>
              <a:gd name="connsiteY5" fmla="*/ 618309 h 618309"/>
              <a:gd name="connsiteX6" fmla="*/ 0 w 6557555"/>
              <a:gd name="connsiteY6" fmla="*/ 583475 h 618309"/>
              <a:gd name="connsiteX7" fmla="*/ 8709 w 6557555"/>
              <a:gd name="connsiteY7" fmla="*/ 269966 h 618309"/>
              <a:gd name="connsiteX8" fmla="*/ 4632960 w 6557555"/>
              <a:gd name="connsiteY8" fmla="*/ 235132 h 61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57555" h="618309">
                <a:moveTo>
                  <a:pt x="4632960" y="235132"/>
                </a:moveTo>
                <a:lnTo>
                  <a:pt x="4632960" y="235132"/>
                </a:lnTo>
                <a:cubicBezTo>
                  <a:pt x="4618482" y="104823"/>
                  <a:pt x="4624252" y="183041"/>
                  <a:pt x="4624252" y="0"/>
                </a:cubicBezTo>
                <a:lnTo>
                  <a:pt x="6557555" y="0"/>
                </a:lnTo>
                <a:lnTo>
                  <a:pt x="6557555" y="470263"/>
                </a:lnTo>
                <a:lnTo>
                  <a:pt x="6557555" y="618309"/>
                </a:lnTo>
                <a:lnTo>
                  <a:pt x="0" y="583475"/>
                </a:lnTo>
                <a:lnTo>
                  <a:pt x="8709" y="269966"/>
                </a:lnTo>
                <a:lnTo>
                  <a:pt x="4632960" y="235132"/>
                </a:lnTo>
                <a:close/>
              </a:path>
            </a:pathLst>
          </a:custGeom>
          <a:noFill/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7E3C6ADA-21EF-4F05-8376-3A2B053A9ADF}"/>
              </a:ext>
            </a:extLst>
          </p:cNvPr>
          <p:cNvSpPr/>
          <p:nvPr/>
        </p:nvSpPr>
        <p:spPr>
          <a:xfrm>
            <a:off x="3801260" y="2961623"/>
            <a:ext cx="2067677" cy="418432"/>
          </a:xfrm>
          <a:prstGeom prst="wedgeRoundRectCallout">
            <a:avLst>
              <a:gd name="adj1" fmla="val -46610"/>
              <a:gd name="adj2" fmla="val -13772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自定义部分</a:t>
            </a:r>
          </a:p>
        </p:txBody>
      </p:sp>
    </p:spTree>
    <p:extLst>
      <p:ext uri="{BB962C8B-B14F-4D97-AF65-F5344CB8AC3E}">
        <p14:creationId xmlns:p14="http://schemas.microsoft.com/office/powerpoint/2010/main" val="3483290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lt"/>
              </a:rPr>
              <a:t>事件的查找方法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B7BC77-E07F-4518-A0F8-F179252D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25" y="1626645"/>
            <a:ext cx="2126575" cy="2295255"/>
          </a:xfrm>
          <a:prstGeom prst="rect">
            <a:avLst/>
          </a:prstGeom>
          <a:ln>
            <a:solidFill>
              <a:srgbClr val="F89290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13582F2-34D4-49C8-BAEE-5334BC0D0E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6979"/>
          <a:stretch/>
        </p:blipFill>
        <p:spPr>
          <a:xfrm>
            <a:off x="2976977" y="698090"/>
            <a:ext cx="2055227" cy="4380594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595D4F-A026-4BDF-A0C4-FF8AD64376E5}"/>
              </a:ext>
            </a:extLst>
          </p:cNvPr>
          <p:cNvSpPr/>
          <p:nvPr/>
        </p:nvSpPr>
        <p:spPr>
          <a:xfrm>
            <a:off x="1049167" y="2920795"/>
            <a:ext cx="1373933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0E80AE5-17B0-42A6-94C7-2C9CF2B452A0}"/>
              </a:ext>
            </a:extLst>
          </p:cNvPr>
          <p:cNvCxnSpPr>
            <a:cxnSpLocks/>
          </p:cNvCxnSpPr>
          <p:nvPr/>
        </p:nvCxnSpPr>
        <p:spPr>
          <a:xfrm>
            <a:off x="2429052" y="3111810"/>
            <a:ext cx="522768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197E39-BB47-448E-A891-4758CB2A02AE}"/>
              </a:ext>
            </a:extLst>
          </p:cNvPr>
          <p:cNvSpPr/>
          <p:nvPr/>
        </p:nvSpPr>
        <p:spPr>
          <a:xfrm>
            <a:off x="2951820" y="2924026"/>
            <a:ext cx="2064278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22FADE-B1C1-4030-B01B-197C1FE27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150" y="1176595"/>
            <a:ext cx="2903280" cy="3045534"/>
          </a:xfrm>
          <a:prstGeom prst="rect">
            <a:avLst/>
          </a:prstGeom>
          <a:ln>
            <a:solidFill>
              <a:srgbClr val="F89290"/>
            </a:solidFill>
          </a:ln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C55B8EF-F102-4093-977F-25D65F0DB3AB}"/>
              </a:ext>
            </a:extLst>
          </p:cNvPr>
          <p:cNvCxnSpPr>
            <a:cxnSpLocks/>
          </p:cNvCxnSpPr>
          <p:nvPr/>
        </p:nvCxnSpPr>
        <p:spPr>
          <a:xfrm>
            <a:off x="5027110" y="3110209"/>
            <a:ext cx="522768" cy="0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811F467-565E-43B3-92F7-9FFF9904C45B}"/>
              </a:ext>
            </a:extLst>
          </p:cNvPr>
          <p:cNvSpPr txBox="1"/>
          <p:nvPr/>
        </p:nvSpPr>
        <p:spPr>
          <a:xfrm>
            <a:off x="5484327" y="4371950"/>
            <a:ext cx="2868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hlinkClick r:id="rId6"/>
              </a:rPr>
              <a:t>https://cybozudev.kf5.com/hc/kb/article/206907/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07920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实际运用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6E293-FB84-4F18-B4F9-098CC30170BB}"/>
              </a:ext>
            </a:extLst>
          </p:cNvPr>
          <p:cNvSpPr txBox="1"/>
          <p:nvPr/>
        </p:nvSpPr>
        <p:spPr>
          <a:xfrm>
            <a:off x="521550" y="680388"/>
            <a:ext cx="841593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第一个任务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DA907"/>
                </a:solidFill>
              </a:rPr>
              <a:t>    打开</a:t>
            </a:r>
            <a:r>
              <a:rPr lang="zh-CN" altLang="en-US" sz="2000" dirty="0">
                <a:solidFill>
                  <a:srgbClr val="FFC000"/>
                </a:solidFill>
              </a:rPr>
              <a:t>页面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添加、编辑、详情</a:t>
            </a:r>
            <a:r>
              <a:rPr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DA907"/>
                </a:solidFill>
              </a:rPr>
              <a:t>    更改产品名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）的时候，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如果产品名为 “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Garoon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zh-CN" altLang="en-US" sz="2000" dirty="0">
                <a:solidFill>
                  <a:srgbClr val="66D5F0"/>
                </a:solidFill>
              </a:rPr>
              <a:t>显示“预期时间”、“进度”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字段，</a:t>
            </a:r>
            <a:b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如果是其他产品，则</a:t>
            </a:r>
            <a:r>
              <a:rPr lang="zh-CN" altLang="en-US" sz="2000" dirty="0">
                <a:solidFill>
                  <a:srgbClr val="66D5F0"/>
                </a:solidFill>
              </a:rPr>
              <a:t>隐藏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FDA907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第二个任务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DA907"/>
                </a:solidFill>
              </a:rPr>
              <a:t>保存记录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r>
              <a:rPr lang="zh-CN" altLang="en-US" sz="2000" dirty="0">
                <a:solidFill>
                  <a:srgbClr val="66D5F0"/>
                </a:solidFill>
              </a:rPr>
              <a:t>显示对话框</a:t>
            </a:r>
            <a:r>
              <a:rPr kumimoji="1"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提醒</a:t>
            </a:r>
            <a:r>
              <a:rPr kumimoji="1"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b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“添加成功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记得填写活动记录”。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ja-JP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961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想要的结果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268295-A6FC-4C9D-93BD-ED22F6A5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00" y="1536635"/>
            <a:ext cx="4267490" cy="1082883"/>
          </a:xfrm>
          <a:prstGeom prst="rect">
            <a:avLst/>
          </a:prstGeom>
          <a:ln>
            <a:solidFill>
              <a:srgbClr val="F89290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263B77-4D1F-4406-BF78-AC194BE39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005" y="1536635"/>
            <a:ext cx="4160552" cy="1082883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672326-1AD8-46D7-AD28-3213112ED951}"/>
              </a:ext>
            </a:extLst>
          </p:cNvPr>
          <p:cNvSpPr/>
          <p:nvPr/>
        </p:nvSpPr>
        <p:spPr>
          <a:xfrm>
            <a:off x="206515" y="2211710"/>
            <a:ext cx="1080120" cy="407807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A098393-B514-4EEA-AF7B-C9797A269A37}"/>
              </a:ext>
            </a:extLst>
          </p:cNvPr>
          <p:cNvSpPr/>
          <p:nvPr/>
        </p:nvSpPr>
        <p:spPr>
          <a:xfrm>
            <a:off x="4617004" y="2211711"/>
            <a:ext cx="1125125" cy="40780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C8C2933-6819-4131-9498-DF792BD559E3}"/>
              </a:ext>
            </a:extLst>
          </p:cNvPr>
          <p:cNvSpPr/>
          <p:nvPr/>
        </p:nvSpPr>
        <p:spPr>
          <a:xfrm>
            <a:off x="6642230" y="1761660"/>
            <a:ext cx="2160241" cy="45005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1BC6A1-71CE-4F9F-B7CC-42AC1C5497F5}"/>
              </a:ext>
            </a:extLst>
          </p:cNvPr>
          <p:cNvSpPr/>
          <p:nvPr/>
        </p:nvSpPr>
        <p:spPr>
          <a:xfrm>
            <a:off x="2298861" y="1761660"/>
            <a:ext cx="2048114" cy="450050"/>
          </a:xfrm>
          <a:prstGeom prst="roundRect">
            <a:avLst/>
          </a:prstGeom>
          <a:noFill/>
          <a:ln>
            <a:solidFill>
              <a:srgbClr val="F454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5FEFF7-311E-489C-A797-D9105A475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919" y="3598590"/>
            <a:ext cx="4160551" cy="1044349"/>
          </a:xfrm>
          <a:prstGeom prst="rect">
            <a:avLst/>
          </a:prstGeom>
          <a:ln>
            <a:solidFill>
              <a:srgbClr val="F89290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EE1E946-CE4A-4647-A464-BEA903695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20" y="3598591"/>
            <a:ext cx="4267490" cy="1088394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05CDBB-90AD-4BF6-A51B-921CFEBF28A4}"/>
              </a:ext>
            </a:extLst>
          </p:cNvPr>
          <p:cNvSpPr/>
          <p:nvPr/>
        </p:nvSpPr>
        <p:spPr>
          <a:xfrm>
            <a:off x="251520" y="4146925"/>
            <a:ext cx="1150717" cy="496013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C59B15A-18CF-482B-9D17-F4A6BA97B7D9}"/>
              </a:ext>
            </a:extLst>
          </p:cNvPr>
          <p:cNvSpPr/>
          <p:nvPr/>
        </p:nvSpPr>
        <p:spPr>
          <a:xfrm>
            <a:off x="2414463" y="3696875"/>
            <a:ext cx="2048114" cy="450050"/>
          </a:xfrm>
          <a:prstGeom prst="roundRect">
            <a:avLst/>
          </a:prstGeom>
          <a:noFill/>
          <a:ln>
            <a:solidFill>
              <a:srgbClr val="F4545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3E8A088-6FC2-4231-AEA2-0A5A48EEFA83}"/>
              </a:ext>
            </a:extLst>
          </p:cNvPr>
          <p:cNvSpPr/>
          <p:nvPr/>
        </p:nvSpPr>
        <p:spPr>
          <a:xfrm>
            <a:off x="4656727" y="4184745"/>
            <a:ext cx="1125125" cy="407806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1E3B56-0905-4990-B7C6-AC954D993090}"/>
              </a:ext>
            </a:extLst>
          </p:cNvPr>
          <p:cNvSpPr/>
          <p:nvPr/>
        </p:nvSpPr>
        <p:spPr>
          <a:xfrm>
            <a:off x="6681954" y="3598590"/>
            <a:ext cx="2095604" cy="54833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CB7340-33B9-498B-B2B9-7416195814D8}"/>
              </a:ext>
            </a:extLst>
          </p:cNvPr>
          <p:cNvSpPr/>
          <p:nvPr/>
        </p:nvSpPr>
        <p:spPr>
          <a:xfrm>
            <a:off x="171708" y="10632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详情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3F76BB-0D0A-4832-A374-2585FA2391E9}"/>
              </a:ext>
            </a:extLst>
          </p:cNvPr>
          <p:cNvSpPr/>
          <p:nvPr/>
        </p:nvSpPr>
        <p:spPr>
          <a:xfrm>
            <a:off x="157464" y="303156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页面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0315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想要的结果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8C978C0-B06C-4DC8-B157-7B4D1695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716655"/>
            <a:ext cx="3962400" cy="1295400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73C572D-E729-44F4-BD41-172657489AA6}"/>
              </a:ext>
            </a:extLst>
          </p:cNvPr>
          <p:cNvSpPr txBox="1"/>
          <p:nvPr/>
        </p:nvSpPr>
        <p:spPr>
          <a:xfrm>
            <a:off x="161510" y="1176595"/>
            <a:ext cx="531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DA907"/>
                </a:solidFill>
              </a:rPr>
              <a:t>保存记录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r>
              <a:rPr lang="zh-CN" altLang="en-US" dirty="0">
                <a:solidFill>
                  <a:srgbClr val="66D5F0"/>
                </a:solidFill>
              </a:rPr>
              <a:t>显示对话框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079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6E293-FB84-4F18-B4F9-098CC30170BB}"/>
              </a:ext>
            </a:extLst>
          </p:cNvPr>
          <p:cNvSpPr txBox="1"/>
          <p:nvPr/>
        </p:nvSpPr>
        <p:spPr>
          <a:xfrm>
            <a:off x="926595" y="1221600"/>
            <a:ext cx="8415935" cy="150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文件以</a:t>
            </a:r>
            <a:r>
              <a:rPr lang="en-US" altLang="ja-JP" sz="2400" dirty="0">
                <a:solidFill>
                  <a:srgbClr val="FDA907"/>
                </a:solidFill>
              </a:rPr>
              <a:t>UTF-8</a:t>
            </a:r>
            <a:r>
              <a:rPr lang="zh-CN" altLang="en-US" sz="2400" dirty="0">
                <a:solidFill>
                  <a:srgbClr val="FDA907"/>
                </a:solidFill>
              </a:rPr>
              <a:t>无</a:t>
            </a:r>
            <a:r>
              <a:rPr lang="en-US" altLang="zh-CN" sz="2400" dirty="0">
                <a:solidFill>
                  <a:srgbClr val="FDA907"/>
                </a:solidFill>
              </a:rPr>
              <a:t>BOM</a:t>
            </a:r>
            <a:r>
              <a:rPr lang="zh-CN" altLang="en-US" sz="2400" dirty="0">
                <a:solidFill>
                  <a:srgbClr val="FDA907"/>
                </a:solidFill>
              </a:rPr>
              <a:t>格式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编码保存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ja-JP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文件保存的扩展名为 </a:t>
            </a:r>
            <a:r>
              <a:rPr lang="en-US" altLang="zh-CN" sz="2400" b="1" dirty="0">
                <a:solidFill>
                  <a:srgbClr val="FDA907"/>
                </a:solidFill>
              </a:rPr>
              <a:t>js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（例：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sample.js</a:t>
            </a:r>
            <a:r>
              <a:rPr lang="ja-JP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835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7005186" cy="257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使用即时函数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971600" y="1716655"/>
            <a:ext cx="5799330" cy="96743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……</a:t>
            </a:r>
          </a:p>
          <a:p>
            <a:pPr marL="180000"/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1072757" y="2976795"/>
            <a:ext cx="7774717" cy="170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将变量的影响范围控制在即时函数里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　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即时函数里定义的变量和函数不会覆盖即时函数外的变量和函数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）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函数的定义与执行同时进行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B088AB-A80C-445E-900E-F49C54695247}"/>
              </a:ext>
            </a:extLst>
          </p:cNvPr>
          <p:cNvSpPr/>
          <p:nvPr/>
        </p:nvSpPr>
        <p:spPr>
          <a:xfrm>
            <a:off x="1151620" y="311181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125B56F-4591-4D93-9FD5-F70BC6E5BC6D}"/>
              </a:ext>
            </a:extLst>
          </p:cNvPr>
          <p:cNvSpPr/>
          <p:nvPr/>
        </p:nvSpPr>
        <p:spPr>
          <a:xfrm>
            <a:off x="1151620" y="419193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262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代码规则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7005186" cy="257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使用严格模式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971600" y="1716654"/>
            <a:ext cx="5799330" cy="140756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'use strict';</a:t>
            </a:r>
          </a:p>
          <a:p>
            <a:pPr marL="180000"/>
            <a:endParaRPr lang="en-US" alt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1072758" y="3259235"/>
            <a:ext cx="5597014" cy="170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检查代码的正确性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。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例）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使用未定义的变量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B088AB-A80C-445E-900E-F49C54695247}"/>
              </a:ext>
            </a:extLst>
          </p:cNvPr>
          <p:cNvSpPr/>
          <p:nvPr/>
        </p:nvSpPr>
        <p:spPr>
          <a:xfrm>
            <a:off x="1160271" y="3381840"/>
            <a:ext cx="145976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99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2186735" y="2121700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FDA907"/>
                </a:solidFill>
                <a:latin typeface="+mj-ea"/>
                <a:ea typeface="+mj-ea"/>
              </a:rPr>
              <a:t>挑战第一个任务！</a:t>
            </a:r>
            <a:endParaRPr lang="en-US" altLang="zh-CN" sz="4800" dirty="0">
              <a:solidFill>
                <a:srgbClr val="FDA907"/>
              </a:solidFill>
              <a:latin typeface="+mj-ea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5" y="1176595"/>
            <a:ext cx="2125176" cy="248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68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1923364-BCAC-408F-B817-2BE5CDFEE922}"/>
              </a:ext>
            </a:extLst>
          </p:cNvPr>
          <p:cNvSpPr/>
          <p:nvPr/>
        </p:nvSpPr>
        <p:spPr>
          <a:xfrm>
            <a:off x="521550" y="1439549"/>
            <a:ext cx="3735416" cy="2264402"/>
          </a:xfrm>
          <a:prstGeom prst="rect">
            <a:avLst/>
          </a:prstGeom>
          <a:ln>
            <a:solidFill>
              <a:srgbClr val="F8929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DA907"/>
                </a:solidFill>
              </a:rPr>
              <a:t>打开</a:t>
            </a:r>
            <a:r>
              <a:rPr lang="zh-CN" altLang="en-US" sz="1600" dirty="0">
                <a:solidFill>
                  <a:srgbClr val="FFC000"/>
                </a:solidFill>
              </a:rPr>
              <a:t>页面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添加、编辑、详情</a:t>
            </a:r>
            <a:r>
              <a:rPr lang="ja-JP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DA907"/>
                </a:solidFill>
              </a:rPr>
              <a:t>更改产品名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添加、编辑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）的时候，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产品名为 “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Garoon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66D5F0"/>
                </a:solidFill>
              </a:rPr>
              <a:t>显示“预期时间”、“进度”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字段，</a:t>
            </a:r>
            <a:b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其他产品，则</a:t>
            </a:r>
            <a:r>
              <a:rPr lang="zh-CN" altLang="en-US" sz="1600" dirty="0">
                <a:solidFill>
                  <a:srgbClr val="66D5F0"/>
                </a:solidFill>
              </a:rPr>
              <a:t>隐藏</a:t>
            </a:r>
            <a:r>
              <a:rPr lang="ja-JP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036168-3202-4A6D-BBCE-10F03AC05441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分析第一个任务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37DFBB4-973B-489E-B3FA-AAB918A90634}"/>
              </a:ext>
            </a:extLst>
          </p:cNvPr>
          <p:cNvSpPr/>
          <p:nvPr/>
        </p:nvSpPr>
        <p:spPr>
          <a:xfrm>
            <a:off x="4526995" y="2369227"/>
            <a:ext cx="450050" cy="405045"/>
          </a:xfrm>
          <a:prstGeom prst="rightArrow">
            <a:avLst/>
          </a:prstGeom>
          <a:solidFill>
            <a:srgbClr val="F45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705CD-2F4B-4D8D-A240-317AD55AC49F}"/>
              </a:ext>
            </a:extLst>
          </p:cNvPr>
          <p:cNvSpPr txBox="1"/>
          <p:nvPr/>
        </p:nvSpPr>
        <p:spPr>
          <a:xfrm>
            <a:off x="5337905" y="411510"/>
            <a:ext cx="1896673" cy="17213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事件：</a:t>
            </a:r>
            <a:endParaRPr lang="en-US" altLang="zh-CN" dirty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打开添加页面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打开编辑页面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打开详情页面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在添加页面更改产品名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在编辑页面更改产品名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1C7A4E6-C5D1-49A3-9EFE-D9EF47C1C5E7}"/>
              </a:ext>
            </a:extLst>
          </p:cNvPr>
          <p:cNvGrpSpPr/>
          <p:nvPr/>
        </p:nvGrpSpPr>
        <p:grpSpPr>
          <a:xfrm>
            <a:off x="5337906" y="2168327"/>
            <a:ext cx="3057058" cy="2862322"/>
            <a:chOff x="5337906" y="2168327"/>
            <a:chExt cx="3057058" cy="286232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45864BB-4A83-4D50-B8C4-B3F93720B3A8}"/>
                </a:ext>
              </a:extLst>
            </p:cNvPr>
            <p:cNvSpPr txBox="1"/>
            <p:nvPr/>
          </p:nvSpPr>
          <p:spPr>
            <a:xfrm>
              <a:off x="5337906" y="2168327"/>
              <a:ext cx="3057058" cy="2862322"/>
            </a:xfrm>
            <a:prstGeom prst="rect">
              <a:avLst/>
            </a:prstGeom>
            <a:noFill/>
            <a:ln>
              <a:solidFill>
                <a:srgbClr val="66D5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66D5F0"/>
                  </a:solidFill>
                </a:rPr>
                <a:t>自定义操作：</a:t>
              </a:r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95517B4-D901-4B6B-9EDC-F983E150155D}"/>
                </a:ext>
              </a:extLst>
            </p:cNvPr>
            <p:cNvGrpSpPr/>
            <p:nvPr/>
          </p:nvGrpSpPr>
          <p:grpSpPr>
            <a:xfrm>
              <a:off x="5644900" y="2585568"/>
              <a:ext cx="1998650" cy="2200308"/>
              <a:chOff x="5453670" y="2816525"/>
              <a:chExt cx="1998650" cy="2200308"/>
            </a:xfrm>
          </p:grpSpPr>
          <p:sp>
            <p:nvSpPr>
              <p:cNvPr id="39" name="流程图: 可选过程 38">
                <a:extLst>
                  <a:ext uri="{FF2B5EF4-FFF2-40B4-BE49-F238E27FC236}">
                    <a16:creationId xmlns:a16="http://schemas.microsoft.com/office/drawing/2014/main" id="{9CD4ED94-C5FB-4E27-8F58-AC7F4920F5AF}"/>
                  </a:ext>
                </a:extLst>
              </p:cNvPr>
              <p:cNvSpPr/>
              <p:nvPr/>
            </p:nvSpPr>
            <p:spPr>
              <a:xfrm>
                <a:off x="5529120" y="2816525"/>
                <a:ext cx="1821978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/>
                  <a:t>获取记录</a:t>
                </a:r>
              </a:p>
            </p:txBody>
          </p:sp>
          <p:sp>
            <p:nvSpPr>
              <p:cNvPr id="40" name="菱形 39">
                <a:extLst>
                  <a:ext uri="{FF2B5EF4-FFF2-40B4-BE49-F238E27FC236}">
                    <a16:creationId xmlns:a16="http://schemas.microsoft.com/office/drawing/2014/main" id="{ED015617-42EB-4BBA-9E6F-A76D91FEAA1C}"/>
                  </a:ext>
                </a:extLst>
              </p:cNvPr>
              <p:cNvSpPr/>
              <p:nvPr/>
            </p:nvSpPr>
            <p:spPr>
              <a:xfrm>
                <a:off x="5453670" y="3236169"/>
                <a:ext cx="1998650" cy="600780"/>
              </a:xfrm>
              <a:prstGeom prst="diamond">
                <a:avLst/>
              </a:pr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</a:rPr>
                  <a:t>产品名是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”Garoon”</a:t>
                </a:r>
                <a:r>
                  <a:rPr lang="zh-CN" altLang="en-US" sz="900" dirty="0">
                    <a:solidFill>
                      <a:schemeClr val="tx1"/>
                    </a:solidFill>
                  </a:rPr>
                  <a:t>吗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?</a:t>
                </a:r>
                <a:r>
                  <a:rPr lang="zh-CN" altLang="en-US" sz="1000" dirty="0"/>
                  <a:t>”</a:t>
                </a:r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41" name="流程图: 可选过程 40">
                <a:extLst>
                  <a:ext uri="{FF2B5EF4-FFF2-40B4-BE49-F238E27FC236}">
                    <a16:creationId xmlns:a16="http://schemas.microsoft.com/office/drawing/2014/main" id="{4910A5A6-5A14-4E2D-9256-A59D1F5004E5}"/>
                  </a:ext>
                </a:extLst>
              </p:cNvPr>
              <p:cNvSpPr/>
              <p:nvPr/>
            </p:nvSpPr>
            <p:spPr>
              <a:xfrm>
                <a:off x="5667787" y="3974988"/>
                <a:ext cx="1563965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显示“预期时间”、“进度”</a:t>
                </a:r>
              </a:p>
            </p:txBody>
          </p:sp>
          <p:sp>
            <p:nvSpPr>
              <p:cNvPr id="42" name="流程图: 可选过程 41">
                <a:extLst>
                  <a:ext uri="{FF2B5EF4-FFF2-40B4-BE49-F238E27FC236}">
                    <a16:creationId xmlns:a16="http://schemas.microsoft.com/office/drawing/2014/main" id="{ABA32AFF-7033-41CC-A145-023CF51BCC98}"/>
                  </a:ext>
                </a:extLst>
              </p:cNvPr>
              <p:cNvSpPr/>
              <p:nvPr/>
            </p:nvSpPr>
            <p:spPr>
              <a:xfrm>
                <a:off x="5652120" y="4326945"/>
                <a:ext cx="1563962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隐藏“预期时间”、“进度”</a:t>
                </a:r>
              </a:p>
            </p:txBody>
          </p:sp>
          <p:sp>
            <p:nvSpPr>
              <p:cNvPr id="43" name="流程图: 终止 42">
                <a:extLst>
                  <a:ext uri="{FF2B5EF4-FFF2-40B4-BE49-F238E27FC236}">
                    <a16:creationId xmlns:a16="http://schemas.microsoft.com/office/drawing/2014/main" id="{A77A3532-07A5-454D-B3FB-EE379A10675A}"/>
                  </a:ext>
                </a:extLst>
              </p:cNvPr>
              <p:cNvSpPr/>
              <p:nvPr/>
            </p:nvSpPr>
            <p:spPr>
              <a:xfrm>
                <a:off x="5946274" y="4735014"/>
                <a:ext cx="990110" cy="281819"/>
              </a:xfrm>
              <a:prstGeom prst="flowChartTermina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</a:rPr>
                  <a:t>结束</a:t>
                </a:r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2D9206DF-94E0-4AC0-895D-FEEE95E93AAA}"/>
                  </a:ext>
                </a:extLst>
              </p:cNvPr>
              <p:cNvCxnSpPr>
                <a:cxnSpLocks/>
                <a:stCxn id="39" idx="2"/>
                <a:endCxn id="40" idx="0"/>
              </p:cNvCxnSpPr>
              <p:nvPr/>
            </p:nvCxnSpPr>
            <p:spPr>
              <a:xfrm>
                <a:off x="6440109" y="3086555"/>
                <a:ext cx="12886" cy="1496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D9FF853E-DED1-4302-8788-B767118CC1CE}"/>
                  </a:ext>
                </a:extLst>
              </p:cNvPr>
              <p:cNvCxnSpPr>
                <a:cxnSpLocks/>
                <a:stCxn id="40" idx="2"/>
                <a:endCxn id="41" idx="0"/>
              </p:cNvCxnSpPr>
              <p:nvPr/>
            </p:nvCxnSpPr>
            <p:spPr>
              <a:xfrm flipH="1">
                <a:off x="6449770" y="3836949"/>
                <a:ext cx="3225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608FDCD-447E-4E53-8E59-D689798671A9}"/>
                  </a:ext>
                </a:extLst>
              </p:cNvPr>
              <p:cNvSpPr txBox="1"/>
              <p:nvPr/>
            </p:nvSpPr>
            <p:spPr>
              <a:xfrm>
                <a:off x="7075294" y="3293124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NO</a:t>
                </a:r>
                <a:endParaRPr lang="zh-CN" altLang="en-US" sz="1000" dirty="0"/>
              </a:p>
            </p:txBody>
          </p: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8C5BB7F9-B20F-4444-AD66-A7566464B6DB}"/>
                  </a:ext>
                </a:extLst>
              </p:cNvPr>
              <p:cNvCxnSpPr>
                <a:cxnSpLocks/>
                <a:stCxn id="42" idx="2"/>
                <a:endCxn id="43" idx="0"/>
              </p:cNvCxnSpPr>
              <p:nvPr/>
            </p:nvCxnSpPr>
            <p:spPr>
              <a:xfrm>
                <a:off x="6434101" y="4596975"/>
                <a:ext cx="7228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连接符: 肘形 47">
                <a:extLst>
                  <a:ext uri="{FF2B5EF4-FFF2-40B4-BE49-F238E27FC236}">
                    <a16:creationId xmlns:a16="http://schemas.microsoft.com/office/drawing/2014/main" id="{2C9BDBD2-4D79-4011-89A5-9EBA7C9D4B38}"/>
                  </a:ext>
                </a:extLst>
              </p:cNvPr>
              <p:cNvCxnSpPr>
                <a:cxnSpLocks/>
                <a:stCxn id="40" idx="3"/>
                <a:endCxn id="42" idx="3"/>
              </p:cNvCxnSpPr>
              <p:nvPr/>
            </p:nvCxnSpPr>
            <p:spPr>
              <a:xfrm flipH="1">
                <a:off x="7216082" y="3536559"/>
                <a:ext cx="236238" cy="925401"/>
              </a:xfrm>
              <a:prstGeom prst="bentConnector3">
                <a:avLst>
                  <a:gd name="adj1" fmla="val -96767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443A4BB-210B-40D6-8BDF-7355C225ED5B}"/>
                  </a:ext>
                </a:extLst>
              </p:cNvPr>
              <p:cNvSpPr txBox="1"/>
              <p:nvPr/>
            </p:nvSpPr>
            <p:spPr>
              <a:xfrm>
                <a:off x="6500845" y="3746997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YES</a:t>
                </a:r>
                <a:endParaRPr lang="zh-CN" altLang="en-US" sz="1000" dirty="0"/>
              </a:p>
            </p:txBody>
          </p:sp>
          <p:cxnSp>
            <p:nvCxnSpPr>
              <p:cNvPr id="50" name="连接符: 肘形 49">
                <a:extLst>
                  <a:ext uri="{FF2B5EF4-FFF2-40B4-BE49-F238E27FC236}">
                    <a16:creationId xmlns:a16="http://schemas.microsoft.com/office/drawing/2014/main" id="{54417DA0-F74D-4835-92D6-D09F827FA19A}"/>
                  </a:ext>
                </a:extLst>
              </p:cNvPr>
              <p:cNvCxnSpPr>
                <a:cxnSpLocks/>
                <a:stCxn id="41" idx="1"/>
                <a:endCxn id="43" idx="1"/>
              </p:cNvCxnSpPr>
              <p:nvPr/>
            </p:nvCxnSpPr>
            <p:spPr>
              <a:xfrm rot="10800000" flipH="1" flipV="1">
                <a:off x="5667786" y="4110002"/>
                <a:ext cx="278487" cy="765921"/>
              </a:xfrm>
              <a:prstGeom prst="bentConnector3">
                <a:avLst>
                  <a:gd name="adj1" fmla="val -8208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7410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889592"/>
            <a:ext cx="2160240" cy="49647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事件和操作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881590" y="1386069"/>
            <a:ext cx="5799330" cy="24282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打开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添加页面的时候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dirty="0">
                <a:solidFill>
                  <a:srgbClr val="FF0000"/>
                </a:solidFill>
                <a:latin typeface="+mn-ea"/>
                <a:cs typeface="Meiryo UI" panose="020B0604030504040204" pitchFamily="50" charset="-128"/>
              </a:rPr>
              <a:t>事件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zh-CN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function(event)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操作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80000"/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04158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334A63F-B760-4569-8F82-5C3E6568444D}"/>
              </a:ext>
            </a:extLst>
          </p:cNvPr>
          <p:cNvSpPr txBox="1">
            <a:spLocks/>
          </p:cNvSpPr>
          <p:nvPr/>
        </p:nvSpPr>
        <p:spPr>
          <a:xfrm>
            <a:off x="881590" y="4056915"/>
            <a:ext cx="6297883" cy="827661"/>
          </a:xfrm>
          <a:prstGeom prst="rect">
            <a:avLst/>
          </a:prstGeom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示范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将上面的代码中的</a:t>
            </a:r>
            <a:r>
              <a:rPr lang="en-US" altLang="ja-JP" dirty="0">
                <a:solidFill>
                  <a:srgbClr val="FF0000"/>
                </a:solidFill>
                <a:cs typeface="Meiryo UI" panose="020B0604030504040204" pitchFamily="50" charset="-128"/>
              </a:rPr>
              <a:t>‘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  <a:cs typeface="Meiryo UI" panose="020B0604030504040204" pitchFamily="50" charset="-128"/>
              </a:rPr>
              <a:t>事件</a:t>
            </a:r>
            <a:r>
              <a:rPr lang="en-US" altLang="zh-CN" dirty="0">
                <a:solidFill>
                  <a:srgbClr val="FF0000"/>
                </a:solidFill>
                <a:cs typeface="Meiryo UI" panose="020B0604030504040204" pitchFamily="50" charset="-128"/>
              </a:rPr>
              <a:t>’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替换成</a:t>
            </a:r>
            <a:r>
              <a:rPr lang="zh-CN" altLang="en-US" dirty="0">
                <a:solidFill>
                  <a:srgbClr val="00B0F0"/>
                </a:solidFill>
                <a:latin typeface="+mn-ea"/>
                <a:ea typeface="+mn-ea"/>
                <a:cs typeface="Meiryo UI" panose="020B0604030504040204" pitchFamily="50" charset="-128"/>
              </a:rPr>
              <a:t>打开添加页面时的事件名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26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2352214-8388-461D-8010-27CCB44747E8}"/>
              </a:ext>
            </a:extLst>
          </p:cNvPr>
          <p:cNvSpPr txBox="1"/>
          <p:nvPr/>
        </p:nvSpPr>
        <p:spPr>
          <a:xfrm>
            <a:off x="364895" y="1221600"/>
            <a:ext cx="713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首页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文档和工具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kintone JavaScript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记录添加事件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94AB3D-0835-4A9E-A16F-63A5349C9773}"/>
              </a:ext>
            </a:extLst>
          </p:cNvPr>
          <p:cNvGrpSpPr/>
          <p:nvPr/>
        </p:nvGrpSpPr>
        <p:grpSpPr>
          <a:xfrm>
            <a:off x="296537" y="411315"/>
            <a:ext cx="5355583" cy="720080"/>
            <a:chOff x="206515" y="366505"/>
            <a:chExt cx="5355583" cy="720080"/>
          </a:xfrm>
        </p:grpSpPr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C2B3CDC1-949B-4AEF-92F6-FBEC58E6D2A0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18" name="图形 17" descr="灯泡">
              <a:extLst>
                <a:ext uri="{FF2B5EF4-FFF2-40B4-BE49-F238E27FC236}">
                  <a16:creationId xmlns:a16="http://schemas.microsoft.com/office/drawing/2014/main" id="{A03C9DDF-D80B-4D6D-87AC-141BAD789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B2003EF-0208-4312-BD7A-9718960BE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820" y="1794049"/>
            <a:ext cx="2160228" cy="2839706"/>
          </a:xfrm>
          <a:prstGeom prst="rect">
            <a:avLst/>
          </a:prstGeom>
          <a:ln>
            <a:solidFill>
              <a:srgbClr val="F45450"/>
            </a:solidFill>
          </a:ln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DC54A1-5C22-40A7-B27A-6735F55DB343}"/>
              </a:ext>
            </a:extLst>
          </p:cNvPr>
          <p:cNvSpPr/>
          <p:nvPr/>
        </p:nvSpPr>
        <p:spPr>
          <a:xfrm>
            <a:off x="2993154" y="2031690"/>
            <a:ext cx="1585996" cy="22502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6ACAF4-AC76-4DBC-99B2-1107CE5A5AA7}"/>
              </a:ext>
            </a:extLst>
          </p:cNvPr>
          <p:cNvSpPr txBox="1"/>
          <p:nvPr/>
        </p:nvSpPr>
        <p:spPr>
          <a:xfrm>
            <a:off x="4526995" y="19595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点击</a:t>
            </a:r>
          </a:p>
        </p:txBody>
      </p:sp>
    </p:spTree>
    <p:extLst>
      <p:ext uri="{BB962C8B-B14F-4D97-AF65-F5344CB8AC3E}">
        <p14:creationId xmlns:p14="http://schemas.microsoft.com/office/powerpoint/2010/main" val="407264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2352214-8388-461D-8010-27CCB44747E8}"/>
              </a:ext>
            </a:extLst>
          </p:cNvPr>
          <p:cNvSpPr txBox="1"/>
          <p:nvPr/>
        </p:nvSpPr>
        <p:spPr>
          <a:xfrm>
            <a:off x="364895" y="1221600"/>
            <a:ext cx="7132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首页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文档和工具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kintone JavaScript API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记录添加事件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64F20D-04E2-40E8-83A4-F334547A1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5" y="1681137"/>
            <a:ext cx="7839075" cy="3105150"/>
          </a:xfrm>
          <a:prstGeom prst="rect">
            <a:avLst/>
          </a:prstGeom>
          <a:ln>
            <a:solidFill>
              <a:srgbClr val="F89290"/>
            </a:solidFill>
          </a:ln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94AB3D-0835-4A9E-A16F-63A5349C9773}"/>
              </a:ext>
            </a:extLst>
          </p:cNvPr>
          <p:cNvGrpSpPr/>
          <p:nvPr/>
        </p:nvGrpSpPr>
        <p:grpSpPr>
          <a:xfrm>
            <a:off x="296537" y="411315"/>
            <a:ext cx="5355583" cy="720080"/>
            <a:chOff x="206515" y="366505"/>
            <a:chExt cx="5355583" cy="720080"/>
          </a:xfrm>
        </p:grpSpPr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C2B3CDC1-949B-4AEF-92F6-FBEC58E6D2A0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18" name="图形 17" descr="灯泡">
              <a:extLst>
                <a:ext uri="{FF2B5EF4-FFF2-40B4-BE49-F238E27FC236}">
                  <a16:creationId xmlns:a16="http://schemas.microsoft.com/office/drawing/2014/main" id="{A03C9DDF-D80B-4D6D-87AC-141BAD789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E5C9D7B-2F0A-4A5B-A26C-8437BA9C3E1A}"/>
              </a:ext>
            </a:extLst>
          </p:cNvPr>
          <p:cNvSpPr/>
          <p:nvPr/>
        </p:nvSpPr>
        <p:spPr>
          <a:xfrm>
            <a:off x="1736685" y="3696875"/>
            <a:ext cx="189021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62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0" y="1094305"/>
            <a:ext cx="1800200" cy="4873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正确答案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881590" y="1716655"/>
            <a:ext cx="7740860" cy="27453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显示记录添加页面的时候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en-US" altLang="ja-JP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function(event) {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5B61B25-EF3E-44F3-ACD8-EECE5321F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150" y="174870"/>
            <a:ext cx="1620180" cy="16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15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45679E-6 L 0.11528 3.4567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46F9F56-20F2-4FA0-B473-AB7AC8F71064}"/>
              </a:ext>
            </a:extLst>
          </p:cNvPr>
          <p:cNvSpPr txBox="1">
            <a:spLocks/>
          </p:cNvSpPr>
          <p:nvPr/>
        </p:nvSpPr>
        <p:spPr>
          <a:xfrm>
            <a:off x="1132556" y="1039316"/>
            <a:ext cx="6274759" cy="1068798"/>
          </a:xfrm>
          <a:prstGeom prst="rect">
            <a:avLst/>
          </a:prstGeom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加入添加事件以外的事件名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EE44B90-BDE7-40CD-87D7-DF071037F1C7}"/>
              </a:ext>
            </a:extLst>
          </p:cNvPr>
          <p:cNvGrpSpPr/>
          <p:nvPr/>
        </p:nvGrpSpPr>
        <p:grpSpPr>
          <a:xfrm>
            <a:off x="1181702" y="2561194"/>
            <a:ext cx="2614431" cy="1977464"/>
            <a:chOff x="337389" y="2561194"/>
            <a:chExt cx="2614431" cy="197746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7C73829-98EB-4FDE-A5DC-3DD3C168E903}"/>
                </a:ext>
              </a:extLst>
            </p:cNvPr>
            <p:cNvSpPr txBox="1"/>
            <p:nvPr/>
          </p:nvSpPr>
          <p:spPr>
            <a:xfrm>
              <a:off x="337389" y="2561194"/>
              <a:ext cx="2614431" cy="1977464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C000"/>
                  </a:solidFill>
                </a:rPr>
                <a:t>事件：</a:t>
              </a:r>
              <a:endParaRPr lang="en-US" altLang="zh-CN" sz="2000" b="1" dirty="0">
                <a:solidFill>
                  <a:srgbClr val="FFC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打开添加页面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400" dirty="0">
                  <a:solidFill>
                    <a:srgbClr val="FF0000"/>
                  </a:solidFill>
                </a:rPr>
                <a:t>打开编辑页面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FF0000"/>
                  </a:solidFill>
                </a:rPr>
                <a:t>    打开详情页面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FF0000"/>
                  </a:solidFill>
                </a:rPr>
                <a:t>    在添加页面更改产品名</a:t>
              </a:r>
              <a:endParaRPr lang="en-US" altLang="zh-CN" sz="14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FF0000"/>
                  </a:solidFill>
                </a:rPr>
                <a:t>    在编辑页面更改产品名</a:t>
              </a:r>
            </a:p>
          </p:txBody>
        </p:sp>
        <p:pic>
          <p:nvPicPr>
            <p:cNvPr id="5" name="图形 4" descr="选中标记">
              <a:extLst>
                <a:ext uri="{FF2B5EF4-FFF2-40B4-BE49-F238E27FC236}">
                  <a16:creationId xmlns:a16="http://schemas.microsoft.com/office/drawing/2014/main" id="{AFA8A8E3-7814-4F38-A4CE-84FCC8ECD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1690" y="2886785"/>
              <a:ext cx="315035" cy="31503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AD600F1-96C8-42A8-9629-63C572446CC6}"/>
                </a:ext>
              </a:extLst>
            </p:cNvPr>
            <p:cNvSpPr txBox="1"/>
            <p:nvPr/>
          </p:nvSpPr>
          <p:spPr>
            <a:xfrm>
              <a:off x="1718634" y="320182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FC374C1-B299-483D-854B-D6C3F8EA4D54}"/>
                </a:ext>
              </a:extLst>
            </p:cNvPr>
            <p:cNvSpPr txBox="1"/>
            <p:nvPr/>
          </p:nvSpPr>
          <p:spPr>
            <a:xfrm>
              <a:off x="1718634" y="348877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4DADF34-F559-4BC2-8910-FF9A09D523AE}"/>
                </a:ext>
              </a:extLst>
            </p:cNvPr>
            <p:cNvSpPr txBox="1"/>
            <p:nvPr/>
          </p:nvSpPr>
          <p:spPr>
            <a:xfrm>
              <a:off x="2375659" y="383189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AF537DE-ECD7-4BCF-871D-F04B67FDBAAC}"/>
                </a:ext>
              </a:extLst>
            </p:cNvPr>
            <p:cNvSpPr txBox="1"/>
            <p:nvPr/>
          </p:nvSpPr>
          <p:spPr>
            <a:xfrm>
              <a:off x="2375659" y="414348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??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928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编写事件代码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6">
            <a:extLst>
              <a:ext uri="{FF2B5EF4-FFF2-40B4-BE49-F238E27FC236}">
                <a16:creationId xmlns:a16="http://schemas.microsoft.com/office/drawing/2014/main" id="{6D5C10AE-EA93-4EB7-856C-FE849F563E74}"/>
              </a:ext>
            </a:extLst>
          </p:cNvPr>
          <p:cNvSpPr/>
          <p:nvPr/>
        </p:nvSpPr>
        <p:spPr>
          <a:xfrm>
            <a:off x="296525" y="1199255"/>
            <a:ext cx="7515859" cy="3375375"/>
          </a:xfrm>
          <a:prstGeom prst="rect">
            <a:avLst/>
          </a:prstGeom>
          <a:noFill/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　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编辑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详情页面上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r>
              <a:rPr lang="en-US" altLang="zh-CN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'</a:t>
            </a:r>
            <a:r>
              <a:rPr lang="en-US" altLang="ja-JP" sz="16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.×××.show', 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.×××.show',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.×××.×××.×××',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.×××.×××.×××'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], function(event)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sz="1600" dirty="0">
              <a:solidFill>
                <a:schemeClr val="tx1"/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F3AAB4-9BAF-4C42-8BC0-134BF534B8F2}"/>
              </a:ext>
            </a:extLst>
          </p:cNvPr>
          <p:cNvSpPr txBox="1"/>
          <p:nvPr/>
        </p:nvSpPr>
        <p:spPr>
          <a:xfrm>
            <a:off x="217353" y="82992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1847397-B4FE-4C3C-B515-5B16D8B24420}"/>
              </a:ext>
            </a:extLst>
          </p:cNvPr>
          <p:cNvGrpSpPr/>
          <p:nvPr/>
        </p:nvGrpSpPr>
        <p:grpSpPr>
          <a:xfrm>
            <a:off x="5652120" y="1941680"/>
            <a:ext cx="2614431" cy="1752146"/>
            <a:chOff x="337389" y="2561194"/>
            <a:chExt cx="2614431" cy="1752146"/>
          </a:xfrm>
          <a:solidFill>
            <a:schemeClr val="bg1"/>
          </a:solidFill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128CFCF-5F7B-4724-889B-EDA812B71D5D}"/>
                </a:ext>
              </a:extLst>
            </p:cNvPr>
            <p:cNvSpPr txBox="1"/>
            <p:nvPr/>
          </p:nvSpPr>
          <p:spPr>
            <a:xfrm>
              <a:off x="337389" y="2561194"/>
              <a:ext cx="2614431" cy="1752146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C000"/>
                  </a:solidFill>
                </a:rPr>
                <a:t>事件：</a:t>
              </a:r>
              <a:endParaRPr lang="en-US" altLang="zh-CN" sz="2000" b="1" dirty="0">
                <a:solidFill>
                  <a:srgbClr val="FFC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打开添加页面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zh-CN" altLang="en-US" sz="1200" dirty="0">
                  <a:solidFill>
                    <a:srgbClr val="FF0000"/>
                  </a:solidFill>
                </a:rPr>
                <a:t>打开编辑页面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FF0000"/>
                  </a:solidFill>
                </a:rPr>
                <a:t>    打开详情页面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FF0000"/>
                  </a:solidFill>
                </a:rPr>
                <a:t>    在添加页面更改产品名</a:t>
              </a:r>
              <a:endParaRPr lang="en-US" altLang="zh-CN" sz="12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FF0000"/>
                  </a:solidFill>
                </a:rPr>
                <a:t>    在编辑页面更改产品名</a:t>
              </a:r>
            </a:p>
          </p:txBody>
        </p:sp>
        <p:pic>
          <p:nvPicPr>
            <p:cNvPr id="23" name="图形 22" descr="选中标记">
              <a:extLst>
                <a:ext uri="{FF2B5EF4-FFF2-40B4-BE49-F238E27FC236}">
                  <a16:creationId xmlns:a16="http://schemas.microsoft.com/office/drawing/2014/main" id="{F5E0F7FF-7BE2-42A6-8A67-BCFBEE6DF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81690" y="2886785"/>
              <a:ext cx="315035" cy="315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589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02C601B-B8E3-4629-B290-B8AD9BCE9A34}"/>
              </a:ext>
            </a:extLst>
          </p:cNvPr>
          <p:cNvGrpSpPr/>
          <p:nvPr/>
        </p:nvGrpSpPr>
        <p:grpSpPr>
          <a:xfrm>
            <a:off x="656529" y="771550"/>
            <a:ext cx="2226341" cy="1990686"/>
            <a:chOff x="252702" y="1506969"/>
            <a:chExt cx="2895600" cy="2714625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BB9B2FF-E033-4151-9E8A-8F6224105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702" y="1506969"/>
              <a:ext cx="2895600" cy="2714625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25C157CA-C498-42AA-B9B3-E47E578B2130}"/>
                </a:ext>
              </a:extLst>
            </p:cNvPr>
            <p:cNvSpPr/>
            <p:nvPr/>
          </p:nvSpPr>
          <p:spPr>
            <a:xfrm>
              <a:off x="359174" y="3876895"/>
              <a:ext cx="2682656" cy="225025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2078E8C-3100-431B-99CC-F236DFE63644}"/>
              </a:ext>
            </a:extLst>
          </p:cNvPr>
          <p:cNvGrpSpPr/>
          <p:nvPr/>
        </p:nvGrpSpPr>
        <p:grpSpPr>
          <a:xfrm>
            <a:off x="3089925" y="771551"/>
            <a:ext cx="1932126" cy="1990685"/>
            <a:chOff x="3262294" y="1497141"/>
            <a:chExt cx="2686050" cy="270510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BF87409-ADD9-40E0-8981-EE27319F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2294" y="1497141"/>
              <a:ext cx="2686050" cy="2705100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CDA30E5-FF69-43C2-A9FC-47474BEE772E}"/>
                </a:ext>
              </a:extLst>
            </p:cNvPr>
            <p:cNvGrpSpPr/>
            <p:nvPr/>
          </p:nvGrpSpPr>
          <p:grpSpPr>
            <a:xfrm>
              <a:off x="3369746" y="3160316"/>
              <a:ext cx="2540891" cy="990110"/>
              <a:chOff x="3369746" y="2665261"/>
              <a:chExt cx="2540891" cy="990110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2A9A9DFE-C4E4-4EA1-87F7-ACC7F56A797F}"/>
                  </a:ext>
                </a:extLst>
              </p:cNvPr>
              <p:cNvSpPr/>
              <p:nvPr/>
            </p:nvSpPr>
            <p:spPr>
              <a:xfrm>
                <a:off x="3369746" y="2665261"/>
                <a:ext cx="2215185" cy="214289"/>
              </a:xfrm>
              <a:prstGeom prst="roundRect">
                <a:avLst/>
              </a:prstGeom>
              <a:noFill/>
              <a:ln>
                <a:solidFill>
                  <a:srgbClr val="F454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A2394759-DA10-4AAE-837D-34F3BEFEA896}"/>
                  </a:ext>
                </a:extLst>
              </p:cNvPr>
              <p:cNvSpPr/>
              <p:nvPr/>
            </p:nvSpPr>
            <p:spPr>
              <a:xfrm>
                <a:off x="3369747" y="3450109"/>
                <a:ext cx="2540890" cy="205262"/>
              </a:xfrm>
              <a:prstGeom prst="roundRect">
                <a:avLst/>
              </a:prstGeom>
              <a:noFill/>
              <a:ln>
                <a:solidFill>
                  <a:srgbClr val="F454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3475ED0-7C36-42FE-8C03-0D4EED633B16}"/>
              </a:ext>
            </a:extLst>
          </p:cNvPr>
          <p:cNvGrpSpPr/>
          <p:nvPr/>
        </p:nvGrpSpPr>
        <p:grpSpPr>
          <a:xfrm>
            <a:off x="5427083" y="787717"/>
            <a:ext cx="3255099" cy="3599780"/>
            <a:chOff x="6220547" y="1469126"/>
            <a:chExt cx="2763843" cy="3082844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4798329A-CF7A-4AA2-AA3D-B483D45B2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20547" y="1469126"/>
              <a:ext cx="2763843" cy="2767809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FE1D72DF-29BC-4136-B839-03C2776DA1F7}"/>
                </a:ext>
              </a:extLst>
            </p:cNvPr>
            <p:cNvSpPr/>
            <p:nvPr/>
          </p:nvSpPr>
          <p:spPr>
            <a:xfrm>
              <a:off x="6265552" y="3696876"/>
              <a:ext cx="421683" cy="180019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对话气泡: 圆角矩形 27">
              <a:extLst>
                <a:ext uri="{FF2B5EF4-FFF2-40B4-BE49-F238E27FC236}">
                  <a16:creationId xmlns:a16="http://schemas.microsoft.com/office/drawing/2014/main" id="{C4896273-0C4F-4C65-8092-E9FFFC8A5DC0}"/>
                </a:ext>
              </a:extLst>
            </p:cNvPr>
            <p:cNvSpPr/>
            <p:nvPr/>
          </p:nvSpPr>
          <p:spPr>
            <a:xfrm>
              <a:off x="6236183" y="4281940"/>
              <a:ext cx="1807827" cy="270030"/>
            </a:xfrm>
            <a:prstGeom prst="wedgeRoundRectCallout">
              <a:avLst>
                <a:gd name="adj1" fmla="val -38390"/>
                <a:gd name="adj2" fmla="val -184365"/>
                <a:gd name="adj3" fmla="val 16667"/>
              </a:avLst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被更改字段的字段代码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2B68353-6438-4A7B-8156-B24C78B23C22}"/>
              </a:ext>
            </a:extLst>
          </p:cNvPr>
          <p:cNvGrpSpPr/>
          <p:nvPr/>
        </p:nvGrpSpPr>
        <p:grpSpPr>
          <a:xfrm>
            <a:off x="71500" y="141480"/>
            <a:ext cx="5355583" cy="720080"/>
            <a:chOff x="206515" y="366505"/>
            <a:chExt cx="5355583" cy="720080"/>
          </a:xfrm>
        </p:grpSpPr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2CE0BC16-72A1-41E9-9289-1FD6CB764404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31" name="图形 30" descr="灯泡">
              <a:extLst>
                <a:ext uri="{FF2B5EF4-FFF2-40B4-BE49-F238E27FC236}">
                  <a16:creationId xmlns:a16="http://schemas.microsoft.com/office/drawing/2014/main" id="{A4831BFA-1478-45F0-81A6-345E08F5D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910FDE-F49A-4214-97A0-5CD84767E3DF}"/>
              </a:ext>
            </a:extLst>
          </p:cNvPr>
          <p:cNvGrpSpPr/>
          <p:nvPr/>
        </p:nvGrpSpPr>
        <p:grpSpPr>
          <a:xfrm>
            <a:off x="1714594" y="2903172"/>
            <a:ext cx="2172825" cy="2008838"/>
            <a:chOff x="1802985" y="3019558"/>
            <a:chExt cx="2172825" cy="2008838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FAA9E4A-728E-474C-AA21-A46DC6B55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02985" y="3019558"/>
              <a:ext cx="2172825" cy="2008838"/>
            </a:xfrm>
            <a:prstGeom prst="rect">
              <a:avLst/>
            </a:prstGeom>
            <a:ln>
              <a:solidFill>
                <a:srgbClr val="F89290"/>
              </a:solidFill>
            </a:ln>
          </p:spPr>
        </p:pic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79B9AF4-2775-451D-A24E-40EF3E454096}"/>
                </a:ext>
              </a:extLst>
            </p:cNvPr>
            <p:cNvSpPr/>
            <p:nvPr/>
          </p:nvSpPr>
          <p:spPr>
            <a:xfrm>
              <a:off x="1916705" y="4379496"/>
              <a:ext cx="1791929" cy="174256"/>
            </a:xfrm>
            <a:prstGeom prst="roundRect">
              <a:avLst/>
            </a:prstGeom>
            <a:noFill/>
            <a:ln>
              <a:solidFill>
                <a:srgbClr val="F454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7916A6C-74CE-4EAE-8EF4-31CB3AAFB109}"/>
              </a:ext>
            </a:extLst>
          </p:cNvPr>
          <p:cNvSpPr/>
          <p:nvPr/>
        </p:nvSpPr>
        <p:spPr>
          <a:xfrm>
            <a:off x="656529" y="787717"/>
            <a:ext cx="900136" cy="2988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905EB5-F25E-4B49-97A9-B5E6613EEE0E}"/>
              </a:ext>
            </a:extLst>
          </p:cNvPr>
          <p:cNvSpPr/>
          <p:nvPr/>
        </p:nvSpPr>
        <p:spPr>
          <a:xfrm>
            <a:off x="3089925" y="769112"/>
            <a:ext cx="852005" cy="2724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00739F-1099-47AC-A016-BFAE7D920F25}"/>
              </a:ext>
            </a:extLst>
          </p:cNvPr>
          <p:cNvSpPr/>
          <p:nvPr/>
        </p:nvSpPr>
        <p:spPr>
          <a:xfrm>
            <a:off x="1712605" y="2920621"/>
            <a:ext cx="969185" cy="2724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39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6">
            <a:extLst>
              <a:ext uri="{FF2B5EF4-FFF2-40B4-BE49-F238E27FC236}">
                <a16:creationId xmlns:a16="http://schemas.microsoft.com/office/drawing/2014/main" id="{6D5C10AE-EA93-4EB7-856C-FE849F563E74}"/>
              </a:ext>
            </a:extLst>
          </p:cNvPr>
          <p:cNvSpPr/>
          <p:nvPr/>
        </p:nvSpPr>
        <p:spPr>
          <a:xfrm>
            <a:off x="296525" y="1199255"/>
            <a:ext cx="8505945" cy="3375375"/>
          </a:xfrm>
          <a:prstGeom prst="rect">
            <a:avLst/>
          </a:prstGeom>
          <a:noFill/>
          <a:ln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pPr marL="180000"/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　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编辑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详情页面上</a:t>
            </a: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r>
              <a:rPr lang="en-US" altLang="zh-CN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app.record.create.show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'app.record.edit.show',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  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], function(event) {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//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Meiryo UI" panose="020B0604030504040204" pitchFamily="50" charset="-128"/>
              </a:rPr>
              <a:t>操作</a:t>
            </a:r>
            <a:endParaRPr lang="ja-JP" altLang="en-US" sz="1600" dirty="0">
              <a:solidFill>
                <a:schemeClr val="tx1"/>
              </a:solidFill>
              <a:latin typeface="+mn-ea"/>
              <a:cs typeface="Meiryo UI" panose="020B0604030504040204" pitchFamily="50" charset="-128"/>
            </a:endParaRPr>
          </a:p>
          <a:p>
            <a:pPr marL="180000"/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pPr marL="180000"/>
            <a:r>
              <a:rPr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585DC6-40D5-40DD-A59F-9E060B3DBE57}"/>
              </a:ext>
            </a:extLst>
          </p:cNvPr>
          <p:cNvSpPr txBox="1"/>
          <p:nvPr/>
        </p:nvSpPr>
        <p:spPr>
          <a:xfrm>
            <a:off x="217353" y="82992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7303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FFB403-70EB-4F4E-BE4F-19294755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8405"/>
            <a:ext cx="2371725" cy="4038600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BF82455A-E988-4BD2-AAF7-749FFA612E59}"/>
              </a:ext>
            </a:extLst>
          </p:cNvPr>
          <p:cNvSpPr txBox="1">
            <a:spLocks/>
          </p:cNvSpPr>
          <p:nvPr/>
        </p:nvSpPr>
        <p:spPr>
          <a:xfrm>
            <a:off x="881591" y="1094305"/>
            <a:ext cx="3510390" cy="12524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点击“切换字段的显示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隐藏”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7884D36-485D-4D93-9987-9E26E78B231A}"/>
              </a:ext>
            </a:extLst>
          </p:cNvPr>
          <p:cNvSpPr/>
          <p:nvPr/>
        </p:nvSpPr>
        <p:spPr>
          <a:xfrm>
            <a:off x="382177" y="1221600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AA6AAC-9719-4548-A934-A487FB27515A}"/>
              </a:ext>
            </a:extLst>
          </p:cNvPr>
          <p:cNvSpPr/>
          <p:nvPr/>
        </p:nvSpPr>
        <p:spPr>
          <a:xfrm>
            <a:off x="4710209" y="4371949"/>
            <a:ext cx="1391961" cy="22502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95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6C33ED-3FBF-4EED-8BFD-24F97CDEF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5" y="816555"/>
            <a:ext cx="4712695" cy="4217214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A628454-6493-489F-B770-609502FBF0C1}"/>
              </a:ext>
            </a:extLst>
          </p:cNvPr>
          <p:cNvSpPr/>
          <p:nvPr/>
        </p:nvSpPr>
        <p:spPr>
          <a:xfrm>
            <a:off x="1196625" y="1851670"/>
            <a:ext cx="1980220" cy="405045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408BFBA-C441-4A0B-A101-9C319380324F}"/>
              </a:ext>
            </a:extLst>
          </p:cNvPr>
          <p:cNvSpPr/>
          <p:nvPr/>
        </p:nvSpPr>
        <p:spPr>
          <a:xfrm>
            <a:off x="701570" y="836566"/>
            <a:ext cx="1350150" cy="25002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313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范例代码解说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296525" y="1337811"/>
            <a:ext cx="8055919" cy="21602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>
              <a:lnSpc>
                <a:spcPct val="150000"/>
              </a:lnSpc>
            </a:pP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('app.record.create.show', function(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{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var record = event.record;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单行文本框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角丸四角形吹き出し 5">
            <a:extLst>
              <a:ext uri="{FF2B5EF4-FFF2-40B4-BE49-F238E27FC236}">
                <a16:creationId xmlns:a16="http://schemas.microsoft.com/office/drawing/2014/main" id="{6F371D66-8E82-4E8A-9212-E5F2675E2CFB}"/>
              </a:ext>
            </a:extLst>
          </p:cNvPr>
          <p:cNvSpPr/>
          <p:nvPr/>
        </p:nvSpPr>
        <p:spPr>
          <a:xfrm>
            <a:off x="4436985" y="2035562"/>
            <a:ext cx="3105345" cy="382369"/>
          </a:xfrm>
          <a:prstGeom prst="wedgeRoundRectCallout">
            <a:avLst>
              <a:gd name="adj1" fmla="val -53025"/>
              <a:gd name="adj2" fmla="val 9886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将当前事件的记录赋值给变量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record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2180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范例代码解说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967AC15B-BF48-4CA3-881B-7F9267AF43EF}"/>
              </a:ext>
            </a:extLst>
          </p:cNvPr>
          <p:cNvSpPr/>
          <p:nvPr/>
        </p:nvSpPr>
        <p:spPr>
          <a:xfrm>
            <a:off x="341506" y="1337811"/>
            <a:ext cx="8055919" cy="21602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>
              <a:lnSpc>
                <a:spcPct val="150000"/>
              </a:lnSpc>
            </a:pPr>
            <a:r>
              <a:rPr lang="en-US" altLang="ja-JP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('app.record.create.show', function(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event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 {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var record = event.record;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20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ja-JP" altLang="en-US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单行文本框</a:t>
            </a:r>
            <a:r>
              <a:rPr lang="en-US" altLang="ja-JP" sz="20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pPr marL="180000">
              <a:lnSpc>
                <a:spcPct val="150000"/>
              </a:lnSpc>
            </a:pP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角丸四角形吹き出し 5">
            <a:extLst>
              <a:ext uri="{FF2B5EF4-FFF2-40B4-BE49-F238E27FC236}">
                <a16:creationId xmlns:a16="http://schemas.microsoft.com/office/drawing/2014/main" id="{6F371D66-8E82-4E8A-9212-E5F2675E2CFB}"/>
              </a:ext>
            </a:extLst>
          </p:cNvPr>
          <p:cNvSpPr/>
          <p:nvPr/>
        </p:nvSpPr>
        <p:spPr>
          <a:xfrm>
            <a:off x="4324484" y="3219019"/>
            <a:ext cx="1898685" cy="900100"/>
          </a:xfrm>
          <a:prstGeom prst="wedgeRoundRectCallout">
            <a:avLst>
              <a:gd name="adj1" fmla="val -36902"/>
              <a:gd name="adj2" fmla="val -91818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隐藏单行文本框</a:t>
            </a:r>
            <a:b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</a:t>
            </a:r>
            <a:b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true: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显示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50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9C87ADA-9A94-499A-B5E9-470E9ADF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5" y="1356615"/>
            <a:ext cx="5309410" cy="3735415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确认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event.record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的值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A8E5B04-E2C6-4D72-BEAD-7C728BB4BA9A}"/>
              </a:ext>
            </a:extLst>
          </p:cNvPr>
          <p:cNvGrpSpPr/>
          <p:nvPr/>
        </p:nvGrpSpPr>
        <p:grpSpPr>
          <a:xfrm>
            <a:off x="251520" y="681540"/>
            <a:ext cx="6706104" cy="487335"/>
            <a:chOff x="291809" y="1274325"/>
            <a:chExt cx="6706104" cy="487335"/>
          </a:xfrm>
        </p:grpSpPr>
        <p:sp>
          <p:nvSpPr>
            <p:cNvPr id="5" name="コンテンツ プレースホルダー 2">
              <a:extLst>
                <a:ext uri="{FF2B5EF4-FFF2-40B4-BE49-F238E27FC236}">
                  <a16:creationId xmlns:a16="http://schemas.microsoft.com/office/drawing/2014/main" id="{E63CEFD6-1442-4DAA-9A14-3B5D5BAC246B}"/>
                </a:ext>
              </a:extLst>
            </p:cNvPr>
            <p:cNvSpPr txBox="1">
              <a:spLocks/>
            </p:cNvSpPr>
            <p:nvPr/>
          </p:nvSpPr>
          <p:spPr>
            <a:xfrm>
              <a:off x="696854" y="1274325"/>
              <a:ext cx="6301059" cy="487335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记录详情页面 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&gt; F12 &gt; console    </a:t>
              </a:r>
              <a:endPara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5EE7B82-6BC1-45D3-91DC-749F1F7E22C0}"/>
                </a:ext>
              </a:extLst>
            </p:cNvPr>
            <p:cNvSpPr/>
            <p:nvPr/>
          </p:nvSpPr>
          <p:spPr>
            <a:xfrm>
              <a:off x="291809" y="1393900"/>
              <a:ext cx="188686" cy="188686"/>
            </a:xfrm>
            <a:prstGeom prst="ellipse">
              <a:avLst/>
            </a:prstGeom>
            <a:solidFill>
              <a:srgbClr val="6ED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角丸四角形吹き出し 5">
            <a:extLst>
              <a:ext uri="{FF2B5EF4-FFF2-40B4-BE49-F238E27FC236}">
                <a16:creationId xmlns:a16="http://schemas.microsoft.com/office/drawing/2014/main" id="{89E2789D-D161-433D-81FD-18FD69CDC716}"/>
              </a:ext>
            </a:extLst>
          </p:cNvPr>
          <p:cNvSpPr/>
          <p:nvPr/>
        </p:nvSpPr>
        <p:spPr>
          <a:xfrm>
            <a:off x="2366755" y="1626645"/>
            <a:ext cx="4815535" cy="382369"/>
          </a:xfrm>
          <a:prstGeom prst="wedgeRoundRectCallout">
            <a:avLst>
              <a:gd name="adj1" fmla="val -53742"/>
              <a:gd name="adj2" fmla="val -26211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输入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kintone.app.record.get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();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获取当前记录的字段代码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B0341A5-6C10-44B7-9FB7-620C0F952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170" y="3426845"/>
            <a:ext cx="1953153" cy="57578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89AED6E6-2259-4A91-A919-CDA5A9FDFFBE}"/>
              </a:ext>
            </a:extLst>
          </p:cNvPr>
          <p:cNvSpPr/>
          <p:nvPr/>
        </p:nvSpPr>
        <p:spPr>
          <a:xfrm>
            <a:off x="881590" y="4334843"/>
            <a:ext cx="810090" cy="127117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D854F82-26C2-4304-876E-1BDB55E7A168}"/>
              </a:ext>
            </a:extLst>
          </p:cNvPr>
          <p:cNvSpPr/>
          <p:nvPr/>
        </p:nvSpPr>
        <p:spPr>
          <a:xfrm>
            <a:off x="881590" y="4596975"/>
            <a:ext cx="810090" cy="12266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2B575C4-8FAC-42DB-B2D1-FD4BB3F6B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839" y="4341741"/>
            <a:ext cx="1931483" cy="59340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3B915D1-9281-4B27-BC7A-C6E81EA682EE}"/>
              </a:ext>
            </a:extLst>
          </p:cNvPr>
          <p:cNvCxnSpPr>
            <a:cxnSpLocks/>
          </p:cNvCxnSpPr>
          <p:nvPr/>
        </p:nvCxnSpPr>
        <p:spPr>
          <a:xfrm flipV="1">
            <a:off x="3221850" y="3759742"/>
            <a:ext cx="1170130" cy="485091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7D4BD2F-B3A3-4B6E-8B2D-FDD9A22FEC1C}"/>
              </a:ext>
            </a:extLst>
          </p:cNvPr>
          <p:cNvCxnSpPr>
            <a:cxnSpLocks/>
          </p:cNvCxnSpPr>
          <p:nvPr/>
        </p:nvCxnSpPr>
        <p:spPr>
          <a:xfrm>
            <a:off x="3350915" y="4519696"/>
            <a:ext cx="1041065" cy="64248"/>
          </a:xfrm>
          <a:prstGeom prst="straightConnector1">
            <a:avLst/>
          </a:prstGeom>
          <a:ln w="57150">
            <a:solidFill>
              <a:srgbClr val="F454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角丸四角形吹き出し 5">
            <a:extLst>
              <a:ext uri="{FF2B5EF4-FFF2-40B4-BE49-F238E27FC236}">
                <a16:creationId xmlns:a16="http://schemas.microsoft.com/office/drawing/2014/main" id="{7887EF58-EA63-4585-9EC2-F173973A0AD6}"/>
              </a:ext>
            </a:extLst>
          </p:cNvPr>
          <p:cNvSpPr/>
          <p:nvPr/>
        </p:nvSpPr>
        <p:spPr>
          <a:xfrm>
            <a:off x="6788436" y="2823510"/>
            <a:ext cx="1924024" cy="1872463"/>
          </a:xfrm>
          <a:prstGeom prst="wedgeRoundRectCallout">
            <a:avLst>
              <a:gd name="adj1" fmla="val -66280"/>
              <a:gd name="adj2" fmla="val -4320"/>
              <a:gd name="adj3" fmla="val 16667"/>
            </a:avLst>
          </a:prstGeom>
          <a:solidFill>
            <a:schemeClr val="bg1"/>
          </a:solidFill>
          <a:ln w="19050" cmpd="sng">
            <a:solidFill>
              <a:srgbClr val="595959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字段代码：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    type: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字段类型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    value: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字段值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字段值为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event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发生时的当前值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778532-2F17-4F7D-9700-7010FB2F3498}"/>
              </a:ext>
            </a:extLst>
          </p:cNvPr>
          <p:cNvSpPr/>
          <p:nvPr/>
        </p:nvSpPr>
        <p:spPr>
          <a:xfrm>
            <a:off x="656565" y="103131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accent4"/>
                </a:solidFill>
              </a:rPr>
              <a:t>mac用户打开方法是“command + option + I”</a:t>
            </a:r>
          </a:p>
        </p:txBody>
      </p:sp>
    </p:spTree>
    <p:extLst>
      <p:ext uri="{BB962C8B-B14F-4D97-AF65-F5344CB8AC3E}">
        <p14:creationId xmlns:p14="http://schemas.microsoft.com/office/powerpoint/2010/main" val="2568843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编写操作代码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96575"/>
            <a:ext cx="8550950" cy="40521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'app.record.edit.show',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record = event.record;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result = record['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 的时候，才显示 “预期时间”、“进度” 字段</a:t>
            </a:r>
            <a:b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if (result === '×××')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×××);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4147154-3BB4-4135-872D-EB9B0BDE758D}"/>
              </a:ext>
            </a:extLst>
          </p:cNvPr>
          <p:cNvSpPr txBox="1">
            <a:spLocks/>
          </p:cNvSpPr>
          <p:nvPr/>
        </p:nvSpPr>
        <p:spPr>
          <a:xfrm>
            <a:off x="1691681" y="698090"/>
            <a:ext cx="7290810" cy="703530"/>
          </a:xfrm>
          <a:prstGeom prst="rect">
            <a:avLst/>
          </a:prstGeom>
          <a:solidFill>
            <a:schemeClr val="bg1"/>
          </a:solidFill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替换下面代码中的</a:t>
            </a:r>
            <a:r>
              <a:rPr lang="en-US" altLang="ja-JP" dirty="0">
                <a:latin typeface="+mn-ea"/>
                <a:ea typeface="+mn-ea"/>
                <a:cs typeface="Meiryo UI" panose="020B0604030504040204" pitchFamily="50" charset="-128"/>
              </a:rPr>
              <a:t>XXX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，如果产品名为“</a:t>
            </a:r>
            <a:r>
              <a:rPr lang="en-US" altLang="zh-CN" dirty="0">
                <a:latin typeface="+mn-ea"/>
                <a:ea typeface="+mn-ea"/>
                <a:cs typeface="Meiryo UI" panose="020B0604030504040204" pitchFamily="50" charset="-128"/>
              </a:rPr>
              <a:t>Garoon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”，显示“预期时间”、“进度”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（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如果是其他产品，则隐藏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）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0547F92-B2B0-4CB6-BF4C-3CECBD258149}"/>
              </a:ext>
            </a:extLst>
          </p:cNvPr>
          <p:cNvGrpSpPr/>
          <p:nvPr/>
        </p:nvGrpSpPr>
        <p:grpSpPr>
          <a:xfrm>
            <a:off x="6015442" y="1771488"/>
            <a:ext cx="3057058" cy="2862322"/>
            <a:chOff x="5427915" y="2168327"/>
            <a:chExt cx="3057058" cy="286232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1B86D9D-E5B0-4F44-AC24-A52F782D9AD4}"/>
                </a:ext>
              </a:extLst>
            </p:cNvPr>
            <p:cNvSpPr txBox="1"/>
            <p:nvPr/>
          </p:nvSpPr>
          <p:spPr>
            <a:xfrm>
              <a:off x="5427915" y="2168327"/>
              <a:ext cx="3057058" cy="286232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6D5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66D5F0"/>
                  </a:solidFill>
                </a:rPr>
                <a:t>自定义操作：</a:t>
              </a:r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  <a:p>
              <a:endParaRPr lang="en-US" altLang="zh-CN" dirty="0">
                <a:solidFill>
                  <a:srgbClr val="66D5F0"/>
                </a:solidFill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1D5613F-EF6A-4FE3-B10C-CE4584623544}"/>
                </a:ext>
              </a:extLst>
            </p:cNvPr>
            <p:cNvGrpSpPr/>
            <p:nvPr/>
          </p:nvGrpSpPr>
          <p:grpSpPr>
            <a:xfrm>
              <a:off x="5644900" y="2585568"/>
              <a:ext cx="1998650" cy="2200308"/>
              <a:chOff x="5453670" y="2816525"/>
              <a:chExt cx="1998650" cy="2200308"/>
            </a:xfrm>
          </p:grpSpPr>
          <p:sp>
            <p:nvSpPr>
              <p:cNvPr id="8" name="流程图: 可选过程 7">
                <a:extLst>
                  <a:ext uri="{FF2B5EF4-FFF2-40B4-BE49-F238E27FC236}">
                    <a16:creationId xmlns:a16="http://schemas.microsoft.com/office/drawing/2014/main" id="{EC7E5EC9-FA66-43B1-B7F2-E65921FAED6B}"/>
                  </a:ext>
                </a:extLst>
              </p:cNvPr>
              <p:cNvSpPr/>
              <p:nvPr/>
            </p:nvSpPr>
            <p:spPr>
              <a:xfrm>
                <a:off x="5529120" y="2816525"/>
                <a:ext cx="1821978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/>
                  <a:t>获取记录</a:t>
                </a:r>
              </a:p>
            </p:txBody>
          </p:sp>
          <p:sp>
            <p:nvSpPr>
              <p:cNvPr id="9" name="菱形 8">
                <a:extLst>
                  <a:ext uri="{FF2B5EF4-FFF2-40B4-BE49-F238E27FC236}">
                    <a16:creationId xmlns:a16="http://schemas.microsoft.com/office/drawing/2014/main" id="{4F0ECE02-3BE3-4662-A55D-79DAB3779E79}"/>
                  </a:ext>
                </a:extLst>
              </p:cNvPr>
              <p:cNvSpPr/>
              <p:nvPr/>
            </p:nvSpPr>
            <p:spPr>
              <a:xfrm>
                <a:off x="5453670" y="3236169"/>
                <a:ext cx="1998650" cy="600780"/>
              </a:xfrm>
              <a:prstGeom prst="diamond">
                <a:avLst/>
              </a:prstGeom>
              <a:noFill/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 dirty="0">
                    <a:solidFill>
                      <a:schemeClr val="tx1"/>
                    </a:solidFill>
                  </a:rPr>
                  <a:t>产品名是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”Garoon”</a:t>
                </a:r>
                <a:r>
                  <a:rPr lang="zh-CN" altLang="en-US" sz="900" dirty="0">
                    <a:solidFill>
                      <a:schemeClr val="tx1"/>
                    </a:solidFill>
                  </a:rPr>
                  <a:t>吗</a:t>
                </a:r>
                <a:r>
                  <a:rPr lang="en-US" altLang="zh-CN" sz="900" dirty="0">
                    <a:solidFill>
                      <a:schemeClr val="tx1"/>
                    </a:solidFill>
                  </a:rPr>
                  <a:t>?</a:t>
                </a:r>
                <a:r>
                  <a:rPr lang="zh-CN" altLang="en-US" sz="1000" dirty="0"/>
                  <a:t>”</a:t>
                </a:r>
              </a:p>
              <a:p>
                <a:pPr algn="ctr"/>
                <a:endParaRPr lang="zh-CN" altLang="en-US" dirty="0"/>
              </a:p>
            </p:txBody>
          </p:sp>
          <p:sp>
            <p:nvSpPr>
              <p:cNvPr id="10" name="流程图: 可选过程 9">
                <a:extLst>
                  <a:ext uri="{FF2B5EF4-FFF2-40B4-BE49-F238E27FC236}">
                    <a16:creationId xmlns:a16="http://schemas.microsoft.com/office/drawing/2014/main" id="{33F34418-898D-484C-BED1-0B2B2FFCCB98}"/>
                  </a:ext>
                </a:extLst>
              </p:cNvPr>
              <p:cNvSpPr/>
              <p:nvPr/>
            </p:nvSpPr>
            <p:spPr>
              <a:xfrm>
                <a:off x="5667787" y="3974988"/>
                <a:ext cx="1563965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显示“预期时间”、“进度”</a:t>
                </a:r>
              </a:p>
            </p:txBody>
          </p:sp>
          <p:sp>
            <p:nvSpPr>
              <p:cNvPr id="11" name="流程图: 可选过程 10">
                <a:extLst>
                  <a:ext uri="{FF2B5EF4-FFF2-40B4-BE49-F238E27FC236}">
                    <a16:creationId xmlns:a16="http://schemas.microsoft.com/office/drawing/2014/main" id="{5BE7EC4D-2D62-49B4-B428-3D08A0C3FECD}"/>
                  </a:ext>
                </a:extLst>
              </p:cNvPr>
              <p:cNvSpPr/>
              <p:nvPr/>
            </p:nvSpPr>
            <p:spPr>
              <a:xfrm>
                <a:off x="5652120" y="4326945"/>
                <a:ext cx="1563962" cy="270030"/>
              </a:xfrm>
              <a:prstGeom prst="flowChartAlternateProcess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/>
                  <a:t>隐藏“预期时间”、“进度”</a:t>
                </a:r>
              </a:p>
            </p:txBody>
          </p:sp>
          <p:sp>
            <p:nvSpPr>
              <p:cNvPr id="14" name="流程图: 终止 13">
                <a:extLst>
                  <a:ext uri="{FF2B5EF4-FFF2-40B4-BE49-F238E27FC236}">
                    <a16:creationId xmlns:a16="http://schemas.microsoft.com/office/drawing/2014/main" id="{AE7B5024-E99D-4056-ADA3-3F483680BD7D}"/>
                  </a:ext>
                </a:extLst>
              </p:cNvPr>
              <p:cNvSpPr/>
              <p:nvPr/>
            </p:nvSpPr>
            <p:spPr>
              <a:xfrm>
                <a:off x="5946274" y="4735014"/>
                <a:ext cx="990110" cy="281819"/>
              </a:xfrm>
              <a:prstGeom prst="flowChartTerminator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</a:rPr>
                  <a:t>结束</a:t>
                </a: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9552ECE0-9DEC-4320-BAD5-E1BDC058843F}"/>
                  </a:ext>
                </a:extLst>
              </p:cNvPr>
              <p:cNvCxnSpPr>
                <a:cxnSpLocks/>
                <a:stCxn id="8" idx="2"/>
                <a:endCxn id="9" idx="0"/>
              </p:cNvCxnSpPr>
              <p:nvPr/>
            </p:nvCxnSpPr>
            <p:spPr>
              <a:xfrm>
                <a:off x="6440109" y="3086555"/>
                <a:ext cx="12886" cy="1496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0C5CFB4-517E-4A03-9D41-EF55BB791C9F}"/>
                  </a:ext>
                </a:extLst>
              </p:cNvPr>
              <p:cNvCxnSpPr>
                <a:cxnSpLocks/>
                <a:stCxn id="9" idx="2"/>
                <a:endCxn id="10" idx="0"/>
              </p:cNvCxnSpPr>
              <p:nvPr/>
            </p:nvCxnSpPr>
            <p:spPr>
              <a:xfrm flipH="1">
                <a:off x="6449770" y="3836949"/>
                <a:ext cx="3225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FA302D1-2E72-4BFB-B280-F0D462176124}"/>
                  </a:ext>
                </a:extLst>
              </p:cNvPr>
              <p:cNvSpPr txBox="1"/>
              <p:nvPr/>
            </p:nvSpPr>
            <p:spPr>
              <a:xfrm>
                <a:off x="7075294" y="3293124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NO</a:t>
                </a:r>
                <a:endParaRPr lang="zh-CN" altLang="en-US" sz="1000" dirty="0"/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943B1B22-F1A5-4F30-A9B8-EE8988C00215}"/>
                  </a:ext>
                </a:extLst>
              </p:cNvPr>
              <p:cNvCxnSpPr>
                <a:cxnSpLocks/>
                <a:stCxn id="11" idx="2"/>
                <a:endCxn id="14" idx="0"/>
              </p:cNvCxnSpPr>
              <p:nvPr/>
            </p:nvCxnSpPr>
            <p:spPr>
              <a:xfrm>
                <a:off x="6434101" y="4596975"/>
                <a:ext cx="7228" cy="138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连接符: 肘形 18">
                <a:extLst>
                  <a:ext uri="{FF2B5EF4-FFF2-40B4-BE49-F238E27FC236}">
                    <a16:creationId xmlns:a16="http://schemas.microsoft.com/office/drawing/2014/main" id="{8C653F06-AE98-4DB2-8622-70C8DF27E6CE}"/>
                  </a:ext>
                </a:extLst>
              </p:cNvPr>
              <p:cNvCxnSpPr>
                <a:cxnSpLocks/>
                <a:stCxn id="9" idx="3"/>
                <a:endCxn id="11" idx="3"/>
              </p:cNvCxnSpPr>
              <p:nvPr/>
            </p:nvCxnSpPr>
            <p:spPr>
              <a:xfrm flipH="1">
                <a:off x="7216082" y="3536559"/>
                <a:ext cx="236238" cy="925401"/>
              </a:xfrm>
              <a:prstGeom prst="bentConnector3">
                <a:avLst>
                  <a:gd name="adj1" fmla="val -96767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8437580-9ACD-4184-85F0-CE21655CB064}"/>
                  </a:ext>
                </a:extLst>
              </p:cNvPr>
              <p:cNvSpPr txBox="1"/>
              <p:nvPr/>
            </p:nvSpPr>
            <p:spPr>
              <a:xfrm>
                <a:off x="6500845" y="3746997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dirty="0"/>
                  <a:t>YES</a:t>
                </a:r>
                <a:endParaRPr lang="zh-CN" altLang="en-US" sz="1000" dirty="0"/>
              </a:p>
            </p:txBody>
          </p:sp>
          <p:cxnSp>
            <p:nvCxnSpPr>
              <p:cNvPr id="21" name="连接符: 肘形 20">
                <a:extLst>
                  <a:ext uri="{FF2B5EF4-FFF2-40B4-BE49-F238E27FC236}">
                    <a16:creationId xmlns:a16="http://schemas.microsoft.com/office/drawing/2014/main" id="{257C2A34-43CA-43F5-AB24-A1E594C210B7}"/>
                  </a:ext>
                </a:extLst>
              </p:cNvPr>
              <p:cNvCxnSpPr>
                <a:cxnSpLocks/>
                <a:stCxn id="10" idx="1"/>
                <a:endCxn id="14" idx="1"/>
              </p:cNvCxnSpPr>
              <p:nvPr/>
            </p:nvCxnSpPr>
            <p:spPr>
              <a:xfrm rot="10800000" flipH="1" flipV="1">
                <a:off x="5667786" y="4110002"/>
                <a:ext cx="278487" cy="765921"/>
              </a:xfrm>
              <a:prstGeom prst="bentConnector3">
                <a:avLst>
                  <a:gd name="adj1" fmla="val -82086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7D17292-29AC-4659-B34A-2DFA0B37B6DF}"/>
              </a:ext>
            </a:extLst>
          </p:cNvPr>
          <p:cNvSpPr txBox="1"/>
          <p:nvPr/>
        </p:nvSpPr>
        <p:spPr>
          <a:xfrm>
            <a:off x="251496" y="63913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989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94917"/>
            <a:ext cx="8550950" cy="405210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en-US" altLang="ja-JP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'app.record.edit.show',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'app.record.detail.show',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'app.record.create.change.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　     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'app.record.edit.change.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record = event.record;</a:t>
            </a:r>
          </a:p>
          <a:p>
            <a:pPr marL="180000"/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var result = record['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// 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” 的时候，才显示 “预期时间”、“进度” 字段</a:t>
            </a:r>
            <a:b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if (result === '</a:t>
            </a:r>
            <a:r>
              <a:rPr lang="en-US" altLang="zh-CN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')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true);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true);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200" dirty="0" err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false);</a:t>
            </a:r>
          </a:p>
          <a:p>
            <a:r>
              <a:rPr lang="en-US" altLang="ja-JP" sz="12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　</a:t>
            </a:r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});</a:t>
            </a:r>
          </a:p>
          <a:p>
            <a:r>
              <a:rPr lang="en-US" altLang="ja-JP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31C6D2-1E03-4AE8-A82C-3CCEF2B32BE3}"/>
              </a:ext>
            </a:extLst>
          </p:cNvPr>
          <p:cNvSpPr txBox="1"/>
          <p:nvPr/>
        </p:nvSpPr>
        <p:spPr>
          <a:xfrm>
            <a:off x="251496" y="63913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445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2186735" y="2121700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FDA907"/>
                </a:solidFill>
                <a:latin typeface="+mj-ea"/>
                <a:ea typeface="+mj-ea"/>
              </a:rPr>
              <a:t>挑战第二个任务！</a:t>
            </a:r>
            <a:endParaRPr lang="en-US" altLang="zh-CN" sz="4800" dirty="0">
              <a:solidFill>
                <a:srgbClr val="FDA907"/>
              </a:solidFill>
              <a:latin typeface="+mj-ea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5" y="1176595"/>
            <a:ext cx="2125176" cy="248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45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提交时显示对话框</a:t>
            </a:r>
          </a:p>
        </p:txBody>
      </p:sp>
      <p:sp>
        <p:nvSpPr>
          <p:cNvPr id="6" name="正方形/長方形 8">
            <a:extLst>
              <a:ext uri="{FF2B5EF4-FFF2-40B4-BE49-F238E27FC236}">
                <a16:creationId xmlns:a16="http://schemas.microsoft.com/office/drawing/2014/main" id="{7E269609-04F2-4711-9190-21F9F1B3CEBD}"/>
              </a:ext>
            </a:extLst>
          </p:cNvPr>
          <p:cNvSpPr/>
          <p:nvPr/>
        </p:nvSpPr>
        <p:spPr>
          <a:xfrm>
            <a:off x="260443" y="2076695"/>
            <a:ext cx="7297531" cy="26552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strict‘;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……</a:t>
            </a:r>
          </a:p>
          <a:p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提交时显示对话框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</a:t>
            </a:r>
            <a:r>
              <a:rPr lang="en-US" altLang="ja-JP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app.record.create.submit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</a:t>
            </a:r>
            <a:r>
              <a:rPr lang="en-US" altLang="ja-JP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app.record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  <a:r>
              <a:rPr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×××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.submit'], function(event) {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alert(‘</a:t>
            </a:r>
            <a:r>
              <a:rPr lang="en-US" altLang="ja-JP" sz="1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××××××××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’);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});</a:t>
            </a:r>
          </a:p>
          <a:p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F8A5E049-727C-479D-BC3B-EE7A82F6EB32}"/>
              </a:ext>
            </a:extLst>
          </p:cNvPr>
          <p:cNvSpPr txBox="1">
            <a:spLocks/>
          </p:cNvSpPr>
          <p:nvPr/>
        </p:nvSpPr>
        <p:spPr>
          <a:xfrm>
            <a:off x="267164" y="951570"/>
            <a:ext cx="7290810" cy="703530"/>
          </a:xfrm>
          <a:prstGeom prst="rect">
            <a:avLst/>
          </a:prstGeom>
          <a:solidFill>
            <a:schemeClr val="bg1"/>
          </a:solidFill>
          <a:ln w="47625" cap="rnd" cmpd="dbl">
            <a:solidFill>
              <a:srgbClr val="62C9E2"/>
            </a:solidFill>
            <a:prstDash val="solid"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8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1400" kern="1200">
                <a:solidFill>
                  <a:srgbClr val="3E405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尝试</a:t>
            </a:r>
            <a:r>
              <a:rPr lang="ja-JP" altLang="en-US" dirty="0">
                <a:latin typeface="+mn-ea"/>
                <a:ea typeface="+mn-ea"/>
                <a:cs typeface="Meiryo UI" panose="020B0604030504040204" pitchFamily="50" charset="-128"/>
              </a:rPr>
              <a:t>★</a:t>
            </a:r>
            <a:endParaRPr lang="en-US" altLang="ja-JP" dirty="0">
              <a:latin typeface="+mn-ea"/>
              <a:ea typeface="+mn-ea"/>
              <a:cs typeface="Meiryo UI" panose="020B0604030504040204" pitchFamily="50" charset="-128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FDA907"/>
                </a:solidFill>
                <a:latin typeface="+mn-ea"/>
                <a:ea typeface="+mn-ea"/>
                <a:cs typeface="Meiryo UI" panose="020B0604030504040204" pitchFamily="50" charset="-128"/>
              </a:rPr>
              <a:t>保存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记录（添加、编辑页面）的时候，</a:t>
            </a:r>
            <a:r>
              <a:rPr lang="zh-CN" altLang="en-US" b="1" dirty="0">
                <a:solidFill>
                  <a:srgbClr val="66D5F0"/>
                </a:solidFill>
                <a:latin typeface="+mn-ea"/>
                <a:ea typeface="+mn-ea"/>
                <a:cs typeface="Meiryo UI" panose="020B0604030504040204" pitchFamily="50" charset="-128"/>
              </a:rPr>
              <a:t>显示对话框</a:t>
            </a:r>
            <a:r>
              <a:rPr lang="zh-CN" altLang="en-US" dirty="0">
                <a:latin typeface="+mn-ea"/>
                <a:ea typeface="+mn-ea"/>
                <a:cs typeface="Meiryo UI" panose="020B0604030504040204" pitchFamily="50" charset="-128"/>
              </a:rPr>
              <a:t>“添加成功！记得填写活动记录”。</a:t>
            </a:r>
            <a:endParaRPr lang="en-US" altLang="ja-JP" dirty="0">
              <a:solidFill>
                <a:srgbClr val="00B0F0"/>
              </a:solidFill>
              <a:latin typeface="+mn-ea"/>
              <a:ea typeface="+mn-ea"/>
              <a:cs typeface="Meiryo UI" panose="020B0604030504040204" pitchFamily="50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F0A11C-4EA6-46B5-A097-322257FCE780}"/>
              </a:ext>
            </a:extLst>
          </p:cNvPr>
          <p:cNvSpPr txBox="1"/>
          <p:nvPr/>
        </p:nvSpPr>
        <p:spPr>
          <a:xfrm>
            <a:off x="206515" y="1681231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016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32B68353-6438-4A7B-8156-B24C78B23C22}"/>
              </a:ext>
            </a:extLst>
          </p:cNvPr>
          <p:cNvGrpSpPr/>
          <p:nvPr/>
        </p:nvGrpSpPr>
        <p:grpSpPr>
          <a:xfrm>
            <a:off x="71500" y="321500"/>
            <a:ext cx="5355583" cy="720080"/>
            <a:chOff x="206515" y="366505"/>
            <a:chExt cx="5355583" cy="720080"/>
          </a:xfrm>
        </p:grpSpPr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2CE0BC16-72A1-41E9-9289-1FD6CB764404}"/>
                </a:ext>
              </a:extLst>
            </p:cNvPr>
            <p:cNvSpPr txBox="1"/>
            <p:nvPr/>
          </p:nvSpPr>
          <p:spPr>
            <a:xfrm>
              <a:off x="791544" y="464935"/>
              <a:ext cx="4770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DA907"/>
                  </a:solidFill>
                  <a:latin typeface="+mj-lt"/>
                </a:rPr>
                <a:t>小贴士</a:t>
              </a:r>
            </a:p>
          </p:txBody>
        </p:sp>
        <p:pic>
          <p:nvPicPr>
            <p:cNvPr id="31" name="图形 30" descr="灯泡">
              <a:extLst>
                <a:ext uri="{FF2B5EF4-FFF2-40B4-BE49-F238E27FC236}">
                  <a16:creationId xmlns:a16="http://schemas.microsoft.com/office/drawing/2014/main" id="{A4831BFA-1478-45F0-81A6-345E08F5D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6515" y="366505"/>
              <a:ext cx="720080" cy="72008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71D7EDE-D607-40FD-A968-94DCDAB76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05" y="3144345"/>
            <a:ext cx="2138212" cy="1568666"/>
          </a:xfrm>
          <a:prstGeom prst="rect">
            <a:avLst/>
          </a:prstGeom>
        </p:spPr>
      </p:pic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F88E0C91-BEC0-4CCA-B555-179367DA4229}"/>
              </a:ext>
            </a:extLst>
          </p:cNvPr>
          <p:cNvSpPr txBox="1">
            <a:spLocks/>
          </p:cNvSpPr>
          <p:nvPr/>
        </p:nvSpPr>
        <p:spPr>
          <a:xfrm>
            <a:off x="881589" y="1293370"/>
            <a:ext cx="6075676" cy="11883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显示对话框的函数：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alert(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内容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例：</a:t>
            </a:r>
            <a:r>
              <a:rPr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alert(‘Hello world!’);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77814E0-B143-4400-BCE2-1965D9E0A2C2}"/>
              </a:ext>
            </a:extLst>
          </p:cNvPr>
          <p:cNvSpPr/>
          <p:nvPr/>
        </p:nvSpPr>
        <p:spPr>
          <a:xfrm>
            <a:off x="382177" y="1420665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15F1AC-35CC-4D9A-B7C4-EA59498C3C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258"/>
          <a:stretch/>
        </p:blipFill>
        <p:spPr>
          <a:xfrm>
            <a:off x="971600" y="2481740"/>
            <a:ext cx="2276475" cy="1336120"/>
          </a:xfrm>
          <a:prstGeom prst="rect">
            <a:avLst/>
          </a:prstGeom>
          <a:ln>
            <a:solidFill>
              <a:srgbClr val="F89290"/>
            </a:solidFill>
          </a:ln>
        </p:spPr>
      </p:pic>
    </p:spTree>
    <p:extLst>
      <p:ext uri="{BB962C8B-B14F-4D97-AF65-F5344CB8AC3E}">
        <p14:creationId xmlns:p14="http://schemas.microsoft.com/office/powerpoint/2010/main" val="367862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1748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正确答案</a:t>
            </a: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1131590"/>
            <a:ext cx="7875875" cy="344883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‘use strict’;</a:t>
            </a:r>
          </a:p>
          <a:p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……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eiryo UI" panose="020B0604030504040204" pitchFamily="50" charset="-128"/>
              </a:rPr>
              <a:t>提交时显示对话框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eiryo UI" panose="020B0604030504040204" pitchFamily="50" charset="-128"/>
            </a:endParaRPr>
          </a:p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(['app.record.create.submit',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edit</a:t>
            </a:r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.submit'], function(event) {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alert('</a:t>
            </a:r>
            <a:r>
              <a:rPr lang="zh-CN" altLang="en-US" dirty="0">
                <a:solidFill>
                  <a:srgbClr val="FF0000"/>
                </a:solidFill>
                <a:latin typeface="+mn-ea"/>
                <a:cs typeface="Meiryo UI" panose="020B0604030504040204" pitchFamily="50" charset="-128"/>
              </a:rPr>
              <a:t>添加成功！记得填写活动记录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');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});</a:t>
            </a:r>
          </a:p>
          <a:p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</a:p>
          <a:p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731A9C-3BCE-4E79-BE85-B874F62CAEA8}"/>
              </a:ext>
            </a:extLst>
          </p:cNvPr>
          <p:cNvSpPr txBox="1"/>
          <p:nvPr/>
        </p:nvSpPr>
        <p:spPr>
          <a:xfrm>
            <a:off x="240386" y="76225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0338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2186735" y="2121700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>
                <a:solidFill>
                  <a:srgbClr val="FDA907"/>
                </a:solidFill>
                <a:latin typeface="+mj-ea"/>
                <a:ea typeface="+mj-ea"/>
              </a:rPr>
              <a:t>最后一步：测试！</a:t>
            </a:r>
            <a:endParaRPr lang="en-US" altLang="zh-CN" sz="4800" dirty="0">
              <a:solidFill>
                <a:srgbClr val="FDA907"/>
              </a:solidFill>
              <a:latin typeface="+mj-ea"/>
              <a:ea typeface="+mj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525D19-4412-4E6B-9094-A58C41E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5" y="1176595"/>
            <a:ext cx="2125176" cy="248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89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1" y="51470"/>
            <a:ext cx="4770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全部代码</a:t>
            </a:r>
          </a:p>
        </p:txBody>
      </p:sp>
      <p:sp>
        <p:nvSpPr>
          <p:cNvPr id="12" name="正方形/長方形 8">
            <a:extLst>
              <a:ext uri="{FF2B5EF4-FFF2-40B4-BE49-F238E27FC236}">
                <a16:creationId xmlns:a16="http://schemas.microsoft.com/office/drawing/2014/main" id="{EDF9AD0E-2A6D-4E5E-962C-1CA6380B1A89}"/>
              </a:ext>
            </a:extLst>
          </p:cNvPr>
          <p:cNvSpPr/>
          <p:nvPr/>
        </p:nvSpPr>
        <p:spPr>
          <a:xfrm>
            <a:off x="296525" y="906565"/>
            <a:ext cx="8550950" cy="41689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(function()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'use strict';</a:t>
            </a:r>
          </a:p>
          <a:p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在记录添加、编辑、详情页面上、显示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隐藏字段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	           'app.record.edit.show',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'app.record.detail.show',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'app.record.create.change.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'app.record.edit.change.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'], function(event)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var record = event.record;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var result = record['</a:t>
            </a:r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下拉菜单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'].value;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只有产品名的字段值为 “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Garoon”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的时候，才显示 “预期时间”、“进度” 字段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if (result === 'Garoon')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true);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}else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预期时间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kintone.app.record.setFieldShown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进度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', 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false);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}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});</a:t>
            </a:r>
          </a:p>
          <a:p>
            <a:endParaRPr lang="en-US" altLang="ja-JP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//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提交时显示对话框</a:t>
            </a:r>
            <a:endParaRPr lang="ja-JP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lang="en-US" altLang="ja-JP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kintone.events.on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(['app.record.create.submit',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                        'app.record.edit.submit'], function(event) {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    alert('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添加成功！记得填写活动记录</a:t>
            </a:r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');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});</a:t>
            </a:r>
          </a:p>
          <a:p>
            <a:r>
              <a:rPr lang="en-US" altLang="ja-JP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})();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26A3D1-2577-47A9-97A2-85B407B7EECC}"/>
              </a:ext>
            </a:extLst>
          </p:cNvPr>
          <p:cNvSpPr/>
          <p:nvPr/>
        </p:nvSpPr>
        <p:spPr>
          <a:xfrm>
            <a:off x="476521" y="1381083"/>
            <a:ext cx="4770554" cy="2659282"/>
          </a:xfrm>
          <a:prstGeom prst="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9B5515F-ED45-43B7-B491-BF1A55422CFA}"/>
              </a:ext>
            </a:extLst>
          </p:cNvPr>
          <p:cNvSpPr/>
          <p:nvPr/>
        </p:nvSpPr>
        <p:spPr>
          <a:xfrm>
            <a:off x="4842030" y="1491630"/>
            <a:ext cx="315035" cy="315035"/>
          </a:xfrm>
          <a:prstGeom prst="ellipse">
            <a:avLst/>
          </a:prstGeom>
          <a:solidFill>
            <a:srgbClr val="F454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C247A9-DFA4-4FC7-B412-53704A87295D}"/>
              </a:ext>
            </a:extLst>
          </p:cNvPr>
          <p:cNvGrpSpPr/>
          <p:nvPr/>
        </p:nvGrpSpPr>
        <p:grpSpPr>
          <a:xfrm>
            <a:off x="476521" y="4101920"/>
            <a:ext cx="4770554" cy="806103"/>
            <a:chOff x="476521" y="3790872"/>
            <a:chExt cx="4770554" cy="80610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7B16249-10B8-47CC-B866-1D4748B65055}"/>
                </a:ext>
              </a:extLst>
            </p:cNvPr>
            <p:cNvSpPr/>
            <p:nvPr/>
          </p:nvSpPr>
          <p:spPr>
            <a:xfrm>
              <a:off x="476521" y="3790872"/>
              <a:ext cx="4770554" cy="806103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360B0C6-F1EF-470E-81AC-FA13614AEC76}"/>
                </a:ext>
              </a:extLst>
            </p:cNvPr>
            <p:cNvSpPr/>
            <p:nvPr/>
          </p:nvSpPr>
          <p:spPr>
            <a:xfrm>
              <a:off x="4842030" y="3878888"/>
              <a:ext cx="315035" cy="315035"/>
            </a:xfrm>
            <a:prstGeom prst="ellipse">
              <a:avLst/>
            </a:prstGeom>
            <a:solidFill>
              <a:srgbClr val="62C9E2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69C4DB0-E437-44EA-ABB7-6F7A28DE648F}"/>
              </a:ext>
            </a:extLst>
          </p:cNvPr>
          <p:cNvSpPr txBox="1"/>
          <p:nvPr/>
        </p:nvSpPr>
        <p:spPr>
          <a:xfrm>
            <a:off x="341530" y="54652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sample.js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2949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1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D1BE45-997F-48D6-A262-C69A3C1E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5" y="1086585"/>
            <a:ext cx="8378871" cy="3375375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AA14E-86C4-4B8B-B139-2C5C4A8B73C1}"/>
              </a:ext>
            </a:extLst>
          </p:cNvPr>
          <p:cNvSpPr/>
          <p:nvPr/>
        </p:nvSpPr>
        <p:spPr>
          <a:xfrm>
            <a:off x="7812360" y="2571750"/>
            <a:ext cx="423555" cy="327532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5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2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02494F-1714-4164-9979-9FF45D685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0" y="906565"/>
            <a:ext cx="6750750" cy="3712912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B0AA14E-86C4-4B8B-B139-2C5C4A8B73C1}"/>
              </a:ext>
            </a:extLst>
          </p:cNvPr>
          <p:cNvSpPr/>
          <p:nvPr/>
        </p:nvSpPr>
        <p:spPr>
          <a:xfrm flipV="1">
            <a:off x="2816805" y="3156815"/>
            <a:ext cx="1530170" cy="302538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62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464147-DCC7-4B37-ABD3-D9C36DD7A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50" y="816555"/>
            <a:ext cx="4315133" cy="4050450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B8E60CC-4358-434C-87F8-E7FC943D8679}"/>
              </a:ext>
            </a:extLst>
          </p:cNvPr>
          <p:cNvSpPr/>
          <p:nvPr/>
        </p:nvSpPr>
        <p:spPr>
          <a:xfrm flipV="1">
            <a:off x="1826695" y="3156815"/>
            <a:ext cx="1080120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E32743-6912-45C8-842C-90592805932B}"/>
              </a:ext>
            </a:extLst>
          </p:cNvPr>
          <p:cNvSpPr/>
          <p:nvPr/>
        </p:nvSpPr>
        <p:spPr>
          <a:xfrm flipV="1">
            <a:off x="505542" y="1041580"/>
            <a:ext cx="646078" cy="27003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97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C2B3CDC1-949B-4AEF-92F6-FBEC58E6D2A0}"/>
              </a:ext>
            </a:extLst>
          </p:cNvPr>
          <p:cNvSpPr txBox="1"/>
          <p:nvPr/>
        </p:nvSpPr>
        <p:spPr>
          <a:xfrm>
            <a:off x="476520" y="174870"/>
            <a:ext cx="6705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将</a:t>
            </a:r>
            <a:r>
              <a:rPr lang="en-US" altLang="ja-JP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JavaScript</a:t>
            </a: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文件上传到应用里</a:t>
            </a:r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3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6A24B-5A15-430C-8F94-2DDE8F3C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87" y="1266604"/>
            <a:ext cx="7140638" cy="2745305"/>
          </a:xfrm>
          <a:prstGeom prst="rect">
            <a:avLst/>
          </a:prstGeom>
          <a:ln>
            <a:solidFill>
              <a:srgbClr val="F89290"/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A1EE66-4B85-4A33-9117-B1A3B54A1BC1}"/>
              </a:ext>
            </a:extLst>
          </p:cNvPr>
          <p:cNvSpPr/>
          <p:nvPr/>
        </p:nvSpPr>
        <p:spPr>
          <a:xfrm flipV="1">
            <a:off x="6162331" y="1581640"/>
            <a:ext cx="1334994" cy="45005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2A41E1-C561-4CF9-9634-72A42671243F}"/>
              </a:ext>
            </a:extLst>
          </p:cNvPr>
          <p:cNvSpPr txBox="1"/>
          <p:nvPr/>
        </p:nvSpPr>
        <p:spPr>
          <a:xfrm>
            <a:off x="6237185" y="203169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45450"/>
                </a:solidFill>
              </a:rPr>
              <a:t>别忘记哦～</a:t>
            </a:r>
          </a:p>
        </p:txBody>
      </p:sp>
    </p:spTree>
    <p:extLst>
      <p:ext uri="{BB962C8B-B14F-4D97-AF65-F5344CB8AC3E}">
        <p14:creationId xmlns:p14="http://schemas.microsoft.com/office/powerpoint/2010/main" val="411501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22E4C3A-00E9-46F2-A341-6D41F7ED1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24" y="580514"/>
            <a:ext cx="5940661" cy="444400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BEC2FB-E0B4-4AB8-BCCD-D16DAF2AB1A0}"/>
              </a:ext>
            </a:extLst>
          </p:cNvPr>
          <p:cNvSpPr/>
          <p:nvPr/>
        </p:nvSpPr>
        <p:spPr>
          <a:xfrm>
            <a:off x="881590" y="88297"/>
            <a:ext cx="64807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rgbClr val="FDA907"/>
                </a:solidFill>
                <a:latin typeface="+mj-ea"/>
                <a:ea typeface="+mj-ea"/>
              </a:rPr>
              <a:t>成功了吗</a:t>
            </a:r>
            <a:r>
              <a:rPr lang="en-US" altLang="zh-CN" sz="6000" dirty="0">
                <a:solidFill>
                  <a:srgbClr val="FDA907"/>
                </a:solidFill>
                <a:latin typeface="+mj-ea"/>
                <a:ea typeface="+mj-ea"/>
              </a:rPr>
              <a:t>?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2FDD76-0613-489D-88BB-6448932BD9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355" y="3082837"/>
            <a:ext cx="1188078" cy="194168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D31AAB-7D78-4502-9982-4B6BB784BB06}"/>
              </a:ext>
            </a:extLst>
          </p:cNvPr>
          <p:cNvSpPr/>
          <p:nvPr/>
        </p:nvSpPr>
        <p:spPr>
          <a:xfrm flipV="1">
            <a:off x="1241629" y="3671323"/>
            <a:ext cx="990111" cy="360040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281ADCE-3DE4-4579-A424-0CC8BE143FBD}"/>
              </a:ext>
            </a:extLst>
          </p:cNvPr>
          <p:cNvSpPr/>
          <p:nvPr/>
        </p:nvSpPr>
        <p:spPr>
          <a:xfrm flipV="1">
            <a:off x="2972712" y="2976794"/>
            <a:ext cx="1959327" cy="567827"/>
          </a:xfrm>
          <a:prstGeom prst="roundRect">
            <a:avLst/>
          </a:prstGeom>
          <a:noFill/>
          <a:ln>
            <a:solidFill>
              <a:srgbClr val="F454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855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2443344" y="1287491"/>
            <a:ext cx="4256964" cy="69124"/>
            <a:chOff x="566555" y="877035"/>
            <a:chExt cx="2340260" cy="164545"/>
          </a:xfrm>
        </p:grpSpPr>
        <p:sp>
          <p:nvSpPr>
            <p:cNvPr id="20" name="矩形 19"/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23999" y="741027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1A7BAE"/>
                </a:solidFill>
              </a:rPr>
              <a:t>THANKS</a:t>
            </a:r>
            <a:r>
              <a:rPr lang="en-US" altLang="zh-CN" sz="2800" dirty="0">
                <a:solidFill>
                  <a:srgbClr val="BF3420"/>
                </a:solidFill>
              </a:rPr>
              <a:t> </a:t>
            </a:r>
            <a:r>
              <a:rPr lang="en-US" altLang="zh-CN" sz="2800" dirty="0">
                <a:solidFill>
                  <a:srgbClr val="95BC49"/>
                </a:solidFill>
              </a:rPr>
              <a:t>FOR</a:t>
            </a:r>
            <a:r>
              <a:rPr lang="zh-CN" altLang="en-US" sz="2800" dirty="0">
                <a:solidFill>
                  <a:srgbClr val="1A7BAE"/>
                </a:solidFill>
              </a:rPr>
              <a:t> </a:t>
            </a:r>
            <a:r>
              <a:rPr lang="en-US" altLang="zh-CN" sz="2800" dirty="0">
                <a:solidFill>
                  <a:srgbClr val="FDA907"/>
                </a:solidFill>
              </a:rPr>
              <a:t>YOUR</a:t>
            </a:r>
            <a:r>
              <a:rPr lang="en-US" altLang="zh-CN" sz="2800" dirty="0">
                <a:solidFill>
                  <a:srgbClr val="1A7BAE"/>
                </a:solidFill>
              </a:rPr>
              <a:t> </a:t>
            </a:r>
            <a:r>
              <a:rPr lang="en-US" altLang="zh-CN" sz="2800" dirty="0">
                <a:solidFill>
                  <a:srgbClr val="BF3420"/>
                </a:solidFill>
              </a:rPr>
              <a:t>WATCHING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CC379998-9E3D-42DA-87A5-2F3CF1FB0DD5}"/>
              </a:ext>
            </a:extLst>
          </p:cNvPr>
          <p:cNvGraphicFramePr/>
          <p:nvPr>
            <p:extLst/>
          </p:nvPr>
        </p:nvGraphicFramePr>
        <p:xfrm>
          <a:off x="656565" y="1581640"/>
          <a:ext cx="7695855" cy="1187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D8EF27B-2954-4949-9D83-2463ADAECEE6}"/>
              </a:ext>
            </a:extLst>
          </p:cNvPr>
          <p:cNvSpPr/>
          <p:nvPr/>
        </p:nvSpPr>
        <p:spPr>
          <a:xfrm>
            <a:off x="649048" y="2076695"/>
            <a:ext cx="2355291" cy="2355289"/>
          </a:xfrm>
          <a:prstGeom prst="rect">
            <a:avLst/>
          </a:prstGeom>
          <a:solidFill>
            <a:schemeClr val="bg1"/>
          </a:solidFill>
          <a:ln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FBEEB1-F743-476B-B877-48D6DB44BE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8" y="2166705"/>
            <a:ext cx="2175269" cy="2175269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45B80D0E-9898-45A3-8E32-20F174D9257C}"/>
              </a:ext>
            </a:extLst>
          </p:cNvPr>
          <p:cNvGrpSpPr/>
          <p:nvPr/>
        </p:nvGrpSpPr>
        <p:grpSpPr>
          <a:xfrm>
            <a:off x="6004644" y="2079823"/>
            <a:ext cx="2355291" cy="2355289"/>
            <a:chOff x="3326846" y="2175471"/>
            <a:chExt cx="2355291" cy="235528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0F14B5D-52E9-47B4-A7D8-8573A55660DE}"/>
                </a:ext>
              </a:extLst>
            </p:cNvPr>
            <p:cNvSpPr/>
            <p:nvPr/>
          </p:nvSpPr>
          <p:spPr>
            <a:xfrm>
              <a:off x="3326846" y="2175471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DA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A237405-3CC6-42ED-ADD6-CFC536583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856" y="2265481"/>
              <a:ext cx="2175269" cy="2175269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55AD31-61A3-44FF-826E-A096C6E49019}"/>
              </a:ext>
            </a:extLst>
          </p:cNvPr>
          <p:cNvGrpSpPr/>
          <p:nvPr/>
        </p:nvGrpSpPr>
        <p:grpSpPr>
          <a:xfrm>
            <a:off x="3326846" y="2076695"/>
            <a:ext cx="2355291" cy="2355289"/>
            <a:chOff x="4917010" y="1266605"/>
            <a:chExt cx="2355291" cy="235528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360F9E-A2C7-490B-9C4B-C4CF57B81C99}"/>
                </a:ext>
              </a:extLst>
            </p:cNvPr>
            <p:cNvSpPr/>
            <p:nvPr/>
          </p:nvSpPr>
          <p:spPr>
            <a:xfrm>
              <a:off x="4917010" y="1266605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BB9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6F8EEA0-4CE7-4A79-AE72-A688685B6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986" y="1296581"/>
              <a:ext cx="2310284" cy="2310284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0027927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15355</TotalTime>
  <Words>3552</Words>
  <Application>Microsoft Office PowerPoint</Application>
  <PresentationFormat>全屏显示(16:9)</PresentationFormat>
  <Paragraphs>636</Paragraphs>
  <Slides>71</Slides>
  <Notes>67</Notes>
  <HiddenSlides>8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1" baseType="lpstr">
      <vt:lpstr>メイリオ</vt:lpstr>
      <vt:lpstr>メイリオ</vt:lpstr>
      <vt:lpstr>Meiryo UI</vt:lpstr>
      <vt:lpstr>宋体</vt:lpstr>
      <vt:lpstr>微软雅黑</vt:lpstr>
      <vt:lpstr>Arial</vt:lpstr>
      <vt:lpstr>Calibri</vt:lpstr>
      <vt:lpstr>Impact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严 蓓琦 (Yan BeiQi)</dc:creator>
  <cp:lastModifiedBy>炳霞 张</cp:lastModifiedBy>
  <cp:revision>1880</cp:revision>
  <dcterms:modified xsi:type="dcterms:W3CDTF">2018-04-17T09:51:55Z</dcterms:modified>
</cp:coreProperties>
</file>