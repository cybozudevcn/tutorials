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312" r:id="rId2"/>
    <p:sldId id="314" r:id="rId3"/>
    <p:sldId id="294" r:id="rId4"/>
    <p:sldId id="358" r:id="rId5"/>
    <p:sldId id="395" r:id="rId6"/>
    <p:sldId id="295" r:id="rId7"/>
    <p:sldId id="396" r:id="rId8"/>
    <p:sldId id="397" r:id="rId9"/>
    <p:sldId id="398" r:id="rId10"/>
    <p:sldId id="322" r:id="rId11"/>
    <p:sldId id="324" r:id="rId12"/>
    <p:sldId id="330" r:id="rId13"/>
    <p:sldId id="399" r:id="rId14"/>
    <p:sldId id="384" r:id="rId15"/>
    <p:sldId id="385" r:id="rId16"/>
    <p:sldId id="390" r:id="rId17"/>
    <p:sldId id="391" r:id="rId18"/>
    <p:sldId id="392" r:id="rId19"/>
    <p:sldId id="387" r:id="rId20"/>
    <p:sldId id="393" r:id="rId21"/>
    <p:sldId id="386" r:id="rId22"/>
    <p:sldId id="379" r:id="rId23"/>
    <p:sldId id="380" r:id="rId24"/>
    <p:sldId id="338" r:id="rId25"/>
    <p:sldId id="345" r:id="rId26"/>
    <p:sldId id="341" r:id="rId27"/>
    <p:sldId id="374" r:id="rId28"/>
    <p:sldId id="337" r:id="rId29"/>
    <p:sldId id="350" r:id="rId30"/>
    <p:sldId id="388" r:id="rId31"/>
    <p:sldId id="351" r:id="rId32"/>
    <p:sldId id="373" r:id="rId33"/>
    <p:sldId id="352" r:id="rId34"/>
    <p:sldId id="372" r:id="rId35"/>
    <p:sldId id="381" r:id="rId36"/>
    <p:sldId id="389" r:id="rId37"/>
    <p:sldId id="353" r:id="rId38"/>
    <p:sldId id="354" r:id="rId39"/>
    <p:sldId id="400" r:id="rId40"/>
    <p:sldId id="401" r:id="rId41"/>
    <p:sldId id="402" r:id="rId42"/>
    <p:sldId id="403" r:id="rId43"/>
    <p:sldId id="404" r:id="rId44"/>
    <p:sldId id="406" r:id="rId45"/>
    <p:sldId id="409" r:id="rId46"/>
    <p:sldId id="408" r:id="rId47"/>
    <p:sldId id="356" r:id="rId48"/>
    <p:sldId id="304" r:id="rId4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 淑鈴" initials="吳" lastIdx="3" clrIdx="0">
    <p:extLst>
      <p:ext uri="{19B8F6BF-5375-455C-9EA6-DF929625EA0E}">
        <p15:presenceInfo xmlns:p15="http://schemas.microsoft.com/office/powerpoint/2012/main" userId="S-1-5-21-3698523251-3360643197-3526930804-86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94D"/>
    <a:srgbClr val="FFBF00"/>
    <a:srgbClr val="F2F2F2"/>
    <a:srgbClr val="DFE2F1"/>
    <a:srgbClr val="4BB968"/>
    <a:srgbClr val="F7B52C"/>
    <a:srgbClr val="222830"/>
    <a:srgbClr val="5EC2DD"/>
    <a:srgbClr val="64BDD4"/>
    <a:srgbClr val="62C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12" autoAdjust="0"/>
    <p:restoredTop sz="69257" autoAdjust="0"/>
  </p:normalViewPr>
  <p:slideViewPr>
    <p:cSldViewPr>
      <p:cViewPr varScale="1">
        <p:scale>
          <a:sx n="70" d="100"/>
          <a:sy n="70" d="100"/>
        </p:scale>
        <p:origin x="942" y="66"/>
      </p:cViewPr>
      <p:guideLst>
        <p:guide orient="horz" pos="2159"/>
        <p:guide orient="horz" pos="1053"/>
        <p:guide pos="3844"/>
        <p:guide pos="1916"/>
      </p:guideLst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564" y="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F9645-F9FE-4491-900C-C37B6C0B90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482002D-093B-49A6-BF0C-0A5D62524209}">
      <dgm:prSet custT="1"/>
      <dgm:spPr>
        <a:solidFill>
          <a:srgbClr val="62C9E2"/>
        </a:solidFill>
        <a:ln>
          <a:solidFill>
            <a:srgbClr val="62C9E2"/>
          </a:solidFill>
        </a:ln>
      </dgm:spPr>
      <dgm:t>
        <a:bodyPr/>
        <a:lstStyle/>
        <a:p>
          <a:r>
            <a:rPr lang="en-US" sz="1100" b="1" dirty="0"/>
            <a:t>cybozu developer network</a:t>
          </a:r>
          <a:r>
            <a:rPr lang="zh-CN" altLang="en-US" sz="1100" b="1" dirty="0"/>
            <a:t>网站</a:t>
          </a:r>
          <a:endParaRPr lang="zh-CN" sz="1100" dirty="0"/>
        </a:p>
      </dgm:t>
    </dgm:pt>
    <dgm:pt modelId="{262DD8D2-20BD-4F28-9E08-1C5A4FFB3FDC}" type="par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CDDBF1D3-3983-485F-9252-D9869C52C2E6}" type="sib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42155B44-35DF-450B-BE6E-E1659B158AC0}">
      <dgm:prSet custT="1"/>
      <dgm:spPr>
        <a:solidFill>
          <a:srgbClr val="FDA907"/>
        </a:solidFill>
        <a:ln>
          <a:solidFill>
            <a:srgbClr val="FDA907"/>
          </a:solidFill>
        </a:ln>
      </dgm:spPr>
      <dgm:t>
        <a:bodyPr/>
        <a:lstStyle/>
        <a:p>
          <a:r>
            <a:rPr lang="en-US" sz="1100" b="1" dirty="0" err="1"/>
            <a:t>kintone</a:t>
          </a:r>
          <a:r>
            <a:rPr lang="zh-CN" altLang="en-US" sz="1100" b="1" dirty="0"/>
            <a:t>中国官网</a:t>
          </a:r>
        </a:p>
      </dgm:t>
    </dgm:pt>
    <dgm:pt modelId="{0931BF11-F11D-408D-A2DA-0ED69C8BB422}" type="par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67F2FEA2-A8C7-4CD1-8DD4-D4A3294DC861}" type="sib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18100290-5B97-4AFC-8A09-D80AE70FBC3F}">
      <dgm:prSet custT="1"/>
      <dgm:spPr>
        <a:solidFill>
          <a:srgbClr val="21294D"/>
        </a:solidFill>
        <a:ln>
          <a:solidFill>
            <a:srgbClr val="21294D"/>
          </a:solidFill>
        </a:ln>
      </dgm:spPr>
      <dgm:t>
        <a:bodyPr/>
        <a:lstStyle/>
        <a:p>
          <a:r>
            <a:rPr lang="zh-CN" altLang="en-US" sz="1100" b="1" dirty="0"/>
            <a:t>微信公众号</a:t>
          </a:r>
          <a:r>
            <a:rPr lang="en-US" altLang="zh-CN" sz="1100" b="1" dirty="0"/>
            <a:t>:</a:t>
          </a:r>
          <a:r>
            <a:rPr lang="en-US" altLang="zh-CN" sz="1100" b="1" dirty="0" err="1"/>
            <a:t>cybozu</a:t>
          </a:r>
          <a:r>
            <a:rPr lang="zh-CN" altLang="en-US" sz="1100" b="1" dirty="0"/>
            <a:t>开发者网站</a:t>
          </a:r>
          <a:endParaRPr lang="zh-CN" sz="1100" dirty="0"/>
        </a:p>
      </dgm:t>
    </dgm:pt>
    <dgm:pt modelId="{2B52976E-7E3A-4D80-91A7-75A1B634D2BD}" type="sib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64E4F109-63F3-47AF-BD42-23324141CCF3}" type="par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02422081-F09A-4DEC-AEF7-16B1605DCBF3}">
      <dgm:prSet custT="1"/>
      <dgm:spPr>
        <a:solidFill>
          <a:srgbClr val="62C9E2">
            <a:alpha val="20000"/>
          </a:srgbClr>
        </a:solidFill>
        <a:ln>
          <a:solidFill>
            <a:srgbClr val="62C9E2">
              <a:alpha val="20000"/>
            </a:srgbClr>
          </a:solidFill>
        </a:ln>
      </dgm:spPr>
      <dgm:t>
        <a:bodyPr/>
        <a:lstStyle/>
        <a:p>
          <a:r>
            <a:rPr lang="en-US" sz="110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dirty="0">
            <a:solidFill>
              <a:srgbClr val="62C9E2"/>
            </a:solidFill>
          </a:endParaRPr>
        </a:p>
      </dgm:t>
    </dgm:pt>
    <dgm:pt modelId="{6B780937-DE71-4AE9-9D9D-6E34478E1DC9}" type="sib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10E57AA-B5B4-4092-92DF-717C287AED02}" type="par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C2F2674-385E-4623-AB26-5BF3EB642258}">
      <dgm:prSet custT="1"/>
      <dgm:spPr>
        <a:solidFill>
          <a:srgbClr val="FDA907">
            <a:alpha val="20000"/>
          </a:srgbClr>
        </a:solidFill>
        <a:ln>
          <a:solidFill>
            <a:srgbClr val="FDA907">
              <a:alpha val="20000"/>
            </a:srgbClr>
          </a:solidFill>
        </a:ln>
      </dgm:spPr>
      <dgm:t>
        <a:bodyPr/>
        <a:lstStyle/>
        <a:p>
          <a:r>
            <a:rPr lang="en-US" altLang="zh-CN" sz="11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dirty="0"/>
        </a:p>
      </dgm:t>
    </dgm:pt>
    <dgm:pt modelId="{7645FA14-CFD8-42FA-8504-3A3FC9307F1F}" type="sib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797C1B13-5A5C-41B0-96DE-C43DCAF2CB05}" type="par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52FA4DE0-5C9A-4166-A375-5BB65EBD2A0A}" type="pres">
      <dgm:prSet presAssocID="{5BAF9645-F9FE-4491-900C-C37B6C0B9099}" presName="Name0" presStyleCnt="0">
        <dgm:presLayoutVars>
          <dgm:dir/>
          <dgm:animLvl val="lvl"/>
          <dgm:resizeHandles val="exact"/>
        </dgm:presLayoutVars>
      </dgm:prSet>
      <dgm:spPr/>
    </dgm:pt>
    <dgm:pt modelId="{1B83B677-6649-4B2A-BE7E-EB5A086FAD1A}" type="pres">
      <dgm:prSet presAssocID="{C482002D-093B-49A6-BF0C-0A5D62524209}" presName="composite" presStyleCnt="0"/>
      <dgm:spPr/>
    </dgm:pt>
    <dgm:pt modelId="{02DE2194-79AC-412A-BEDC-D8DC2054B17B}" type="pres">
      <dgm:prSet presAssocID="{C482002D-093B-49A6-BF0C-0A5D6252420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2BFEC1A-A31A-4E95-9DE1-A04D0E37E9C5}" type="pres">
      <dgm:prSet presAssocID="{C482002D-093B-49A6-BF0C-0A5D62524209}" presName="desTx" presStyleLbl="alignAccFollowNode1" presStyleIdx="0" presStyleCnt="3">
        <dgm:presLayoutVars>
          <dgm:bulletEnabled val="1"/>
        </dgm:presLayoutVars>
      </dgm:prSet>
      <dgm:spPr/>
    </dgm:pt>
    <dgm:pt modelId="{D18B7241-E2F9-4BF9-8F9D-E95373023176}" type="pres">
      <dgm:prSet presAssocID="{CDDBF1D3-3983-485F-9252-D9869C52C2E6}" presName="space" presStyleCnt="0"/>
      <dgm:spPr/>
    </dgm:pt>
    <dgm:pt modelId="{D6A567B8-AF62-4206-9F46-CE5DFC4E4BE6}" type="pres">
      <dgm:prSet presAssocID="{18100290-5B97-4AFC-8A09-D80AE70FBC3F}" presName="composite" presStyleCnt="0"/>
      <dgm:spPr/>
    </dgm:pt>
    <dgm:pt modelId="{2F3E05CD-05E8-487D-97C0-F36C5B25A766}" type="pres">
      <dgm:prSet presAssocID="{18100290-5B97-4AFC-8A09-D80AE70FBC3F}" presName="parTx" presStyleLbl="alignNode1" presStyleIdx="1" presStyleCnt="3" custScaleX="101724" custLinFactNeighborX="0" custLinFactNeighborY="1150">
        <dgm:presLayoutVars>
          <dgm:chMax val="0"/>
          <dgm:chPref val="0"/>
          <dgm:bulletEnabled val="1"/>
        </dgm:presLayoutVars>
      </dgm:prSet>
      <dgm:spPr/>
    </dgm:pt>
    <dgm:pt modelId="{E082B7CA-85BE-4FF1-8E83-B33DD293E2C5}" type="pres">
      <dgm:prSet presAssocID="{18100290-5B97-4AFC-8A09-D80AE70FBC3F}" presName="desTx" presStyleLbl="alignAccFollowNode1" presStyleIdx="1" presStyleCnt="3" custLinFactNeighborY="5627">
        <dgm:presLayoutVars>
          <dgm:bulletEnabled val="1"/>
        </dgm:presLayoutVars>
      </dgm:prSet>
      <dgm:spPr/>
    </dgm:pt>
    <dgm:pt modelId="{916010FC-73C2-4A20-BAF1-D3DB841A5D2F}" type="pres">
      <dgm:prSet presAssocID="{2B52976E-7E3A-4D80-91A7-75A1B634D2BD}" presName="space" presStyleCnt="0"/>
      <dgm:spPr/>
    </dgm:pt>
    <dgm:pt modelId="{E99C8C0B-735C-4792-8775-AE31569CBCAF}" type="pres">
      <dgm:prSet presAssocID="{42155B44-35DF-450B-BE6E-E1659B158AC0}" presName="composite" presStyleCnt="0"/>
      <dgm:spPr/>
    </dgm:pt>
    <dgm:pt modelId="{B12AE9C0-421F-483A-A5E4-1EF097948687}" type="pres">
      <dgm:prSet presAssocID="{42155B44-35DF-450B-BE6E-E1659B158AC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36BC6B-2E73-4C15-B318-8EEFBE07D2CC}" type="pres">
      <dgm:prSet presAssocID="{42155B44-35DF-450B-BE6E-E1659B158AC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14B30A-6A5D-4EBD-8EF0-F756C2CDBCDF}" srcId="{5BAF9645-F9FE-4491-900C-C37B6C0B9099}" destId="{42155B44-35DF-450B-BE6E-E1659B158AC0}" srcOrd="2" destOrd="0" parTransId="{0931BF11-F11D-408D-A2DA-0ED69C8BB422}" sibTransId="{67F2FEA2-A8C7-4CD1-8DD4-D4A3294DC861}"/>
    <dgm:cxn modelId="{5CCCF014-DF03-4C0A-9F10-83258132E5DE}" type="presOf" srcId="{42155B44-35DF-450B-BE6E-E1659B158AC0}" destId="{B12AE9C0-421F-483A-A5E4-1EF097948687}" srcOrd="0" destOrd="0" presId="urn:microsoft.com/office/officeart/2005/8/layout/hList1"/>
    <dgm:cxn modelId="{5A11CD1D-499A-4E94-810F-662BC789B4BD}" srcId="{42155B44-35DF-450B-BE6E-E1659B158AC0}" destId="{DC2F2674-385E-4623-AB26-5BF3EB642258}" srcOrd="0" destOrd="0" parTransId="{797C1B13-5A5C-41B0-96DE-C43DCAF2CB05}" sibTransId="{7645FA14-CFD8-42FA-8504-3A3FC9307F1F}"/>
    <dgm:cxn modelId="{5B120262-91D8-4CED-B234-AD20EA98D57D}" type="presOf" srcId="{C482002D-093B-49A6-BF0C-0A5D62524209}" destId="{02DE2194-79AC-412A-BEDC-D8DC2054B17B}" srcOrd="0" destOrd="0" presId="urn:microsoft.com/office/officeart/2005/8/layout/hList1"/>
    <dgm:cxn modelId="{EB113BC4-F8EF-43B8-8535-C1BB85D0F7F8}" type="presOf" srcId="{02422081-F09A-4DEC-AEF7-16B1605DCBF3}" destId="{B2BFEC1A-A31A-4E95-9DE1-A04D0E37E9C5}" srcOrd="0" destOrd="0" presId="urn:microsoft.com/office/officeart/2005/8/layout/hList1"/>
    <dgm:cxn modelId="{5F63A6C9-09F3-4F14-A78B-7C36831C32C2}" type="presOf" srcId="{18100290-5B97-4AFC-8A09-D80AE70FBC3F}" destId="{2F3E05CD-05E8-487D-97C0-F36C5B25A766}" srcOrd="0" destOrd="0" presId="urn:microsoft.com/office/officeart/2005/8/layout/hList1"/>
    <dgm:cxn modelId="{8504BACE-ED63-458A-8023-4AF65FD35343}" srcId="{5BAF9645-F9FE-4491-900C-C37B6C0B9099}" destId="{C482002D-093B-49A6-BF0C-0A5D62524209}" srcOrd="0" destOrd="0" parTransId="{262DD8D2-20BD-4F28-9E08-1C5A4FFB3FDC}" sibTransId="{CDDBF1D3-3983-485F-9252-D9869C52C2E6}"/>
    <dgm:cxn modelId="{2F8EBCDE-B104-4C9F-9F77-F466AEC78FDB}" srcId="{5BAF9645-F9FE-4491-900C-C37B6C0B9099}" destId="{18100290-5B97-4AFC-8A09-D80AE70FBC3F}" srcOrd="1" destOrd="0" parTransId="{64E4F109-63F3-47AF-BD42-23324141CCF3}" sibTransId="{2B52976E-7E3A-4D80-91A7-75A1B634D2BD}"/>
    <dgm:cxn modelId="{4011BDF4-0D69-47B0-A376-A55A29C474F8}" srcId="{C482002D-093B-49A6-BF0C-0A5D62524209}" destId="{02422081-F09A-4DEC-AEF7-16B1605DCBF3}" srcOrd="0" destOrd="0" parTransId="{D10E57AA-B5B4-4092-92DF-717C287AED02}" sibTransId="{6B780937-DE71-4AE9-9D9D-6E34478E1DC9}"/>
    <dgm:cxn modelId="{C643A8F6-8984-4A11-9247-F4E3BCF174D5}" type="presOf" srcId="{DC2F2674-385E-4623-AB26-5BF3EB642258}" destId="{0A36BC6B-2E73-4C15-B318-8EEFBE07D2CC}" srcOrd="0" destOrd="0" presId="urn:microsoft.com/office/officeart/2005/8/layout/hList1"/>
    <dgm:cxn modelId="{A7CF29FB-BE84-43F4-8721-80B8829E2ACD}" type="presOf" srcId="{5BAF9645-F9FE-4491-900C-C37B6C0B9099}" destId="{52FA4DE0-5C9A-4166-A375-5BB65EBD2A0A}" srcOrd="0" destOrd="0" presId="urn:microsoft.com/office/officeart/2005/8/layout/hList1"/>
    <dgm:cxn modelId="{0F41CA7B-5000-49A6-99E5-17C49FA7642E}" type="presParOf" srcId="{52FA4DE0-5C9A-4166-A375-5BB65EBD2A0A}" destId="{1B83B677-6649-4B2A-BE7E-EB5A086FAD1A}" srcOrd="0" destOrd="0" presId="urn:microsoft.com/office/officeart/2005/8/layout/hList1"/>
    <dgm:cxn modelId="{0F3D3EA0-7166-46DA-80BD-1A425FDB2160}" type="presParOf" srcId="{1B83B677-6649-4B2A-BE7E-EB5A086FAD1A}" destId="{02DE2194-79AC-412A-BEDC-D8DC2054B17B}" srcOrd="0" destOrd="0" presId="urn:microsoft.com/office/officeart/2005/8/layout/hList1"/>
    <dgm:cxn modelId="{E6C0C457-1923-4EB9-89B3-5162A0133BE9}" type="presParOf" srcId="{1B83B677-6649-4B2A-BE7E-EB5A086FAD1A}" destId="{B2BFEC1A-A31A-4E95-9DE1-A04D0E37E9C5}" srcOrd="1" destOrd="0" presId="urn:microsoft.com/office/officeart/2005/8/layout/hList1"/>
    <dgm:cxn modelId="{3F0A9209-3EC3-4CD8-80D1-19642CCCF163}" type="presParOf" srcId="{52FA4DE0-5C9A-4166-A375-5BB65EBD2A0A}" destId="{D18B7241-E2F9-4BF9-8F9D-E95373023176}" srcOrd="1" destOrd="0" presId="urn:microsoft.com/office/officeart/2005/8/layout/hList1"/>
    <dgm:cxn modelId="{3BF159A2-DDF0-4720-B405-5B4F3420B33A}" type="presParOf" srcId="{52FA4DE0-5C9A-4166-A375-5BB65EBD2A0A}" destId="{D6A567B8-AF62-4206-9F46-CE5DFC4E4BE6}" srcOrd="2" destOrd="0" presId="urn:microsoft.com/office/officeart/2005/8/layout/hList1"/>
    <dgm:cxn modelId="{4CE9E8E8-7207-4E9F-A0AF-BDAF8A2A0D2E}" type="presParOf" srcId="{D6A567B8-AF62-4206-9F46-CE5DFC4E4BE6}" destId="{2F3E05CD-05E8-487D-97C0-F36C5B25A766}" srcOrd="0" destOrd="0" presId="urn:microsoft.com/office/officeart/2005/8/layout/hList1"/>
    <dgm:cxn modelId="{5DE264E7-FB88-492F-AA75-4EF8DD329887}" type="presParOf" srcId="{D6A567B8-AF62-4206-9F46-CE5DFC4E4BE6}" destId="{E082B7CA-85BE-4FF1-8E83-B33DD293E2C5}" srcOrd="1" destOrd="0" presId="urn:microsoft.com/office/officeart/2005/8/layout/hList1"/>
    <dgm:cxn modelId="{FB5FFE86-9574-484C-B711-C07C503F0D79}" type="presParOf" srcId="{52FA4DE0-5C9A-4166-A375-5BB65EBD2A0A}" destId="{916010FC-73C2-4A20-BAF1-D3DB841A5D2F}" srcOrd="3" destOrd="0" presId="urn:microsoft.com/office/officeart/2005/8/layout/hList1"/>
    <dgm:cxn modelId="{956D3A80-ECF5-49DC-BD8A-323DDC24B11B}" type="presParOf" srcId="{52FA4DE0-5C9A-4166-A375-5BB65EBD2A0A}" destId="{E99C8C0B-735C-4792-8775-AE31569CBCAF}" srcOrd="4" destOrd="0" presId="urn:microsoft.com/office/officeart/2005/8/layout/hList1"/>
    <dgm:cxn modelId="{1EA4C944-255E-48D4-B82E-7EF471C7BD38}" type="presParOf" srcId="{E99C8C0B-735C-4792-8775-AE31569CBCAF}" destId="{B12AE9C0-421F-483A-A5E4-1EF097948687}" srcOrd="0" destOrd="0" presId="urn:microsoft.com/office/officeart/2005/8/layout/hList1"/>
    <dgm:cxn modelId="{D2FB8DF2-71AC-4A24-9215-5D740D947B90}" type="presParOf" srcId="{E99C8C0B-735C-4792-8775-AE31569CBCAF}" destId="{0A36BC6B-2E73-4C15-B318-8EEFBE07D2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E2194-79AC-412A-BEDC-D8DC2054B17B}">
      <dsp:nvSpPr>
        <dsp:cNvPr id="0" name=""/>
        <dsp:cNvSpPr/>
      </dsp:nvSpPr>
      <dsp:spPr>
        <a:xfrm>
          <a:off x="777" y="12071"/>
          <a:ext cx="2333557" cy="460800"/>
        </a:xfrm>
        <a:prstGeom prst="rect">
          <a:avLst/>
        </a:prstGeom>
        <a:solidFill>
          <a:srgbClr val="62C9E2"/>
        </a:solidFill>
        <a:ln w="25400" cap="flat" cmpd="sng" algn="ctr">
          <a:solidFill>
            <a:srgbClr val="62C9E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cybozu developer network</a:t>
          </a:r>
          <a:r>
            <a:rPr lang="zh-CN" altLang="en-US" sz="1100" b="1" kern="1200" dirty="0"/>
            <a:t>网站</a:t>
          </a:r>
          <a:endParaRPr lang="zh-CN" sz="1100" kern="1200" dirty="0"/>
        </a:p>
      </dsp:txBody>
      <dsp:txXfrm>
        <a:off x="777" y="12071"/>
        <a:ext cx="2333557" cy="460800"/>
      </dsp:txXfrm>
    </dsp:sp>
    <dsp:sp modelId="{B2BFEC1A-A31A-4E95-9DE1-A04D0E37E9C5}">
      <dsp:nvSpPr>
        <dsp:cNvPr id="0" name=""/>
        <dsp:cNvSpPr/>
      </dsp:nvSpPr>
      <dsp:spPr>
        <a:xfrm>
          <a:off x="777" y="472871"/>
          <a:ext cx="2333557" cy="702720"/>
        </a:xfrm>
        <a:prstGeom prst="rect">
          <a:avLst/>
        </a:prstGeom>
        <a:solidFill>
          <a:srgbClr val="62C9E2">
            <a:alpha val="20000"/>
          </a:srgbClr>
        </a:solidFill>
        <a:ln w="25400" cap="flat" cmpd="sng" algn="ctr">
          <a:solidFill>
            <a:srgbClr val="62C9E2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kern="1200" dirty="0">
            <a:solidFill>
              <a:srgbClr val="62C9E2"/>
            </a:solidFill>
          </a:endParaRPr>
        </a:p>
      </dsp:txBody>
      <dsp:txXfrm>
        <a:off x="777" y="472871"/>
        <a:ext cx="2333557" cy="702720"/>
      </dsp:txXfrm>
    </dsp:sp>
    <dsp:sp modelId="{2F3E05CD-05E8-487D-97C0-F36C5B25A766}">
      <dsp:nvSpPr>
        <dsp:cNvPr id="0" name=""/>
        <dsp:cNvSpPr/>
      </dsp:nvSpPr>
      <dsp:spPr>
        <a:xfrm>
          <a:off x="2661033" y="17370"/>
          <a:ext cx="2373788" cy="460800"/>
        </a:xfrm>
        <a:prstGeom prst="rect">
          <a:avLst/>
        </a:prstGeom>
        <a:solidFill>
          <a:srgbClr val="21294D"/>
        </a:solidFill>
        <a:ln w="25400" cap="flat" cmpd="sng" algn="ctr">
          <a:solidFill>
            <a:srgbClr val="21294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微信公众号</a:t>
          </a:r>
          <a:r>
            <a:rPr lang="en-US" altLang="zh-CN" sz="1100" b="1" kern="1200" dirty="0"/>
            <a:t>:</a:t>
          </a:r>
          <a:r>
            <a:rPr lang="en-US" altLang="zh-CN" sz="1100" b="1" kern="1200" dirty="0" err="1"/>
            <a:t>cybozu</a:t>
          </a:r>
          <a:r>
            <a:rPr lang="zh-CN" altLang="en-US" sz="1100" b="1" kern="1200" dirty="0"/>
            <a:t>开发者网站</a:t>
          </a:r>
          <a:endParaRPr lang="zh-CN" sz="1100" kern="1200" dirty="0"/>
        </a:p>
      </dsp:txBody>
      <dsp:txXfrm>
        <a:off x="2661033" y="17370"/>
        <a:ext cx="2373788" cy="460800"/>
      </dsp:txXfrm>
    </dsp:sp>
    <dsp:sp modelId="{E082B7CA-85BE-4FF1-8E83-B33DD293E2C5}">
      <dsp:nvSpPr>
        <dsp:cNvPr id="0" name=""/>
        <dsp:cNvSpPr/>
      </dsp:nvSpPr>
      <dsp:spPr>
        <a:xfrm>
          <a:off x="2681148" y="484943"/>
          <a:ext cx="2333557" cy="7027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9C0-421F-483A-A5E4-1EF097948687}">
      <dsp:nvSpPr>
        <dsp:cNvPr id="0" name=""/>
        <dsp:cNvSpPr/>
      </dsp:nvSpPr>
      <dsp:spPr>
        <a:xfrm>
          <a:off x="5361519" y="12071"/>
          <a:ext cx="2333557" cy="460800"/>
        </a:xfrm>
        <a:prstGeom prst="rect">
          <a:avLst/>
        </a:prstGeom>
        <a:solidFill>
          <a:srgbClr val="FDA907"/>
        </a:solidFill>
        <a:ln w="25400" cap="flat" cmpd="sng" algn="ctr">
          <a:solidFill>
            <a:srgbClr val="FDA90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kintone</a:t>
          </a:r>
          <a:r>
            <a:rPr lang="zh-CN" altLang="en-US" sz="1100" b="1" kern="1200" dirty="0"/>
            <a:t>中国官网</a:t>
          </a:r>
        </a:p>
      </dsp:txBody>
      <dsp:txXfrm>
        <a:off x="5361519" y="12071"/>
        <a:ext cx="2333557" cy="460800"/>
      </dsp:txXfrm>
    </dsp:sp>
    <dsp:sp modelId="{0A36BC6B-2E73-4C15-B318-8EEFBE07D2CC}">
      <dsp:nvSpPr>
        <dsp:cNvPr id="0" name=""/>
        <dsp:cNvSpPr/>
      </dsp:nvSpPr>
      <dsp:spPr>
        <a:xfrm>
          <a:off x="5361519" y="472871"/>
          <a:ext cx="2333557" cy="702720"/>
        </a:xfrm>
        <a:prstGeom prst="rect">
          <a:avLst/>
        </a:prstGeom>
        <a:solidFill>
          <a:srgbClr val="FDA907">
            <a:alpha val="20000"/>
          </a:srgbClr>
        </a:solidFill>
        <a:ln w="25400" cap="flat" cmpd="sng" algn="ctr">
          <a:solidFill>
            <a:srgbClr val="FDA907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kern="1200" dirty="0"/>
        </a:p>
      </dsp:txBody>
      <dsp:txXfrm>
        <a:off x="5361519" y="472871"/>
        <a:ext cx="2333557" cy="70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2019/3/28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2019/3/28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823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206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0564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4714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45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342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64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57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515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669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341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7461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230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9981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4989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0853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4597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480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177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6869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5304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095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373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9022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3845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2042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9568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03219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079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0115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67399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9874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5298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98875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0108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34600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09903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01118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7779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25172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5818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14491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05563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20245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0523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5531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35205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73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E05036-268D-45F3-B09D-CC67008DF79E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32CD06-1B1F-414B-B4FE-31E1F85B81F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5E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FB4022A-BBFC-42BA-B5AD-219EDFE7BE49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350168-D733-40F3-8008-C1E3A15A97FC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FBF00"/>
          </a:solidFill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E83656-7932-4486-84C9-E7CE3178D44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5E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8A92E5-160A-463C-8A42-C2B4DDA97872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BCB39C-B571-4FAE-AD83-3C56671202CF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09FD10D-B83E-489C-A23D-83BB085930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F6F023-3388-4DFA-B290-C08530C2CFB5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C954331-23A4-4B71-A4CB-58B1F761A477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F887FB-4A05-40F2-A212-D4E163B2F8C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86D66A-0081-4E9F-9DEC-63BDA23E871F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D591B4-D3C2-48BA-B84E-42133E130F72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FFD7933-5AEB-4EFB-A137-E299B9E87D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A58BA5-38FD-490E-A4EB-EC85AEDC0EB7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2661083-F71D-42F6-8583-D032B2B57F46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282CFF8-2478-4E96-B97A-86F5169648A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8EC397-24B0-47A1-9741-70B5CBE3E78E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0FBC38-9EA5-485D-82C7-D310F88722B0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593B03-534B-4CEE-B9DF-8D7E5B7F199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83AB6E9-C55F-42A0-B182-C067CCAD9993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1D2D8B-4DA7-486F-859B-FBEF371BD3E9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C444A7A-FFB8-4BB2-A6C6-6C92F19DCAD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F52FA3-F5FE-4DE5-8F3D-54EB048B3C4C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1489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5D6FDB-6D68-4507-AA21-E241AD02189A}"/>
              </a:ext>
            </a:extLst>
          </p:cNvPr>
          <p:cNvSpPr/>
          <p:nvPr userDrawn="1"/>
        </p:nvSpPr>
        <p:spPr>
          <a:xfrm>
            <a:off x="7182290" y="51470"/>
            <a:ext cx="1890210" cy="675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0D07AA-D6A0-4511-9255-3945168B88E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86485"/>
            <a:ext cx="1510693" cy="3318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9" r:id="rId6"/>
    <p:sldLayoutId id="2147483667" r:id="rId7"/>
    <p:sldLayoutId id="2147483653" r:id="rId8"/>
    <p:sldLayoutId id="2147483662" r:id="rId9"/>
    <p:sldLayoutId id="2147483654" r:id="rId10"/>
    <p:sldLayoutId id="2147483651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camp.cybozu.cn/k/#/porta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ybozu.cn/product/kinton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kintone.cybozu.co.jp/jp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camp.cybozu.cn/k/#/porta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0" Type="http://schemas.openxmlformats.org/officeDocument/2006/relationships/image" Target="../media/image17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jpg"/><Relationship Id="rId4" Type="http://schemas.openxmlformats.org/officeDocument/2006/relationships/image" Target="../media/image61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8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8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/>
          <p:cNvCxnSpPr>
            <a:cxnSpLocks/>
          </p:cNvCxnSpPr>
          <p:nvPr/>
        </p:nvCxnSpPr>
        <p:spPr>
          <a:xfrm>
            <a:off x="1145665" y="3381842"/>
            <a:ext cx="6257668" cy="0"/>
          </a:xfrm>
          <a:prstGeom prst="line">
            <a:avLst/>
          </a:prstGeom>
          <a:ln w="19050">
            <a:solidFill>
              <a:srgbClr val="222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34364D-513D-4286-AB19-E3307679F45F}"/>
              </a:ext>
            </a:extLst>
          </p:cNvPr>
          <p:cNvGrpSpPr/>
          <p:nvPr/>
        </p:nvGrpSpPr>
        <p:grpSpPr>
          <a:xfrm>
            <a:off x="1145665" y="2841782"/>
            <a:ext cx="7566795" cy="1485163"/>
            <a:chOff x="1145663" y="2301720"/>
            <a:chExt cx="7566795" cy="1485163"/>
          </a:xfrm>
        </p:grpSpPr>
        <p:cxnSp>
          <p:nvCxnSpPr>
            <p:cNvPr id="24" name="直接连接符 23"/>
            <p:cNvCxnSpPr>
              <a:cxnSpLocks/>
            </p:cNvCxnSpPr>
            <p:nvPr/>
          </p:nvCxnSpPr>
          <p:spPr>
            <a:xfrm>
              <a:off x="1145663" y="3471850"/>
              <a:ext cx="6355056" cy="0"/>
            </a:xfrm>
            <a:prstGeom prst="line">
              <a:avLst/>
            </a:prstGeom>
            <a:ln w="19050">
              <a:solidFill>
                <a:srgbClr val="22283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7227295" y="2301720"/>
              <a:ext cx="1485163" cy="1485163"/>
            </a:xfrm>
            <a:prstGeom prst="ellipse">
              <a:avLst/>
            </a:prstGeom>
            <a:solidFill>
              <a:srgbClr val="21294D"/>
            </a:solidFill>
            <a:ln w="28575">
              <a:solidFill>
                <a:srgbClr val="2228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200" b="1" dirty="0">
                <a:solidFill>
                  <a:srgbClr val="FFBF00"/>
                </a:solidFill>
                <a:latin typeface="微软雅黑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051720" y="2872847"/>
              <a:ext cx="5528626" cy="499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400" dirty="0">
                  <a:solidFill>
                    <a:srgbClr val="222830"/>
                  </a:solidFill>
                  <a:latin typeface="+mn-ea"/>
                </a:rPr>
                <a:t>登入试用环境，页面左边</a:t>
              </a:r>
              <a:r>
                <a:rPr lang="zh-CN" altLang="en-US" sz="1400" dirty="0">
                  <a:solidFill>
                    <a:srgbClr val="222830"/>
                  </a:solidFill>
                  <a:latin typeface="+mn-ea"/>
                </a:rPr>
                <a:t>“</a:t>
              </a:r>
              <a:r>
                <a:rPr lang="zh-CN" altLang="en-US" sz="2000" dirty="0">
                  <a:solidFill>
                    <a:srgbClr val="222830"/>
                  </a:solidFill>
                  <a:latin typeface="+mn-ea"/>
                </a:rPr>
                <a:t>课程资料</a:t>
              </a:r>
              <a:r>
                <a:rPr lang="zh-CN" altLang="en-US" sz="1400" dirty="0">
                  <a:solidFill>
                    <a:srgbClr val="222830"/>
                  </a:solidFill>
                  <a:latin typeface="+mn-ea"/>
                </a:rPr>
                <a:t>”</a:t>
              </a:r>
              <a:r>
                <a:rPr lang="en-US" altLang="zh-CN" sz="1400" dirty="0">
                  <a:solidFill>
                    <a:srgbClr val="222830"/>
                  </a:solidFill>
                  <a:latin typeface="+mn-ea"/>
                  <a:sym typeface="Wingdings" panose="05000000000000000000" pitchFamily="2" charset="2"/>
                </a:rPr>
                <a:t> </a:t>
              </a:r>
              <a:r>
                <a:rPr lang="zh-CN" altLang="en-US" sz="1400" dirty="0">
                  <a:solidFill>
                    <a:srgbClr val="222830"/>
                  </a:solidFill>
                  <a:latin typeface="+mn-ea"/>
                  <a:sym typeface="Wingdings" panose="05000000000000000000" pitchFamily="2" charset="2"/>
                </a:rPr>
                <a:t>下载</a:t>
              </a:r>
              <a:endParaRPr lang="zh-CN" altLang="en-US" sz="1400" dirty="0">
                <a:solidFill>
                  <a:srgbClr val="222830"/>
                </a:solidFill>
                <a:latin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452320" y="2751770"/>
              <a:ext cx="1049482" cy="611312"/>
            </a:xfrm>
            <a:prstGeom prst="rect">
              <a:avLst/>
            </a:prstGeom>
          </p:spPr>
          <p:txBody>
            <a:bodyPr wrap="square" tIns="72000">
              <a:spAutoFit/>
            </a:bodyPr>
            <a:lstStyle/>
            <a:p>
              <a:pPr lvl="0" algn="ctr"/>
              <a:r>
                <a:rPr lang="zh-TW" altLang="en-US" sz="1600" b="1" dirty="0">
                  <a:solidFill>
                    <a:srgbClr val="FFBF00"/>
                  </a:solidFill>
                  <a:latin typeface="+mj-ea"/>
                  <a:ea typeface="+mj-ea"/>
                </a:rPr>
                <a:t>本次课程</a:t>
              </a:r>
            </a:p>
            <a:p>
              <a:pPr lvl="0" algn="ctr"/>
              <a:r>
                <a:rPr lang="zh-TW" altLang="en-US" sz="1600" b="1" dirty="0">
                  <a:solidFill>
                    <a:srgbClr val="FFBF00"/>
                  </a:solidFill>
                  <a:latin typeface="+mj-ea"/>
                  <a:ea typeface="+mj-ea"/>
                </a:rPr>
                <a:t>资料下载</a:t>
              </a:r>
              <a:endParaRPr lang="zh-CN" altLang="en-US" sz="1600" b="1" dirty="0">
                <a:solidFill>
                  <a:srgbClr val="FFBF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22830"/>
                </a:solidFill>
                <a:latin typeface="Impact" pitchFamily="34" charset="0"/>
                <a:ea typeface="+mj-ea"/>
              </a:rPr>
              <a:t>开课前</a:t>
            </a:r>
            <a:r>
              <a:rPr lang="zh-TW" altLang="en-US" sz="2400" b="1" dirty="0">
                <a:solidFill>
                  <a:srgbClr val="222830"/>
                </a:solidFill>
                <a:latin typeface="Impact" pitchFamily="34" charset="0"/>
                <a:ea typeface="+mj-ea"/>
              </a:rPr>
              <a:t>提示</a:t>
            </a:r>
            <a:endParaRPr lang="zh-CN" altLang="en-US" sz="2400" b="1" dirty="0">
              <a:solidFill>
                <a:srgbClr val="222830"/>
              </a:solidFill>
              <a:latin typeface="Impact" pitchFamily="34" charset="0"/>
              <a:ea typeface="+mj-ea"/>
            </a:endParaRPr>
          </a:p>
        </p:txBody>
      </p:sp>
      <p:cxnSp>
        <p:nvCxnSpPr>
          <p:cNvPr id="20" name="直接连接符 19"/>
          <p:cNvCxnSpPr>
            <a:cxnSpLocks/>
          </p:cNvCxnSpPr>
          <p:nvPr/>
        </p:nvCxnSpPr>
        <p:spPr>
          <a:xfrm>
            <a:off x="2" y="1323247"/>
            <a:ext cx="7386549" cy="11103"/>
          </a:xfrm>
          <a:prstGeom prst="line">
            <a:avLst/>
          </a:prstGeom>
          <a:ln w="19050">
            <a:solidFill>
              <a:srgbClr val="222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cxnSpLocks/>
          </p:cNvCxnSpPr>
          <p:nvPr/>
        </p:nvCxnSpPr>
        <p:spPr>
          <a:xfrm>
            <a:off x="1094261" y="2076697"/>
            <a:ext cx="6538081" cy="0"/>
          </a:xfrm>
          <a:prstGeom prst="line">
            <a:avLst/>
          </a:prstGeom>
          <a:ln w="19050">
            <a:solidFill>
              <a:srgbClr val="222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7317307" y="1041582"/>
            <a:ext cx="1208736" cy="1208736"/>
          </a:xfrm>
          <a:prstGeom prst="ellipse">
            <a:avLst/>
          </a:prstGeom>
          <a:solidFill>
            <a:srgbClr val="5EC2D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86551" y="1509584"/>
            <a:ext cx="10494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b="1" dirty="0" err="1">
                <a:solidFill>
                  <a:schemeClr val="bg1"/>
                </a:solidFill>
                <a:latin typeface="+mj-ea"/>
                <a:ea typeface="+mj-ea"/>
              </a:rPr>
              <a:t>WiFi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</a:rPr>
              <a:t>设置</a:t>
            </a:r>
          </a:p>
        </p:txBody>
      </p:sp>
      <p:sp>
        <p:nvSpPr>
          <p:cNvPr id="27" name="椭圆 26"/>
          <p:cNvSpPr/>
          <p:nvPr/>
        </p:nvSpPr>
        <p:spPr>
          <a:xfrm>
            <a:off x="431542" y="1986688"/>
            <a:ext cx="1485164" cy="1485164"/>
          </a:xfrm>
          <a:prstGeom prst="ellipse">
            <a:avLst/>
          </a:prstGeom>
          <a:solidFill>
            <a:srgbClr val="21294D"/>
          </a:solidFill>
          <a:ln w="28575">
            <a:solidFill>
              <a:srgbClr val="222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 dirty="0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9383" y="2430628"/>
            <a:ext cx="10494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b="1" dirty="0">
                <a:solidFill>
                  <a:srgbClr val="FFBF00"/>
                </a:solidFill>
                <a:latin typeface="+mj-ea"/>
                <a:ea typeface="+mj-ea"/>
              </a:rPr>
              <a:t>kintone</a:t>
            </a:r>
          </a:p>
          <a:p>
            <a:pPr lvl="0" algn="ctr"/>
            <a:r>
              <a:rPr lang="zh-CN" altLang="en-US" sz="1600" b="1" dirty="0">
                <a:solidFill>
                  <a:srgbClr val="FFBF00"/>
                </a:solidFill>
                <a:latin typeface="+mj-ea"/>
                <a:ea typeface="+mj-ea"/>
              </a:rPr>
              <a:t>试用环境</a:t>
            </a:r>
          </a:p>
        </p:txBody>
      </p:sp>
      <p:sp>
        <p:nvSpPr>
          <p:cNvPr id="47" name="矩形 46"/>
          <p:cNvSpPr/>
          <p:nvPr/>
        </p:nvSpPr>
        <p:spPr>
          <a:xfrm>
            <a:off x="2019769" y="2328875"/>
            <a:ext cx="6570729" cy="580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u="sng" dirty="0">
                <a:solidFill>
                  <a:srgbClr val="FFBF00"/>
                </a:solidFill>
                <a:hlinkClick r:id="rId3"/>
              </a:rPr>
              <a:t>https://</a:t>
            </a:r>
            <a:r>
              <a:rPr lang="en-US" altLang="zh-CN" sz="2400" u="sng" dirty="0">
                <a:solidFill>
                  <a:srgbClr val="FFBF00"/>
                </a:solidFill>
                <a:hlinkClick r:id="rId3"/>
              </a:rPr>
              <a:t>devcamp.cybozu.cn/k/#/portal</a:t>
            </a:r>
            <a:endParaRPr lang="en-US" altLang="zh-CN" sz="2400" dirty="0">
              <a:solidFill>
                <a:srgbClr val="FFBF00"/>
              </a:solidFill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546777" y="1442058"/>
            <a:ext cx="457557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TW" altLang="en-US" sz="2000" dirty="0">
                <a:solidFill>
                  <a:srgbClr val="222830"/>
                </a:solidFill>
                <a:latin typeface="+mn-ea"/>
              </a:rPr>
              <a:t>请</a:t>
            </a:r>
            <a:r>
              <a:rPr lang="zh-CN" altLang="en-US" sz="2000" dirty="0">
                <a:solidFill>
                  <a:srgbClr val="222830"/>
                </a:solidFill>
                <a:latin typeface="+mn-ea"/>
              </a:rPr>
              <a:t>按照提示</a:t>
            </a:r>
            <a:r>
              <a:rPr lang="zh-TW" altLang="en-US" sz="2000" dirty="0">
                <a:solidFill>
                  <a:srgbClr val="222830"/>
                </a:solidFill>
                <a:latin typeface="+mn-ea"/>
              </a:rPr>
              <a:t>查看</a:t>
            </a:r>
            <a:r>
              <a:rPr lang="en-US" altLang="zh-CN" sz="2000" dirty="0" err="1">
                <a:solidFill>
                  <a:srgbClr val="222830"/>
                </a:solidFill>
                <a:latin typeface="+mn-ea"/>
              </a:rPr>
              <a:t>WiFi</a:t>
            </a:r>
            <a:r>
              <a:rPr lang="zh-CN" altLang="en-US" sz="2000" dirty="0">
                <a:solidFill>
                  <a:srgbClr val="222830"/>
                </a:solidFill>
                <a:latin typeface="+mn-ea"/>
              </a:rPr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427750369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9D5600F-383C-4318-A746-AC8A2560A1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397" y="2256715"/>
            <a:ext cx="1558292" cy="23113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CDF5298-368F-48D7-A397-FF2CB737DB49}"/>
              </a:ext>
            </a:extLst>
          </p:cNvPr>
          <p:cNvSpPr txBox="1"/>
          <p:nvPr/>
        </p:nvSpPr>
        <p:spPr>
          <a:xfrm>
            <a:off x="4752020" y="951570"/>
            <a:ext cx="2579039" cy="3728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</a:rPr>
              <a:t>2. </a:t>
            </a:r>
            <a:r>
              <a:rPr lang="zh-CN" altLang="en-US" sz="2000" dirty="0">
                <a:latin typeface="+mj-ea"/>
              </a:rPr>
              <a:t>实践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</a:rPr>
              <a:t>2.1 </a:t>
            </a:r>
            <a:r>
              <a:rPr lang="en-US" altLang="zh-CN" sz="2000" dirty="0" err="1">
                <a:latin typeface="+mj-ea"/>
              </a:rPr>
              <a:t>kintone</a:t>
            </a:r>
            <a:r>
              <a:rPr lang="zh-CN" altLang="en-US" sz="2000" dirty="0">
                <a:latin typeface="+mj-ea"/>
              </a:rPr>
              <a:t>界面介绍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</a:rPr>
              <a:t>2.2 </a:t>
            </a:r>
            <a:r>
              <a:rPr lang="zh-TW" altLang="en-US" sz="2000" dirty="0">
                <a:latin typeface="+mj-ea"/>
              </a:rPr>
              <a:t>动手制作应用</a:t>
            </a:r>
            <a:endParaRPr lang="zh-CN" altLang="en-US" sz="20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      业务管理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2.3 </a:t>
            </a:r>
            <a:r>
              <a:rPr lang="zh-TW" altLang="en-US" sz="2000" dirty="0"/>
              <a:t>关联记录列表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      客户列表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2.4 Lookup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2.5 </a:t>
            </a:r>
            <a:r>
              <a:rPr lang="zh-CN" altLang="en-US" sz="2000" dirty="0"/>
              <a:t>流程管理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BA88AAD-9EAC-44AA-B40C-4EA823C8F39D}"/>
              </a:ext>
            </a:extLst>
          </p:cNvPr>
          <p:cNvSpPr/>
          <p:nvPr/>
        </p:nvSpPr>
        <p:spPr>
          <a:xfrm>
            <a:off x="692904" y="1119774"/>
            <a:ext cx="188686" cy="188686"/>
          </a:xfrm>
          <a:prstGeom prst="ellipse">
            <a:avLst/>
          </a:prstGeom>
          <a:solidFill>
            <a:srgbClr val="5EC2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76556B-D926-4CE1-A99F-590D84AED93E}"/>
              </a:ext>
            </a:extLst>
          </p:cNvPr>
          <p:cNvSpPr txBox="1"/>
          <p:nvPr/>
        </p:nvSpPr>
        <p:spPr>
          <a:xfrm>
            <a:off x="1016605" y="951570"/>
            <a:ext cx="2171877" cy="1424044"/>
          </a:xfrm>
          <a:prstGeom prst="rect">
            <a:avLst/>
          </a:prstGeom>
          <a:noFill/>
        </p:spPr>
        <p:txBody>
          <a:bodyPr wrap="none" tIns="46800" spcCol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  <a:ea typeface="+mj-ea"/>
              </a:rPr>
              <a:t>1. </a:t>
            </a:r>
            <a:r>
              <a:rPr lang="en-US" altLang="zh-CN" sz="2000" dirty="0" err="1">
                <a:latin typeface="+mj-ea"/>
                <a:ea typeface="+mj-ea"/>
              </a:rPr>
              <a:t>kintone</a:t>
            </a:r>
            <a:r>
              <a:rPr lang="zh-CN" altLang="en-US" sz="2000" dirty="0">
                <a:latin typeface="+mj-ea"/>
                <a:ea typeface="+mj-ea"/>
              </a:rPr>
              <a:t>是什么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  <a:ea typeface="+mj-ea"/>
              </a:rPr>
              <a:t>1.1 </a:t>
            </a:r>
            <a:r>
              <a:rPr lang="en-US" altLang="zh-CN" sz="2000" dirty="0" err="1">
                <a:latin typeface="+mj-ea"/>
                <a:ea typeface="+mj-ea"/>
              </a:rPr>
              <a:t>kintone</a:t>
            </a:r>
            <a:r>
              <a:rPr lang="zh-CN" altLang="en-US" sz="2000" dirty="0">
                <a:latin typeface="+mj-ea"/>
                <a:ea typeface="+mj-ea"/>
              </a:rPr>
              <a:t>介绍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  <a:ea typeface="+mj-ea"/>
              </a:rPr>
              <a:t>1.2 kintone</a:t>
            </a:r>
            <a:r>
              <a:rPr lang="zh-CN" altLang="en-US" sz="2000" dirty="0">
                <a:latin typeface="+mj-ea"/>
                <a:ea typeface="+mj-ea"/>
              </a:rPr>
              <a:t>功能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228786B-E576-43BA-B947-F997ADE38041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22830"/>
                </a:solidFill>
                <a:latin typeface="Impact" pitchFamily="34" charset="0"/>
                <a:ea typeface="+mj-ea"/>
              </a:rPr>
              <a:t>本课程内容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50834B4-2B3D-4BD6-8F9A-F8093E500B98}"/>
              </a:ext>
            </a:extLst>
          </p:cNvPr>
          <p:cNvSpPr/>
          <p:nvPr/>
        </p:nvSpPr>
        <p:spPr>
          <a:xfrm>
            <a:off x="4391980" y="1119774"/>
            <a:ext cx="188686" cy="188686"/>
          </a:xfrm>
          <a:prstGeom prst="ellipse">
            <a:avLst/>
          </a:prstGeom>
          <a:solidFill>
            <a:srgbClr val="5EC2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10D25FB-94C6-4E52-BCE8-2E68113A5EB0}"/>
              </a:ext>
            </a:extLst>
          </p:cNvPr>
          <p:cNvSpPr/>
          <p:nvPr/>
        </p:nvSpPr>
        <p:spPr>
          <a:xfrm>
            <a:off x="4977045" y="2571750"/>
            <a:ext cx="135015" cy="135015"/>
          </a:xfrm>
          <a:prstGeom prst="ellipse">
            <a:avLst/>
          </a:prstGeom>
          <a:solidFill>
            <a:srgbClr val="F7B5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BF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4645B6E-99FC-47FC-86C3-D0AF38664000}"/>
              </a:ext>
            </a:extLst>
          </p:cNvPr>
          <p:cNvSpPr/>
          <p:nvPr/>
        </p:nvSpPr>
        <p:spPr>
          <a:xfrm>
            <a:off x="4977045" y="3481724"/>
            <a:ext cx="135015" cy="135015"/>
          </a:xfrm>
          <a:prstGeom prst="ellipse">
            <a:avLst/>
          </a:prstGeom>
          <a:solidFill>
            <a:srgbClr val="F7B5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02492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7B52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77" y="-1433695"/>
            <a:ext cx="272382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rgbClr val="21294D"/>
                </a:solidFill>
                <a:latin typeface="+mj-lt"/>
              </a:rPr>
              <a:t>1</a:t>
            </a:r>
            <a:endParaRPr lang="zh-CN" altLang="en-US" sz="52000" dirty="0">
              <a:solidFill>
                <a:srgbClr val="21294D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6222" y="2166703"/>
            <a:ext cx="6795755" cy="44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zh-TW" altLang="en-US" sz="2000" dirty="0">
                <a:solidFill>
                  <a:schemeClr val="bg1"/>
                </a:solidFill>
              </a:rPr>
              <a:t>谁都能简单制作，可以顺利进行信息共</a:t>
            </a:r>
            <a:r>
              <a:rPr lang="zh-CN" altLang="en-US" sz="2000" dirty="0">
                <a:solidFill>
                  <a:schemeClr val="bg1"/>
                </a:solidFill>
              </a:rPr>
              <a:t>享</a:t>
            </a:r>
            <a:r>
              <a:rPr lang="zh-TW" altLang="en-US" sz="2000" dirty="0">
                <a:solidFill>
                  <a:schemeClr val="bg1"/>
                </a:solidFill>
              </a:rPr>
              <a:t>的云服务系统。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18328" y="1397264"/>
            <a:ext cx="36391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 err="1">
                <a:solidFill>
                  <a:srgbClr val="21294D"/>
                </a:solidFill>
                <a:latin typeface="Impact"/>
              </a:rPr>
              <a:t>kintone</a:t>
            </a:r>
            <a:r>
              <a:rPr lang="zh-CN" altLang="en-US" sz="4400" b="1" dirty="0">
                <a:solidFill>
                  <a:srgbClr val="21294D"/>
                </a:solidFill>
                <a:latin typeface="Impact"/>
              </a:rPr>
              <a:t>是什么</a:t>
            </a:r>
          </a:p>
        </p:txBody>
      </p:sp>
      <p:sp>
        <p:nvSpPr>
          <p:cNvPr id="25" name="矩形 24"/>
          <p:cNvSpPr/>
          <p:nvPr/>
        </p:nvSpPr>
        <p:spPr>
          <a:xfrm>
            <a:off x="3041830" y="2691666"/>
            <a:ext cx="5985665" cy="1998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无需开发知识，即可根据公司业务轻松</a:t>
            </a: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创建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系统。</a:t>
            </a:r>
            <a:endParaRPr lang="en-US" altLang="zh-CN" sz="1200" dirty="0">
              <a:solidFill>
                <a:srgbClr val="21294D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使用</a:t>
            </a:r>
            <a:r>
              <a:rPr lang="en-US" altLang="zh-TW" sz="1200" dirty="0" err="1">
                <a:solidFill>
                  <a:srgbClr val="21294D"/>
                </a:solidFill>
                <a:latin typeface="+mn-ea"/>
              </a:rPr>
              <a:t>kintone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可直观地创建业务应用，在团队内部共</a:t>
            </a: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享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和使用。</a:t>
            </a:r>
            <a:endParaRPr lang="en-US" altLang="zh-CN" sz="1200" dirty="0">
              <a:solidFill>
                <a:srgbClr val="21294D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并兼具用于加强员工之间交流的公司内部</a:t>
            </a:r>
            <a:r>
              <a:rPr lang="en-US" altLang="zh-TW" sz="1200" dirty="0">
                <a:solidFill>
                  <a:srgbClr val="21294D"/>
                </a:solidFill>
                <a:latin typeface="+mn-ea"/>
              </a:rPr>
              <a:t>SNS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的功能，因此可</a:t>
            </a: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即时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共</a:t>
            </a: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享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信息。</a:t>
            </a:r>
            <a:endParaRPr lang="en-US" altLang="zh-CN" sz="1200" dirty="0">
              <a:solidFill>
                <a:srgbClr val="21294D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为了使团队得以顺利进行工作，</a:t>
            </a:r>
            <a:r>
              <a:rPr lang="en-US" altLang="zh-TW" sz="1200" dirty="0" err="1">
                <a:solidFill>
                  <a:srgbClr val="21294D"/>
                </a:solidFill>
                <a:latin typeface="+mn-ea"/>
              </a:rPr>
              <a:t>kintone</a:t>
            </a:r>
            <a:r>
              <a:rPr lang="zh-TW" altLang="en-US" sz="1200" dirty="0">
                <a:solidFill>
                  <a:srgbClr val="21294D"/>
                </a:solidFill>
                <a:latin typeface="+mn-ea"/>
              </a:rPr>
              <a:t>配备有必要的数据库，流程管理，交流机制。</a:t>
            </a:r>
            <a:endParaRPr lang="en-US" altLang="zh-CN" sz="1200" dirty="0">
              <a:solidFill>
                <a:srgbClr val="21294D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21294D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中国官网 </a:t>
            </a:r>
            <a:r>
              <a:rPr lang="en-US" altLang="zh-CN" sz="1200" dirty="0">
                <a:solidFill>
                  <a:srgbClr val="21294D"/>
                </a:solidFill>
                <a:latin typeface="+mn-ea"/>
                <a:hlinkClick r:id="rId3"/>
              </a:rPr>
              <a:t>https://www.cybozu.cn/product/kintone/</a:t>
            </a:r>
            <a:endParaRPr lang="en-US" altLang="zh-CN" sz="1200" dirty="0">
              <a:solidFill>
                <a:srgbClr val="21294D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日本官网 </a:t>
            </a:r>
            <a:r>
              <a:rPr lang="en-US" altLang="zh-CN" sz="1200" dirty="0">
                <a:solidFill>
                  <a:srgbClr val="21294D"/>
                </a:solidFill>
                <a:latin typeface="+mn-ea"/>
                <a:hlinkClick r:id="rId4"/>
              </a:rPr>
              <a:t>https://kintone.cybozu.co.jp/jp/</a:t>
            </a:r>
            <a:endParaRPr lang="zh-CN" altLang="en-US" sz="1200" dirty="0">
              <a:solidFill>
                <a:srgbClr val="21294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8352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圆角矩形 27"/>
          <p:cNvSpPr/>
          <p:nvPr/>
        </p:nvSpPr>
        <p:spPr>
          <a:xfrm>
            <a:off x="853070" y="1612058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F7B5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776150" y="1612058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826717" y="2001201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rgbClr val="222830"/>
                </a:solidFill>
              </a:rPr>
              <a:t>营业业务：客户管理、商谈报告、日报等</a:t>
            </a:r>
            <a:endParaRPr lang="zh-CN" altLang="en-US" sz="1400" b="1" dirty="0">
              <a:solidFill>
                <a:srgbClr val="222830"/>
              </a:solidFill>
            </a:endParaRPr>
          </a:p>
        </p:txBody>
      </p:sp>
      <p:pic>
        <p:nvPicPr>
          <p:cNvPr id="34" name="Picture 4" descr="C:\Documents and Settings\Administrator\桌面\图标\ico\verified-us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85" y="1758246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圆角矩形 35"/>
          <p:cNvSpPr/>
          <p:nvPr/>
        </p:nvSpPr>
        <p:spPr>
          <a:xfrm>
            <a:off x="853070" y="2737183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776150" y="2737183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1826717" y="3066805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rgbClr val="222830"/>
                </a:solidFill>
              </a:rPr>
              <a:t>店铺管理：店铺报告、通知、来电询问等</a:t>
            </a:r>
            <a:endParaRPr lang="zh-CN" altLang="en-US" sz="1400" b="1" dirty="0">
              <a:solidFill>
                <a:srgbClr val="222830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53070" y="3862308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F7B5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776150" y="3862308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1826717" y="4244193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rgbClr val="222830"/>
                </a:solidFill>
              </a:rPr>
              <a:t>电子申请：休假申请、经费申请等</a:t>
            </a:r>
            <a:endParaRPr lang="zh-CN" altLang="en-US" sz="1400" b="1" dirty="0">
              <a:solidFill>
                <a:srgbClr val="222830"/>
              </a:solidFill>
            </a:endParaRPr>
          </a:p>
        </p:txBody>
      </p:sp>
      <p:pic>
        <p:nvPicPr>
          <p:cNvPr id="55" name="Picture 3" descr="C:\Documents and Settings\Administrator\桌面\图标\ico\cloud-queu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45" y="2883371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C:\Documents and Settings\Administrator\桌面\图标\ico\vpn-lock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44" y="4008496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A7B3226C-C32D-4838-8E1B-8A07949C45D5}"/>
              </a:ext>
            </a:extLst>
          </p:cNvPr>
          <p:cNvSpPr txBox="1"/>
          <p:nvPr/>
        </p:nvSpPr>
        <p:spPr>
          <a:xfrm>
            <a:off x="476520" y="174870"/>
            <a:ext cx="59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的业务范围</a:t>
            </a:r>
          </a:p>
        </p:txBody>
      </p:sp>
      <p:sp>
        <p:nvSpPr>
          <p:cNvPr id="16" name="テキスト ボックス 3">
            <a:extLst>
              <a:ext uri="{FF2B5EF4-FFF2-40B4-BE49-F238E27FC236}">
                <a16:creationId xmlns:a16="http://schemas.microsoft.com/office/drawing/2014/main" id="{29B167C8-1F15-41F8-9F06-E0D9AB0C41F6}"/>
              </a:ext>
            </a:extLst>
          </p:cNvPr>
          <p:cNvSpPr txBox="1"/>
          <p:nvPr/>
        </p:nvSpPr>
        <p:spPr>
          <a:xfrm>
            <a:off x="0" y="95157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可以实现</a:t>
            </a:r>
            <a:r>
              <a:rPr lang="zh-CN" altLang="en-US" sz="2000" b="1" dirty="0">
                <a:solidFill>
                  <a:srgbClr val="FFBF00"/>
                </a:solidFill>
                <a:latin typeface="Impact" pitchFamily="34" charset="0"/>
              </a:rPr>
              <a:t>各个行业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的业务改善，</a:t>
            </a:r>
            <a:r>
              <a:rPr lang="zh-TW" altLang="en-US" b="1" dirty="0"/>
              <a:t>普遍的业务流程有：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83142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DCB13974-CC14-4E71-A688-0AB99195A7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53" y="1531189"/>
            <a:ext cx="2843707" cy="2840761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9182685-FBE5-481E-AFAD-A690C693E67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93" t="19012" r="33123" b="11796"/>
          <a:stretch/>
        </p:blipFill>
        <p:spPr>
          <a:xfrm>
            <a:off x="5743484" y="3651870"/>
            <a:ext cx="1258786" cy="1186301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458FB16-3416-48EA-875B-000784FF5B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81" t="-1168" r="17735" b="1168"/>
          <a:stretch/>
        </p:blipFill>
        <p:spPr>
          <a:xfrm>
            <a:off x="2207825" y="3553577"/>
            <a:ext cx="1118921" cy="1524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0FD8BD-7D3D-4E5F-98AC-0F7026BAB5C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57" r="49999"/>
          <a:stretch/>
        </p:blipFill>
        <p:spPr>
          <a:xfrm>
            <a:off x="6510399" y="2043812"/>
            <a:ext cx="867537" cy="142875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19108BFA-97FA-4B5D-B98E-4410A899B3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78" r="1438"/>
          <a:stretch/>
        </p:blipFill>
        <p:spPr>
          <a:xfrm>
            <a:off x="1796793" y="1818318"/>
            <a:ext cx="1398651" cy="19050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13416FD9-727D-49FB-9A3F-00EE81F4EF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1" r="64845"/>
          <a:stretch/>
        </p:blipFill>
        <p:spPr>
          <a:xfrm>
            <a:off x="5546608" y="482520"/>
            <a:ext cx="1188853" cy="16192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6C12BF6-027F-423A-841F-5BB0CC3039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882" b="10455"/>
          <a:stretch/>
        </p:blipFill>
        <p:spPr>
          <a:xfrm>
            <a:off x="2510080" y="863520"/>
            <a:ext cx="1183604" cy="1108793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3203344" y="1570272"/>
            <a:ext cx="2745305" cy="274530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870856" y="2221870"/>
            <a:ext cx="146386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kintone</a:t>
            </a:r>
          </a:p>
          <a:p>
            <a:pPr lvl="0"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可以做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直接连接符 9"/>
          <p:cNvCxnSpPr>
            <a:cxnSpLocks/>
            <a:stCxn id="20" idx="7"/>
          </p:cNvCxnSpPr>
          <p:nvPr/>
        </p:nvCxnSpPr>
        <p:spPr>
          <a:xfrm flipV="1">
            <a:off x="5546608" y="1705703"/>
            <a:ext cx="234903" cy="26661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0" idx="1"/>
          </p:cNvCxnSpPr>
          <p:nvPr/>
        </p:nvCxnSpPr>
        <p:spPr>
          <a:xfrm flipH="1" flipV="1">
            <a:off x="3479775" y="1868852"/>
            <a:ext cx="125610" cy="10346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/>
            <a:stCxn id="20" idx="2"/>
          </p:cNvCxnSpPr>
          <p:nvPr/>
        </p:nvCxnSpPr>
        <p:spPr>
          <a:xfrm flipH="1" flipV="1">
            <a:off x="3012214" y="2931461"/>
            <a:ext cx="191130" cy="1146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cxnSpLocks/>
            <a:stCxn id="20" idx="5"/>
          </p:cNvCxnSpPr>
          <p:nvPr/>
        </p:nvCxnSpPr>
        <p:spPr>
          <a:xfrm>
            <a:off x="5546608" y="3913536"/>
            <a:ext cx="310904" cy="28804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cxnSpLocks/>
            <a:stCxn id="20" idx="3"/>
          </p:cNvCxnSpPr>
          <p:nvPr/>
        </p:nvCxnSpPr>
        <p:spPr>
          <a:xfrm flipH="1">
            <a:off x="3195444" y="3913536"/>
            <a:ext cx="409941" cy="40987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/>
            <a:stCxn id="20" idx="6"/>
          </p:cNvCxnSpPr>
          <p:nvPr/>
        </p:nvCxnSpPr>
        <p:spPr>
          <a:xfrm flipV="1">
            <a:off x="5948649" y="2942792"/>
            <a:ext cx="596616" cy="13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6">
            <a:extLst>
              <a:ext uri="{FF2B5EF4-FFF2-40B4-BE49-F238E27FC236}">
                <a16:creationId xmlns:a16="http://schemas.microsoft.com/office/drawing/2014/main" id="{F84DB699-FEB8-4E38-80F6-AFE4C7F93D03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用 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可以做</a:t>
            </a:r>
          </a:p>
        </p:txBody>
      </p:sp>
    </p:spTree>
    <p:extLst>
      <p:ext uri="{BB962C8B-B14F-4D97-AF65-F5344CB8AC3E}">
        <p14:creationId xmlns:p14="http://schemas.microsoft.com/office/powerpoint/2010/main" val="267965627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1294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3173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rgbClr val="21294D"/>
                </a:solidFill>
                <a:latin typeface="+mj-lt"/>
              </a:rPr>
              <a:t>2</a:t>
            </a:r>
            <a:endParaRPr lang="zh-CN" altLang="en-US" sz="52000" dirty="0">
              <a:solidFill>
                <a:srgbClr val="21294D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66705"/>
            <a:ext cx="5178376" cy="441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zh-TW" altLang="en-US" sz="2000" dirty="0">
                <a:solidFill>
                  <a:schemeClr val="bg1"/>
                </a:solidFill>
              </a:rPr>
              <a:t>实际操作如何使用</a:t>
            </a:r>
            <a:r>
              <a:rPr lang="en-US" altLang="zh-CN" sz="2000" dirty="0" err="1">
                <a:solidFill>
                  <a:schemeClr val="bg1"/>
                </a:solidFill>
              </a:rPr>
              <a:t>kintone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44285" y="139726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zh-CN" altLang="en-US" sz="4400" b="1" dirty="0">
                <a:solidFill>
                  <a:srgbClr val="21294D"/>
                </a:solidFill>
                <a:latin typeface="Impact"/>
              </a:rPr>
              <a:t>实践</a:t>
            </a: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580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u="sng" dirty="0">
                <a:solidFill>
                  <a:srgbClr val="21294D"/>
                </a:solidFill>
                <a:hlinkClick r:id="rId3"/>
              </a:rPr>
              <a:t>https://devcamp.cybozu.cn/k/#/portal</a:t>
            </a:r>
            <a:endParaRPr lang="en-US" altLang="zh-CN" sz="2400" dirty="0">
              <a:solidFill>
                <a:srgbClr val="21294D"/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31044D-8E54-4EAA-B965-53777B6E1426}"/>
              </a:ext>
            </a:extLst>
          </p:cNvPr>
          <p:cNvSpPr txBox="1"/>
          <p:nvPr/>
        </p:nvSpPr>
        <p:spPr>
          <a:xfrm>
            <a:off x="3552480" y="4157497"/>
            <a:ext cx="5030177" cy="511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100" dirty="0">
                <a:solidFill>
                  <a:srgbClr val="21294D"/>
                </a:solidFill>
                <a:latin typeface="+mn-ea"/>
              </a:rPr>
              <a:t>课后如想继续使用</a:t>
            </a:r>
            <a:r>
              <a:rPr lang="en-US" altLang="zh-TW" sz="1100" dirty="0" err="1">
                <a:solidFill>
                  <a:srgbClr val="21294D"/>
                </a:solidFill>
                <a:latin typeface="+mn-ea"/>
              </a:rPr>
              <a:t>kintone</a:t>
            </a:r>
            <a:r>
              <a:rPr lang="zh-TW" altLang="en-US" sz="1100" dirty="0">
                <a:solidFill>
                  <a:srgbClr val="21294D"/>
                </a:solidFill>
                <a:latin typeface="+mn-ea"/>
              </a:rPr>
              <a:t>环境，请至以下</a:t>
            </a:r>
            <a:r>
              <a:rPr lang="zh-CN" altLang="en-US" sz="1100" dirty="0">
                <a:solidFill>
                  <a:srgbClr val="21294D"/>
                </a:solidFill>
                <a:latin typeface="+mn-ea"/>
              </a:rPr>
              <a:t>链接</a:t>
            </a:r>
            <a:r>
              <a:rPr lang="zh-TW" altLang="en-US" sz="1100" dirty="0">
                <a:solidFill>
                  <a:srgbClr val="21294D"/>
                </a:solidFill>
                <a:latin typeface="+mn-ea"/>
              </a:rPr>
              <a:t>申请</a:t>
            </a:r>
            <a:r>
              <a:rPr lang="en-US" altLang="zh-TW" sz="1100" dirty="0">
                <a:solidFill>
                  <a:srgbClr val="21294D"/>
                </a:solidFill>
                <a:latin typeface="+mn-ea"/>
              </a:rPr>
              <a:t>30</a:t>
            </a:r>
            <a:r>
              <a:rPr lang="zh-TW" altLang="en-US" sz="1100" dirty="0">
                <a:solidFill>
                  <a:srgbClr val="21294D"/>
                </a:solidFill>
                <a:latin typeface="+mn-ea"/>
              </a:rPr>
              <a:t>天免费试用环境：</a:t>
            </a:r>
            <a:r>
              <a:rPr lang="en-US" altLang="zh-CN" sz="1100" dirty="0">
                <a:solidFill>
                  <a:srgbClr val="21294D"/>
                </a:solidFill>
                <a:latin typeface="+mn-ea"/>
              </a:rPr>
              <a:t>https://www.cybozu.cn/contact/</a:t>
            </a:r>
            <a:endParaRPr lang="zh-CN" altLang="en-US" sz="1100" dirty="0">
              <a:solidFill>
                <a:srgbClr val="21294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688876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D410F1E-3BDD-46BE-9706-4D033712F92B}"/>
              </a:ext>
            </a:extLst>
          </p:cNvPr>
          <p:cNvSpPr txBox="1"/>
          <p:nvPr/>
        </p:nvSpPr>
        <p:spPr>
          <a:xfrm>
            <a:off x="476520" y="14148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界面介绍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A80743-C052-4896-BD86-547FBD4F0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735" y="1025058"/>
            <a:ext cx="4745693" cy="39769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739BD41-CA6A-4E14-93D4-AF067BEED2A8}"/>
              </a:ext>
            </a:extLst>
          </p:cNvPr>
          <p:cNvSpPr/>
          <p:nvPr/>
        </p:nvSpPr>
        <p:spPr>
          <a:xfrm>
            <a:off x="2186735" y="1312725"/>
            <a:ext cx="3350540" cy="207387"/>
          </a:xfrm>
          <a:prstGeom prst="rect">
            <a:avLst/>
          </a:prstGeom>
          <a:noFill/>
          <a:ln w="2540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D6E358-55C9-4326-9DDC-9BD40DF136E4}"/>
              </a:ext>
            </a:extLst>
          </p:cNvPr>
          <p:cNvSpPr/>
          <p:nvPr/>
        </p:nvSpPr>
        <p:spPr>
          <a:xfrm>
            <a:off x="5048534" y="1864271"/>
            <a:ext cx="1818724" cy="465932"/>
          </a:xfrm>
          <a:prstGeom prst="rect">
            <a:avLst/>
          </a:prstGeom>
          <a:noFill/>
          <a:ln w="2540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23E78C-A086-4B9E-BDB8-CFF0E0BD956D}"/>
              </a:ext>
            </a:extLst>
          </p:cNvPr>
          <p:cNvSpPr/>
          <p:nvPr/>
        </p:nvSpPr>
        <p:spPr>
          <a:xfrm>
            <a:off x="5048531" y="2417891"/>
            <a:ext cx="1818726" cy="648914"/>
          </a:xfrm>
          <a:prstGeom prst="rect">
            <a:avLst/>
          </a:prstGeom>
          <a:noFill/>
          <a:ln w="2540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7B88AE-F124-48CC-AF1B-5710D3F55D5B}"/>
              </a:ext>
            </a:extLst>
          </p:cNvPr>
          <p:cNvSpPr/>
          <p:nvPr/>
        </p:nvSpPr>
        <p:spPr>
          <a:xfrm>
            <a:off x="5068700" y="3120247"/>
            <a:ext cx="1818725" cy="1881773"/>
          </a:xfrm>
          <a:prstGeom prst="rect">
            <a:avLst/>
          </a:prstGeom>
          <a:noFill/>
          <a:ln w="2540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2C9E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F9343C-C3C2-468D-868D-9662AEB23D30}"/>
              </a:ext>
            </a:extLst>
          </p:cNvPr>
          <p:cNvSpPr/>
          <p:nvPr/>
        </p:nvSpPr>
        <p:spPr>
          <a:xfrm>
            <a:off x="2231740" y="1851005"/>
            <a:ext cx="2751620" cy="749228"/>
          </a:xfrm>
          <a:prstGeom prst="rect">
            <a:avLst/>
          </a:prstGeom>
          <a:noFill/>
          <a:ln w="2540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A98951-C7E6-4301-998B-8D8D6DA8E2FC}"/>
              </a:ext>
            </a:extLst>
          </p:cNvPr>
          <p:cNvSpPr/>
          <p:nvPr/>
        </p:nvSpPr>
        <p:spPr>
          <a:xfrm>
            <a:off x="393322" y="681540"/>
            <a:ext cx="92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4BB968"/>
                </a:solidFill>
              </a:rPr>
              <a:t>导航条</a:t>
            </a:r>
            <a:endParaRPr lang="en-US" altLang="zh-CN" sz="1400" b="1" dirty="0">
              <a:solidFill>
                <a:srgbClr val="4BB968"/>
              </a:solidFill>
              <a:latin typeface="+mj-ea"/>
              <a:ea typeface="+mj-ea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92AE82EA-D311-4126-A835-E7A2F54DF9C9}"/>
              </a:ext>
            </a:extLst>
          </p:cNvPr>
          <p:cNvSpPr txBox="1"/>
          <p:nvPr/>
        </p:nvSpPr>
        <p:spPr>
          <a:xfrm>
            <a:off x="476520" y="1063002"/>
            <a:ext cx="1845205" cy="1681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侧边菜单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门户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通知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书签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设置菜单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帮助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05B8ECA7-5D03-4CE4-9E54-EC2ED4B011CC}"/>
              </a:ext>
            </a:extLst>
          </p:cNvPr>
          <p:cNvSpPr txBox="1"/>
          <p:nvPr/>
        </p:nvSpPr>
        <p:spPr>
          <a:xfrm>
            <a:off x="116505" y="3156815"/>
            <a:ext cx="1746247" cy="160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显示未读通知。在下拉菜单中可选择“与我相关”的通知。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如需再次查看已读通知，请点击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已读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切换显示。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934AE5-6DD5-42D8-A5E9-04BB22434B15}"/>
              </a:ext>
            </a:extLst>
          </p:cNvPr>
          <p:cNvSpPr/>
          <p:nvPr/>
        </p:nvSpPr>
        <p:spPr>
          <a:xfrm>
            <a:off x="391347" y="2817425"/>
            <a:ext cx="794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</a:rPr>
              <a:t>通知</a:t>
            </a:r>
            <a:endParaRPr lang="en-US" altLang="zh-CN" sz="1400" b="1" dirty="0">
              <a:solidFill>
                <a:srgbClr val="62C9E2"/>
              </a:solidFill>
              <a:latin typeface="+mj-ea"/>
              <a:ea typeface="+mj-ea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790FF75-8145-4CCF-9DE2-DF8D5707A270}"/>
              </a:ext>
            </a:extLst>
          </p:cNvPr>
          <p:cNvGrpSpPr/>
          <p:nvPr/>
        </p:nvGrpSpPr>
        <p:grpSpPr>
          <a:xfrm flipV="1">
            <a:off x="161667" y="2533551"/>
            <a:ext cx="2287051" cy="616029"/>
            <a:chOff x="755576" y="1779662"/>
            <a:chExt cx="2880320" cy="360040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396E98F-D2AF-4A68-80A2-10FA6F722C3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62C9E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A17FDEB-BD78-499F-9780-3F775D226156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62C9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81F4538-7155-4A05-A490-605F2D0BECCD}"/>
              </a:ext>
            </a:extLst>
          </p:cNvPr>
          <p:cNvGrpSpPr/>
          <p:nvPr/>
        </p:nvGrpSpPr>
        <p:grpSpPr>
          <a:xfrm flipH="1">
            <a:off x="6507215" y="1235641"/>
            <a:ext cx="2287051" cy="616029"/>
            <a:chOff x="755576" y="1779662"/>
            <a:chExt cx="2880320" cy="36004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72B3AF2-21A9-4C12-9F5B-7C730724EF10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C9404B1-1190-4D2F-B20F-9145D0638285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5E49104-A23B-46C7-8A7A-E630AC12C8EB}"/>
              </a:ext>
            </a:extLst>
          </p:cNvPr>
          <p:cNvGrpSpPr/>
          <p:nvPr/>
        </p:nvGrpSpPr>
        <p:grpSpPr>
          <a:xfrm flipH="1" flipV="1">
            <a:off x="6507215" y="3860311"/>
            <a:ext cx="2287051" cy="616029"/>
            <a:chOff x="755576" y="1779662"/>
            <a:chExt cx="2880320" cy="360040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39529B3-0276-4B5B-A224-3084F4DEC8F2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62C9E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A48F935-1B49-40F9-849C-22B642CD8EE2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62C9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0C130F3E-C528-427A-B025-442C4E7AD7F2}"/>
              </a:ext>
            </a:extLst>
          </p:cNvPr>
          <p:cNvSpPr/>
          <p:nvPr/>
        </p:nvSpPr>
        <p:spPr>
          <a:xfrm>
            <a:off x="7507875" y="875174"/>
            <a:ext cx="10695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4BB968"/>
                </a:solidFill>
              </a:rPr>
              <a:t>未处理</a:t>
            </a:r>
            <a:endParaRPr lang="en-US" altLang="zh-CN" sz="1400" b="1" dirty="0">
              <a:solidFill>
                <a:srgbClr val="4BB968"/>
              </a:solidFill>
            </a:endParaRP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BDA68FD-534E-449A-A735-2BD26639BC9F}"/>
              </a:ext>
            </a:extLst>
          </p:cNvPr>
          <p:cNvSpPr txBox="1"/>
          <p:nvPr/>
        </p:nvSpPr>
        <p:spPr>
          <a:xfrm>
            <a:off x="7198643" y="1257925"/>
            <a:ext cx="1636723" cy="5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显示用户尚未执行的任务。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C224382-AB31-4787-88DD-68DC26248E58}"/>
              </a:ext>
            </a:extLst>
          </p:cNvPr>
          <p:cNvGrpSpPr/>
          <p:nvPr/>
        </p:nvGrpSpPr>
        <p:grpSpPr>
          <a:xfrm flipH="1">
            <a:off x="6525289" y="2115138"/>
            <a:ext cx="2287051" cy="616029"/>
            <a:chOff x="755576" y="1779662"/>
            <a:chExt cx="2880320" cy="36004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E4F28E14-897E-42C9-A52C-844BF99BC1CC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FDA907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EF1BF17C-62A7-497A-ACD8-D04E856A76CC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FDA90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3C244E64-FD08-407C-9454-5F1CE9D823AE}"/>
              </a:ext>
            </a:extLst>
          </p:cNvPr>
          <p:cNvSpPr/>
          <p:nvPr/>
        </p:nvSpPr>
        <p:spPr>
          <a:xfrm>
            <a:off x="7518670" y="4483546"/>
            <a:ext cx="794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</a:rPr>
              <a:t>应用</a:t>
            </a:r>
            <a:endParaRPr lang="en-US" altLang="zh-CN" sz="1400" b="1" dirty="0">
              <a:solidFill>
                <a:srgbClr val="62C9E2"/>
              </a:solidFill>
            </a:endParaRPr>
          </a:p>
        </p:txBody>
      </p:sp>
      <p:sp>
        <p:nvSpPr>
          <p:cNvPr id="63" name="TextBox 16">
            <a:extLst>
              <a:ext uri="{FF2B5EF4-FFF2-40B4-BE49-F238E27FC236}">
                <a16:creationId xmlns:a16="http://schemas.microsoft.com/office/drawing/2014/main" id="{0B9B2491-65C0-4648-A136-CEC5FC3B9973}"/>
              </a:ext>
            </a:extLst>
          </p:cNvPr>
          <p:cNvSpPr txBox="1"/>
          <p:nvPr/>
        </p:nvSpPr>
        <p:spPr>
          <a:xfrm>
            <a:off x="7198643" y="2134183"/>
            <a:ext cx="194535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通过空间可方便与其他用户交流及共享数据等。点击下拉菜单则可切换列表查看其他空间。点击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(+)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可创建新空间。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F4F02DC-0C59-48FF-9D0E-86B2C5B3729D}"/>
              </a:ext>
            </a:extLst>
          </p:cNvPr>
          <p:cNvSpPr/>
          <p:nvPr/>
        </p:nvSpPr>
        <p:spPr>
          <a:xfrm>
            <a:off x="7555931" y="1774143"/>
            <a:ext cx="794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DA907"/>
                </a:solidFill>
              </a:rPr>
              <a:t>空间</a:t>
            </a:r>
            <a:endParaRPr lang="en-US" altLang="zh-CN" sz="1400" b="1" dirty="0">
              <a:solidFill>
                <a:srgbClr val="FDA907"/>
              </a:solidFill>
            </a:endParaRPr>
          </a:p>
        </p:txBody>
      </p:sp>
      <p:sp>
        <p:nvSpPr>
          <p:cNvPr id="66" name="TextBox 16">
            <a:extLst>
              <a:ext uri="{FF2B5EF4-FFF2-40B4-BE49-F238E27FC236}">
                <a16:creationId xmlns:a16="http://schemas.microsoft.com/office/drawing/2014/main" id="{7B5CA2CA-633B-4947-8F4D-855A359BDAF2}"/>
              </a:ext>
            </a:extLst>
          </p:cNvPr>
          <p:cNvSpPr txBox="1"/>
          <p:nvPr/>
        </p:nvSpPr>
        <p:spPr>
          <a:xfrm>
            <a:off x="7199079" y="3426845"/>
            <a:ext cx="1873421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显示应用列表。点击下拉菜单则可切换显示所有应用和收藏的应用。点击 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(+) 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可创建新应用。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AD4CBCF-CEA2-426E-839E-F0173D869EE5}"/>
              </a:ext>
            </a:extLst>
          </p:cNvPr>
          <p:cNvSpPr/>
          <p:nvPr/>
        </p:nvSpPr>
        <p:spPr>
          <a:xfrm>
            <a:off x="6642230" y="3156816"/>
            <a:ext cx="180020" cy="1800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1DC9E1B-8696-4576-B068-A3063F449AEF}"/>
              </a:ext>
            </a:extLst>
          </p:cNvPr>
          <p:cNvSpPr/>
          <p:nvPr/>
        </p:nvSpPr>
        <p:spPr>
          <a:xfrm>
            <a:off x="6642230" y="2436735"/>
            <a:ext cx="180020" cy="1800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0AAC1C-C78A-44B2-9338-E3D2A9DEFA74}"/>
              </a:ext>
            </a:extLst>
          </p:cNvPr>
          <p:cNvSpPr/>
          <p:nvPr/>
        </p:nvSpPr>
        <p:spPr>
          <a:xfrm>
            <a:off x="5562110" y="1041321"/>
            <a:ext cx="1239970" cy="271404"/>
          </a:xfrm>
          <a:prstGeom prst="rect">
            <a:avLst/>
          </a:prstGeom>
          <a:noFill/>
          <a:ln w="2540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C706CC0-4467-4812-A36E-1F954407C905}"/>
              </a:ext>
            </a:extLst>
          </p:cNvPr>
          <p:cNvGrpSpPr/>
          <p:nvPr/>
        </p:nvGrpSpPr>
        <p:grpSpPr>
          <a:xfrm flipH="1">
            <a:off x="5652093" y="681540"/>
            <a:ext cx="1629749" cy="759784"/>
            <a:chOff x="755576" y="1779662"/>
            <a:chExt cx="2880320" cy="360040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0B2632A-E774-454C-A807-B8F9BE5E858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92BC49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6E8A38E-BB6D-4305-A101-2B6485992D53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92BC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08696689-3E60-4B16-8FB2-DC83EDA33730}"/>
              </a:ext>
            </a:extLst>
          </p:cNvPr>
          <p:cNvSpPr/>
          <p:nvPr/>
        </p:nvSpPr>
        <p:spPr>
          <a:xfrm>
            <a:off x="6311827" y="400200"/>
            <a:ext cx="10054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92BC49"/>
                </a:solidFill>
              </a:rPr>
              <a:t>搜索</a:t>
            </a:r>
            <a:endParaRPr lang="en-US" altLang="zh-CN" sz="1400" b="1" dirty="0">
              <a:solidFill>
                <a:srgbClr val="92BC4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39D73-11F4-4FD5-B4ED-5C0171C29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22" y="1152949"/>
            <a:ext cx="152381" cy="152381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7C4FA74D-BC9D-4C50-B9E5-17F8DFB01BE1}"/>
              </a:ext>
            </a:extLst>
          </p:cNvPr>
          <p:cNvGrpSpPr/>
          <p:nvPr/>
        </p:nvGrpSpPr>
        <p:grpSpPr>
          <a:xfrm>
            <a:off x="266868" y="996575"/>
            <a:ext cx="1964872" cy="529248"/>
            <a:chOff x="755576" y="1779662"/>
            <a:chExt cx="2880320" cy="36004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54F99D-0D34-44CF-82C6-CFA92AAAC86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EC00F89A-C361-41A2-8970-3E6485D2F728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41CDF7F-0174-42FE-BC9C-575741C3F2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1399478"/>
            <a:ext cx="182880" cy="1828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393510D-F5A0-4AC8-B9C7-D601E324DF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1680653"/>
            <a:ext cx="182880" cy="18288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62E3777-DE41-4845-A4EA-0A274ABB05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1943463"/>
            <a:ext cx="182880" cy="18288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32B2467-E74E-40D9-8B58-F194B5B33E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2240272"/>
            <a:ext cx="182880" cy="1828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B41ABAE-BF3F-42A3-8AB4-BE78EE44D9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2498521"/>
            <a:ext cx="182880" cy="18288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B0B0B1D-A736-42AC-9F0E-CEB5B2A37192}"/>
              </a:ext>
            </a:extLst>
          </p:cNvPr>
          <p:cNvSpPr txBox="1"/>
          <p:nvPr/>
        </p:nvSpPr>
        <p:spPr>
          <a:xfrm>
            <a:off x="2984613" y="3180593"/>
            <a:ext cx="1817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可跳转至自己的个人资料页面。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可进行账号设置、以及退出</a:t>
            </a:r>
            <a:r>
              <a:rPr lang="en-US" altLang="zh-CN" sz="1200" dirty="0"/>
              <a:t>kintone</a:t>
            </a:r>
            <a:r>
              <a:rPr lang="zh-CN" altLang="en-US" sz="1200" dirty="0"/>
              <a:t>。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8153D77A-03C0-4ED8-B248-FB16F939C546}"/>
              </a:ext>
            </a:extLst>
          </p:cNvPr>
          <p:cNvGrpSpPr/>
          <p:nvPr/>
        </p:nvGrpSpPr>
        <p:grpSpPr>
          <a:xfrm flipV="1">
            <a:off x="2375246" y="1253666"/>
            <a:ext cx="3237841" cy="1801923"/>
            <a:chOff x="755576" y="1779662"/>
            <a:chExt cx="2880320" cy="360040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456B012-26A4-4B7F-BC03-56103F73BFCC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FDA907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30588C2-99E5-4C4E-951A-979737C721F8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FDA90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7A698DC8-A0AB-4454-BA7B-54D32BCB2B6F}"/>
              </a:ext>
            </a:extLst>
          </p:cNvPr>
          <p:cNvSpPr/>
          <p:nvPr/>
        </p:nvSpPr>
        <p:spPr>
          <a:xfrm>
            <a:off x="2677298" y="2714023"/>
            <a:ext cx="11899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DA907"/>
                </a:solidFill>
              </a:rPr>
              <a:t>个人设置</a:t>
            </a:r>
            <a:endParaRPr lang="en-US" altLang="zh-CN" sz="1400" b="1" dirty="0">
              <a:solidFill>
                <a:srgbClr val="FDA907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258762B-C29A-404E-8ABA-08FEBEDA1C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33" y="3243856"/>
            <a:ext cx="696608" cy="18595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9E84D44-5F80-451F-A523-6E45474C8D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94" y="3741390"/>
            <a:ext cx="191619" cy="266601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B2D43DC-F4CE-461E-8B50-4D1A2F25238D}"/>
              </a:ext>
            </a:extLst>
          </p:cNvPr>
          <p:cNvSpPr txBox="1"/>
          <p:nvPr/>
        </p:nvSpPr>
        <p:spPr>
          <a:xfrm>
            <a:off x="6209309" y="68154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可全文检索。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77CD19F-7FCF-4163-A4D7-32B7DDEFA9FE}"/>
              </a:ext>
            </a:extLst>
          </p:cNvPr>
          <p:cNvSpPr/>
          <p:nvPr/>
        </p:nvSpPr>
        <p:spPr>
          <a:xfrm>
            <a:off x="5562110" y="1332332"/>
            <a:ext cx="1239970" cy="187769"/>
          </a:xfrm>
          <a:prstGeom prst="rect">
            <a:avLst/>
          </a:prstGeom>
          <a:noFill/>
          <a:ln w="25400">
            <a:solidFill>
              <a:srgbClr val="92BC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BC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8243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14148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界面介绍：空间</a:t>
            </a:r>
          </a:p>
        </p:txBody>
      </p:sp>
      <p:sp>
        <p:nvSpPr>
          <p:cNvPr id="57" name="矩形 56"/>
          <p:cNvSpPr/>
          <p:nvPr/>
        </p:nvSpPr>
        <p:spPr>
          <a:xfrm>
            <a:off x="431541" y="861560"/>
            <a:ext cx="2340258" cy="307296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空间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1540" y="1219683"/>
            <a:ext cx="2340259" cy="1849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用于团队内部进行交流的功能。选择成员后创建空间，成员之间可进行内部讨论及信息共享。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空间内可创建与空间相关的应用。可通过该应用对空间内交流所需的信息、文件以及</a:t>
            </a:r>
            <a:r>
              <a:rPr lang="en-US" altLang="zh-CN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ToDo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等内容进行管理。</a:t>
            </a:r>
          </a:p>
        </p:txBody>
      </p:sp>
      <p:sp>
        <p:nvSpPr>
          <p:cNvPr id="59" name="矩形 58"/>
          <p:cNvSpPr/>
          <p:nvPr/>
        </p:nvSpPr>
        <p:spPr>
          <a:xfrm>
            <a:off x="431542" y="3066805"/>
            <a:ext cx="2340257" cy="307296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来宾空间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31541" y="3424928"/>
            <a:ext cx="2340259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非该企业用户也可作为来宾加入该空间。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创建来宾空间后，空间功能还可作为不同企业间共同项目的联络场所使用。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D393FC67-0E55-4910-8081-2D0D356EC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845" y="735299"/>
            <a:ext cx="5375296" cy="39966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838080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14148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界面介绍：应用</a:t>
            </a:r>
          </a:p>
        </p:txBody>
      </p:sp>
      <p:sp>
        <p:nvSpPr>
          <p:cNvPr id="57" name="矩形 56"/>
          <p:cNvSpPr/>
          <p:nvPr/>
        </p:nvSpPr>
        <p:spPr>
          <a:xfrm>
            <a:off x="6282192" y="1257633"/>
            <a:ext cx="2340258" cy="307296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应用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282191" y="1615756"/>
            <a:ext cx="2340259" cy="232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应用是指通过创建业务应用，对数据及业务流程进行管理的功能。可对销售信息、客户信息、咨询回复历史记录、</a:t>
            </a:r>
            <a:r>
              <a:rPr lang="en-US" altLang="zh-CN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ToDo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、报告、文件等各类数据进行管理。此外，还可灵活构建与这些数据相关的业务流程。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无需编程即可创建应用，非常简单。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5967155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D393FC67-0E55-4910-8081-2D0D356EC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20" y="1063289"/>
            <a:ext cx="5175576" cy="30466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4761607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393608-04DA-477B-84E3-7C7599D1B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111810"/>
            <a:ext cx="4381500" cy="9239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C84C738-3EA8-426B-AD36-E4397332B6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111" y="2795932"/>
            <a:ext cx="1676435" cy="22222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E41264E-2F5E-42BC-ABF5-00908EFC4001}"/>
              </a:ext>
            </a:extLst>
          </p:cNvPr>
          <p:cNvSpPr/>
          <p:nvPr/>
        </p:nvSpPr>
        <p:spPr>
          <a:xfrm>
            <a:off x="0" y="1806665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2031980"/>
            <a:ext cx="9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让我们来看看如何创建应用</a:t>
            </a:r>
            <a:r>
              <a: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吧</a:t>
            </a: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！</a:t>
            </a:r>
            <a:endParaRPr lang="zh-CN" altLang="en-US" sz="32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4099DC-B525-46B1-940E-46B8FAFDEFF5}"/>
              </a:ext>
            </a:extLst>
          </p:cNvPr>
          <p:cNvSpPr/>
          <p:nvPr/>
        </p:nvSpPr>
        <p:spPr>
          <a:xfrm>
            <a:off x="5920858" y="3168727"/>
            <a:ext cx="450049" cy="4050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1128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DC20620-6CD9-4272-9308-E88685216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68" y="766334"/>
            <a:ext cx="7203662" cy="41508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146415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98110-CD4F-4958-AC3C-94AB481A33F0}"/>
              </a:ext>
            </a:extLst>
          </p:cNvPr>
          <p:cNvSpPr/>
          <p:nvPr/>
        </p:nvSpPr>
        <p:spPr>
          <a:xfrm>
            <a:off x="2276745" y="2369227"/>
            <a:ext cx="1350150" cy="405045"/>
          </a:xfrm>
          <a:prstGeom prst="rect">
            <a:avLst/>
          </a:prstGeom>
          <a:noFill/>
          <a:ln w="25400"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8986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D60BF0C2-11BD-4C02-8FF8-FE27015A3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32" y="681540"/>
            <a:ext cx="4984573" cy="42685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7EA6DD3-6FEB-4131-9710-AFAC7A5E3F62}"/>
              </a:ext>
            </a:extLst>
          </p:cNvPr>
          <p:cNvSpPr/>
          <p:nvPr/>
        </p:nvSpPr>
        <p:spPr>
          <a:xfrm>
            <a:off x="2847786" y="1401620"/>
            <a:ext cx="2354284" cy="360040"/>
          </a:xfrm>
          <a:prstGeom prst="rect">
            <a:avLst/>
          </a:prstGeom>
          <a:noFill/>
          <a:ln w="25400"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701541-C0FC-45DB-BF06-3E48981BBB11}"/>
              </a:ext>
            </a:extLst>
          </p:cNvPr>
          <p:cNvSpPr/>
          <p:nvPr/>
        </p:nvSpPr>
        <p:spPr>
          <a:xfrm>
            <a:off x="2455552" y="1401620"/>
            <a:ext cx="332001" cy="360040"/>
          </a:xfrm>
          <a:prstGeom prst="rect">
            <a:avLst/>
          </a:prstGeom>
          <a:noFill/>
          <a:ln w="25400"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59D01A-1C0B-4B6E-BFA2-A5FDF9C47478}"/>
              </a:ext>
            </a:extLst>
          </p:cNvPr>
          <p:cNvSpPr/>
          <p:nvPr/>
        </p:nvSpPr>
        <p:spPr>
          <a:xfrm>
            <a:off x="2470789" y="2436735"/>
            <a:ext cx="1585260" cy="2513312"/>
          </a:xfrm>
          <a:prstGeom prst="rect">
            <a:avLst/>
          </a:prstGeom>
          <a:noFill/>
          <a:ln w="25400">
            <a:solidFill>
              <a:srgbClr val="212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2283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C49A56-194E-4208-B362-C6FE05444E5D}"/>
              </a:ext>
            </a:extLst>
          </p:cNvPr>
          <p:cNvSpPr/>
          <p:nvPr/>
        </p:nvSpPr>
        <p:spPr>
          <a:xfrm>
            <a:off x="4211960" y="2211711"/>
            <a:ext cx="1125125" cy="990110"/>
          </a:xfrm>
          <a:prstGeom prst="rect">
            <a:avLst/>
          </a:prstGeom>
          <a:noFill/>
          <a:ln w="25400">
            <a:solidFill>
              <a:srgbClr val="212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22830"/>
              </a:solidFill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15C8CD34-04C6-4DD5-A1E9-3B42766F2C71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5400000" flipH="1" flipV="1">
            <a:off x="3906459" y="1568671"/>
            <a:ext cx="225024" cy="1511104"/>
          </a:xfrm>
          <a:prstGeom prst="bentConnector3">
            <a:avLst>
              <a:gd name="adj1" fmla="val 201589"/>
            </a:avLst>
          </a:prstGeom>
          <a:ln w="9525">
            <a:solidFill>
              <a:srgbClr val="2129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2DCC809-2B1D-4533-83BE-B5D4F1719812}"/>
              </a:ext>
            </a:extLst>
          </p:cNvPr>
          <p:cNvGrpSpPr/>
          <p:nvPr/>
        </p:nvGrpSpPr>
        <p:grpSpPr>
          <a:xfrm flipH="1" flipV="1">
            <a:off x="5216094" y="1485824"/>
            <a:ext cx="2506256" cy="675073"/>
            <a:chOff x="755576" y="1779662"/>
            <a:chExt cx="2880320" cy="360040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4D46CDD-285F-4701-87DB-41DC6E81824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FFBF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BA7D70F-5171-4F9B-89E5-F5D94AB34F26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FFB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E6956DC7-1E34-4C44-80F0-92FBE71113ED}"/>
              </a:ext>
            </a:extLst>
          </p:cNvPr>
          <p:cNvSpPr/>
          <p:nvPr/>
        </p:nvSpPr>
        <p:spPr>
          <a:xfrm>
            <a:off x="6162970" y="1805176"/>
            <a:ext cx="12984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rgbClr val="222830"/>
                </a:solidFill>
                <a:latin typeface="+mj-ea"/>
                <a:ea typeface="+mj-ea"/>
              </a:rPr>
              <a:t>修改应用名称</a:t>
            </a:r>
            <a:endParaRPr lang="en-US" altLang="zh-CN" sz="1400" b="1" dirty="0">
              <a:solidFill>
                <a:srgbClr val="222830"/>
              </a:solidFill>
              <a:latin typeface="+mj-ea"/>
              <a:ea typeface="+mj-ea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EE635B9-1B9C-42D8-AD99-6FCDA4ABDB10}"/>
              </a:ext>
            </a:extLst>
          </p:cNvPr>
          <p:cNvGrpSpPr/>
          <p:nvPr/>
        </p:nvGrpSpPr>
        <p:grpSpPr>
          <a:xfrm>
            <a:off x="613190" y="1203315"/>
            <a:ext cx="1842361" cy="477191"/>
            <a:chOff x="755576" y="1779662"/>
            <a:chExt cx="2880320" cy="360040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F18CC0EF-9DD1-4E9C-B9E9-15F1F37DDBAC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FFBF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4C97C37-A2B0-495A-9E32-6AB0633D1AB8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FFB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0D679765-1CB4-4A5B-9370-98D0E9BF49F1}"/>
              </a:ext>
            </a:extLst>
          </p:cNvPr>
          <p:cNvSpPr/>
          <p:nvPr/>
        </p:nvSpPr>
        <p:spPr>
          <a:xfrm>
            <a:off x="613191" y="872122"/>
            <a:ext cx="13055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rgbClr val="222830"/>
                </a:solidFill>
                <a:latin typeface="+mj-ea"/>
                <a:ea typeface="+mj-ea"/>
              </a:rPr>
              <a:t>修改应用图标</a:t>
            </a:r>
            <a:endParaRPr lang="en-US" altLang="zh-CN" sz="1400" b="1" dirty="0">
              <a:solidFill>
                <a:srgbClr val="222830"/>
              </a:solidFill>
              <a:latin typeface="+mj-ea"/>
              <a:ea typeface="+mj-ea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C59C4EEF-36D3-482D-B35B-FC452CEFC951}"/>
              </a:ext>
            </a:extLst>
          </p:cNvPr>
          <p:cNvSpPr txBox="1"/>
          <p:nvPr/>
        </p:nvSpPr>
        <p:spPr>
          <a:xfrm>
            <a:off x="587067" y="1221600"/>
            <a:ext cx="1298228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点击应用图标，即显示选择图标的页面，可更改图标。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四角形: 角を丸くする 9">
            <a:extLst>
              <a:ext uri="{FF2B5EF4-FFF2-40B4-BE49-F238E27FC236}">
                <a16:creationId xmlns:a16="http://schemas.microsoft.com/office/drawing/2014/main" id="{B2721F79-3528-45EA-8956-CD4733260C51}"/>
              </a:ext>
            </a:extLst>
          </p:cNvPr>
          <p:cNvSpPr/>
          <p:nvPr/>
        </p:nvSpPr>
        <p:spPr>
          <a:xfrm>
            <a:off x="6009297" y="2245101"/>
            <a:ext cx="1688320" cy="77920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Meiryo" charset="-128"/>
              </a:rPr>
              <a:t>打开应用的设置页面即可更改应用名称。</a:t>
            </a:r>
            <a:endParaRPr kumimoji="1" lang="en-US" altLang="zh-CN" sz="1200" dirty="0">
              <a:solidFill>
                <a:schemeClr val="tx1"/>
              </a:solidFill>
              <a:latin typeface="+mn-ea"/>
              <a:cs typeface="Meiryo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452025-D3DC-497A-8D2A-6931136685EA}"/>
              </a:ext>
            </a:extLst>
          </p:cNvPr>
          <p:cNvSpPr txBox="1"/>
          <p:nvPr/>
        </p:nvSpPr>
        <p:spPr>
          <a:xfrm>
            <a:off x="3406693" y="20604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拖动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30FE3C0-8AF7-4005-83F2-323D55B55F41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实例：业务管理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）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504CDCD-D5A0-4A88-A77B-3927B0A76E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78" y="2372087"/>
            <a:ext cx="1470049" cy="12302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198157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07" y="716114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A9400B-DFBD-48B1-99D6-D0ABC3CDA054}"/>
              </a:ext>
            </a:extLst>
          </p:cNvPr>
          <p:cNvSpPr/>
          <p:nvPr/>
        </p:nvSpPr>
        <p:spPr>
          <a:xfrm>
            <a:off x="3225610" y="1846211"/>
            <a:ext cx="2201486" cy="450050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3CCA8-5CE6-463E-89EC-68411EAF69E9}"/>
              </a:ext>
            </a:extLst>
          </p:cNvPr>
          <p:cNvSpPr/>
          <p:nvPr/>
        </p:nvSpPr>
        <p:spPr>
          <a:xfrm>
            <a:off x="3232799" y="1670945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DD76F2-C673-4106-A619-F290221D6B33}"/>
              </a:ext>
            </a:extLst>
          </p:cNvPr>
          <p:cNvSpPr/>
          <p:nvPr/>
        </p:nvSpPr>
        <p:spPr>
          <a:xfrm>
            <a:off x="1697463" y="1923283"/>
            <a:ext cx="675075" cy="135014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4B3589-7613-4B6A-B545-66486FD707EA}"/>
              </a:ext>
            </a:extLst>
          </p:cNvPr>
          <p:cNvSpPr/>
          <p:nvPr/>
        </p:nvSpPr>
        <p:spPr>
          <a:xfrm>
            <a:off x="3238123" y="2466566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B8C63E-286A-4CD2-84C0-F16CACA103CF}"/>
              </a:ext>
            </a:extLst>
          </p:cNvPr>
          <p:cNvSpPr/>
          <p:nvPr/>
        </p:nvSpPr>
        <p:spPr>
          <a:xfrm>
            <a:off x="2411760" y="1921931"/>
            <a:ext cx="675075" cy="135014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91B8A1-E704-435C-B61D-D67A60C2F4B5}"/>
              </a:ext>
            </a:extLst>
          </p:cNvPr>
          <p:cNvSpPr/>
          <p:nvPr/>
        </p:nvSpPr>
        <p:spPr>
          <a:xfrm>
            <a:off x="2411760" y="2215603"/>
            <a:ext cx="675075" cy="136943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C57806-7D99-48D9-B3F5-9B98E83670D2}"/>
              </a:ext>
            </a:extLst>
          </p:cNvPr>
          <p:cNvSpPr/>
          <p:nvPr/>
        </p:nvSpPr>
        <p:spPr>
          <a:xfrm>
            <a:off x="4565768" y="3070642"/>
            <a:ext cx="861328" cy="333395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27FACB-553A-49C0-9E2B-104FDF8EE036}"/>
              </a:ext>
            </a:extLst>
          </p:cNvPr>
          <p:cNvSpPr/>
          <p:nvPr/>
        </p:nvSpPr>
        <p:spPr>
          <a:xfrm>
            <a:off x="3237392" y="3648843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8969B2-8D18-4044-B529-2552782A96CB}"/>
              </a:ext>
            </a:extLst>
          </p:cNvPr>
          <p:cNvSpPr/>
          <p:nvPr/>
        </p:nvSpPr>
        <p:spPr>
          <a:xfrm>
            <a:off x="1684718" y="2661759"/>
            <a:ext cx="675075" cy="136943"/>
          </a:xfrm>
          <a:prstGeom prst="rect">
            <a:avLst/>
          </a:prstGeom>
          <a:noFill/>
          <a:ln w="19050">
            <a:solidFill>
              <a:srgbClr val="F89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CCE037-EB1E-460A-A35F-66D8AB43205F}"/>
              </a:ext>
            </a:extLst>
          </p:cNvPr>
          <p:cNvSpPr/>
          <p:nvPr/>
        </p:nvSpPr>
        <p:spPr>
          <a:xfrm>
            <a:off x="3237392" y="2667297"/>
            <a:ext cx="1559634" cy="338502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A28AE8-E3A6-4071-8FCF-012355477127}"/>
              </a:ext>
            </a:extLst>
          </p:cNvPr>
          <p:cNvSpPr/>
          <p:nvPr/>
        </p:nvSpPr>
        <p:spPr>
          <a:xfrm>
            <a:off x="1693758" y="2389802"/>
            <a:ext cx="675075" cy="136943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08CE96-EFAE-4801-A3EF-A12AB35E27A2}"/>
              </a:ext>
            </a:extLst>
          </p:cNvPr>
          <p:cNvSpPr/>
          <p:nvPr/>
        </p:nvSpPr>
        <p:spPr>
          <a:xfrm>
            <a:off x="3237392" y="3070642"/>
            <a:ext cx="1289604" cy="333395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73AB02-82A9-4EEF-A75E-CEBF24013DB3}"/>
              </a:ext>
            </a:extLst>
          </p:cNvPr>
          <p:cNvSpPr/>
          <p:nvPr/>
        </p:nvSpPr>
        <p:spPr>
          <a:xfrm>
            <a:off x="1693757" y="2215603"/>
            <a:ext cx="675075" cy="136943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0BFD5E-46F2-49F7-868F-AB438D64FC4C}"/>
              </a:ext>
            </a:extLst>
          </p:cNvPr>
          <p:cNvSpPr/>
          <p:nvPr/>
        </p:nvSpPr>
        <p:spPr>
          <a:xfrm>
            <a:off x="3261947" y="4042027"/>
            <a:ext cx="442494" cy="213839"/>
          </a:xfrm>
          <a:prstGeom prst="rect">
            <a:avLst/>
          </a:prstGeom>
          <a:noFill/>
          <a:ln w="19050">
            <a:solidFill>
              <a:srgbClr val="F89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D04C46-A4A0-4430-8277-E2197F6321E8}"/>
              </a:ext>
            </a:extLst>
          </p:cNvPr>
          <p:cNvSpPr/>
          <p:nvPr/>
        </p:nvSpPr>
        <p:spPr>
          <a:xfrm>
            <a:off x="3756195" y="4042028"/>
            <a:ext cx="809573" cy="21383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36A297-52BA-4212-80BD-FDEC216F38B4}"/>
              </a:ext>
            </a:extLst>
          </p:cNvPr>
          <p:cNvSpPr/>
          <p:nvPr/>
        </p:nvSpPr>
        <p:spPr>
          <a:xfrm>
            <a:off x="2411760" y="2521190"/>
            <a:ext cx="675075" cy="13694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3214770" y="3831890"/>
            <a:ext cx="1447240" cy="49213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23DB72-176B-4C85-822E-0F9752173965}"/>
              </a:ext>
            </a:extLst>
          </p:cNvPr>
          <p:cNvSpPr/>
          <p:nvPr/>
        </p:nvSpPr>
        <p:spPr>
          <a:xfrm>
            <a:off x="4820222" y="3904687"/>
            <a:ext cx="1335829" cy="461665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4BB968"/>
                </a:solidFill>
                <a:latin typeface="+mn-ea"/>
              </a:rPr>
              <a:t>表格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  <a:p>
            <a:pPr algn="ctr"/>
            <a:r>
              <a:rPr lang="en-US" altLang="zh-CN" sz="1200" b="1" dirty="0">
                <a:solidFill>
                  <a:srgbClr val="4BB968"/>
                </a:solidFill>
                <a:latin typeface="+mn-ea"/>
              </a:rPr>
              <a:t>subtable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443D608-4373-4E65-88D4-6D2F665502A7}"/>
              </a:ext>
            </a:extLst>
          </p:cNvPr>
          <p:cNvGrpSpPr/>
          <p:nvPr/>
        </p:nvGrpSpPr>
        <p:grpSpPr>
          <a:xfrm flipH="1" flipV="1">
            <a:off x="4681972" y="4065323"/>
            <a:ext cx="1263615" cy="340361"/>
            <a:chOff x="755576" y="1779662"/>
            <a:chExt cx="2880320" cy="360040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052CA7D-E476-4E78-A1A1-9EA463C5C4A3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73DAD22-0A6A-4ECF-8C71-5AF72B6E5446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523649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1" y="887547"/>
            <a:ext cx="4916136" cy="41508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3CCA8-5CE6-463E-89EC-68411EAF69E9}"/>
              </a:ext>
            </a:extLst>
          </p:cNvPr>
          <p:cNvSpPr/>
          <p:nvPr/>
        </p:nvSpPr>
        <p:spPr>
          <a:xfrm>
            <a:off x="2386832" y="2042299"/>
            <a:ext cx="435137" cy="21441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DD76F2-C673-4106-A619-F290221D6B33}"/>
              </a:ext>
            </a:extLst>
          </p:cNvPr>
          <p:cNvSpPr/>
          <p:nvPr/>
        </p:nvSpPr>
        <p:spPr>
          <a:xfrm>
            <a:off x="746575" y="2346725"/>
            <a:ext cx="720080" cy="180020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246E04-188E-414F-B5AD-165EC26AC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041" y="1496422"/>
            <a:ext cx="937100" cy="14763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F94E67C-CDCF-4888-9EEE-F3660ECE9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111" y="1356615"/>
            <a:ext cx="3199349" cy="186392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193957C-A813-4811-A9E0-0FD5E3710067}"/>
              </a:ext>
            </a:extLst>
          </p:cNvPr>
          <p:cNvCxnSpPr>
            <a:cxnSpLocks/>
          </p:cNvCxnSpPr>
          <p:nvPr/>
        </p:nvCxnSpPr>
        <p:spPr>
          <a:xfrm>
            <a:off x="2839312" y="2191782"/>
            <a:ext cx="607563" cy="0"/>
          </a:xfrm>
          <a:prstGeom prst="straightConnector1">
            <a:avLst/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731919-1D60-41C4-8840-58FA9825337F}"/>
              </a:ext>
            </a:extLst>
          </p:cNvPr>
          <p:cNvCxnSpPr>
            <a:cxnSpLocks/>
          </p:cNvCxnSpPr>
          <p:nvPr/>
        </p:nvCxnSpPr>
        <p:spPr>
          <a:xfrm>
            <a:off x="4436985" y="2191782"/>
            <a:ext cx="1001059" cy="0"/>
          </a:xfrm>
          <a:prstGeom prst="straightConnector1">
            <a:avLst/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/>
          <p:nvPr/>
        </p:nvCxnSpPr>
        <p:spPr>
          <a:xfrm>
            <a:off x="6001211" y="2211710"/>
            <a:ext cx="370989" cy="0"/>
          </a:xfrm>
          <a:prstGeom prst="straightConnector1">
            <a:avLst/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1A84FD6-4EB6-4BD6-876B-9ABD4D14FDF7}"/>
              </a:ext>
            </a:extLst>
          </p:cNvPr>
          <p:cNvSpPr txBox="1"/>
          <p:nvPr/>
        </p:nvSpPr>
        <p:spPr>
          <a:xfrm>
            <a:off x="6349413" y="2027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22830"/>
                </a:solidFill>
              </a:rPr>
              <a:t>顾客信息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D053ED3-275C-4BE1-85F5-941A69B78EDB}"/>
              </a:ext>
            </a:extLst>
          </p:cNvPr>
          <p:cNvCxnSpPr>
            <a:cxnSpLocks/>
            <a:stCxn id="7" idx="0"/>
            <a:endCxn id="6" idx="0"/>
          </p:cNvCxnSpPr>
          <p:nvPr/>
        </p:nvCxnSpPr>
        <p:spPr>
          <a:xfrm rot="5400000" flipH="1" flipV="1">
            <a:off x="1703295" y="1445619"/>
            <a:ext cx="304426" cy="1497786"/>
          </a:xfrm>
          <a:prstGeom prst="bentConnector3">
            <a:avLst>
              <a:gd name="adj1" fmla="val 175092"/>
            </a:avLst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6F30537-EA72-4112-A07D-BD7943EE7C0C}"/>
              </a:ext>
            </a:extLst>
          </p:cNvPr>
          <p:cNvSpPr/>
          <p:nvPr/>
        </p:nvSpPr>
        <p:spPr>
          <a:xfrm>
            <a:off x="5577682" y="2087303"/>
            <a:ext cx="344468" cy="214417"/>
          </a:xfrm>
          <a:prstGeom prst="rect">
            <a:avLst/>
          </a:prstGeom>
          <a:noFill/>
          <a:ln w="19050"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06618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92" y="816555"/>
            <a:ext cx="4916136" cy="41508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731919-1D60-41C4-8840-58FA9825337F}"/>
              </a:ext>
            </a:extLst>
          </p:cNvPr>
          <p:cNvCxnSpPr/>
          <p:nvPr/>
        </p:nvCxnSpPr>
        <p:spPr>
          <a:xfrm>
            <a:off x="3311860" y="2436736"/>
            <a:ext cx="370989" cy="0"/>
          </a:xfrm>
          <a:prstGeom prst="straightConnector1">
            <a:avLst/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>
            <a:cxnSpLocks/>
          </p:cNvCxnSpPr>
          <p:nvPr/>
        </p:nvCxnSpPr>
        <p:spPr>
          <a:xfrm>
            <a:off x="4984013" y="2436735"/>
            <a:ext cx="623102" cy="0"/>
          </a:xfrm>
          <a:prstGeom prst="straightConnector1">
            <a:avLst/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C105BCA-A2A7-4378-B02E-EF1D9DADCE44}"/>
              </a:ext>
            </a:extLst>
          </p:cNvPr>
          <p:cNvSpPr/>
          <p:nvPr/>
        </p:nvSpPr>
        <p:spPr>
          <a:xfrm>
            <a:off x="2367062" y="2211713"/>
            <a:ext cx="944798" cy="405044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BC1A7A-6129-473E-B98C-509AA9C2A42B}"/>
              </a:ext>
            </a:extLst>
          </p:cNvPr>
          <p:cNvSpPr/>
          <p:nvPr/>
        </p:nvSpPr>
        <p:spPr>
          <a:xfrm>
            <a:off x="1466655" y="2280896"/>
            <a:ext cx="746472" cy="155839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1A1A7F-D5D0-42AE-9BB5-2DF1C4605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905" y="1976677"/>
            <a:ext cx="1223010" cy="9201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1D71E0-39D7-48FA-8F28-D232A9992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445" y="1197957"/>
            <a:ext cx="3009596" cy="31072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565ADA2-DDFE-4899-BF71-F0202CEE64B6}"/>
              </a:ext>
            </a:extLst>
          </p:cNvPr>
          <p:cNvSpPr/>
          <p:nvPr/>
        </p:nvSpPr>
        <p:spPr>
          <a:xfrm>
            <a:off x="5669974" y="1555343"/>
            <a:ext cx="945105" cy="406806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EEFB429-6076-4803-B38C-654D523F4211}"/>
              </a:ext>
            </a:extLst>
          </p:cNvPr>
          <p:cNvCxnSpPr>
            <a:cxnSpLocks/>
            <a:stCxn id="16" idx="0"/>
            <a:endCxn id="15" idx="0"/>
          </p:cNvCxnSpPr>
          <p:nvPr/>
        </p:nvCxnSpPr>
        <p:spPr>
          <a:xfrm rot="5400000" flipH="1" flipV="1">
            <a:off x="2305085" y="1746520"/>
            <a:ext cx="69183" cy="999570"/>
          </a:xfrm>
          <a:prstGeom prst="bentConnector3">
            <a:avLst>
              <a:gd name="adj1" fmla="val 430428"/>
            </a:avLst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BC29FB9-826E-44F1-A6EA-50F62AF368AE}"/>
              </a:ext>
            </a:extLst>
          </p:cNvPr>
          <p:cNvSpPr txBox="1"/>
          <p:nvPr/>
        </p:nvSpPr>
        <p:spPr>
          <a:xfrm>
            <a:off x="7002270" y="16073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DA907"/>
                </a:solidFill>
              </a:rPr>
              <a:t>公司名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02F5034-EC61-42EE-AAD9-622282E40347}"/>
              </a:ext>
            </a:extLst>
          </p:cNvPr>
          <p:cNvCxnSpPr/>
          <p:nvPr/>
        </p:nvCxnSpPr>
        <p:spPr>
          <a:xfrm>
            <a:off x="6631281" y="1792011"/>
            <a:ext cx="370989" cy="0"/>
          </a:xfrm>
          <a:prstGeom prst="straightConnector1">
            <a:avLst/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435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92" y="816555"/>
            <a:ext cx="4916135" cy="41508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90072" y="3022552"/>
            <a:ext cx="234380" cy="0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C105BCA-A2A7-4378-B02E-EF1D9DADCE44}"/>
              </a:ext>
            </a:extLst>
          </p:cNvPr>
          <p:cNvSpPr/>
          <p:nvPr/>
        </p:nvSpPr>
        <p:spPr>
          <a:xfrm>
            <a:off x="2367062" y="2824171"/>
            <a:ext cx="1223010" cy="467657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1D71E0-39D7-48FA-8F28-D232A9992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15" y="1313684"/>
            <a:ext cx="2808819" cy="31075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565ADA2-DDFE-4899-BF71-F0202CEE64B6}"/>
              </a:ext>
            </a:extLst>
          </p:cNvPr>
          <p:cNvSpPr/>
          <p:nvPr/>
        </p:nvSpPr>
        <p:spPr>
          <a:xfrm>
            <a:off x="5652120" y="1624884"/>
            <a:ext cx="945105" cy="406806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C52ADB-DF82-453A-B506-01F863606FA1}"/>
              </a:ext>
            </a:extLst>
          </p:cNvPr>
          <p:cNvSpPr/>
          <p:nvPr/>
        </p:nvSpPr>
        <p:spPr>
          <a:xfrm>
            <a:off x="5681439" y="2192567"/>
            <a:ext cx="1410841" cy="834200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EEFB429-6076-4803-B38C-654D523F4211}"/>
              </a:ext>
            </a:extLst>
          </p:cNvPr>
          <p:cNvCxnSpPr>
            <a:cxnSpLocks/>
            <a:stCxn id="18" idx="0"/>
            <a:endCxn id="15" idx="0"/>
          </p:cNvCxnSpPr>
          <p:nvPr/>
        </p:nvCxnSpPr>
        <p:spPr>
          <a:xfrm rot="16200000" flipH="1">
            <a:off x="1996782" y="1842386"/>
            <a:ext cx="69115" cy="1894454"/>
          </a:xfrm>
          <a:prstGeom prst="bentConnector3">
            <a:avLst>
              <a:gd name="adj1" fmla="val -330753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244B547-6FD3-4940-94F2-5E9021DAA8AB}"/>
              </a:ext>
            </a:extLst>
          </p:cNvPr>
          <p:cNvSpPr/>
          <p:nvPr/>
        </p:nvSpPr>
        <p:spPr>
          <a:xfrm>
            <a:off x="701570" y="2755056"/>
            <a:ext cx="765085" cy="155839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8C902CC-E669-474D-9821-81D716A23E7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"/>
          <a:stretch/>
        </p:blipFill>
        <p:spPr>
          <a:xfrm>
            <a:off x="3824452" y="2562325"/>
            <a:ext cx="1512635" cy="9204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F15CCDE-074A-48F4-A7B3-87DB12EE942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337087" y="3022552"/>
            <a:ext cx="315033" cy="0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95256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92" y="816555"/>
            <a:ext cx="4916134" cy="41508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356865" y="3471851"/>
            <a:ext cx="360040" cy="0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C105BCA-A2A7-4378-B02E-EF1D9DADCE44}"/>
              </a:ext>
            </a:extLst>
          </p:cNvPr>
          <p:cNvSpPr/>
          <p:nvPr/>
        </p:nvSpPr>
        <p:spPr>
          <a:xfrm>
            <a:off x="2367062" y="3246826"/>
            <a:ext cx="989803" cy="450050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1D71E0-39D7-48FA-8F28-D232A9992C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085" y="1221600"/>
            <a:ext cx="2551286" cy="3375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565ADA2-DDFE-4899-BF71-F0202CEE64B6}"/>
              </a:ext>
            </a:extLst>
          </p:cNvPr>
          <p:cNvSpPr/>
          <p:nvPr/>
        </p:nvSpPr>
        <p:spPr>
          <a:xfrm>
            <a:off x="5381312" y="1536635"/>
            <a:ext cx="945105" cy="326521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EEFB429-6076-4803-B38C-654D523F4211}"/>
              </a:ext>
            </a:extLst>
          </p:cNvPr>
          <p:cNvCxnSpPr>
            <a:cxnSpLocks/>
            <a:stCxn id="18" idx="0"/>
            <a:endCxn id="15" idx="0"/>
          </p:cNvCxnSpPr>
          <p:nvPr/>
        </p:nvCxnSpPr>
        <p:spPr>
          <a:xfrm rot="16200000" flipH="1">
            <a:off x="1654458" y="2039321"/>
            <a:ext cx="637159" cy="1777851"/>
          </a:xfrm>
          <a:prstGeom prst="bentConnector3">
            <a:avLst>
              <a:gd name="adj1" fmla="val -35878"/>
            </a:avLst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244B547-6FD3-4940-94F2-5E9021DAA8AB}"/>
              </a:ext>
            </a:extLst>
          </p:cNvPr>
          <p:cNvSpPr/>
          <p:nvPr/>
        </p:nvSpPr>
        <p:spPr>
          <a:xfrm>
            <a:off x="701570" y="2609667"/>
            <a:ext cx="765085" cy="155839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430BC1B-1603-4427-847C-92FD5A266F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280" y="3017763"/>
            <a:ext cx="1223009" cy="908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DC4253D-5399-4F89-96DE-6FF96E477DF3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969290" y="3471851"/>
            <a:ext cx="367795" cy="0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CCB4760-3B89-4EFE-AE7C-29B923720CFD}"/>
              </a:ext>
            </a:extLst>
          </p:cNvPr>
          <p:cNvSpPr/>
          <p:nvPr/>
        </p:nvSpPr>
        <p:spPr>
          <a:xfrm>
            <a:off x="6392537" y="1528111"/>
            <a:ext cx="8011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域名</a:t>
            </a:r>
            <a:endParaRPr lang="en-US" altLang="zh-CN" sz="1200" b="1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8561D4-1B3A-44C4-9A36-7373F589EDE2}"/>
              </a:ext>
            </a:extLst>
          </p:cNvPr>
          <p:cNvSpPr/>
          <p:nvPr/>
        </p:nvSpPr>
        <p:spPr>
          <a:xfrm>
            <a:off x="6398932" y="2860797"/>
            <a:ext cx="901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字段代码</a:t>
            </a:r>
            <a:endParaRPr lang="en-US" altLang="zh-CN" sz="1200" b="1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四角形: 角を丸くする 9">
            <a:extLst>
              <a:ext uri="{FF2B5EF4-FFF2-40B4-BE49-F238E27FC236}">
                <a16:creationId xmlns:a16="http://schemas.microsoft.com/office/drawing/2014/main" id="{D35E6339-BF39-4AA8-84A8-07C475088ADC}"/>
              </a:ext>
            </a:extLst>
          </p:cNvPr>
          <p:cNvSpPr/>
          <p:nvPr/>
        </p:nvSpPr>
        <p:spPr>
          <a:xfrm>
            <a:off x="6360947" y="3120531"/>
            <a:ext cx="1365349" cy="74889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zh-TW" altLang="en-US" sz="1000" dirty="0">
                <a:solidFill>
                  <a:schemeClr val="tx1"/>
                </a:solidFill>
                <a:latin typeface="+mn-ea"/>
              </a:rPr>
              <a:t>值为唯一。用于自动计算或者自定义编程时使用。</a:t>
            </a:r>
            <a:endParaRPr kumimoji="1"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四角形: 角を丸くする 9">
            <a:extLst>
              <a:ext uri="{FF2B5EF4-FFF2-40B4-BE49-F238E27FC236}">
                <a16:creationId xmlns:a16="http://schemas.microsoft.com/office/drawing/2014/main" id="{25B3EA5B-3653-423B-9430-EC06D85C8F33}"/>
              </a:ext>
            </a:extLst>
          </p:cNvPr>
          <p:cNvSpPr/>
          <p:nvPr/>
        </p:nvSpPr>
        <p:spPr>
          <a:xfrm>
            <a:off x="6360947" y="1749197"/>
            <a:ext cx="1180605" cy="5694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zh-TW" altLang="en-US" sz="1000" dirty="0">
                <a:solidFill>
                  <a:schemeClr val="tx1"/>
                </a:solidFill>
                <a:latin typeface="+mn-ea"/>
              </a:rPr>
              <a:t>显示在应用中的名称。可以重复。</a:t>
            </a:r>
            <a:endParaRPr kumimoji="1"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8558E22-5DEC-4D70-B98B-4C9E76621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85" y="1311198"/>
            <a:ext cx="1293741" cy="5196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2BB11AAF-683F-4FF8-8783-D05A7DCDF0D1}"/>
              </a:ext>
            </a:extLst>
          </p:cNvPr>
          <p:cNvCxnSpPr>
            <a:cxnSpLocks/>
            <a:stCxn id="20" idx="0"/>
            <a:endCxn id="25" idx="0"/>
          </p:cNvCxnSpPr>
          <p:nvPr/>
        </p:nvCxnSpPr>
        <p:spPr>
          <a:xfrm rot="5400000" flipH="1" flipV="1">
            <a:off x="6817592" y="347472"/>
            <a:ext cx="225437" cy="2152891"/>
          </a:xfrm>
          <a:prstGeom prst="bentConnector3">
            <a:avLst>
              <a:gd name="adj1" fmla="val 201403"/>
            </a:avLst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5F698FA1-CC4F-4D88-84E0-8D7700E11D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645" y="3726168"/>
            <a:ext cx="1131757" cy="5384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4A6B0DF6-90E0-46B7-8619-84F57B14E56A}"/>
              </a:ext>
            </a:extLst>
          </p:cNvPr>
          <p:cNvCxnSpPr>
            <a:cxnSpLocks/>
            <a:stCxn id="27" idx="2"/>
            <a:endCxn id="40" idx="2"/>
          </p:cNvCxnSpPr>
          <p:nvPr/>
        </p:nvCxnSpPr>
        <p:spPr>
          <a:xfrm rot="16200000" flipH="1">
            <a:off x="6938965" y="3365017"/>
            <a:ext cx="31640" cy="1767477"/>
          </a:xfrm>
          <a:prstGeom prst="bentConnector3">
            <a:avLst>
              <a:gd name="adj1" fmla="val 950009"/>
            </a:avLst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9C52ADB-DF82-453A-B506-01F863606FA1}"/>
              </a:ext>
            </a:extLst>
          </p:cNvPr>
          <p:cNvSpPr/>
          <p:nvPr/>
        </p:nvSpPr>
        <p:spPr>
          <a:xfrm>
            <a:off x="5365626" y="3831890"/>
            <a:ext cx="1410841" cy="401046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74528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92" y="816555"/>
            <a:ext cx="4916134" cy="41508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156758" y="3487053"/>
            <a:ext cx="436841" cy="0"/>
          </a:xfrm>
          <a:prstGeom prst="straightConnector1">
            <a:avLst/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C105BCA-A2A7-4378-B02E-EF1D9DADCE44}"/>
              </a:ext>
            </a:extLst>
          </p:cNvPr>
          <p:cNvSpPr/>
          <p:nvPr/>
        </p:nvSpPr>
        <p:spPr>
          <a:xfrm>
            <a:off x="4166955" y="3262028"/>
            <a:ext cx="989803" cy="450050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1D71E0-39D7-48FA-8F28-D232A9992C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599" y="1221600"/>
            <a:ext cx="2699521" cy="33753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565ADA2-DDFE-4899-BF71-F0202CEE64B6}"/>
              </a:ext>
            </a:extLst>
          </p:cNvPr>
          <p:cNvSpPr/>
          <p:nvPr/>
        </p:nvSpPr>
        <p:spPr>
          <a:xfrm>
            <a:off x="5593600" y="1492146"/>
            <a:ext cx="913616" cy="401046"/>
          </a:xfrm>
          <a:prstGeom prst="rect">
            <a:avLst/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C52ADB-DF82-453A-B506-01F863606FA1}"/>
              </a:ext>
            </a:extLst>
          </p:cNvPr>
          <p:cNvSpPr/>
          <p:nvPr/>
        </p:nvSpPr>
        <p:spPr>
          <a:xfrm>
            <a:off x="5644710" y="2032103"/>
            <a:ext cx="2212655" cy="335318"/>
          </a:xfrm>
          <a:prstGeom prst="rect">
            <a:avLst/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EEFB429-6076-4803-B38C-654D523F4211}"/>
              </a:ext>
            </a:extLst>
          </p:cNvPr>
          <p:cNvCxnSpPr>
            <a:cxnSpLocks/>
            <a:stCxn id="18" idx="0"/>
            <a:endCxn id="15" idx="0"/>
          </p:cNvCxnSpPr>
          <p:nvPr/>
        </p:nvCxnSpPr>
        <p:spPr>
          <a:xfrm rot="16200000" flipH="1">
            <a:off x="2922478" y="1522650"/>
            <a:ext cx="666097" cy="2812659"/>
          </a:xfrm>
          <a:prstGeom prst="bentConnector3">
            <a:avLst>
              <a:gd name="adj1" fmla="val -34319"/>
            </a:avLst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244B547-6FD3-4940-94F2-5E9021DAA8AB}"/>
              </a:ext>
            </a:extLst>
          </p:cNvPr>
          <p:cNvSpPr/>
          <p:nvPr/>
        </p:nvSpPr>
        <p:spPr>
          <a:xfrm>
            <a:off x="1466655" y="2595931"/>
            <a:ext cx="765085" cy="15583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8558E22-5DEC-4D70-B98B-4C9E76621A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901" y="1371318"/>
            <a:ext cx="1397101" cy="5400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2BB11AAF-683F-4FF8-8783-D05A7DCDF0D1}"/>
              </a:ext>
            </a:extLst>
          </p:cNvPr>
          <p:cNvCxnSpPr>
            <a:cxnSpLocks/>
            <a:stCxn id="20" idx="0"/>
            <a:endCxn id="25" idx="0"/>
          </p:cNvCxnSpPr>
          <p:nvPr/>
        </p:nvCxnSpPr>
        <p:spPr>
          <a:xfrm rot="5400000" flipH="1" flipV="1">
            <a:off x="6830016" y="591710"/>
            <a:ext cx="120828" cy="1680044"/>
          </a:xfrm>
          <a:prstGeom prst="bentConnector3">
            <a:avLst>
              <a:gd name="adj1" fmla="val 289195"/>
            </a:avLst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5F698FA1-CC4F-4D88-84E0-8D7700E11D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294" y="2483197"/>
            <a:ext cx="1191707" cy="5601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4A6B0DF6-90E0-46B7-8619-84F57B14E56A}"/>
              </a:ext>
            </a:extLst>
          </p:cNvPr>
          <p:cNvCxnSpPr>
            <a:cxnSpLocks/>
            <a:stCxn id="27" idx="2"/>
            <a:endCxn id="40" idx="2"/>
          </p:cNvCxnSpPr>
          <p:nvPr/>
        </p:nvCxnSpPr>
        <p:spPr>
          <a:xfrm rot="16200000" flipH="1">
            <a:off x="6954154" y="2164305"/>
            <a:ext cx="675879" cy="1082110"/>
          </a:xfrm>
          <a:prstGeom prst="bentConnector3">
            <a:avLst>
              <a:gd name="adj1" fmla="val 133823"/>
            </a:avLst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69927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9" y="816555"/>
            <a:ext cx="4916135" cy="41508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4FD109A-0690-4170-AE0C-B0B4B708D2B0}"/>
              </a:ext>
            </a:extLst>
          </p:cNvPr>
          <p:cNvSpPr/>
          <p:nvPr/>
        </p:nvSpPr>
        <p:spPr>
          <a:xfrm>
            <a:off x="2980350" y="3904992"/>
            <a:ext cx="933781" cy="376948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52AA574-4644-4388-8BEC-7CA183E8ED23}"/>
              </a:ext>
            </a:extLst>
          </p:cNvPr>
          <p:cNvSpPr/>
          <p:nvPr/>
        </p:nvSpPr>
        <p:spPr>
          <a:xfrm>
            <a:off x="1483862" y="2931790"/>
            <a:ext cx="720080" cy="13501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74AA1A9C-6096-45F3-B63E-FA723733547E}"/>
              </a:ext>
            </a:extLst>
          </p:cNvPr>
          <p:cNvCxnSpPr>
            <a:cxnSpLocks/>
            <a:stCxn id="39" idx="3"/>
            <a:endCxn id="38" idx="0"/>
          </p:cNvCxnSpPr>
          <p:nvPr/>
        </p:nvCxnSpPr>
        <p:spPr>
          <a:xfrm>
            <a:off x="2203942" y="2999298"/>
            <a:ext cx="1243299" cy="905694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D6FE9B3D-8F37-41B1-AB97-E7AE4C2F4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07" y="818845"/>
            <a:ext cx="3105345" cy="30320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D58C6E-DF5A-45D4-82DC-467ADB073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579" y="1104012"/>
            <a:ext cx="1420874" cy="5502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96E9163-97DE-4F09-B5A2-7CD97A8D3301}"/>
              </a:ext>
            </a:extLst>
          </p:cNvPr>
          <p:cNvSpPr/>
          <p:nvPr/>
        </p:nvSpPr>
        <p:spPr>
          <a:xfrm>
            <a:off x="5562110" y="1185411"/>
            <a:ext cx="1082806" cy="39622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FACFE61B-0810-4CBC-9453-DDCE3E741C2D}"/>
              </a:ext>
            </a:extLst>
          </p:cNvPr>
          <p:cNvCxnSpPr>
            <a:cxnSpLocks/>
            <a:stCxn id="19" idx="3"/>
            <a:endCxn id="4" idx="0"/>
          </p:cNvCxnSpPr>
          <p:nvPr/>
        </p:nvCxnSpPr>
        <p:spPr>
          <a:xfrm flipV="1">
            <a:off x="6644916" y="1086585"/>
            <a:ext cx="1138100" cy="296941"/>
          </a:xfrm>
          <a:prstGeom prst="bentConnector4">
            <a:avLst>
              <a:gd name="adj1" fmla="val 18788"/>
              <a:gd name="adj2" fmla="val 176985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16328925-990F-4F34-B504-00494A19B5D5}"/>
              </a:ext>
            </a:extLst>
          </p:cNvPr>
          <p:cNvSpPr/>
          <p:nvPr/>
        </p:nvSpPr>
        <p:spPr>
          <a:xfrm>
            <a:off x="5588176" y="1974604"/>
            <a:ext cx="1641919" cy="68715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786860AB-EFF7-4F4D-9461-55F2FCE0B508}"/>
              </a:ext>
            </a:extLst>
          </p:cNvPr>
          <p:cNvCxnSpPr>
            <a:cxnSpLocks/>
            <a:stCxn id="24" idx="3"/>
            <a:endCxn id="22" idx="0"/>
          </p:cNvCxnSpPr>
          <p:nvPr/>
        </p:nvCxnSpPr>
        <p:spPr>
          <a:xfrm>
            <a:off x="7230095" y="2318182"/>
            <a:ext cx="142941" cy="674836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62A57918-419B-4DF5-862D-57479684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619" y="3003442"/>
            <a:ext cx="2240834" cy="12476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CB4CAB8C-C7BD-4868-8FDB-2C101666F3E0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 flipV="1">
            <a:off x="3914131" y="2334876"/>
            <a:ext cx="1605776" cy="1758590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0438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9" y="816555"/>
            <a:ext cx="4916135" cy="41508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4FD109A-0690-4170-AE0C-B0B4B708D2B0}"/>
              </a:ext>
            </a:extLst>
          </p:cNvPr>
          <p:cNvSpPr/>
          <p:nvPr/>
        </p:nvSpPr>
        <p:spPr>
          <a:xfrm>
            <a:off x="5067055" y="3961688"/>
            <a:ext cx="225025" cy="230242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FE9B3D-8F37-41B1-AB97-E7AE4C2F4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96" y="1177433"/>
            <a:ext cx="3105345" cy="13145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F981B011-2316-4000-A253-F1CE326A7959}"/>
              </a:ext>
            </a:extLst>
          </p:cNvPr>
          <p:cNvSpPr/>
          <p:nvPr/>
        </p:nvSpPr>
        <p:spPr>
          <a:xfrm>
            <a:off x="2301112" y="4416955"/>
            <a:ext cx="1335829" cy="461665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4BB968"/>
                </a:solidFill>
                <a:latin typeface="+mn-ea"/>
              </a:rPr>
              <a:t>表格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  <a:p>
            <a:pPr algn="ctr"/>
            <a:r>
              <a:rPr lang="en-US" altLang="zh-CN" sz="1200" b="1" dirty="0">
                <a:solidFill>
                  <a:srgbClr val="4BB968"/>
                </a:solidFill>
                <a:latin typeface="+mn-ea"/>
              </a:rPr>
              <a:t>subtable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D251FF0-B236-4336-8A40-2D334388257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010" y="2809924"/>
            <a:ext cx="765085" cy="6879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74AA1A9C-6096-45F3-B63E-FA723733547E}"/>
              </a:ext>
            </a:extLst>
          </p:cNvPr>
          <p:cNvCxnSpPr>
            <a:cxnSpLocks/>
            <a:stCxn id="13" idx="0"/>
            <a:endCxn id="39" idx="1"/>
          </p:cNvCxnSpPr>
          <p:nvPr/>
        </p:nvCxnSpPr>
        <p:spPr>
          <a:xfrm rot="5400000" flipH="1" flipV="1">
            <a:off x="4775262" y="1959374"/>
            <a:ext cx="1056138" cy="517557"/>
          </a:xfrm>
          <a:prstGeom prst="bentConnector2">
            <a:avLst/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16728F3-3E20-4276-9480-9F262F9CB361}"/>
              </a:ext>
            </a:extLst>
          </p:cNvPr>
          <p:cNvCxnSpPr>
            <a:cxnSpLocks/>
          </p:cNvCxnSpPr>
          <p:nvPr/>
        </p:nvCxnSpPr>
        <p:spPr>
          <a:xfrm flipV="1">
            <a:off x="5169557" y="3556642"/>
            <a:ext cx="0" cy="405046"/>
          </a:xfrm>
          <a:prstGeom prst="straightConnector1">
            <a:avLst/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552AA574-4644-4388-8BEC-7CA183E8ED23}"/>
              </a:ext>
            </a:extLst>
          </p:cNvPr>
          <p:cNvSpPr/>
          <p:nvPr/>
        </p:nvSpPr>
        <p:spPr>
          <a:xfrm>
            <a:off x="5562110" y="1528496"/>
            <a:ext cx="865575" cy="32317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DF268E-F16A-4A3C-B254-F568C61FE7E1}"/>
              </a:ext>
            </a:extLst>
          </p:cNvPr>
          <p:cNvSpPr txBox="1"/>
          <p:nvPr/>
        </p:nvSpPr>
        <p:spPr>
          <a:xfrm>
            <a:off x="6002687" y="252674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4BB968"/>
                </a:solidFill>
              </a:rPr>
              <a:t>cilck</a:t>
            </a:r>
            <a:endParaRPr lang="zh-CN" altLang="en-US" dirty="0">
              <a:solidFill>
                <a:srgbClr val="4BB968"/>
              </a:solidFill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D3D07DD-0C01-4466-B02D-CCBC632ADE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07" y="3001347"/>
            <a:ext cx="3099816" cy="15956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786860AB-EFF7-4F4D-9461-55F2FCE0B508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>
            <a:off x="5247333" y="2599235"/>
            <a:ext cx="1495131" cy="1"/>
          </a:xfrm>
          <a:prstGeom prst="bentConnector3">
            <a:avLst>
              <a:gd name="adj1" fmla="val 50000"/>
            </a:avLst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C6153715-4B20-4052-BA5E-495FBBC8B7D0}"/>
              </a:ext>
            </a:extLst>
          </p:cNvPr>
          <p:cNvSpPr/>
          <p:nvPr/>
        </p:nvSpPr>
        <p:spPr>
          <a:xfrm>
            <a:off x="5570733" y="3328696"/>
            <a:ext cx="865575" cy="32317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96461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31" y="716114"/>
            <a:ext cx="4888004" cy="41508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F01D9E-91C9-4BFE-ABEC-704BF22C09E8}"/>
              </a:ext>
            </a:extLst>
          </p:cNvPr>
          <p:cNvSpPr/>
          <p:nvPr/>
        </p:nvSpPr>
        <p:spPr>
          <a:xfrm>
            <a:off x="2321750" y="1851670"/>
            <a:ext cx="990110" cy="31543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752F4F6-392D-48CE-927A-319F72AD3DCC}"/>
              </a:ext>
            </a:extLst>
          </p:cNvPr>
          <p:cNvSpPr txBox="1"/>
          <p:nvPr/>
        </p:nvSpPr>
        <p:spPr>
          <a:xfrm>
            <a:off x="1774733" y="17977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B0C483-EEB3-492E-B092-AEC43F96A3B0}"/>
              </a:ext>
            </a:extLst>
          </p:cNvPr>
          <p:cNvSpPr/>
          <p:nvPr/>
        </p:nvSpPr>
        <p:spPr>
          <a:xfrm>
            <a:off x="5137832" y="1536635"/>
            <a:ext cx="990110" cy="315035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12DC5F0-0E45-4D78-BFB2-159FCF0413A3}"/>
              </a:ext>
            </a:extLst>
          </p:cNvPr>
          <p:cNvSpPr txBox="1"/>
          <p:nvPr/>
        </p:nvSpPr>
        <p:spPr>
          <a:xfrm>
            <a:off x="6076398" y="15272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4BB9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7628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84FF3A-B482-4DF6-ACB6-766F56E79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1" y="718245"/>
            <a:ext cx="5011538" cy="42557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4CA8867-0BA4-4A03-B461-9D1383D6841D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10334-8666-4BDD-9303-65C3612961EE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设置访问权限</a:t>
            </a:r>
            <a:endParaRPr lang="zh-CN" altLang="en-US" sz="1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F3D13D-E166-4395-B86F-6C604B5C3CF8}"/>
              </a:ext>
            </a:extLst>
          </p:cNvPr>
          <p:cNvSpPr/>
          <p:nvPr/>
        </p:nvSpPr>
        <p:spPr>
          <a:xfrm>
            <a:off x="3806915" y="3786885"/>
            <a:ext cx="360766" cy="257689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31987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84FF3A-B482-4DF6-ACB6-766F56E79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94" y="1356615"/>
            <a:ext cx="8091461" cy="22517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4CA8867-0BA4-4A03-B461-9D1383D6841D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10334-8666-4BDD-9303-65C3612961EE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设置访问权限</a:t>
            </a:r>
            <a:endParaRPr lang="zh-CN" altLang="en-US" sz="1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F3D13D-E166-4395-B86F-6C604B5C3CF8}"/>
              </a:ext>
            </a:extLst>
          </p:cNvPr>
          <p:cNvSpPr/>
          <p:nvPr/>
        </p:nvSpPr>
        <p:spPr>
          <a:xfrm>
            <a:off x="836585" y="3110177"/>
            <a:ext cx="5850650" cy="27003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FEFC087-946B-4EFA-9A3E-6E846C0DA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5" y="3972344"/>
            <a:ext cx="5850650" cy="3301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AA26A35-1D65-4FF7-B7FA-4E1DACAE34B8}"/>
              </a:ext>
            </a:extLst>
          </p:cNvPr>
          <p:cNvSpPr/>
          <p:nvPr/>
        </p:nvSpPr>
        <p:spPr>
          <a:xfrm>
            <a:off x="573043" y="1851670"/>
            <a:ext cx="668587" cy="410381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46BE93-7D58-43C1-8C53-24A8A5163178}"/>
              </a:ext>
            </a:extLst>
          </p:cNvPr>
          <p:cNvSpPr txBox="1"/>
          <p:nvPr/>
        </p:nvSpPr>
        <p:spPr>
          <a:xfrm>
            <a:off x="148569" y="1851670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73503B-C749-4557-A3AB-8CFEFB0DB0F5}"/>
              </a:ext>
            </a:extLst>
          </p:cNvPr>
          <p:cNvSpPr txBox="1"/>
          <p:nvPr/>
        </p:nvSpPr>
        <p:spPr>
          <a:xfrm>
            <a:off x="157545" y="39418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4BB968"/>
              </a:solidFill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5ECA766-1327-472D-BECC-071E7EDAC5FD}"/>
              </a:ext>
            </a:extLst>
          </p:cNvPr>
          <p:cNvCxnSpPr>
            <a:cxnSpLocks/>
          </p:cNvCxnSpPr>
          <p:nvPr/>
        </p:nvCxnSpPr>
        <p:spPr>
          <a:xfrm rot="5400000">
            <a:off x="2996327" y="3671305"/>
            <a:ext cx="541061" cy="1"/>
          </a:xfrm>
          <a:prstGeom prst="bentConnector3">
            <a:avLst>
              <a:gd name="adj1" fmla="val 50000"/>
            </a:avLst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AE228C4-A58D-49C7-93E3-BBB29B0D771C}"/>
              </a:ext>
            </a:extLst>
          </p:cNvPr>
          <p:cNvSpPr txBox="1"/>
          <p:nvPr/>
        </p:nvSpPr>
        <p:spPr>
          <a:xfrm>
            <a:off x="3401870" y="34866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CN" dirty="0">
                <a:solidFill>
                  <a:srgbClr val="4BB968"/>
                </a:solidFill>
              </a:rPr>
              <a:t>取消勾选项</a:t>
            </a:r>
            <a:endParaRPr lang="zh-CN" altLang="en-US" dirty="0">
              <a:solidFill>
                <a:srgbClr val="4BB9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3602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102" y="799918"/>
            <a:ext cx="4948313" cy="42021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9C57806-7D99-48D9-B3F5-9B98E83670D2}"/>
              </a:ext>
            </a:extLst>
          </p:cNvPr>
          <p:cNvSpPr/>
          <p:nvPr/>
        </p:nvSpPr>
        <p:spPr>
          <a:xfrm>
            <a:off x="3439059" y="1221600"/>
            <a:ext cx="2798126" cy="369332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7362310" y="1221600"/>
            <a:ext cx="855095" cy="369332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设置完成，公开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948F03-2DD3-45A4-82A4-51B66DA62F2B}"/>
              </a:ext>
            </a:extLst>
          </p:cNvPr>
          <p:cNvSpPr txBox="1"/>
          <p:nvPr/>
        </p:nvSpPr>
        <p:spPr>
          <a:xfrm>
            <a:off x="2906815" y="117659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6DEC5C-6FCC-444D-A779-65B660C53FBD}"/>
              </a:ext>
            </a:extLst>
          </p:cNvPr>
          <p:cNvSpPr txBox="1"/>
          <p:nvPr/>
        </p:nvSpPr>
        <p:spPr>
          <a:xfrm>
            <a:off x="8296962" y="12216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4BB968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6FA86A-A034-4998-B76E-E548B085DF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4" y="2217051"/>
            <a:ext cx="2459315" cy="5933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35BE86AA-7444-4B5B-AA93-6F853C3FAA18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 rot="5400000">
            <a:off x="3094118" y="473046"/>
            <a:ext cx="626119" cy="2861890"/>
          </a:xfrm>
          <a:prstGeom prst="bentConnector3">
            <a:avLst>
              <a:gd name="adj1" fmla="val 50000"/>
            </a:avLst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00016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89C2452A-94F2-4BE1-BE87-C02FF17D8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51" y="1498088"/>
            <a:ext cx="6992939" cy="27310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添加记录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7DC6E8C-4243-4094-99A5-189638AA1F82}"/>
              </a:ext>
            </a:extLst>
          </p:cNvPr>
          <p:cNvGrpSpPr/>
          <p:nvPr/>
        </p:nvGrpSpPr>
        <p:grpSpPr>
          <a:xfrm>
            <a:off x="5787135" y="2048075"/>
            <a:ext cx="1419117" cy="748700"/>
            <a:chOff x="5742130" y="2571750"/>
            <a:chExt cx="1419117" cy="7487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9C57806-7D99-48D9-B3F5-9B98E83670D2}"/>
                </a:ext>
              </a:extLst>
            </p:cNvPr>
            <p:cNvSpPr/>
            <p:nvPr/>
          </p:nvSpPr>
          <p:spPr>
            <a:xfrm>
              <a:off x="6846211" y="3005011"/>
              <a:ext cx="315036" cy="315439"/>
            </a:xfrm>
            <a:prstGeom prst="rect">
              <a:avLst/>
            </a:prstGeom>
            <a:noFill/>
            <a:ln w="19050">
              <a:solidFill>
                <a:srgbClr val="62C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AF66A54-8D9B-466C-AC21-6FB041843C93}"/>
                </a:ext>
              </a:extLst>
            </p:cNvPr>
            <p:cNvGrpSpPr/>
            <p:nvPr/>
          </p:nvGrpSpPr>
          <p:grpSpPr>
            <a:xfrm>
              <a:off x="5763935" y="2863593"/>
              <a:ext cx="1082276" cy="291516"/>
              <a:chOff x="755576" y="1779662"/>
              <a:chExt cx="2880320" cy="36004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93A079FB-B785-497D-B307-43F99475B162}"/>
                  </a:ext>
                </a:extLst>
              </p:cNvPr>
              <p:cNvCxnSpPr/>
              <p:nvPr/>
            </p:nvCxnSpPr>
            <p:spPr>
              <a:xfrm>
                <a:off x="755576" y="1779663"/>
                <a:ext cx="1957772" cy="0"/>
              </a:xfrm>
              <a:prstGeom prst="line">
                <a:avLst/>
              </a:prstGeom>
              <a:ln w="19050">
                <a:solidFill>
                  <a:srgbClr val="62C9E2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170152EC-B885-4E02-9907-6813C9C75FD1}"/>
                  </a:ext>
                </a:extLst>
              </p:cNvPr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 w="19050">
                <a:solidFill>
                  <a:srgbClr val="62C9E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EA81CF4-86B1-4AB7-BAB4-BD9C8BC53AAD}"/>
                </a:ext>
              </a:extLst>
            </p:cNvPr>
            <p:cNvSpPr/>
            <p:nvPr/>
          </p:nvSpPr>
          <p:spPr>
            <a:xfrm>
              <a:off x="5742130" y="2571750"/>
              <a:ext cx="1305525" cy="276999"/>
            </a:xfrm>
            <a:prstGeom prst="rect">
              <a:avLst/>
            </a:prstGeom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rgbClr val="62C9E2"/>
                  </a:solidFill>
                  <a:latin typeface="+mj-ea"/>
                  <a:ea typeface="+mj-ea"/>
                </a:rPr>
                <a:t>添加记录</a:t>
              </a:r>
              <a:endParaRPr lang="en-US" altLang="zh-CN" sz="1200" dirty="0">
                <a:solidFill>
                  <a:srgbClr val="62C9E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271277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626" y="864554"/>
            <a:ext cx="5504679" cy="39574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9C57806-7D99-48D9-B3F5-9B98E83670D2}"/>
              </a:ext>
            </a:extLst>
          </p:cNvPr>
          <p:cNvSpPr/>
          <p:nvPr/>
        </p:nvSpPr>
        <p:spPr>
          <a:xfrm>
            <a:off x="3806916" y="3569416"/>
            <a:ext cx="1035114" cy="30747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添加记录</a:t>
            </a:r>
            <a:endParaRPr lang="zh-CN" altLang="en-US" sz="12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A81CF4-86B1-4AB7-BAB4-BD9C8BC53AAD}"/>
              </a:ext>
            </a:extLst>
          </p:cNvPr>
          <p:cNvSpPr/>
          <p:nvPr/>
        </p:nvSpPr>
        <p:spPr>
          <a:xfrm>
            <a:off x="5404316" y="3733040"/>
            <a:ext cx="5775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  <a:latin typeface="+mj-ea"/>
                <a:ea typeface="+mj-ea"/>
              </a:rPr>
              <a:t>计算</a:t>
            </a:r>
            <a:endParaRPr lang="en-US" altLang="zh-CN" sz="1400" b="1" dirty="0">
              <a:solidFill>
                <a:srgbClr val="62C9E2"/>
              </a:solidFill>
              <a:latin typeface="+mj-ea"/>
              <a:ea typeface="+mj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8D6B0C-694B-4F44-BC00-60A824F574F4}"/>
              </a:ext>
            </a:extLst>
          </p:cNvPr>
          <p:cNvSpPr/>
          <p:nvPr/>
        </p:nvSpPr>
        <p:spPr>
          <a:xfrm>
            <a:off x="2726796" y="1581641"/>
            <a:ext cx="990110" cy="360040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5ADE385-48D4-4760-B9DA-7942A4FE7D5C}"/>
              </a:ext>
            </a:extLst>
          </p:cNvPr>
          <p:cNvGrpSpPr/>
          <p:nvPr/>
        </p:nvGrpSpPr>
        <p:grpSpPr>
          <a:xfrm flipH="1" flipV="1">
            <a:off x="4842030" y="3723155"/>
            <a:ext cx="1308621" cy="352484"/>
            <a:chOff x="755576" y="1779662"/>
            <a:chExt cx="2880320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5BABD03-F76C-4630-80AF-548B4C464115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62C9E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960DA3C-25AA-4420-845C-95A3D2067C6B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62C9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28">
            <a:extLst>
              <a:ext uri="{FF2B5EF4-FFF2-40B4-BE49-F238E27FC236}">
                <a16:creationId xmlns:a16="http://schemas.microsoft.com/office/drawing/2014/main" id="{D242D053-8325-4187-96F2-072B0203E0ED}"/>
              </a:ext>
            </a:extLst>
          </p:cNvPr>
          <p:cNvSpPr txBox="1"/>
          <p:nvPr/>
        </p:nvSpPr>
        <p:spPr>
          <a:xfrm>
            <a:off x="5274151" y="4118931"/>
            <a:ext cx="1044919" cy="5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无法编辑，自动计算。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37030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675" y="746258"/>
            <a:ext cx="5959166" cy="41404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详细页面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8098531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84FF3A-B482-4DF6-ACB6-766F56E79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861560"/>
            <a:ext cx="7819407" cy="28579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4CA8867-0BA4-4A03-B461-9D1383D6841D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动手制作应用（实例：业务管理）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10334-8666-4BDD-9303-65C3612961EE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完数据后的列表页面</a:t>
            </a:r>
            <a:endParaRPr lang="zh-CN" altLang="en-US" sz="1200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A252C6-E2DC-46FE-852D-B66B0D8F9134}"/>
              </a:ext>
            </a:extLst>
          </p:cNvPr>
          <p:cNvSpPr/>
          <p:nvPr/>
        </p:nvSpPr>
        <p:spPr>
          <a:xfrm>
            <a:off x="7902370" y="3134461"/>
            <a:ext cx="243729" cy="258462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3CDAA3B8-8868-454E-8BAD-8945C675481B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 rot="5400000">
            <a:off x="6050945" y="1903603"/>
            <a:ext cx="483971" cy="3462611"/>
          </a:xfrm>
          <a:prstGeom prst="bentConnector3">
            <a:avLst>
              <a:gd name="adj1" fmla="val 50000"/>
            </a:avLst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4ECE6D6-C7DB-4B14-9468-03D21FAFF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20" y="3876894"/>
            <a:ext cx="7819407" cy="9429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1787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3F3A50B-2878-4D82-B9F6-4F2A5116DBB2}"/>
              </a:ext>
            </a:extLst>
          </p:cNvPr>
          <p:cNvSpPr/>
          <p:nvPr/>
        </p:nvSpPr>
        <p:spPr>
          <a:xfrm>
            <a:off x="0" y="3246825"/>
            <a:ext cx="9144000" cy="76508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7B52C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693516"/>
            <a:ext cx="9001000" cy="322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400" b="1" dirty="0">
                <a:solidFill>
                  <a:srgbClr val="21294D"/>
                </a:solidFill>
                <a:latin typeface="Eras Bold ITC" panose="020B0907030504020204" pitchFamily="34" charset="0"/>
                <a:ea typeface="+mj-ea"/>
              </a:rPr>
              <a:t>Great!</a:t>
            </a:r>
            <a:r>
              <a:rPr lang="zh-CN" altLang="en-US" sz="4400" b="1" dirty="0">
                <a:solidFill>
                  <a:srgbClr val="21294D"/>
                </a:solidFill>
                <a:latin typeface="Eras Bold ITC" panose="020B0907030504020204" pitchFamily="34" charset="0"/>
                <a:ea typeface="+mj-ea"/>
              </a:rPr>
              <a:t> </a:t>
            </a:r>
            <a:endParaRPr lang="en-US" altLang="zh-CN" sz="4400" b="1" dirty="0">
              <a:solidFill>
                <a:srgbClr val="21294D"/>
              </a:solidFill>
              <a:latin typeface="Eras Bold ITC" panose="020B0907030504020204" pitchFamily="34" charset="0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zh-TW" altLang="en-US" sz="2800" b="1" dirty="0">
                <a:solidFill>
                  <a:srgbClr val="21294D"/>
                </a:solidFill>
                <a:latin typeface="Impact" pitchFamily="34" charset="0"/>
                <a:ea typeface="+mj-ea"/>
              </a:rPr>
              <a:t>这个应用创建完成了！</a:t>
            </a:r>
          </a:p>
          <a:p>
            <a:pPr algn="ctr">
              <a:lnSpc>
                <a:spcPct val="130000"/>
              </a:lnSpc>
            </a:pPr>
            <a:r>
              <a:rPr lang="zh-TW" altLang="en-US" sz="2800" b="1" dirty="0">
                <a:solidFill>
                  <a:srgbClr val="21294D"/>
                </a:solidFill>
                <a:latin typeface="Impact" pitchFamily="34" charset="0"/>
                <a:ea typeface="+mj-ea"/>
              </a:rPr>
              <a:t>是不是很简单？</a:t>
            </a:r>
          </a:p>
          <a:p>
            <a:pPr algn="ctr">
              <a:lnSpc>
                <a:spcPct val="130000"/>
              </a:lnSpc>
            </a:pPr>
            <a:r>
              <a:rPr lang="zh-TW" altLang="en-US" sz="2800" b="1" dirty="0">
                <a:solidFill>
                  <a:srgbClr val="21294D"/>
                </a:solidFill>
                <a:latin typeface="Impact" pitchFamily="34" charset="0"/>
                <a:ea typeface="+mj-ea"/>
              </a:rPr>
              <a:t>要不要继续接受挑战呢？</a:t>
            </a:r>
            <a:br>
              <a:rPr lang="en-US" altLang="zh-TW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</a:b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下</a:t>
            </a:r>
            <a:r>
              <a: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面</a:t>
            </a: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我们来创建关联应用吧！</a:t>
            </a:r>
            <a:endParaRPr lang="zh-CN" altLang="en-US" sz="32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F19768-9C32-48C1-B4A3-DA4E8BE5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2571750"/>
            <a:ext cx="1121721" cy="216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6854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19142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关联记录列表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0627C7-22CA-45E8-BC8D-36DE6A87AC18}"/>
              </a:ext>
            </a:extLst>
          </p:cNvPr>
          <p:cNvSpPr/>
          <p:nvPr/>
        </p:nvSpPr>
        <p:spPr>
          <a:xfrm>
            <a:off x="431541" y="861560"/>
            <a:ext cx="2340258" cy="307296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b="1" dirty="0">
                <a:solidFill>
                  <a:schemeClr val="bg1"/>
                </a:solidFill>
              </a:rPr>
              <a:t>关联记录列表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760260-5636-4FB7-82B7-92FF7E45F6FA}"/>
              </a:ext>
            </a:extLst>
          </p:cNvPr>
          <p:cNvSpPr/>
          <p:nvPr/>
        </p:nvSpPr>
        <p:spPr>
          <a:xfrm>
            <a:off x="431540" y="1219683"/>
            <a:ext cx="2340259" cy="2709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zh-CN" altLang="en-US" sz="1200" dirty="0"/>
              <a:t>“关联记录列表”是指在表单内显示符合指定条件的记录的字段。不仅可显示同一应用中的记录，也可显示其他应用的记录。</a:t>
            </a:r>
            <a:endParaRPr lang="en-US" altLang="zh-CN" sz="1200" dirty="0"/>
          </a:p>
          <a:p>
            <a:pPr fontAlgn="base">
              <a:lnSpc>
                <a:spcPct val="130000"/>
              </a:lnSpc>
            </a:pPr>
            <a:endParaRPr lang="en-US" altLang="zh-CN" sz="1200" dirty="0"/>
          </a:p>
          <a:p>
            <a:pPr fontAlgn="base">
              <a:lnSpc>
                <a:spcPct val="130000"/>
              </a:lnSpc>
            </a:pPr>
            <a:r>
              <a:rPr lang="zh-CN" altLang="en-US" sz="1200" dirty="0"/>
              <a:t>分别选择以下两种字段来设置要显示的记录。</a:t>
            </a:r>
            <a:endParaRPr lang="en-US" altLang="zh-CN" sz="1200" dirty="0"/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当前应用中的字段</a:t>
            </a:r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要引用的应用中的字段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两个字段的值一致的记录将显示在关联记录列表中。</a:t>
            </a:r>
            <a:endParaRPr lang="en-US" altLang="zh-CN" sz="1200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2E9D08-B541-4E67-995C-962CFFEA2FAF}"/>
              </a:ext>
            </a:extLst>
          </p:cNvPr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387069D-E8F1-48F7-B313-C7BDF76DC5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2"/>
          <a:stretch/>
        </p:blipFill>
        <p:spPr>
          <a:xfrm>
            <a:off x="3176845" y="1491630"/>
            <a:ext cx="5375296" cy="2904748"/>
          </a:xfrm>
          <a:prstGeom prst="rect">
            <a:avLst/>
          </a:prstGeom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2B18675-2E61-4768-837B-12CF67DD0C4C}"/>
              </a:ext>
            </a:extLst>
          </p:cNvPr>
          <p:cNvSpPr txBox="1"/>
          <p:nvPr/>
        </p:nvSpPr>
        <p:spPr>
          <a:xfrm>
            <a:off x="3676447" y="9841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222830"/>
                </a:solidFill>
              </a:rPr>
              <a:t>客户信息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E597ED-8483-4449-BAF9-A7BC80184836}"/>
              </a:ext>
            </a:extLst>
          </p:cNvPr>
          <p:cNvSpPr txBox="1"/>
          <p:nvPr/>
        </p:nvSpPr>
        <p:spPr>
          <a:xfrm>
            <a:off x="6390297" y="96880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222830"/>
                </a:solidFill>
              </a:rPr>
              <a:t>销售管理表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0897E1-4826-4113-919B-36CC8A0797F4}"/>
              </a:ext>
            </a:extLst>
          </p:cNvPr>
          <p:cNvSpPr/>
          <p:nvPr/>
        </p:nvSpPr>
        <p:spPr>
          <a:xfrm>
            <a:off x="5427095" y="3156815"/>
            <a:ext cx="2520280" cy="322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FF8017"/>
                </a:solidFill>
              </a:rPr>
              <a:t>显示客户</a:t>
            </a:r>
            <a:r>
              <a:rPr lang="en-US" altLang="zh-TW" sz="1400" b="1" dirty="0">
                <a:solidFill>
                  <a:srgbClr val="FF8017"/>
                </a:solidFill>
              </a:rPr>
              <a:t>ID</a:t>
            </a:r>
            <a:r>
              <a:rPr lang="zh-TW" altLang="en-US" sz="1400" b="1" dirty="0">
                <a:solidFill>
                  <a:srgbClr val="FF8017"/>
                </a:solidFill>
              </a:rPr>
              <a:t>一致的记录</a:t>
            </a:r>
            <a:endParaRPr lang="zh-CN" altLang="en-US" sz="1400" b="1" dirty="0">
              <a:solidFill>
                <a:srgbClr val="FF8017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54F6A9-4AE1-4DB7-B9C6-3C1076289D4C}"/>
              </a:ext>
            </a:extLst>
          </p:cNvPr>
          <p:cNvSpPr/>
          <p:nvPr/>
        </p:nvSpPr>
        <p:spPr>
          <a:xfrm>
            <a:off x="3383914" y="1806665"/>
            <a:ext cx="495056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客户</a:t>
            </a:r>
            <a:r>
              <a:rPr lang="en-US" altLang="zh-TW" sz="800" dirty="0">
                <a:solidFill>
                  <a:schemeClr val="tx1"/>
                </a:solidFill>
              </a:rPr>
              <a:t>ID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32F671-DD60-4E81-88D0-C1FFDA31E96F}"/>
              </a:ext>
            </a:extLst>
          </p:cNvPr>
          <p:cNvSpPr/>
          <p:nvPr/>
        </p:nvSpPr>
        <p:spPr>
          <a:xfrm>
            <a:off x="3383914" y="2211710"/>
            <a:ext cx="603021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公司名称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906132-9362-4F2B-8879-2D4BDF26DAA4}"/>
              </a:ext>
            </a:extLst>
          </p:cNvPr>
          <p:cNvSpPr/>
          <p:nvPr/>
        </p:nvSpPr>
        <p:spPr>
          <a:xfrm>
            <a:off x="4058989" y="2227010"/>
            <a:ext cx="603021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部门名称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D37495-5C28-4A75-9E96-E35A936BCCDD}"/>
              </a:ext>
            </a:extLst>
          </p:cNvPr>
          <p:cNvSpPr/>
          <p:nvPr/>
        </p:nvSpPr>
        <p:spPr>
          <a:xfrm>
            <a:off x="3374936" y="2996349"/>
            <a:ext cx="603021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销售商品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A25EC1-C0D1-48FF-B90F-9B890F26985D}"/>
              </a:ext>
            </a:extLst>
          </p:cNvPr>
          <p:cNvSpPr/>
          <p:nvPr/>
        </p:nvSpPr>
        <p:spPr>
          <a:xfrm>
            <a:off x="4102857" y="2996349"/>
            <a:ext cx="515284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负责人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79E2DC-0611-488A-BB96-A8B2A7B9D71D}"/>
              </a:ext>
            </a:extLst>
          </p:cNvPr>
          <p:cNvSpPr/>
          <p:nvPr/>
        </p:nvSpPr>
        <p:spPr>
          <a:xfrm>
            <a:off x="3356865" y="3381840"/>
            <a:ext cx="990110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同一客户的案件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589836-1FB2-408F-9801-1C2EC674C5C0}"/>
              </a:ext>
            </a:extLst>
          </p:cNvPr>
          <p:cNvSpPr/>
          <p:nvPr/>
        </p:nvSpPr>
        <p:spPr>
          <a:xfrm>
            <a:off x="3975694" y="3586919"/>
            <a:ext cx="603021" cy="164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销售商品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852940-CC5A-44D5-B15C-DE310B9323BC}"/>
              </a:ext>
            </a:extLst>
          </p:cNvPr>
          <p:cNvSpPr/>
          <p:nvPr/>
        </p:nvSpPr>
        <p:spPr>
          <a:xfrm>
            <a:off x="4618141" y="3586328"/>
            <a:ext cx="515284" cy="164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负责人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7D6955-A8BB-4BC7-9D1B-F2916C81CCC2}"/>
              </a:ext>
            </a:extLst>
          </p:cNvPr>
          <p:cNvSpPr/>
          <p:nvPr/>
        </p:nvSpPr>
        <p:spPr>
          <a:xfrm>
            <a:off x="4618141" y="3826633"/>
            <a:ext cx="515284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刘月琪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9224C1-9228-49A3-B19C-4F46A0503927}"/>
              </a:ext>
            </a:extLst>
          </p:cNvPr>
          <p:cNvSpPr/>
          <p:nvPr/>
        </p:nvSpPr>
        <p:spPr>
          <a:xfrm>
            <a:off x="4618141" y="4059431"/>
            <a:ext cx="515284" cy="16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周世杰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34B08E-191F-4D02-B58A-47DE4384AF11}"/>
              </a:ext>
            </a:extLst>
          </p:cNvPr>
          <p:cNvSpPr/>
          <p:nvPr/>
        </p:nvSpPr>
        <p:spPr>
          <a:xfrm>
            <a:off x="7852627" y="1659193"/>
            <a:ext cx="515284" cy="1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负责人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593D78-45B9-47E7-B20D-A08ABB132020}"/>
              </a:ext>
            </a:extLst>
          </p:cNvPr>
          <p:cNvSpPr/>
          <p:nvPr/>
        </p:nvSpPr>
        <p:spPr>
          <a:xfrm>
            <a:off x="7227295" y="1659192"/>
            <a:ext cx="603021" cy="1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销售商品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185C270-FED0-4135-A3F8-572F4B95DE97}"/>
              </a:ext>
            </a:extLst>
          </p:cNvPr>
          <p:cNvSpPr/>
          <p:nvPr/>
        </p:nvSpPr>
        <p:spPr>
          <a:xfrm>
            <a:off x="6601963" y="1659192"/>
            <a:ext cx="603021" cy="1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公司名称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47AD95-E78E-4A28-BB2F-D84A8FEFCADE}"/>
              </a:ext>
            </a:extLst>
          </p:cNvPr>
          <p:cNvSpPr/>
          <p:nvPr/>
        </p:nvSpPr>
        <p:spPr>
          <a:xfrm>
            <a:off x="5949389" y="1659192"/>
            <a:ext cx="495056" cy="1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客户</a:t>
            </a:r>
            <a:r>
              <a:rPr lang="en-US" altLang="zh-TW" sz="800" dirty="0">
                <a:solidFill>
                  <a:schemeClr val="tx1"/>
                </a:solidFill>
              </a:rPr>
              <a:t>ID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FAA21D-C63B-4C1C-BDEA-135462269100}"/>
              </a:ext>
            </a:extLst>
          </p:cNvPr>
          <p:cNvSpPr/>
          <p:nvPr/>
        </p:nvSpPr>
        <p:spPr>
          <a:xfrm>
            <a:off x="7847754" y="1971385"/>
            <a:ext cx="515284" cy="138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刘月琪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0CF140-F77B-49C7-8AEC-7ED0C2692D90}"/>
              </a:ext>
            </a:extLst>
          </p:cNvPr>
          <p:cNvSpPr/>
          <p:nvPr/>
        </p:nvSpPr>
        <p:spPr>
          <a:xfrm>
            <a:off x="7847754" y="2286420"/>
            <a:ext cx="515284" cy="150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周世杰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C536FA4-D2CE-4E50-8084-8C8AF41FDFC2}"/>
              </a:ext>
            </a:extLst>
          </p:cNvPr>
          <p:cNvSpPr/>
          <p:nvPr/>
        </p:nvSpPr>
        <p:spPr>
          <a:xfrm>
            <a:off x="6591991" y="2294070"/>
            <a:ext cx="608874" cy="142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创新科技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DDEFA1-8947-4D8E-BF88-F528239A479B}"/>
              </a:ext>
            </a:extLst>
          </p:cNvPr>
          <p:cNvSpPr/>
          <p:nvPr/>
        </p:nvSpPr>
        <p:spPr>
          <a:xfrm>
            <a:off x="6591991" y="1975444"/>
            <a:ext cx="608874" cy="142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</a:rPr>
              <a:t>创新科技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755599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991" y="716114"/>
            <a:ext cx="4997635" cy="42439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3CCA8-5CE6-463E-89EC-68411EAF69E9}"/>
              </a:ext>
            </a:extLst>
          </p:cNvPr>
          <p:cNvSpPr/>
          <p:nvPr/>
        </p:nvSpPr>
        <p:spPr>
          <a:xfrm>
            <a:off x="4076687" y="1936635"/>
            <a:ext cx="945363" cy="365085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B8C63E-286A-4CD2-84C0-F16CACA103CF}"/>
              </a:ext>
            </a:extLst>
          </p:cNvPr>
          <p:cNvSpPr/>
          <p:nvPr/>
        </p:nvSpPr>
        <p:spPr>
          <a:xfrm>
            <a:off x="3117837" y="2234707"/>
            <a:ext cx="779088" cy="135014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A28AE8-E3A6-4071-8FCF-012355477127}"/>
              </a:ext>
            </a:extLst>
          </p:cNvPr>
          <p:cNvSpPr/>
          <p:nvPr/>
        </p:nvSpPr>
        <p:spPr>
          <a:xfrm>
            <a:off x="2366755" y="3660025"/>
            <a:ext cx="751082" cy="136943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4076688" y="2328314"/>
            <a:ext cx="900358" cy="423456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23DB72-176B-4C85-822E-0F9752173965}"/>
              </a:ext>
            </a:extLst>
          </p:cNvPr>
          <p:cNvSpPr/>
          <p:nvPr/>
        </p:nvSpPr>
        <p:spPr>
          <a:xfrm>
            <a:off x="5443303" y="2571750"/>
            <a:ext cx="11089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4BB968"/>
                </a:solidFill>
                <a:latin typeface="+mn-ea"/>
              </a:rPr>
              <a:t>关联记录列表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443D608-4373-4E65-88D4-6D2F665502A7}"/>
              </a:ext>
            </a:extLst>
          </p:cNvPr>
          <p:cNvGrpSpPr/>
          <p:nvPr/>
        </p:nvGrpSpPr>
        <p:grpSpPr>
          <a:xfrm flipH="1" flipV="1">
            <a:off x="4981682" y="2436734"/>
            <a:ext cx="1572112" cy="423456"/>
            <a:chOff x="1587067" y="1643935"/>
            <a:chExt cx="2880319" cy="360040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052CA7D-E476-4E78-A1A1-9EA463C5C4A3}"/>
                </a:ext>
              </a:extLst>
            </p:cNvPr>
            <p:cNvCxnSpPr/>
            <p:nvPr/>
          </p:nvCxnSpPr>
          <p:spPr>
            <a:xfrm>
              <a:off x="1587067" y="1643935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73DAD22-0A6A-4ECF-8C71-5AF72B6E5446}"/>
                </a:ext>
              </a:extLst>
            </p:cNvPr>
            <p:cNvCxnSpPr/>
            <p:nvPr/>
          </p:nvCxnSpPr>
          <p:spPr>
            <a:xfrm>
              <a:off x="3544839" y="1643935"/>
              <a:ext cx="922547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88640A4-A929-4545-A10C-9C9E71413321}"/>
              </a:ext>
            </a:extLst>
          </p:cNvPr>
          <p:cNvCxnSpPr>
            <a:cxnSpLocks/>
          </p:cNvCxnSpPr>
          <p:nvPr/>
        </p:nvCxnSpPr>
        <p:spPr>
          <a:xfrm>
            <a:off x="5022050" y="2121700"/>
            <a:ext cx="367795" cy="0"/>
          </a:xfrm>
          <a:prstGeom prst="straightConnector1">
            <a:avLst/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98482D22-32B1-4C08-9635-D113B8BA4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76" y="1907191"/>
            <a:ext cx="1618193" cy="59032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277441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31" y="716114"/>
            <a:ext cx="4888005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058523372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07" y="829054"/>
            <a:ext cx="4668291" cy="40793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08CE96-EFAE-4801-A3EF-A12AB35E27A2}"/>
              </a:ext>
            </a:extLst>
          </p:cNvPr>
          <p:cNvSpPr/>
          <p:nvPr/>
        </p:nvSpPr>
        <p:spPr>
          <a:xfrm>
            <a:off x="1754036" y="1774159"/>
            <a:ext cx="1309226" cy="31879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A68814-C05A-4945-B9AF-66A662990A46}"/>
              </a:ext>
            </a:extLst>
          </p:cNvPr>
          <p:cNvSpPr/>
          <p:nvPr/>
        </p:nvSpPr>
        <p:spPr>
          <a:xfrm>
            <a:off x="1759188" y="2123938"/>
            <a:ext cx="2205245" cy="325296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FD4E91-151E-4145-A20A-A53029351917}"/>
              </a:ext>
            </a:extLst>
          </p:cNvPr>
          <p:cNvSpPr/>
          <p:nvPr/>
        </p:nvSpPr>
        <p:spPr>
          <a:xfrm>
            <a:off x="1759187" y="2951205"/>
            <a:ext cx="810092" cy="630071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CA18C5-C819-405A-A573-40E1B9D73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18" y="816555"/>
            <a:ext cx="2611113" cy="40523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28952A75-720E-41F4-A86F-84296C47BE43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2749299" y="1136315"/>
            <a:ext cx="3060339" cy="262585"/>
          </a:xfrm>
          <a:prstGeom prst="bentConnector3">
            <a:avLst>
              <a:gd name="adj1" fmla="val 50000"/>
            </a:avLst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239D50F-42D8-4A19-ADA7-2605021D5537}"/>
              </a:ext>
            </a:extLst>
          </p:cNvPr>
          <p:cNvSpPr/>
          <p:nvPr/>
        </p:nvSpPr>
        <p:spPr>
          <a:xfrm>
            <a:off x="1754036" y="1204274"/>
            <a:ext cx="995263" cy="389252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E15C79-ACFC-4E83-8714-933AD750341D}"/>
              </a:ext>
            </a:extLst>
          </p:cNvPr>
          <p:cNvSpPr/>
          <p:nvPr/>
        </p:nvSpPr>
        <p:spPr>
          <a:xfrm>
            <a:off x="5809638" y="873729"/>
            <a:ext cx="1485166" cy="525171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4D1C1C-137E-4BC6-AEF9-136604986857}"/>
              </a:ext>
            </a:extLst>
          </p:cNvPr>
          <p:cNvSpPr/>
          <p:nvPr/>
        </p:nvSpPr>
        <p:spPr>
          <a:xfrm>
            <a:off x="5797232" y="1761660"/>
            <a:ext cx="2127641" cy="495055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EA9CC8-6042-471E-B996-FB875BF08754}"/>
              </a:ext>
            </a:extLst>
          </p:cNvPr>
          <p:cNvSpPr/>
          <p:nvPr/>
        </p:nvSpPr>
        <p:spPr>
          <a:xfrm>
            <a:off x="5802385" y="2256715"/>
            <a:ext cx="2527534" cy="52517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07C490-702B-46C5-B7AE-94550B0BB6C2}"/>
              </a:ext>
            </a:extLst>
          </p:cNvPr>
          <p:cNvSpPr/>
          <p:nvPr/>
        </p:nvSpPr>
        <p:spPr>
          <a:xfrm>
            <a:off x="5802197" y="3561860"/>
            <a:ext cx="1447601" cy="1288716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8F44DB17-49A5-4593-8915-8E2BAFE4BE68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3063262" y="1933554"/>
            <a:ext cx="2733970" cy="75634"/>
          </a:xfrm>
          <a:prstGeom prst="bentConnector3">
            <a:avLst>
              <a:gd name="adj1" fmla="val 50000"/>
            </a:avLst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AAA97DFE-9C45-4BDD-9408-B1596FF5C193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3964433" y="2286586"/>
            <a:ext cx="1837952" cy="232714"/>
          </a:xfrm>
          <a:prstGeom prst="bentConnector3">
            <a:avLst>
              <a:gd name="adj1" fmla="val 50000"/>
            </a:avLst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5C5EB8FB-E629-4C85-9B24-796386C70AF5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2569279" y="3266241"/>
            <a:ext cx="3232918" cy="939977"/>
          </a:xfrm>
          <a:prstGeom prst="bentConnector3">
            <a:avLst>
              <a:gd name="adj1" fmla="val 50000"/>
            </a:avLst>
          </a:prstGeom>
          <a:ln w="19050">
            <a:solidFill>
              <a:srgbClr val="4B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99345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740" y="716114"/>
            <a:ext cx="4855670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5201812" y="1514876"/>
            <a:ext cx="900358" cy="369332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65A356-7637-40D6-AB27-D302110D120A}"/>
              </a:ext>
            </a:extLst>
          </p:cNvPr>
          <p:cNvSpPr/>
          <p:nvPr/>
        </p:nvSpPr>
        <p:spPr>
          <a:xfrm>
            <a:off x="2231740" y="1155571"/>
            <a:ext cx="1314171" cy="31543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CC26AE-3BB4-4388-9A2B-F3B9C3B50F6A}"/>
              </a:ext>
            </a:extLst>
          </p:cNvPr>
          <p:cNvSpPr/>
          <p:nvPr/>
        </p:nvSpPr>
        <p:spPr>
          <a:xfrm>
            <a:off x="6147175" y="1131590"/>
            <a:ext cx="864297" cy="330127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189EC4-D324-490F-ADAB-18055D39982D}"/>
              </a:ext>
            </a:extLst>
          </p:cNvPr>
          <p:cNvSpPr txBox="1"/>
          <p:nvPr/>
        </p:nvSpPr>
        <p:spPr>
          <a:xfrm>
            <a:off x="5485219" y="19303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DA907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FDA907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417F44-3EB6-4C0A-A187-0C352916D32B}"/>
              </a:ext>
            </a:extLst>
          </p:cNvPr>
          <p:cNvSpPr txBox="1"/>
          <p:nvPr/>
        </p:nvSpPr>
        <p:spPr>
          <a:xfrm>
            <a:off x="1582093" y="9604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B03213-C743-4FD1-8947-0C52EDEB17A7}"/>
              </a:ext>
            </a:extLst>
          </p:cNvPr>
          <p:cNvSpPr txBox="1"/>
          <p:nvPr/>
        </p:nvSpPr>
        <p:spPr>
          <a:xfrm>
            <a:off x="7134130" y="11011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➂</a:t>
            </a:r>
            <a:endParaRPr lang="zh-CN" altLang="en-US" dirty="0">
              <a:solidFill>
                <a:srgbClr val="4BB968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525A22-442E-4F74-BB52-41DF53530414}"/>
              </a:ext>
            </a:extLst>
          </p:cNvPr>
          <p:cNvSpPr/>
          <p:nvPr/>
        </p:nvSpPr>
        <p:spPr>
          <a:xfrm>
            <a:off x="4076688" y="2301720"/>
            <a:ext cx="900358" cy="51706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22C604-C7B5-4813-A248-5033A4CB9CF4}"/>
              </a:ext>
            </a:extLst>
          </p:cNvPr>
          <p:cNvSpPr/>
          <p:nvPr/>
        </p:nvSpPr>
        <p:spPr>
          <a:xfrm>
            <a:off x="5443303" y="2548754"/>
            <a:ext cx="11089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4BB968"/>
                </a:solidFill>
                <a:latin typeface="+mn-ea"/>
              </a:rPr>
              <a:t>关联记录列表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510B3F1-C349-4AFA-ADB5-84AEE5C35E9D}"/>
              </a:ext>
            </a:extLst>
          </p:cNvPr>
          <p:cNvGrpSpPr/>
          <p:nvPr/>
        </p:nvGrpSpPr>
        <p:grpSpPr>
          <a:xfrm flipH="1" flipV="1">
            <a:off x="4981682" y="2413738"/>
            <a:ext cx="1572112" cy="423456"/>
            <a:chOff x="1587067" y="1643935"/>
            <a:chExt cx="2880319" cy="360040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8318A6F-AADB-4DFE-977C-407A492AB9ED}"/>
                </a:ext>
              </a:extLst>
            </p:cNvPr>
            <p:cNvCxnSpPr/>
            <p:nvPr/>
          </p:nvCxnSpPr>
          <p:spPr>
            <a:xfrm>
              <a:off x="1587067" y="1643935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83CA385-7560-44DC-8521-400FA57F3283}"/>
                </a:ext>
              </a:extLst>
            </p:cNvPr>
            <p:cNvCxnSpPr/>
            <p:nvPr/>
          </p:nvCxnSpPr>
          <p:spPr>
            <a:xfrm>
              <a:off x="3544839" y="1643935"/>
              <a:ext cx="922547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638F0A82-F892-4B5A-A7E5-EE1E9F6237B0}"/>
              </a:ext>
            </a:extLst>
          </p:cNvPr>
          <p:cNvSpPr/>
          <p:nvPr/>
        </p:nvSpPr>
        <p:spPr>
          <a:xfrm>
            <a:off x="6152485" y="1653376"/>
            <a:ext cx="25149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DA907"/>
                </a:solidFill>
                <a:latin typeface="+mn-ea"/>
              </a:rPr>
              <a:t>设置访问权限请参考本文档</a:t>
            </a:r>
            <a:r>
              <a:rPr lang="en-US" altLang="zh-TW" sz="1200" b="1" dirty="0">
                <a:solidFill>
                  <a:srgbClr val="FDA907"/>
                </a:solidFill>
                <a:latin typeface="+mn-ea"/>
              </a:rPr>
              <a:t>P2</a:t>
            </a:r>
            <a:r>
              <a:rPr lang="en-US" altLang="zh-CN" sz="1200" b="1" dirty="0">
                <a:solidFill>
                  <a:srgbClr val="FDA907"/>
                </a:solidFill>
                <a:latin typeface="+mn-ea"/>
              </a:rPr>
              <a:t>8</a:t>
            </a:r>
            <a:r>
              <a:rPr lang="en-US" altLang="zh-TW" sz="1200" b="1" dirty="0">
                <a:solidFill>
                  <a:srgbClr val="FDA907"/>
                </a:solidFill>
                <a:latin typeface="+mn-ea"/>
              </a:rPr>
              <a:t>~</a:t>
            </a:r>
            <a:r>
              <a:rPr lang="en-US" altLang="zh-CN" sz="1200" b="1" dirty="0">
                <a:solidFill>
                  <a:srgbClr val="FDA907"/>
                </a:solidFill>
                <a:latin typeface="+mn-ea"/>
              </a:rPr>
              <a:t>30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5BF127-6D53-422D-B0B4-3F236EEAA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63" y="1783703"/>
            <a:ext cx="1255728" cy="3693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28493205-D01E-403B-B15B-1BDF7671ED63}"/>
              </a:ext>
            </a:extLst>
          </p:cNvPr>
          <p:cNvCxnSpPr>
            <a:cxnSpLocks/>
            <a:endCxn id="4" idx="0"/>
          </p:cNvCxnSpPr>
          <p:nvPr/>
        </p:nvCxnSpPr>
        <p:spPr>
          <a:xfrm rot="10800000" flipV="1">
            <a:off x="1322328" y="1314601"/>
            <a:ext cx="904010" cy="469102"/>
          </a:xfrm>
          <a:prstGeom prst="bentConnector2">
            <a:avLst/>
          </a:prstGeom>
          <a:ln w="19050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26319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15" y="1356615"/>
            <a:ext cx="7751120" cy="28329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添加记录</a:t>
            </a:r>
            <a:endParaRPr lang="zh-CN" altLang="en-US" sz="1200" b="1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388C04-FEF4-41F2-9B12-653F28BC420A}"/>
              </a:ext>
            </a:extLst>
          </p:cNvPr>
          <p:cNvGrpSpPr/>
          <p:nvPr/>
        </p:nvGrpSpPr>
        <p:grpSpPr>
          <a:xfrm>
            <a:off x="6078208" y="2031690"/>
            <a:ext cx="1419117" cy="748700"/>
            <a:chOff x="5742130" y="2571750"/>
            <a:chExt cx="1419117" cy="7487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79DACA7-DD84-424A-AE6F-1E50BA336542}"/>
                </a:ext>
              </a:extLst>
            </p:cNvPr>
            <p:cNvSpPr/>
            <p:nvPr/>
          </p:nvSpPr>
          <p:spPr>
            <a:xfrm>
              <a:off x="6846211" y="3005011"/>
              <a:ext cx="315036" cy="315439"/>
            </a:xfrm>
            <a:prstGeom prst="rect">
              <a:avLst/>
            </a:prstGeom>
            <a:noFill/>
            <a:ln w="19050">
              <a:solidFill>
                <a:srgbClr val="62C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0067A2D-09BB-4351-AC2A-018C505725B8}"/>
                </a:ext>
              </a:extLst>
            </p:cNvPr>
            <p:cNvGrpSpPr/>
            <p:nvPr/>
          </p:nvGrpSpPr>
          <p:grpSpPr>
            <a:xfrm>
              <a:off x="5763935" y="2863593"/>
              <a:ext cx="1082276" cy="291516"/>
              <a:chOff x="755576" y="1779662"/>
              <a:chExt cx="2880320" cy="36004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E0528E3-02FF-4723-8CB3-CBCAEE938803}"/>
                  </a:ext>
                </a:extLst>
              </p:cNvPr>
              <p:cNvCxnSpPr/>
              <p:nvPr/>
            </p:nvCxnSpPr>
            <p:spPr>
              <a:xfrm>
                <a:off x="755576" y="1779663"/>
                <a:ext cx="1957772" cy="0"/>
              </a:xfrm>
              <a:prstGeom prst="line">
                <a:avLst/>
              </a:prstGeom>
              <a:ln w="19050">
                <a:solidFill>
                  <a:srgbClr val="62C9E2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0938C1C-F0E7-46E2-B9A5-A92C1AE84234}"/>
                  </a:ext>
                </a:extLst>
              </p:cNvPr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 w="19050">
                <a:solidFill>
                  <a:srgbClr val="62C9E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9D4C736-B233-42B7-A2A9-D19AB78888FF}"/>
                </a:ext>
              </a:extLst>
            </p:cNvPr>
            <p:cNvSpPr/>
            <p:nvPr/>
          </p:nvSpPr>
          <p:spPr>
            <a:xfrm>
              <a:off x="5742130" y="2571750"/>
              <a:ext cx="1305525" cy="276999"/>
            </a:xfrm>
            <a:prstGeom prst="rect">
              <a:avLst/>
            </a:prstGeom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rgbClr val="62C9E2"/>
                  </a:solidFill>
                  <a:latin typeface="+mj-ea"/>
                  <a:ea typeface="+mj-ea"/>
                </a:rPr>
                <a:t>添加记录</a:t>
              </a:r>
              <a:endParaRPr lang="en-US" altLang="zh-CN" sz="1200" dirty="0">
                <a:solidFill>
                  <a:srgbClr val="62C9E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116685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CF3E26-CFDE-4550-8E6B-E162BBA87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79" y="1311610"/>
            <a:ext cx="7562817" cy="32131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453947E-AD97-4795-88F1-BF895622774D}"/>
              </a:ext>
            </a:extLst>
          </p:cNvPr>
          <p:cNvSpPr/>
          <p:nvPr/>
        </p:nvSpPr>
        <p:spPr>
          <a:xfrm>
            <a:off x="873824" y="2919544"/>
            <a:ext cx="1537936" cy="630070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425A9D-333B-4A46-AC0E-7A4BCF75CC26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添加记录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48147888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详细画面</a:t>
            </a:r>
            <a:endParaRPr lang="zh-CN" altLang="en-US" sz="1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CF3E26-CFDE-4550-8E6B-E162BBA87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42" y="1003343"/>
            <a:ext cx="7822801" cy="33236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24BD582-AD54-4203-9A59-192F5A1602D0}"/>
              </a:ext>
            </a:extLst>
          </p:cNvPr>
          <p:cNvSpPr/>
          <p:nvPr/>
        </p:nvSpPr>
        <p:spPr>
          <a:xfrm>
            <a:off x="701570" y="3291830"/>
            <a:ext cx="1620180" cy="945105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2534596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247726E6-E0B6-4F27-93BF-E76F3B9899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58"/>
          <a:stretch/>
        </p:blipFill>
        <p:spPr>
          <a:xfrm>
            <a:off x="1801851" y="992662"/>
            <a:ext cx="3338449" cy="38814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C40E0B5-F19B-4236-93D2-D401C57E14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61"/>
          <a:stretch/>
        </p:blipFill>
        <p:spPr>
          <a:xfrm>
            <a:off x="5472100" y="996575"/>
            <a:ext cx="3231953" cy="3862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453947E-AD97-4795-88F1-BF895622774D}"/>
              </a:ext>
            </a:extLst>
          </p:cNvPr>
          <p:cNvSpPr/>
          <p:nvPr/>
        </p:nvSpPr>
        <p:spPr>
          <a:xfrm>
            <a:off x="1797859" y="2986627"/>
            <a:ext cx="1739026" cy="665243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6CD74D-634A-4209-9C65-B46103489101}"/>
              </a:ext>
            </a:extLst>
          </p:cNvPr>
          <p:cNvSpPr/>
          <p:nvPr/>
        </p:nvSpPr>
        <p:spPr>
          <a:xfrm>
            <a:off x="2231740" y="3989662"/>
            <a:ext cx="1395155" cy="642486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四角形: 角を丸くする 9">
            <a:extLst>
              <a:ext uri="{FF2B5EF4-FFF2-40B4-BE49-F238E27FC236}">
                <a16:creationId xmlns:a16="http://schemas.microsoft.com/office/drawing/2014/main" id="{9B7DD95A-07FE-4DB2-A9C8-4E9C8B964772}"/>
              </a:ext>
            </a:extLst>
          </p:cNvPr>
          <p:cNvSpPr/>
          <p:nvPr/>
        </p:nvSpPr>
        <p:spPr>
          <a:xfrm>
            <a:off x="7600708" y="765539"/>
            <a:ext cx="1051017" cy="607911"/>
          </a:xfrm>
          <a:prstGeom prst="round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业务管理</a:t>
            </a:r>
          </a:p>
          <a:p>
            <a:pPr algn="ctr"/>
            <a:r>
              <a:rPr kumimoji="1" lang="zh-TW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详细画面</a:t>
            </a:r>
            <a:endParaRPr kumimoji="1" lang="en-US" altLang="zh-CN" sz="1200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8F621A-B90A-4888-9421-E5DFCA378965}"/>
              </a:ext>
            </a:extLst>
          </p:cNvPr>
          <p:cNvSpPr/>
          <p:nvPr/>
        </p:nvSpPr>
        <p:spPr>
          <a:xfrm>
            <a:off x="5522605" y="2436735"/>
            <a:ext cx="984610" cy="360040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480A7DBE-C41F-4B75-9F7B-E0C3FCE00BB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36885" y="2580544"/>
            <a:ext cx="1944967" cy="738705"/>
          </a:xfrm>
          <a:prstGeom prst="bentConnector3">
            <a:avLst/>
          </a:prstGeom>
          <a:ln w="19050">
            <a:solidFill>
              <a:srgbClr val="62C9E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9">
            <a:extLst>
              <a:ext uri="{FF2B5EF4-FFF2-40B4-BE49-F238E27FC236}">
                <a16:creationId xmlns:a16="http://schemas.microsoft.com/office/drawing/2014/main" id="{7D4457DB-8456-4860-ACEA-762854AB6EB9}"/>
              </a:ext>
            </a:extLst>
          </p:cNvPr>
          <p:cNvSpPr/>
          <p:nvPr/>
        </p:nvSpPr>
        <p:spPr>
          <a:xfrm>
            <a:off x="888009" y="778327"/>
            <a:ext cx="1053529" cy="627003"/>
          </a:xfrm>
          <a:prstGeom prst="round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客户列表</a:t>
            </a:r>
          </a:p>
          <a:p>
            <a:pPr algn="ctr"/>
            <a:r>
              <a:rPr kumimoji="1" lang="zh-TW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详细画面</a:t>
            </a:r>
            <a:endParaRPr kumimoji="1" lang="en-US" altLang="zh-CN" sz="1200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248492-71C7-43AF-822D-369409DD7BEA}"/>
              </a:ext>
            </a:extLst>
          </p:cNvPr>
          <p:cNvSpPr/>
          <p:nvPr/>
        </p:nvSpPr>
        <p:spPr>
          <a:xfrm>
            <a:off x="5503336" y="3064663"/>
            <a:ext cx="1800200" cy="36004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6789BE0-180E-4845-97B8-5226E943985D}"/>
              </a:ext>
            </a:extLst>
          </p:cNvPr>
          <p:cNvSpPr/>
          <p:nvPr/>
        </p:nvSpPr>
        <p:spPr>
          <a:xfrm>
            <a:off x="7461737" y="3432844"/>
            <a:ext cx="1070703" cy="360039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对话气泡: 矩形 34">
            <a:extLst>
              <a:ext uri="{FF2B5EF4-FFF2-40B4-BE49-F238E27FC236}">
                <a16:creationId xmlns:a16="http://schemas.microsoft.com/office/drawing/2014/main" id="{AFB882FB-252F-4CD3-9B72-1A9888AA135E}"/>
              </a:ext>
            </a:extLst>
          </p:cNvPr>
          <p:cNvSpPr/>
          <p:nvPr/>
        </p:nvSpPr>
        <p:spPr>
          <a:xfrm flipH="1">
            <a:off x="470705" y="3651870"/>
            <a:ext cx="1265765" cy="1222232"/>
          </a:xfrm>
          <a:prstGeom prst="wedgeRectCallout">
            <a:avLst>
              <a:gd name="adj1" fmla="val -83283"/>
              <a:gd name="adj2" fmla="val -3147"/>
            </a:avLst>
          </a:prstGeom>
          <a:solidFill>
            <a:srgbClr val="4BB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C8C37883-D9A5-4BFE-B034-618B915FCA5C}"/>
              </a:ext>
            </a:extLst>
          </p:cNvPr>
          <p:cNvSpPr/>
          <p:nvPr/>
        </p:nvSpPr>
        <p:spPr>
          <a:xfrm flipH="1">
            <a:off x="1106614" y="1699955"/>
            <a:ext cx="2255749" cy="1069404"/>
          </a:xfrm>
          <a:prstGeom prst="wedgeRectCallout">
            <a:avLst>
              <a:gd name="adj1" fmla="val -36775"/>
              <a:gd name="adj2" fmla="val 70068"/>
            </a:avLst>
          </a:prstGeom>
          <a:solidFill>
            <a:srgbClr val="66D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E5BBA502-D63D-4DF3-B128-79477DBB992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626895" y="2929834"/>
            <a:ext cx="1834740" cy="1381071"/>
          </a:xfrm>
          <a:prstGeom prst="bentConnector3">
            <a:avLst>
              <a:gd name="adj1" fmla="val 57696"/>
            </a:avLst>
          </a:prstGeom>
          <a:ln w="19050">
            <a:solidFill>
              <a:srgbClr val="4BB96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2FD0C65B-5FE3-445B-9CBD-42EA5A83766F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关联记录列表（实例：客户列表）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70445D-3AB0-4D2D-8CAA-3AB3E2E5787B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应用清单和详细画面</a:t>
            </a:r>
            <a:endParaRPr lang="zh-CN" altLang="en-US" sz="1200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EB8CB5-DE50-44B0-95A1-01A4A35A1F68}"/>
              </a:ext>
            </a:extLst>
          </p:cNvPr>
          <p:cNvSpPr/>
          <p:nvPr/>
        </p:nvSpPr>
        <p:spPr>
          <a:xfrm>
            <a:off x="6547968" y="2434083"/>
            <a:ext cx="984611" cy="360039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89844C7-3113-4C1E-97FB-BE68F191CB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01" b="50621"/>
          <a:stretch/>
        </p:blipFill>
        <p:spPr>
          <a:xfrm>
            <a:off x="1165212" y="1790740"/>
            <a:ext cx="2136183" cy="914295"/>
          </a:xfrm>
          <a:prstGeom prst="rect">
            <a:avLst/>
          </a:prstGeom>
          <a:ln>
            <a:noFill/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3F5D9C2-0D66-4B98-B74F-4437E81207E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45" r="48277"/>
          <a:stretch/>
        </p:blipFill>
        <p:spPr>
          <a:xfrm>
            <a:off x="521769" y="3706376"/>
            <a:ext cx="1150242" cy="1113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9741361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3F3A50B-2878-4D82-B9F6-4F2A5116DBB2}"/>
              </a:ext>
            </a:extLst>
          </p:cNvPr>
          <p:cNvSpPr/>
          <p:nvPr/>
        </p:nvSpPr>
        <p:spPr>
          <a:xfrm>
            <a:off x="0" y="2211710"/>
            <a:ext cx="9144000" cy="76508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7B52C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2264107"/>
            <a:ext cx="9001000" cy="667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下</a:t>
            </a:r>
            <a:r>
              <a: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面</a:t>
            </a: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我们来创建</a:t>
            </a:r>
            <a:r>
              <a:rPr lang="en-US" altLang="zh-TW" sz="3200" dirty="0">
                <a:solidFill>
                  <a:srgbClr val="F7B52C"/>
                </a:solidFill>
                <a:latin typeface="Impact" pitchFamily="34" charset="0"/>
                <a:ea typeface="+mj-ea"/>
              </a:rPr>
              <a:t>Lookup</a:t>
            </a: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吧！</a:t>
            </a:r>
            <a:endParaRPr lang="zh-CN" altLang="en-US" sz="32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F19768-9C32-48C1-B4A3-DA4E8BE5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536635"/>
            <a:ext cx="1121721" cy="216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4316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19142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L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ookup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0627C7-22CA-45E8-BC8D-36DE6A87AC18}"/>
              </a:ext>
            </a:extLst>
          </p:cNvPr>
          <p:cNvSpPr/>
          <p:nvPr/>
        </p:nvSpPr>
        <p:spPr>
          <a:xfrm>
            <a:off x="431541" y="861560"/>
            <a:ext cx="2340258" cy="307296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chemeClr val="bg1"/>
                </a:solidFill>
              </a:rPr>
              <a:t>Lookup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760260-5636-4FB7-82B7-92FF7E45F6FA}"/>
              </a:ext>
            </a:extLst>
          </p:cNvPr>
          <p:cNvSpPr/>
          <p:nvPr/>
        </p:nvSpPr>
        <p:spPr>
          <a:xfrm>
            <a:off x="431540" y="1219683"/>
            <a:ext cx="2340259" cy="2709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Lookup</a:t>
            </a:r>
            <a:r>
              <a:rPr lang="zh-CN" altLang="en-US" sz="1200" dirty="0">
                <a:latin typeface="+mn-ea"/>
              </a:rPr>
              <a:t>是指可从其他应用获取数据到当前应用的功能。使用此功能，可以节省输入数据的时间，也可防止输入失误。</a:t>
            </a:r>
            <a:endParaRPr lang="en-US" altLang="zh-CN" sz="120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endParaRPr lang="en-US" altLang="zh-CN" sz="120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r>
              <a:rPr lang="zh-CN" altLang="en-US" sz="1200" dirty="0">
                <a:latin typeface="+mn-ea"/>
              </a:rPr>
              <a:t>例如，在管理销售案件的应用中，设置了与管理顾客信息的应用相关联的</a:t>
            </a:r>
            <a:r>
              <a:rPr lang="en-US" altLang="zh-CN" sz="1200" dirty="0">
                <a:latin typeface="+mn-ea"/>
              </a:rPr>
              <a:t>Lookup</a:t>
            </a:r>
            <a:r>
              <a:rPr lang="zh-CN" altLang="en-US" sz="1200" dirty="0">
                <a:latin typeface="+mn-ea"/>
              </a:rPr>
              <a:t>。</a:t>
            </a:r>
          </a:p>
          <a:p>
            <a:pPr fontAlgn="base">
              <a:lnSpc>
                <a:spcPct val="130000"/>
              </a:lnSpc>
            </a:pPr>
            <a:r>
              <a:rPr lang="zh-CN" altLang="en-US" sz="1200" dirty="0">
                <a:latin typeface="+mn-ea"/>
              </a:rPr>
              <a:t>设置后即可按照如下操作，获取顾客信息后，再将其复制到管理销售案件的应用中。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2E9D08-B541-4E67-995C-962CFFEA2FAF}"/>
              </a:ext>
            </a:extLst>
          </p:cNvPr>
          <p:cNvCxnSpPr>
            <a:cxnSpLocks/>
          </p:cNvCxnSpPr>
          <p:nvPr/>
        </p:nvCxnSpPr>
        <p:spPr>
          <a:xfrm>
            <a:off x="2951820" y="1041580"/>
            <a:ext cx="0" cy="3240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387069D-E8F1-48F7-B313-C7BDF76DC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726545"/>
            <a:ext cx="4650397" cy="35103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5999286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L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ookup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F0FD6D-4AC8-433F-8658-CBCDB6B7011B}"/>
              </a:ext>
            </a:extLst>
          </p:cNvPr>
          <p:cNvSpPr/>
          <p:nvPr/>
        </p:nvSpPr>
        <p:spPr>
          <a:xfrm>
            <a:off x="476520" y="456515"/>
            <a:ext cx="38704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输入顾客名称的一部分，点击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搜选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。 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页面将显示名称与输入内容部分一致或完全一致的顾客。</a:t>
            </a:r>
            <a:endParaRPr lang="zh-CN" altLang="en-US" sz="1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4AE634-DEB4-4A3F-ACCA-37DBB76AF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5" y="1102128"/>
            <a:ext cx="3928694" cy="9686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3AF86FD-D90E-43B0-9120-5E917671CEE0}"/>
              </a:ext>
            </a:extLst>
          </p:cNvPr>
          <p:cNvSpPr/>
          <p:nvPr/>
        </p:nvSpPr>
        <p:spPr>
          <a:xfrm>
            <a:off x="4842030" y="641181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选择要复制到管理销售案件的应用中的顾客。</a:t>
            </a:r>
            <a:endParaRPr lang="zh-CN" altLang="en-US" sz="12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A80440-A793-4375-A26B-DF0A4C54D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102128"/>
            <a:ext cx="3928694" cy="154911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012CE57-5BA7-4E1A-B22B-3113EEDFA752}"/>
              </a:ext>
            </a:extLst>
          </p:cNvPr>
          <p:cNvSpPr/>
          <p:nvPr/>
        </p:nvSpPr>
        <p:spPr>
          <a:xfrm>
            <a:off x="566555" y="2582821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所选顾客的信息将自动输入到表单中。</a:t>
            </a:r>
            <a:endParaRPr lang="zh-CN" altLang="en-US" sz="1200" b="1" dirty="0"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BA4990A-A900-44FE-8DDA-4656EA32D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4" y="2998290"/>
            <a:ext cx="4921431" cy="156591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EFBE930-991F-4414-94D9-09A150CA1F3C}"/>
              </a:ext>
            </a:extLst>
          </p:cNvPr>
          <p:cNvSpPr/>
          <p:nvPr/>
        </p:nvSpPr>
        <p:spPr>
          <a:xfrm>
            <a:off x="5620349" y="3733203"/>
            <a:ext cx="32403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注</a:t>
            </a:r>
            <a:r>
              <a:rPr lang="zh-CN" altLang="en-US" sz="1200" dirty="0">
                <a:latin typeface="+mn-ea"/>
              </a:rPr>
              <a:t>：使用</a:t>
            </a:r>
            <a:r>
              <a:rPr lang="en-US" altLang="zh-CN" sz="1200" dirty="0">
                <a:latin typeface="+mn-ea"/>
              </a:rPr>
              <a:t>Lookup</a:t>
            </a:r>
            <a:r>
              <a:rPr lang="zh-CN" altLang="en-US" sz="1200" dirty="0">
                <a:latin typeface="+mn-ea"/>
              </a:rPr>
              <a:t>功能复制的数据将与原应用中的数据分开保存。</a:t>
            </a:r>
          </a:p>
          <a:p>
            <a:r>
              <a:rPr lang="zh-CN" altLang="en-US" sz="1200" dirty="0">
                <a:latin typeface="+mn-ea"/>
              </a:rPr>
              <a:t>即使原应用的数据被更改或删除，在再次点击</a:t>
            </a:r>
            <a:r>
              <a:rPr lang="en-US" altLang="zh-CN" sz="1200" dirty="0">
                <a:latin typeface="+mn-ea"/>
              </a:rPr>
              <a:t>[</a:t>
            </a:r>
            <a:r>
              <a:rPr lang="zh-CN" altLang="en-US" sz="1200" dirty="0">
                <a:latin typeface="+mn-ea"/>
              </a:rPr>
              <a:t>搜选</a:t>
            </a:r>
            <a:r>
              <a:rPr lang="en-US" altLang="zh-CN" sz="1200" dirty="0">
                <a:latin typeface="+mn-ea"/>
              </a:rPr>
              <a:t>]</a:t>
            </a:r>
            <a:r>
              <a:rPr lang="zh-CN" altLang="en-US" sz="1200" dirty="0">
                <a:latin typeface="+mn-ea"/>
              </a:rPr>
              <a:t>之前，该记录都将保持上次获取的数据。</a:t>
            </a:r>
            <a:endParaRPr lang="zh-CN" alt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3820044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3F3A50B-2878-4D82-B9F6-4F2A5116DBB2}"/>
              </a:ext>
            </a:extLst>
          </p:cNvPr>
          <p:cNvSpPr/>
          <p:nvPr/>
        </p:nvSpPr>
        <p:spPr>
          <a:xfrm>
            <a:off x="0" y="2211710"/>
            <a:ext cx="9144000" cy="76508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7B52C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2264107"/>
            <a:ext cx="9001000" cy="667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下</a:t>
            </a:r>
            <a:r>
              <a: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面</a:t>
            </a: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我们来</a:t>
            </a:r>
            <a:r>
              <a: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设置流程管理</a:t>
            </a: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吧！</a:t>
            </a:r>
            <a:endParaRPr lang="zh-CN" altLang="en-US" sz="32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F19768-9C32-48C1-B4A3-DA4E8BE5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536635"/>
            <a:ext cx="1121721" cy="216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31721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19142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流程管理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0627C7-22CA-45E8-BC8D-36DE6A87AC18}"/>
              </a:ext>
            </a:extLst>
          </p:cNvPr>
          <p:cNvSpPr/>
          <p:nvPr/>
        </p:nvSpPr>
        <p:spPr>
          <a:xfrm>
            <a:off x="431541" y="861560"/>
            <a:ext cx="2340258" cy="307296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>
                <a:solidFill>
                  <a:schemeClr val="bg1"/>
                </a:solidFill>
                <a:latin typeface="+mj-ea"/>
              </a:rPr>
              <a:t>流程管理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760260-5636-4FB7-82B7-92FF7E45F6FA}"/>
              </a:ext>
            </a:extLst>
          </p:cNvPr>
          <p:cNvSpPr/>
          <p:nvPr/>
        </p:nvSpPr>
        <p:spPr>
          <a:xfrm>
            <a:off x="431540" y="1219683"/>
            <a:ext cx="2340259" cy="1989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zh-CN" altLang="en-US" sz="1200" dirty="0">
                <a:latin typeface="+mn-ea"/>
              </a:rPr>
              <a:t>使用流程管理功能，即可设置用于多个用户编辑或确认记录时的次序（即流程）。</a:t>
            </a:r>
            <a:endParaRPr lang="en-US" altLang="zh-CN" sz="120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r>
              <a:rPr lang="zh-CN" altLang="en-US" sz="1200" dirty="0">
                <a:latin typeface="+mn-ea"/>
              </a:rPr>
              <a:t>流程管理是通过以下</a:t>
            </a:r>
            <a:r>
              <a:rPr lang="en-US" altLang="zh-CN" sz="1200" dirty="0">
                <a:latin typeface="+mn-ea"/>
              </a:rPr>
              <a:t>3</a:t>
            </a:r>
            <a:r>
              <a:rPr lang="zh-CN" altLang="en-US" sz="1200" dirty="0">
                <a:latin typeface="+mn-ea"/>
              </a:rPr>
              <a:t>种设置的合理组合来设置流程的。</a:t>
            </a:r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状态</a:t>
            </a:r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动作</a:t>
            </a:r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执行者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2E9D08-B541-4E67-995C-962CFFEA2FAF}"/>
              </a:ext>
            </a:extLst>
          </p:cNvPr>
          <p:cNvCxnSpPr>
            <a:cxnSpLocks/>
          </p:cNvCxnSpPr>
          <p:nvPr/>
        </p:nvCxnSpPr>
        <p:spPr>
          <a:xfrm>
            <a:off x="2951820" y="1041580"/>
            <a:ext cx="0" cy="3240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387069D-E8F1-48F7-B313-C7BDF76DC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147974"/>
            <a:ext cx="4650397" cy="26675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401411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流程管理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F0FD6D-4AC8-433F-8658-CBCDB6B7011B}"/>
              </a:ext>
            </a:extLst>
          </p:cNvPr>
          <p:cNvSpPr/>
          <p:nvPr/>
        </p:nvSpPr>
        <p:spPr>
          <a:xfrm>
            <a:off x="476520" y="456515"/>
            <a:ext cx="387045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状态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即指记录的处理情况。</a:t>
            </a: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设置了状态后，在各记录中将显示当前的状态。</a:t>
            </a:r>
            <a:endParaRPr lang="zh-CN" altLang="en-US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12AAC8-3B6B-4699-A7E7-87E7364C1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35" y="1671650"/>
            <a:ext cx="5229955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56777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流程管理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F0FD6D-4AC8-433F-8658-CBCDB6B7011B}"/>
              </a:ext>
            </a:extLst>
          </p:cNvPr>
          <p:cNvSpPr/>
          <p:nvPr/>
        </p:nvSpPr>
        <p:spPr>
          <a:xfrm>
            <a:off x="476520" y="456515"/>
            <a:ext cx="387996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动作</a:t>
            </a: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动作是用于将记录更改为其它状态的操作。需针对各状态分别设置。 设置了动作后，记录中将显示用于执行动作的按钮。 用户点击按钮，记录的状态即被更改。</a:t>
            </a:r>
            <a:endParaRPr lang="zh-CN" altLang="en-US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12AAC8-3B6B-4699-A7E7-87E7364C1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1" y="1464025"/>
            <a:ext cx="3800221" cy="18758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D1D141D-2204-4C86-857A-1CEAAAFEB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20" y="2518618"/>
            <a:ext cx="3694532" cy="197407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33FCE5D-08A6-4D5D-B5C3-0B7B239CAE71}"/>
              </a:ext>
            </a:extLst>
          </p:cNvPr>
          <p:cNvSpPr/>
          <p:nvPr/>
        </p:nvSpPr>
        <p:spPr>
          <a:xfrm>
            <a:off x="4765889" y="1687621"/>
            <a:ext cx="36945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例如，有两种情况的动作，其一为仅在“费用”字段的值不少于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100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万日元时才可执行，其二为仅在值不满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100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万日元时才可执行，那么根据费用金额的不同，用户可执行的动作也不同。</a:t>
            </a:r>
            <a:endParaRPr lang="zh-CN" altLang="en-US" sz="12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B6DFD2-16E1-4736-9B00-8D08FFDF8C7E}"/>
              </a:ext>
            </a:extLst>
          </p:cNvPr>
          <p:cNvSpPr/>
          <p:nvPr/>
        </p:nvSpPr>
        <p:spPr>
          <a:xfrm>
            <a:off x="487820" y="3485644"/>
            <a:ext cx="36945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可对</a:t>
            </a:r>
            <a:r>
              <a:rPr lang="en-US" altLang="zh-CN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个状态设置多个动作</a:t>
            </a:r>
          </a:p>
          <a:p>
            <a:r>
              <a:rPr lang="zh-CN" altLang="en-US" sz="1200" dirty="0">
                <a:latin typeface="+mn-ea"/>
              </a:rPr>
              <a:t>还需对各动作设置执行条件及动作执行后的状态。</a:t>
            </a:r>
          </a:p>
          <a:p>
            <a:r>
              <a:rPr lang="zh-CN" altLang="en-US" sz="1200" dirty="0">
                <a:latin typeface="+mn-ea"/>
              </a:rPr>
              <a:t>执行条件需使用各字段的值来指定。 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8060473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流程管理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F0FD6D-4AC8-433F-8658-CBCDB6B7011B}"/>
              </a:ext>
            </a:extLst>
          </p:cNvPr>
          <p:cNvSpPr/>
          <p:nvPr/>
        </p:nvSpPr>
        <p:spPr>
          <a:xfrm>
            <a:off x="476520" y="456515"/>
            <a:ext cx="65257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执行者</a:t>
            </a: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执行者是指可执行动作的用户。需针对各状态分别设置。</a:t>
            </a: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用于执行动作的按钮仅会在执行者的页面显示。</a:t>
            </a: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执行者以外的用户页面中，将显示当前的执行者。</a:t>
            </a:r>
            <a:endParaRPr lang="zh-CN" altLang="en-US" sz="12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F42E58-B9AB-4D86-A892-0F8E13492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1" y="1477405"/>
            <a:ext cx="3800221" cy="184912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8BA7FF5-23D2-447B-94E1-6429A98ABA3F}"/>
              </a:ext>
            </a:extLst>
          </p:cNvPr>
          <p:cNvSpPr/>
          <p:nvPr/>
        </p:nvSpPr>
        <p:spPr>
          <a:xfrm>
            <a:off x="4702696" y="1536635"/>
            <a:ext cx="38686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可对</a:t>
            </a:r>
            <a:r>
              <a:rPr lang="en-US" altLang="zh-CN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个状态设置多个执行者。</a:t>
            </a:r>
          </a:p>
          <a:p>
            <a:r>
              <a:rPr lang="zh-CN" altLang="en-US" sz="1200" dirty="0">
                <a:latin typeface="+mn-ea"/>
              </a:rPr>
              <a:t>设置多个执行者时，可选择以下任意一种情况改变记录的状态。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所有执行者执行动作后，状态随之改变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执行者中其中一人执行动作后，状态随之改变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由前一状态的执行者指定的用户执行动作后，状态随之改变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1184770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48B68E3-9F78-448A-90BA-9AD0B4993F36}"/>
              </a:ext>
            </a:extLst>
          </p:cNvPr>
          <p:cNvSpPr/>
          <p:nvPr/>
        </p:nvSpPr>
        <p:spPr>
          <a:xfrm>
            <a:off x="0" y="1716655"/>
            <a:ext cx="9144000" cy="139515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1294D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899209" y="1806665"/>
            <a:ext cx="5940660" cy="122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</a:rPr>
              <a:t>太好了，这样就完成了！</a:t>
            </a:r>
          </a:p>
          <a:p>
            <a:pPr algn="ctr">
              <a:lnSpc>
                <a:spcPct val="120000"/>
              </a:lnSpc>
            </a:pPr>
            <a:r>
              <a:rPr lang="zh-TW" altLang="en-US" sz="3200" b="1" dirty="0">
                <a:solidFill>
                  <a:srgbClr val="F7B52C"/>
                </a:solidFill>
                <a:latin typeface="Impact" pitchFamily="34" charset="0"/>
              </a:rPr>
              <a:t>你学会了吗</a:t>
            </a:r>
            <a:r>
              <a:rPr lang="en-US" altLang="zh-CN" sz="3200" b="1" dirty="0">
                <a:solidFill>
                  <a:srgbClr val="F7B52C"/>
                </a:solidFill>
                <a:latin typeface="+mn-ea"/>
              </a:rPr>
              <a:t>?</a:t>
            </a:r>
            <a:endParaRPr lang="zh-CN" altLang="en-US" sz="2000" b="1" dirty="0">
              <a:solidFill>
                <a:srgbClr val="F7B52C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C74B5C-5CD5-49EA-8890-BE4DACB3E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824" y="1446625"/>
            <a:ext cx="1602561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60495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518647" y="908114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7B52C"/>
                </a:solidFill>
              </a:rPr>
              <a:t>THANKS FOR</a:t>
            </a:r>
            <a:r>
              <a:rPr lang="zh-CN" altLang="en-US" sz="2800" dirty="0">
                <a:solidFill>
                  <a:srgbClr val="F7B52C"/>
                </a:solidFill>
              </a:rPr>
              <a:t> </a:t>
            </a:r>
            <a:r>
              <a:rPr lang="en-US" altLang="zh-CN" sz="2800" dirty="0">
                <a:solidFill>
                  <a:srgbClr val="21294D"/>
                </a:solidFill>
              </a:rPr>
              <a:t>YOUR WATCHING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CC379998-9E3D-42DA-87A5-2F3CF1FB0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209234"/>
              </p:ext>
            </p:extLst>
          </p:nvPr>
        </p:nvGraphicFramePr>
        <p:xfrm>
          <a:off x="656565" y="1986685"/>
          <a:ext cx="7695855" cy="1187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D8EF27B-2954-4949-9D83-2463ADAECEE6}"/>
              </a:ext>
            </a:extLst>
          </p:cNvPr>
          <p:cNvSpPr/>
          <p:nvPr/>
        </p:nvSpPr>
        <p:spPr>
          <a:xfrm>
            <a:off x="649048" y="2481740"/>
            <a:ext cx="2355291" cy="2355289"/>
          </a:xfrm>
          <a:prstGeom prst="rect">
            <a:avLst/>
          </a:prstGeom>
          <a:solidFill>
            <a:schemeClr val="bg1"/>
          </a:solidFill>
          <a:ln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FBEEB1-F743-476B-B877-48D6DB44BE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8" y="2571750"/>
            <a:ext cx="2175269" cy="21752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0F14B5D-52E9-47B4-A7D8-8573A55660DE}"/>
              </a:ext>
            </a:extLst>
          </p:cNvPr>
          <p:cNvSpPr/>
          <p:nvPr/>
        </p:nvSpPr>
        <p:spPr>
          <a:xfrm>
            <a:off x="6004645" y="2484868"/>
            <a:ext cx="2347776" cy="2355289"/>
          </a:xfrm>
          <a:prstGeom prst="rect">
            <a:avLst/>
          </a:prstGeom>
          <a:solidFill>
            <a:schemeClr val="bg1"/>
          </a:solidFill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A237405-3CC6-42ED-ADD6-CFC536583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368" y="2578348"/>
            <a:ext cx="2168328" cy="2168328"/>
          </a:xfrm>
          <a:prstGeom prst="rect">
            <a:avLst/>
          </a:prstGeom>
          <a:ln>
            <a:noFill/>
          </a:ln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55AD31-61A3-44FF-826E-A096C6E49019}"/>
              </a:ext>
            </a:extLst>
          </p:cNvPr>
          <p:cNvGrpSpPr/>
          <p:nvPr/>
        </p:nvGrpSpPr>
        <p:grpSpPr>
          <a:xfrm>
            <a:off x="3326846" y="2466711"/>
            <a:ext cx="2370279" cy="2355289"/>
            <a:chOff x="4917010" y="1266605"/>
            <a:chExt cx="2355291" cy="235528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360F9E-A2C7-490B-9C4B-C4CF57B81C99}"/>
                </a:ext>
              </a:extLst>
            </p:cNvPr>
            <p:cNvSpPr/>
            <p:nvPr/>
          </p:nvSpPr>
          <p:spPr>
            <a:xfrm>
              <a:off x="4917010" y="1266605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129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6F8EEA0-4CE7-4A79-AE72-A688685B6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986" y="1296581"/>
              <a:ext cx="2310284" cy="2310284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CE1D91A-9830-4EBF-8016-31C7F1BE1C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88" y="182692"/>
            <a:ext cx="1663059" cy="15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2243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33095</TotalTime>
  <Words>1847</Words>
  <Application>Microsoft Office PowerPoint</Application>
  <PresentationFormat>全屏显示(16:9)</PresentationFormat>
  <Paragraphs>299</Paragraphs>
  <Slides>48</Slides>
  <Notes>48</Notes>
  <HiddenSlides>22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微软雅黑</vt:lpstr>
      <vt:lpstr>Arial</vt:lpstr>
      <vt:lpstr>Calibri</vt:lpstr>
      <vt:lpstr>Eras Bold ITC</vt:lpstr>
      <vt:lpstr>Impact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严 蓓琦 (Yan BeiQi)</dc:creator>
  <cp:lastModifiedBy>厳 蓓琪 (Yan BeiQi)</cp:lastModifiedBy>
  <cp:revision>1306</cp:revision>
  <dcterms:modified xsi:type="dcterms:W3CDTF">2019-03-28T05:56:56Z</dcterms:modified>
</cp:coreProperties>
</file>