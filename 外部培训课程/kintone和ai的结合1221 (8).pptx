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6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7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7.xml" ContentType="application/vnd.openxmlformats-officedocument.presentationml.notesSlide+xml"/>
  <Override PartName="/ppt/tags/tag20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8" r:id="rId4"/>
    <p:sldMasterId id="2147483701" r:id="rId5"/>
    <p:sldMasterId id="2147483717" r:id="rId6"/>
    <p:sldMasterId id="2147483742" r:id="rId7"/>
    <p:sldMasterId id="2147483746" r:id="rId8"/>
  </p:sldMasterIdLst>
  <p:notesMasterIdLst>
    <p:notesMasterId r:id="rId21"/>
  </p:notesMasterIdLst>
  <p:handoutMasterIdLst>
    <p:handoutMasterId r:id="rId22"/>
  </p:handoutMasterIdLst>
  <p:sldIdLst>
    <p:sldId id="257" r:id="rId9"/>
    <p:sldId id="261" r:id="rId10"/>
    <p:sldId id="285" r:id="rId11"/>
    <p:sldId id="287" r:id="rId12"/>
    <p:sldId id="286" r:id="rId13"/>
    <p:sldId id="288" r:id="rId14"/>
    <p:sldId id="289" r:id="rId15"/>
    <p:sldId id="290" r:id="rId16"/>
    <p:sldId id="293" r:id="rId17"/>
    <p:sldId id="259" r:id="rId18"/>
    <p:sldId id="294" r:id="rId19"/>
    <p:sldId id="295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747" userDrawn="1">
          <p15:clr>
            <a:srgbClr val="A4A3A4"/>
          </p15:clr>
        </p15:guide>
        <p15:guide id="4" pos="48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FEF"/>
    <a:srgbClr val="16364F"/>
    <a:srgbClr val="59C3EB"/>
    <a:srgbClr val="58595B"/>
    <a:srgbClr val="5294C4"/>
    <a:srgbClr val="292F3B"/>
    <a:srgbClr val="FFFFFF"/>
    <a:srgbClr val="AF662D"/>
    <a:srgbClr val="AF652E"/>
    <a:srgbClr val="D1B8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00" autoAdjust="0"/>
    <p:restoredTop sz="87789"/>
  </p:normalViewPr>
  <p:slideViewPr>
    <p:cSldViewPr showGuides="1">
      <p:cViewPr>
        <p:scale>
          <a:sx n="100" d="100"/>
          <a:sy n="100" d="100"/>
        </p:scale>
        <p:origin x="1048" y="872"/>
      </p:cViewPr>
      <p:guideLst>
        <p:guide orient="horz" pos="2160"/>
        <p:guide pos="3840"/>
        <p:guide pos="4747"/>
        <p:guide pos="48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15" d="100"/>
          <a:sy n="115" d="100"/>
        </p:scale>
        <p:origin x="2736" y="192"/>
      </p:cViewPr>
      <p:guideLst/>
    </p:cSldViewPr>
  </p:notesViewPr>
  <p:gridSpacing cx="180000" cy="18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9ECC298-20E5-E8D5-05B7-EFB0F200B4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0D825C7-C6D1-19A9-BCFD-C8832F8CEF4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C98CE8-C9CF-ED46-BD5E-6442F31E9735}" type="datetimeFigureOut">
              <a:rPr kumimoji="1" lang="zh-CN" altLang="en-US" smtClean="0"/>
              <a:t>2023/12/21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672142-5D5D-BF35-3E35-38CA9FE7DA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A42684-6A7A-5DD0-1311-B96565D2E0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D01A8-4A16-0F4E-9191-2AD78D047F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8135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51C967-329A-4097-9DF7-1D9D57E1F83A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E0E958-F217-45E3-B324-60C7365EB0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88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今年</a:t>
            </a:r>
            <a:r>
              <a:rPr kumimoji="1" lang="en-US" altLang="zh-CN" dirty="0"/>
              <a:t>6</a:t>
            </a:r>
            <a:r>
              <a:rPr kumimoji="1" lang="zh-CN" altLang="en-US" dirty="0"/>
              <a:t>月，</a:t>
            </a:r>
            <a:r>
              <a:rPr kumimoji="1" lang="en-US" altLang="zh-CN" dirty="0" err="1"/>
              <a:t>openai</a:t>
            </a:r>
            <a:r>
              <a:rPr kumimoji="1" lang="zh-CN" altLang="en-US" dirty="0"/>
              <a:t>发布了</a:t>
            </a:r>
            <a:r>
              <a:rPr kumimoji="1" lang="en-US" altLang="zh-CN" dirty="0"/>
              <a:t>function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calling</a:t>
            </a:r>
            <a:r>
              <a:rPr kumimoji="1" lang="zh-CN" altLang="en-US" dirty="0"/>
              <a:t> 功能。这个功能有什么意义呢？在此之前，如果说</a:t>
            </a:r>
            <a:r>
              <a:rPr kumimoji="1" lang="en-US" altLang="zh-CN" dirty="0" err="1"/>
              <a:t>llm</a:t>
            </a:r>
            <a:r>
              <a:rPr kumimoji="1" lang="zh-CN" altLang="en-US" dirty="0"/>
              <a:t>（大语音模型）构成了</a:t>
            </a:r>
            <a:r>
              <a:rPr kumimoji="1" lang="en-US" altLang="zh-CN" dirty="0"/>
              <a:t>ai</a:t>
            </a:r>
            <a:r>
              <a:rPr kumimoji="1" lang="zh-CN" altLang="en-US" dirty="0"/>
              <a:t>思维的大脑，那么</a:t>
            </a:r>
            <a:r>
              <a:rPr kumimoji="1" lang="en-US" altLang="zh-CN" dirty="0" err="1"/>
              <a:t>fuction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calling</a:t>
            </a:r>
            <a:r>
              <a:rPr kumimoji="1" lang="zh-CN" altLang="en-US" dirty="0"/>
              <a:t>相当于给</a:t>
            </a:r>
            <a:r>
              <a:rPr kumimoji="1" lang="en-US" altLang="zh-CN" dirty="0"/>
              <a:t>ai</a:t>
            </a:r>
            <a:r>
              <a:rPr kumimoji="1" lang="zh-CN" altLang="en-US" dirty="0"/>
              <a:t>赋予了手和脚，并且赋予他使用工具的能力。</a:t>
            </a:r>
            <a:r>
              <a:rPr kumimoji="1" lang="en-US" altLang="zh-CN" dirty="0"/>
              <a:t>Ai</a:t>
            </a:r>
            <a:r>
              <a:rPr kumimoji="1" lang="zh-CN" altLang="en-US" dirty="0"/>
              <a:t>不再只是一个只会思考的大脑，而是可以通过大脑直接执行指令的完整体。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A9C4C-E2DC-CD44-BA64-AA411BBA84B4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596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国内也在</a:t>
            </a:r>
            <a:r>
              <a:rPr kumimoji="1" lang="en-US" altLang="zh-CN" dirty="0"/>
              <a:t>10</a:t>
            </a:r>
            <a:r>
              <a:rPr kumimoji="1" lang="zh-CN" altLang="en-US" dirty="0"/>
              <a:t>月对这个功能进行了支持和上线。包括文心一言，</a:t>
            </a:r>
            <a:r>
              <a:rPr kumimoji="1" lang="en-US" altLang="zh-CN" dirty="0" err="1"/>
              <a:t>chatglm</a:t>
            </a:r>
            <a:r>
              <a:rPr kumimoji="1" lang="zh-CN" altLang="en-US" dirty="0"/>
              <a:t>等国内知名的大模型也进行了跟进。使用国内的大语言模型主要是对中文的理解还是不错的，其次是规避了法律风险，让</a:t>
            </a:r>
            <a:r>
              <a:rPr kumimoji="1" lang="en-US" altLang="zh-CN" dirty="0"/>
              <a:t>ai</a:t>
            </a:r>
            <a:r>
              <a:rPr kumimoji="1" lang="zh-CN" altLang="en-US" dirty="0"/>
              <a:t>在我们的业务上可以真正的开展起来。而不是停留在理论阶段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0E958-F217-45E3-B324-60C7365EB01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484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公共平台可以使用千帆大模型平台。他是百度的平台。因为百度自身有他的商业产品文心一言。同时呢，他也做平台，可以让你根据业务需求接入其他大语音模型，所以他们做了一个提供大语言模型的云平台，称为千帆大模型平台。</a:t>
            </a:r>
            <a:endParaRPr kumimoji="1" lang="en-US" altLang="zh-CN" dirty="0"/>
          </a:p>
          <a:p>
            <a:r>
              <a:rPr kumimoji="1" lang="zh-CN" altLang="en-US" dirty="0"/>
              <a:t>这个平台你不仅可以使用百度的大语言模型文心一言，比较有名的中文开源大语言模型</a:t>
            </a:r>
            <a:r>
              <a:rPr kumimoji="1" lang="en-US" altLang="zh-CN" dirty="0" err="1"/>
              <a:t>chatglm</a:t>
            </a:r>
            <a:r>
              <a:rPr kumimoji="1" lang="zh-CN" altLang="en-US" dirty="0"/>
              <a:t>，同时你也可以 私有化部署自己的大语言模型等。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0E958-F217-45E3-B324-60C7365EB01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11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刚才我们说的</a:t>
            </a:r>
            <a:r>
              <a:rPr kumimoji="1" lang="en-US" altLang="zh-CN" dirty="0"/>
              <a:t>function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calling</a:t>
            </a:r>
            <a:r>
              <a:rPr kumimoji="1" lang="zh-CN" altLang="en-US" dirty="0"/>
              <a:t>的最大的特点就是可以自行理解并且调用接口了。现在我们来具体讲解下这是什么意思。</a:t>
            </a:r>
            <a:endParaRPr kumimoji="1" lang="en-US" altLang="zh-CN" dirty="0"/>
          </a:p>
          <a:p>
            <a:r>
              <a:rPr kumimoji="1" lang="zh-CN" altLang="en-US" dirty="0"/>
              <a:t>比如说我们每天工作是在</a:t>
            </a:r>
            <a:r>
              <a:rPr kumimoji="1" lang="en-US" altLang="zh-CN" dirty="0" err="1"/>
              <a:t>kintone</a:t>
            </a:r>
            <a:r>
              <a:rPr kumimoji="1" lang="zh-CN" altLang="en-US" dirty="0"/>
              <a:t>中写日报。然后再把日报发邮件给领导。</a:t>
            </a:r>
            <a:endParaRPr kumimoji="1" lang="en-US" altLang="zh-CN" dirty="0"/>
          </a:p>
          <a:p>
            <a:r>
              <a:rPr kumimoji="1" lang="zh-CN" altLang="en-US" dirty="0"/>
              <a:t>我们先来看下之前的</a:t>
            </a:r>
            <a:r>
              <a:rPr kumimoji="1" lang="en-US" altLang="zh-CN" dirty="0" err="1"/>
              <a:t>chatgpt</a:t>
            </a:r>
            <a:r>
              <a:rPr kumimoji="1" lang="zh-CN" altLang="en-US" dirty="0"/>
              <a:t>。我们可以让写一段今天的日报。他能写的很好。</a:t>
            </a:r>
            <a:endParaRPr kumimoji="1" lang="en-US" altLang="zh-CN" dirty="0"/>
          </a:p>
          <a:p>
            <a:r>
              <a:rPr kumimoji="1" lang="zh-CN" altLang="en-US" dirty="0"/>
              <a:t>但是却无法让他直接登记到</a:t>
            </a:r>
            <a:r>
              <a:rPr kumimoji="1" lang="en-US" altLang="zh-CN" dirty="0" err="1"/>
              <a:t>kintone</a:t>
            </a:r>
            <a:r>
              <a:rPr kumimoji="1" lang="zh-CN" altLang="en-US" dirty="0"/>
              <a:t>中。也无法直接把这段日报当作邮件发送出去。</a:t>
            </a:r>
            <a:endParaRPr kumimoji="1" lang="en-US" altLang="zh-CN" dirty="0"/>
          </a:p>
          <a:p>
            <a:r>
              <a:rPr kumimoji="1" lang="zh-CN" altLang="en-US" dirty="0"/>
              <a:t>因为发送到</a:t>
            </a:r>
            <a:r>
              <a:rPr kumimoji="1" lang="en-US" altLang="zh-CN" dirty="0" err="1"/>
              <a:t>kintone</a:t>
            </a:r>
            <a:r>
              <a:rPr kumimoji="1" lang="zh-CN" altLang="en-US" dirty="0"/>
              <a:t>你需要调用</a:t>
            </a:r>
            <a:r>
              <a:rPr kumimoji="1" lang="en-US" altLang="zh-CN" dirty="0" err="1"/>
              <a:t>kintone</a:t>
            </a:r>
            <a:r>
              <a:rPr kumimoji="1" lang="zh-CN" altLang="en-US" dirty="0"/>
              <a:t>的</a:t>
            </a:r>
            <a:r>
              <a:rPr kumimoji="1" lang="en-US" altLang="zh-CN" dirty="0" err="1"/>
              <a:t>api</a:t>
            </a:r>
            <a:r>
              <a:rPr kumimoji="1" lang="zh-CN" altLang="en-US" dirty="0"/>
              <a:t>接口。发送邮件也是一样，你需要调用邮件接口。传统开发我们这些都做习惯了。知道是怎么回事了。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0E958-F217-45E3-B324-60C7365EB01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843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依然是基于传统的</a:t>
            </a:r>
            <a:r>
              <a:rPr kumimoji="1" lang="en-US" altLang="zh-CN" dirty="0"/>
              <a:t>ai</a:t>
            </a:r>
            <a:r>
              <a:rPr kumimoji="1" lang="zh-CN" altLang="en-US" dirty="0"/>
              <a:t>对话接口。只不过新增了</a:t>
            </a:r>
            <a:r>
              <a:rPr kumimoji="1" lang="en-US" altLang="zh-CN" dirty="0"/>
              <a:t>function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callling</a:t>
            </a:r>
            <a:r>
              <a:rPr kumimoji="1" lang="zh-CN" altLang="en-US" dirty="0"/>
              <a:t>参数。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A9C4C-E2DC-CD44-BA64-AA411BBA84B4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17597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下面是</a:t>
            </a:r>
            <a:r>
              <a:rPr kumimoji="1" lang="en-US" altLang="zh-CN" b="0" dirty="0" err="1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function_call</a:t>
            </a:r>
            <a:r>
              <a:rPr kumimoji="1" lang="zh-CN" altLang="en-US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这个参数接受的一些子参数，后面给一个具体开发中的例子来解释这些参数的使用</a:t>
            </a:r>
            <a:endParaRPr kumimoji="1" lang="en-US" altLang="zh-CN" b="0" dirty="0">
              <a:effectLst/>
              <a:latin typeface="PingFangSC-Regular" panose="020B0400000000000000" pitchFamily="34" charset="-122"/>
              <a:ea typeface="PingFangSC-Regular" panose="020B0400000000000000" pitchFamily="34" charset="-122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A9C4C-E2DC-CD44-BA64-AA411BBA84B4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9463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其中何时调用这个接口，调用这个接口的参数。这都是</a:t>
            </a:r>
            <a:r>
              <a:rPr kumimoji="1" lang="en-US" altLang="zh-CN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ai</a:t>
            </a:r>
            <a:r>
              <a:rPr kumimoji="1" lang="zh-CN" altLang="en-US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自己根据你对这个接口定义的提示信息分析出来的。</a:t>
            </a:r>
            <a:endParaRPr kumimoji="1" lang="en-US" altLang="zh-CN" b="0" dirty="0">
              <a:effectLst/>
              <a:latin typeface="PingFangSC-Regular" panose="020B0400000000000000" pitchFamily="34" charset="-122"/>
              <a:ea typeface="PingFangSC-Regular" panose="020B0400000000000000" pitchFamily="34" charset="-122"/>
            </a:endParaRPr>
          </a:p>
          <a:p>
            <a:endParaRPr kumimoji="1" lang="en-US" altLang="zh-CN" dirty="0"/>
          </a:p>
          <a:p>
            <a:r>
              <a:rPr kumimoji="1" lang="zh-CN" altLang="en-US" dirty="0"/>
              <a:t>响应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当</a:t>
            </a:r>
            <a:r>
              <a:rPr kumimoji="1" lang="en-US" altLang="zh-CN" dirty="0"/>
              <a:t>ai</a:t>
            </a:r>
            <a:r>
              <a:rPr kumimoji="1" lang="zh-CN" altLang="en-US" dirty="0"/>
              <a:t>成功识别到需要调用哪个接口时，它将通过</a:t>
            </a:r>
            <a:r>
              <a:rPr lang="en" altLang="zh-CN" b="0" dirty="0" err="1">
                <a:solidFill>
                  <a:srgbClr val="4FC1FF"/>
                </a:solidFill>
                <a:effectLst/>
                <a:latin typeface="JetBrains Mono" panose="02000009000000000000" pitchFamily="2" charset="0"/>
              </a:rPr>
              <a:t>finish_reason</a:t>
            </a:r>
            <a:r>
              <a:rPr lang="en" altLang="zh-CN" b="0" dirty="0">
                <a:solidFill>
                  <a:srgbClr val="D4D4D4"/>
                </a:solidFill>
                <a:effectLst/>
                <a:latin typeface="JetBrains Mono" panose="02000009000000000000" pitchFamily="2" charset="0"/>
              </a:rPr>
              <a:t>, </a:t>
            </a:r>
            <a:r>
              <a:rPr lang="en" altLang="zh-CN" b="0" dirty="0">
                <a:solidFill>
                  <a:srgbClr val="4FC1FF"/>
                </a:solidFill>
                <a:effectLst/>
                <a:latin typeface="JetBrains Mono" panose="02000009000000000000" pitchFamily="2" charset="0"/>
              </a:rPr>
              <a:t>function_call</a:t>
            </a:r>
            <a:endParaRPr lang="en" altLang="zh-CN" b="0" dirty="0">
              <a:solidFill>
                <a:srgbClr val="D4D4D4"/>
              </a:solidFill>
              <a:effectLst/>
              <a:latin typeface="JetBrains Mono" panose="02000009000000000000" pitchFamily="2" charset="0"/>
            </a:endParaRPr>
          </a:p>
          <a:p>
            <a:r>
              <a:rPr kumimoji="1" lang="zh-CN" altLang="en-US" dirty="0"/>
              <a:t>这两个参数返回。</a:t>
            </a:r>
            <a:endParaRPr kumimoji="1" lang="en-US" altLang="zh-CN" dirty="0"/>
          </a:p>
          <a:p>
            <a:r>
              <a:rPr kumimoji="1" lang="zh-CN" altLang="en-US" dirty="0"/>
              <a:t>其中</a:t>
            </a:r>
            <a:r>
              <a:rPr lang="en" altLang="zh-CN" b="0" i="0" dirty="0">
                <a:solidFill>
                  <a:srgbClr val="222222"/>
                </a:solidFill>
                <a:effectLst/>
                <a:latin typeface="PingFangSC-Medium" panose="020B0400000000000000" pitchFamily="34" charset="-122"/>
                <a:ea typeface="PingFangSC-Medium" panose="020B0400000000000000" pitchFamily="34" charset="-122"/>
              </a:rPr>
              <a:t>function_call</a:t>
            </a:r>
            <a:r>
              <a:rPr lang="zh-CN" altLang="en" b="0" i="0" dirty="0">
                <a:solidFill>
                  <a:srgbClr val="222222"/>
                </a:solidFill>
                <a:effectLst/>
                <a:latin typeface="PingFangSC-Medium" panose="020B0400000000000000" pitchFamily="34" charset="-122"/>
                <a:ea typeface="PingFangSC-Medium" panose="020B0400000000000000" pitchFamily="34" charset="-122"/>
              </a:rPr>
              <a:t>中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PingFangSC-Medium" panose="020B0400000000000000" pitchFamily="34" charset="-122"/>
                <a:ea typeface="PingFangSC-Medium" panose="020B0400000000000000" pitchFamily="34" charset="-122"/>
              </a:rPr>
              <a:t>会包含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PingFangSC-Medium" panose="020B0400000000000000" pitchFamily="34" charset="-122"/>
                <a:ea typeface="PingFangSC-Medium" panose="020B0400000000000000" pitchFamily="34" charset="-122"/>
              </a:rPr>
              <a:t>name: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PingFangSC-Medium" panose="020B0400000000000000" pitchFamily="34" charset="-122"/>
                <a:ea typeface="PingFangSC-Medium" panose="020B0400000000000000" pitchFamily="34" charset="-122"/>
              </a:rPr>
              <a:t>调用的接口名。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PingFangSC-Medium" panose="020B0400000000000000" pitchFamily="34" charset="-122"/>
                <a:ea typeface="PingFangSC-Medium" panose="020B0400000000000000" pitchFamily="34" charset="-122"/>
              </a:rPr>
              <a:t> </a:t>
            </a:r>
            <a:r>
              <a:rPr lang="en" altLang="zh-CN" b="0" i="0" dirty="0">
                <a:solidFill>
                  <a:srgbClr val="222222"/>
                </a:solidFill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a</a:t>
            </a:r>
            <a:r>
              <a:rPr lang="en" altLang="zh-CN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rguments</a:t>
            </a:r>
            <a:r>
              <a:rPr lang="zh-CN" altLang="en-US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：接口的参数。</a:t>
            </a:r>
            <a:endParaRPr lang="en-US" altLang="zh-CN" b="0" dirty="0">
              <a:effectLst/>
              <a:latin typeface="PingFangSC-Regular" panose="020B0400000000000000" pitchFamily="34" charset="-122"/>
              <a:ea typeface="PingFangSC-Regular" panose="020B0400000000000000" pitchFamily="34" charset="-122"/>
            </a:endParaRPr>
          </a:p>
          <a:p>
            <a:r>
              <a:rPr kumimoji="1" lang="zh-CN" altLang="en-US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然后你通过</a:t>
            </a:r>
            <a:r>
              <a:rPr kumimoji="1" lang="en" altLang="zh-CN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apply</a:t>
            </a:r>
            <a:r>
              <a:rPr kumimoji="1" lang="zh-CN" altLang="en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来</a:t>
            </a:r>
            <a:r>
              <a:rPr kumimoji="1" lang="zh-CN" altLang="en-US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调用。 比如说你定义了一个发送微信的接口。</a:t>
            </a:r>
            <a:endParaRPr kumimoji="1" lang="en-US" altLang="zh-CN" b="0" dirty="0">
              <a:effectLst/>
              <a:latin typeface="PingFangSC-Regular" panose="020B0400000000000000" pitchFamily="34" charset="-122"/>
              <a:ea typeface="PingFangSC-Regular" panose="020B0400000000000000" pitchFamily="34" charset="-122"/>
            </a:endParaRPr>
          </a:p>
          <a:p>
            <a:r>
              <a:rPr kumimoji="1" lang="zh-CN" altLang="en-US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你在</a:t>
            </a:r>
            <a:r>
              <a:rPr kumimoji="1" lang="en-US" altLang="zh-CN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description</a:t>
            </a:r>
            <a:r>
              <a:rPr kumimoji="1" lang="zh-CN" altLang="en-US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中定义接口的描述。“给指定的人发送微信信息”</a:t>
            </a:r>
            <a:endParaRPr kumimoji="1" lang="en-US" altLang="zh-CN" b="0" dirty="0">
              <a:effectLst/>
              <a:latin typeface="PingFangSC-Regular" panose="020B0400000000000000" pitchFamily="34" charset="-122"/>
              <a:ea typeface="PingFangSC-Regular" panose="020B0400000000000000" pitchFamily="34" charset="-122"/>
            </a:endParaRPr>
          </a:p>
          <a:p>
            <a:r>
              <a:rPr kumimoji="1" lang="zh-CN" altLang="en-US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此时你在和</a:t>
            </a:r>
            <a:r>
              <a:rPr kumimoji="1" lang="en-US" altLang="zh-CN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ai</a:t>
            </a:r>
            <a:r>
              <a:rPr kumimoji="1" lang="zh-CN" altLang="en-US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对话时，如果你的语言中涉及到了。请帮我给</a:t>
            </a:r>
            <a:r>
              <a:rPr kumimoji="1" lang="en-US" altLang="zh-CN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xxx</a:t>
            </a:r>
            <a:r>
              <a:rPr kumimoji="1" lang="zh-CN" altLang="en-US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发送微信信息。这种语义的话时，</a:t>
            </a:r>
            <a:r>
              <a:rPr kumimoji="1" lang="en-US" altLang="zh-CN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ai</a:t>
            </a:r>
            <a:r>
              <a:rPr kumimoji="1" lang="zh-CN" altLang="en-US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就会自动调用这个接口。当然当它调用这个接口时，会和你后台进行反馈。它会调用这个接口，其中参数是</a:t>
            </a:r>
            <a:r>
              <a:rPr kumimoji="1" lang="en-US" altLang="zh-CN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xxx</a:t>
            </a:r>
          </a:p>
          <a:p>
            <a:r>
              <a:rPr kumimoji="1" lang="zh-CN" altLang="en-US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你在后台可以控制是否要和用户进行交互，比如告知用户我现在要给</a:t>
            </a:r>
            <a:r>
              <a:rPr kumimoji="1" lang="en-US" altLang="zh-CN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xxx</a:t>
            </a:r>
            <a:r>
              <a:rPr kumimoji="1" lang="zh-CN" altLang="en-US" b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发送微信消息了，是否可以？让用户选择。也可以直接执行发送微信信息。不和用户交互。这些根据业务的具体需求，做不同的对应。</a:t>
            </a:r>
            <a:endParaRPr kumimoji="1" lang="en-US" altLang="zh-CN" b="0" dirty="0">
              <a:effectLst/>
              <a:latin typeface="PingFangSC-Regular" panose="020B0400000000000000" pitchFamily="34" charset="-122"/>
              <a:ea typeface="PingFangSC-Regular" panose="020B0400000000000000" pitchFamily="34" charset="-122"/>
            </a:endParaRPr>
          </a:p>
          <a:p>
            <a:endParaRPr kumimoji="1" lang="en-US" altLang="zh-CN" b="0" dirty="0">
              <a:effectLst/>
              <a:latin typeface="PingFangSC-Regular" panose="020B0400000000000000" pitchFamily="34" charset="-122"/>
              <a:ea typeface="PingFangSC-Regular" panose="020B0400000000000000" pitchFamily="34" charset="-122"/>
            </a:endParaRPr>
          </a:p>
          <a:p>
            <a:r>
              <a:rPr kumimoji="1" lang="zh-CN" altLang="en-US" dirty="0"/>
              <a:t>先来看下，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那现在，是不是连调用接口这部分也能省了呢？是的</a:t>
            </a:r>
            <a:endParaRPr kumimoji="1" lang="en-US" altLang="zh-CN" dirty="0"/>
          </a:p>
          <a:p>
            <a:r>
              <a:rPr kumimoji="1" lang="zh-CN" altLang="en-US" dirty="0"/>
              <a:t>既然你已经告诉</a:t>
            </a:r>
            <a:r>
              <a:rPr kumimoji="1" lang="en-US" altLang="zh-CN" dirty="0"/>
              <a:t>ai</a:t>
            </a:r>
            <a:r>
              <a:rPr kumimoji="1" lang="zh-CN" altLang="en-US" dirty="0"/>
              <a:t>你需要发送到</a:t>
            </a:r>
            <a:r>
              <a:rPr kumimoji="1" lang="en-US" altLang="zh-CN" dirty="0" err="1"/>
              <a:t>kintone</a:t>
            </a:r>
            <a:r>
              <a:rPr kumimoji="1" lang="zh-CN" altLang="en-US" dirty="0"/>
              <a:t>，并且告诉了他</a:t>
            </a:r>
            <a:r>
              <a:rPr kumimoji="1" lang="en-US" altLang="zh-CN" dirty="0" err="1"/>
              <a:t>kintone</a:t>
            </a:r>
            <a:r>
              <a:rPr kumimoji="1" lang="zh-CN" altLang="en-US" dirty="0"/>
              <a:t>的插入数据的</a:t>
            </a:r>
            <a:r>
              <a:rPr kumimoji="1" lang="en-US" altLang="zh-CN" dirty="0" err="1"/>
              <a:t>api</a:t>
            </a:r>
            <a:r>
              <a:rPr kumimoji="1" lang="zh-CN" altLang="en-US" dirty="0"/>
              <a:t>是什么了，那他就能自己去执行了。</a:t>
            </a:r>
            <a:endParaRPr kumimoji="1" lang="en-US" altLang="zh-CN" dirty="0"/>
          </a:p>
          <a:p>
            <a:r>
              <a:rPr kumimoji="1" lang="zh-CN" altLang="en-US" dirty="0"/>
              <a:t>发送邮件也是一样的。</a:t>
            </a:r>
            <a:endParaRPr kumimoji="1" lang="en-US" altLang="zh-CN" dirty="0"/>
          </a:p>
          <a:p>
            <a:r>
              <a:rPr kumimoji="1" lang="zh-CN" altLang="en-US" dirty="0"/>
              <a:t>相较于之前的接口（</a:t>
            </a:r>
            <a:r>
              <a:rPr kumimoji="1" lang="en-US" altLang="zh-CN" dirty="0" err="1"/>
              <a:t>chatgpt</a:t>
            </a:r>
            <a:r>
              <a:rPr kumimoji="1" lang="zh-CN" altLang="en-US" dirty="0"/>
              <a:t>为例）。他接受的</a:t>
            </a:r>
            <a:r>
              <a:rPr kumimoji="1" lang="en-US" altLang="zh-CN" dirty="0"/>
              <a:t>message</a:t>
            </a:r>
            <a:r>
              <a:rPr kumimoji="1" lang="zh-CN" altLang="en-US" dirty="0"/>
              <a:t>参数， 包含</a:t>
            </a:r>
            <a:r>
              <a:rPr kumimoji="1" lang="en-US" altLang="zh-CN" dirty="0"/>
              <a:t>role</a:t>
            </a:r>
            <a:r>
              <a:rPr kumimoji="1" lang="zh-CN" altLang="en-US" dirty="0"/>
              <a:t>（角色），</a:t>
            </a:r>
            <a:r>
              <a:rPr kumimoji="1" lang="en-US" altLang="zh-CN" dirty="0"/>
              <a:t>content</a:t>
            </a:r>
            <a:r>
              <a:rPr kumimoji="1" lang="zh-CN" altLang="en-US" dirty="0"/>
              <a:t>（内容）。他还接受一个</a:t>
            </a:r>
            <a:r>
              <a:rPr lang="en" altLang="zh-CN" b="0" i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functions</a:t>
            </a:r>
            <a:r>
              <a:rPr lang="zh-CN" altLang="en" b="0" i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的</a:t>
            </a:r>
            <a:r>
              <a:rPr lang="zh-CN" altLang="en-US" b="0" i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参数。里面包含了你提供的接口函数的定义。接口函数的以</a:t>
            </a:r>
            <a:r>
              <a:rPr lang="en-US" altLang="zh-CN" b="0" i="0" dirty="0" err="1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json</a:t>
            </a:r>
            <a:r>
              <a:rPr lang="zh-CN" altLang="en-US" b="0" i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 </a:t>
            </a:r>
            <a:r>
              <a:rPr lang="en-US" altLang="zh-CN" b="0" i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schema</a:t>
            </a:r>
            <a:r>
              <a:rPr lang="zh-CN" altLang="en-US" b="0" i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格式进行书写。</a:t>
            </a:r>
            <a:endParaRPr lang="en-US" altLang="zh-CN" b="0" i="0" dirty="0">
              <a:effectLst/>
              <a:latin typeface="PingFangSC-Regular" panose="020B0400000000000000" pitchFamily="34" charset="-122"/>
              <a:ea typeface="PingFangSC-Regular" panose="020B0400000000000000" pitchFamily="34" charset="-122"/>
            </a:endParaRPr>
          </a:p>
          <a:p>
            <a:r>
              <a:rPr kumimoji="1" lang="zh-CN" altLang="en-US" b="0" i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其中最重要的是</a:t>
            </a:r>
            <a:r>
              <a:rPr kumimoji="1" lang="en-US" altLang="zh-CN" b="0" i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description</a:t>
            </a:r>
            <a:r>
              <a:rPr kumimoji="1" lang="zh-CN" altLang="en-US" b="0" i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的部分。</a:t>
            </a:r>
            <a:r>
              <a:rPr kumimoji="1" lang="en-US" altLang="zh-CN" b="0" i="0" dirty="0" err="1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Llm</a:t>
            </a:r>
            <a:r>
              <a:rPr kumimoji="1" lang="zh-CN" altLang="en-US" b="0" i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会根据这段描述来判断何时调用这个函数。同时你的参数，比如说</a:t>
            </a:r>
            <a:r>
              <a:rPr kumimoji="1" lang="en-US" altLang="zh-CN" b="0" i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user</a:t>
            </a:r>
            <a:r>
              <a:rPr kumimoji="1" lang="zh-CN" altLang="en-US" b="0" i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，</a:t>
            </a:r>
            <a:r>
              <a:rPr kumimoji="1" lang="en-US" altLang="zh-CN" b="0" i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message</a:t>
            </a:r>
            <a:r>
              <a:rPr kumimoji="1" lang="zh-CN" altLang="en-US" b="0" i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。他也会自己判断他们分别应该传递什么。</a:t>
            </a:r>
            <a:endParaRPr kumimoji="1" lang="en-US" altLang="zh-CN" b="0" i="0" dirty="0">
              <a:effectLst/>
              <a:latin typeface="PingFangSC-Regular" panose="020B0400000000000000" pitchFamily="34" charset="-122"/>
              <a:ea typeface="PingFangSC-Regular" panose="020B0400000000000000" pitchFamily="34" charset="-122"/>
            </a:endParaRPr>
          </a:p>
          <a:p>
            <a:r>
              <a:rPr kumimoji="1" lang="zh-CN" altLang="en-US" b="0" i="0" dirty="0">
                <a:effectLst/>
                <a:latin typeface="PingFangSC-Regular" panose="020B0400000000000000" pitchFamily="34" charset="-122"/>
                <a:ea typeface="PingFangSC-Regular" panose="020B0400000000000000" pitchFamily="34" charset="-122"/>
              </a:rPr>
              <a:t>我们来看一个例子。</a:t>
            </a:r>
            <a:endParaRPr kumimoji="1" lang="en-US" altLang="zh-CN" b="0" i="0" dirty="0">
              <a:effectLst/>
              <a:latin typeface="PingFangSC-Regular" panose="020B0400000000000000" pitchFamily="34" charset="-122"/>
              <a:ea typeface="PingFangSC-Regular" panose="020B0400000000000000" pitchFamily="34" charset="-122"/>
            </a:endParaRPr>
          </a:p>
          <a:p>
            <a:r>
              <a:rPr kumimoji="1" lang="zh-CN" altLang="en-US" dirty="0"/>
              <a:t>请帮我通过微信发送信息“别迟到”给顾三乐。。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在源代码中，我们不再需要传递结构化的数据，比如说</a:t>
            </a:r>
            <a:r>
              <a:rPr kumimoji="1" lang="en-US" altLang="zh-CN" dirty="0"/>
              <a:t>user</a:t>
            </a:r>
            <a:r>
              <a:rPr kumimoji="1" lang="zh-CN" altLang="en-US" dirty="0"/>
              <a:t>，</a:t>
            </a:r>
            <a:r>
              <a:rPr kumimoji="1" lang="en-US" altLang="zh-CN" dirty="0"/>
              <a:t>message</a:t>
            </a:r>
            <a:r>
              <a:rPr kumimoji="1" lang="zh-CN" altLang="en-US" dirty="0"/>
              <a:t>。</a:t>
            </a:r>
            <a:r>
              <a:rPr kumimoji="1" lang="en-US" altLang="zh-CN" dirty="0" err="1"/>
              <a:t>Llm</a:t>
            </a:r>
            <a:r>
              <a:rPr kumimoji="1" lang="zh-CN" altLang="en-US" dirty="0"/>
              <a:t>会自己判断应该调用哪个接口，判断需要传递哪些参数。</a:t>
            </a:r>
          </a:p>
          <a:p>
            <a:endParaRPr kumimoji="1" lang="en-US" altLang="zh-CN" b="0" dirty="0">
              <a:effectLst/>
              <a:latin typeface="PingFangSC-Regular" panose="020B0400000000000000" pitchFamily="34" charset="-122"/>
              <a:ea typeface="PingFangSC-Regular" panose="020B0400000000000000" pitchFamily="34" charset="-122"/>
            </a:endParaRPr>
          </a:p>
          <a:p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0E958-F217-45E3-B324-60C7365EB01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0766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但我们调用</a:t>
            </a:r>
            <a:r>
              <a:rPr kumimoji="1" lang="en-US" altLang="zh-CN" dirty="0"/>
              <a:t>ai</a:t>
            </a:r>
            <a:r>
              <a:rPr kumimoji="1" lang="zh-CN" altLang="en-US" dirty="0"/>
              <a:t>需求往往不是一轮就结束的，而是会有多轮请求。比如说我先筛选了数据，然后将筛选后的数据再进行发送等。</a:t>
            </a:r>
            <a:endParaRPr kumimoji="1" lang="en-US" altLang="zh-CN" dirty="0"/>
          </a:p>
          <a:p>
            <a:r>
              <a:rPr kumimoji="1" lang="zh-CN" altLang="en-US" dirty="0"/>
              <a:t>这时候就需要进行多轮查询。</a:t>
            </a:r>
            <a:endParaRPr kumimoji="1" lang="en-US" altLang="zh-CN" dirty="0"/>
          </a:p>
          <a:p>
            <a:r>
              <a:rPr kumimoji="1" lang="zh-CN" altLang="en-US" dirty="0"/>
              <a:t>第一次询问。</a:t>
            </a:r>
            <a:endParaRPr kumimoji="1" lang="en-US" altLang="zh-CN" dirty="0"/>
          </a:p>
          <a:p>
            <a:r>
              <a:rPr kumimoji="1" lang="zh-CN" altLang="en-US" dirty="0"/>
              <a:t>获取</a:t>
            </a:r>
            <a:r>
              <a:rPr kumimoji="1" lang="en-US" altLang="zh-CN" dirty="0"/>
              <a:t>id</a:t>
            </a:r>
            <a:r>
              <a:rPr kumimoji="1" lang="zh-CN" altLang="en-US" dirty="0"/>
              <a:t>为</a:t>
            </a:r>
            <a:r>
              <a:rPr kumimoji="1" lang="en-US" altLang="zh-CN" dirty="0"/>
              <a:t>xx</a:t>
            </a:r>
            <a:r>
              <a:rPr kumimoji="1" lang="zh-CN" altLang="en-US" dirty="0"/>
              <a:t>的数据</a:t>
            </a:r>
            <a:endParaRPr kumimoji="1" lang="en-US" altLang="zh-CN" dirty="0"/>
          </a:p>
          <a:p>
            <a:r>
              <a:rPr kumimoji="1" lang="zh-CN" altLang="en-US" dirty="0"/>
              <a:t>  调用</a:t>
            </a:r>
            <a:r>
              <a:rPr kumimoji="1" lang="en-US" altLang="zh-CN" dirty="0" err="1"/>
              <a:t>kintone</a:t>
            </a:r>
            <a:r>
              <a:rPr kumimoji="1" lang="zh-CN" altLang="en-US" dirty="0"/>
              <a:t>的查询</a:t>
            </a:r>
            <a:r>
              <a:rPr kumimoji="1" lang="en-US" altLang="zh-CN" dirty="0" err="1"/>
              <a:t>api</a:t>
            </a:r>
            <a:r>
              <a:rPr kumimoji="1" lang="zh-CN" altLang="en-US" dirty="0"/>
              <a:t>，过滤数据</a:t>
            </a:r>
            <a:endParaRPr kumimoji="1" lang="en-US" altLang="zh-CN" dirty="0"/>
          </a:p>
          <a:p>
            <a:r>
              <a:rPr kumimoji="1" lang="zh-CN" altLang="en-US" dirty="0"/>
              <a:t>帮我分析下第一条记录中的销量的值</a:t>
            </a:r>
            <a:endParaRPr kumimoji="1" lang="en-US" altLang="zh-CN" dirty="0"/>
          </a:p>
          <a:p>
            <a:r>
              <a:rPr kumimoji="1" lang="zh-CN" altLang="en-US" dirty="0"/>
              <a:t>  这一步会将上一步调用查询</a:t>
            </a:r>
            <a:r>
              <a:rPr kumimoji="1" lang="en-US" altLang="zh-CN" dirty="0" err="1"/>
              <a:t>api</a:t>
            </a:r>
            <a:r>
              <a:rPr kumimoji="1" lang="zh-CN" altLang="en-US" dirty="0"/>
              <a:t>的结果通过上下文传递给了</a:t>
            </a:r>
            <a:r>
              <a:rPr kumimoji="1" lang="en-US" altLang="zh-CN" dirty="0"/>
              <a:t>ai</a:t>
            </a:r>
            <a:r>
              <a:rPr kumimoji="1" lang="zh-CN" altLang="en-US" dirty="0"/>
              <a:t>。让他进行分析</a:t>
            </a:r>
            <a:endParaRPr kumimoji="1" lang="en-US" altLang="zh-CN" dirty="0"/>
          </a:p>
          <a:p>
            <a:r>
              <a:rPr kumimoji="1" lang="zh-CN" altLang="en-US" dirty="0"/>
              <a:t>帮我把这个销量的值通过微信发送给</a:t>
            </a:r>
            <a:r>
              <a:rPr kumimoji="1" lang="en-US" altLang="zh-CN" dirty="0" err="1"/>
              <a:t>xxxx</a:t>
            </a:r>
            <a:endParaRPr kumimoji="1" lang="en-US" altLang="zh-CN" dirty="0"/>
          </a:p>
          <a:p>
            <a:r>
              <a:rPr kumimoji="1" lang="zh-CN" altLang="en-US" dirty="0"/>
              <a:t>  此时，他会自动分析，发送微信给</a:t>
            </a:r>
            <a:r>
              <a:rPr kumimoji="1" lang="en-US" altLang="zh-CN" dirty="0"/>
              <a:t>xxx</a:t>
            </a:r>
            <a:r>
              <a:rPr kumimoji="1" lang="zh-CN" altLang="en-US" dirty="0"/>
              <a:t>需要调用哪个</a:t>
            </a:r>
            <a:r>
              <a:rPr kumimoji="1" lang="en-US" altLang="zh-CN" dirty="0" err="1"/>
              <a:t>pushtowechat</a:t>
            </a:r>
            <a:r>
              <a:rPr kumimoji="1" lang="zh-CN" altLang="en-US" dirty="0"/>
              <a:t>这个</a:t>
            </a:r>
            <a:r>
              <a:rPr kumimoji="1" lang="en-US" altLang="zh-CN" dirty="0" err="1"/>
              <a:t>api</a:t>
            </a:r>
            <a:r>
              <a:rPr kumimoji="1" lang="zh-CN" altLang="en-US" dirty="0"/>
              <a:t>。同时自动分析需要传递的用户名，信息内容。这两个参数各自的值。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0E958-F217-45E3-B324-60C7365EB01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564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通过这个</a:t>
            </a:r>
            <a:r>
              <a:rPr kumimoji="1" lang="en-US" altLang="zh-CN" dirty="0"/>
              <a:t>demo</a:t>
            </a:r>
            <a:r>
              <a:rPr kumimoji="1" lang="zh-CN" altLang="en-US" dirty="0"/>
              <a:t>，主要说明了</a:t>
            </a:r>
            <a:r>
              <a:rPr kumimoji="1" lang="en-US" altLang="zh-CN" dirty="0"/>
              <a:t>function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calling</a:t>
            </a:r>
            <a:r>
              <a:rPr kumimoji="1" lang="zh-CN" altLang="en-US" dirty="0"/>
              <a:t>的优势也在于接入的</a:t>
            </a:r>
            <a:r>
              <a:rPr kumimoji="1" lang="en-US" altLang="zh-CN" dirty="0" err="1"/>
              <a:t>api</a:t>
            </a:r>
            <a:r>
              <a:rPr kumimoji="1" lang="zh-CN" altLang="en-US" dirty="0"/>
              <a:t>接口数，接入的接口越多，相当于赋予它的能力越强。</a:t>
            </a:r>
            <a:endParaRPr kumimoji="1" lang="en-US" altLang="zh-CN" dirty="0"/>
          </a:p>
          <a:p>
            <a:r>
              <a:rPr kumimoji="1" lang="zh-CN" altLang="en-US" dirty="0"/>
              <a:t>我们代理店可以做什么？</a:t>
            </a:r>
            <a:endParaRPr kumimoji="1" lang="en-US" altLang="zh-CN" dirty="0"/>
          </a:p>
          <a:p>
            <a:r>
              <a:rPr kumimoji="1" lang="zh-CN" altLang="en-US" dirty="0"/>
              <a:t>在</a:t>
            </a:r>
            <a:r>
              <a:rPr kumimoji="1" lang="en-US" altLang="zh-CN" dirty="0" err="1"/>
              <a:t>kintone</a:t>
            </a:r>
            <a:r>
              <a:rPr kumimoji="1" lang="zh-CN" altLang="en-US" dirty="0"/>
              <a:t>之上，提供</a:t>
            </a:r>
            <a:r>
              <a:rPr kumimoji="1" lang="en-US" altLang="zh-CN" dirty="0"/>
              <a:t>ai</a:t>
            </a:r>
            <a:r>
              <a:rPr kumimoji="1" lang="zh-CN" altLang="en-US" dirty="0"/>
              <a:t>服务，同时在服务端建立各种业务接口。比如说发送微信信息，和其他系统联协，等等。然后对用户的请求进行鉴权，进行流量分析。最后实现按需收费等等。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0E958-F217-45E3-B324-60C7365EB01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657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2543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5" r="555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直角三角形 7"/>
          <p:cNvSpPr/>
          <p:nvPr userDrawn="1"/>
        </p:nvSpPr>
        <p:spPr>
          <a:xfrm flipV="1">
            <a:off x="0" y="0"/>
            <a:ext cx="6013654" cy="4689000"/>
          </a:xfrm>
          <a:prstGeom prst="rtTriangle">
            <a:avLst/>
          </a:prstGeom>
          <a:solidFill>
            <a:srgbClr val="59C3EB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直角三角形 8"/>
          <p:cNvSpPr/>
          <p:nvPr userDrawn="1"/>
        </p:nvSpPr>
        <p:spPr>
          <a:xfrm flipV="1">
            <a:off x="0" y="0"/>
            <a:ext cx="3936000" cy="3069000"/>
          </a:xfrm>
          <a:prstGeom prst="rtTriangle">
            <a:avLst/>
          </a:prstGeom>
          <a:solidFill>
            <a:srgbClr val="EFEFE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直角三角形 9"/>
          <p:cNvSpPr/>
          <p:nvPr userDrawn="1"/>
        </p:nvSpPr>
        <p:spPr>
          <a:xfrm flipH="1">
            <a:off x="6079054" y="2091579"/>
            <a:ext cx="6112946" cy="4766421"/>
          </a:xfrm>
          <a:prstGeom prst="rtTriangle">
            <a:avLst/>
          </a:prstGeom>
          <a:solidFill>
            <a:srgbClr val="16364F"/>
          </a:solidFill>
          <a:ln>
            <a:noFill/>
          </a:ln>
          <a:effectLst>
            <a:outerShdw blurRad="50800" dist="762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 flipV="1">
            <a:off x="0" y="536300"/>
            <a:ext cx="696000" cy="540000"/>
          </a:xfrm>
          <a:prstGeom prst="line">
            <a:avLst/>
          </a:prstGeom>
          <a:ln>
            <a:solidFill>
              <a:srgbClr val="59C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 flipH="1">
            <a:off x="888700" y="-12702"/>
            <a:ext cx="1440000" cy="1089002"/>
          </a:xfrm>
          <a:prstGeom prst="line">
            <a:avLst/>
          </a:prstGeom>
          <a:ln>
            <a:solidFill>
              <a:srgbClr val="59C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/>
        </p:nvCxnSpPr>
        <p:spPr>
          <a:xfrm flipH="1">
            <a:off x="9135527" y="3428998"/>
            <a:ext cx="3056474" cy="252000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图片包含 游戏机, 盘子, 画, 食物&#10;&#10;描述已自动生成">
            <a:extLst>
              <a:ext uri="{FF2B5EF4-FFF2-40B4-BE49-F238E27FC236}">
                <a16:creationId xmlns:a16="http://schemas.microsoft.com/office/drawing/2014/main" id="{0876D060-C081-8D72-AB59-0D90731133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00" y="336565"/>
            <a:ext cx="3609373" cy="78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877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3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3821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715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98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095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07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24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87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90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8DFBD6-DBA0-A49D-A96C-BE19ECD85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9AE550-E312-FD5B-4C28-6B9620E23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9480F8-4A78-C58A-E944-56B772AE6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9A014-4303-4446-8E83-1186827967BE}" type="datetimeFigureOut">
              <a:rPr kumimoji="1" lang="zh-CN" altLang="en-US" smtClean="0"/>
              <a:t>2023/12/20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E40573-EADD-30BB-E74D-A53AC5CC4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12FF96-CEB2-6D75-3C5F-F3FE3BF2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467C-B3D2-C445-A4C0-D7693265BAB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7699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18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27"/>
          <a:stretch/>
        </p:blipFill>
        <p:spPr>
          <a:xfrm>
            <a:off x="0" y="-2"/>
            <a:ext cx="12183979" cy="6858002"/>
          </a:xfrm>
          <a:prstGeom prst="rect">
            <a:avLst/>
          </a:prstGeom>
        </p:spPr>
      </p:pic>
      <p:sp>
        <p:nvSpPr>
          <p:cNvPr id="8" name="直角三角形 7"/>
          <p:cNvSpPr/>
          <p:nvPr userDrawn="1"/>
        </p:nvSpPr>
        <p:spPr>
          <a:xfrm flipV="1">
            <a:off x="0" y="0"/>
            <a:ext cx="6013654" cy="4689000"/>
          </a:xfrm>
          <a:prstGeom prst="rtTriangle">
            <a:avLst/>
          </a:prstGeom>
          <a:solidFill>
            <a:srgbClr val="59C3EB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直角三角形 8"/>
          <p:cNvSpPr/>
          <p:nvPr userDrawn="1"/>
        </p:nvSpPr>
        <p:spPr>
          <a:xfrm flipV="1">
            <a:off x="0" y="0"/>
            <a:ext cx="3936000" cy="3069000"/>
          </a:xfrm>
          <a:prstGeom prst="rtTriangle">
            <a:avLst/>
          </a:prstGeom>
          <a:solidFill>
            <a:srgbClr val="EFEFE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直角三角形 9"/>
          <p:cNvSpPr/>
          <p:nvPr userDrawn="1"/>
        </p:nvSpPr>
        <p:spPr>
          <a:xfrm flipH="1">
            <a:off x="6079054" y="2091579"/>
            <a:ext cx="6112946" cy="4766421"/>
          </a:xfrm>
          <a:prstGeom prst="rtTriangle">
            <a:avLst/>
          </a:prstGeom>
          <a:solidFill>
            <a:srgbClr val="16364F"/>
          </a:solidFill>
          <a:ln>
            <a:noFill/>
          </a:ln>
          <a:effectLst>
            <a:outerShdw blurRad="50800" dist="762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 flipV="1">
            <a:off x="0" y="536300"/>
            <a:ext cx="696000" cy="540000"/>
          </a:xfrm>
          <a:prstGeom prst="line">
            <a:avLst/>
          </a:prstGeom>
          <a:ln>
            <a:solidFill>
              <a:srgbClr val="59C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 flipH="1">
            <a:off x="888700" y="-12702"/>
            <a:ext cx="1440000" cy="1089002"/>
          </a:xfrm>
          <a:prstGeom prst="line">
            <a:avLst/>
          </a:prstGeom>
          <a:ln>
            <a:solidFill>
              <a:srgbClr val="59C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/>
        </p:nvCxnSpPr>
        <p:spPr>
          <a:xfrm flipH="1">
            <a:off x="9135527" y="3428998"/>
            <a:ext cx="3056474" cy="252000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图片包含 游戏机, 盘子, 画, 食物&#10;&#10;描述已自动生成">
            <a:extLst>
              <a:ext uri="{FF2B5EF4-FFF2-40B4-BE49-F238E27FC236}">
                <a16:creationId xmlns:a16="http://schemas.microsoft.com/office/drawing/2014/main" id="{11A88273-DEF7-85EA-0B39-8673F01B3E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00" y="336565"/>
            <a:ext cx="3609373" cy="78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717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6621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159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954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666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41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70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40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55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961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rgbClr val="46C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267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789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0038"/>
          <a:stretch/>
        </p:blipFill>
        <p:spPr>
          <a:xfrm>
            <a:off x="0" y="-1"/>
            <a:ext cx="12223464" cy="687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360data\重要数据\桌面\Hi-Tech Logo Re[00_00_10][20140808-141553-1]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35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45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815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259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99F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"/>
            <a:ext cx="12192002" cy="6858001"/>
          </a:xfrm>
          <a:prstGeom prst="rect">
            <a:avLst/>
          </a:prstGeom>
        </p:spPr>
      </p:pic>
      <p:sp>
        <p:nvSpPr>
          <p:cNvPr id="8" name="直角三角形 7"/>
          <p:cNvSpPr/>
          <p:nvPr userDrawn="1"/>
        </p:nvSpPr>
        <p:spPr>
          <a:xfrm flipV="1">
            <a:off x="0" y="0"/>
            <a:ext cx="6013654" cy="4689000"/>
          </a:xfrm>
          <a:prstGeom prst="rtTriangle">
            <a:avLst/>
          </a:prstGeom>
          <a:solidFill>
            <a:srgbClr val="59C3EB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直角三角形 8"/>
          <p:cNvSpPr/>
          <p:nvPr userDrawn="1"/>
        </p:nvSpPr>
        <p:spPr>
          <a:xfrm flipV="1">
            <a:off x="0" y="0"/>
            <a:ext cx="3936000" cy="3069000"/>
          </a:xfrm>
          <a:prstGeom prst="rtTriangle">
            <a:avLst/>
          </a:prstGeom>
          <a:solidFill>
            <a:srgbClr val="EFEFE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直角三角形 9"/>
          <p:cNvSpPr/>
          <p:nvPr userDrawn="1"/>
        </p:nvSpPr>
        <p:spPr>
          <a:xfrm flipH="1">
            <a:off x="6079054" y="2091579"/>
            <a:ext cx="6112946" cy="4766421"/>
          </a:xfrm>
          <a:prstGeom prst="rtTriangle">
            <a:avLst/>
          </a:prstGeom>
          <a:solidFill>
            <a:srgbClr val="16364F"/>
          </a:solidFill>
          <a:ln>
            <a:noFill/>
          </a:ln>
          <a:effectLst>
            <a:outerShdw blurRad="50800" dist="762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 flipV="1">
            <a:off x="0" y="536300"/>
            <a:ext cx="696000" cy="540000"/>
          </a:xfrm>
          <a:prstGeom prst="line">
            <a:avLst/>
          </a:prstGeom>
          <a:ln>
            <a:solidFill>
              <a:srgbClr val="59C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 flipH="1">
            <a:off x="888700" y="-12702"/>
            <a:ext cx="1440000" cy="1089002"/>
          </a:xfrm>
          <a:prstGeom prst="line">
            <a:avLst/>
          </a:prstGeom>
          <a:ln>
            <a:solidFill>
              <a:srgbClr val="59C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/>
        </p:nvCxnSpPr>
        <p:spPr>
          <a:xfrm flipH="1">
            <a:off x="9135527" y="3428998"/>
            <a:ext cx="3056474" cy="252000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113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21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491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903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846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510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84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251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18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743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>
          <a:xfrm>
            <a:off x="2552700" y="1009650"/>
            <a:ext cx="1638300" cy="0"/>
          </a:xfrm>
          <a:prstGeom prst="line">
            <a:avLst/>
          </a:prstGeom>
          <a:ln w="127000">
            <a:solidFill>
              <a:srgbClr val="FDDA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>
            <a:off x="4191000" y="1009650"/>
            <a:ext cx="1638300" cy="0"/>
          </a:xfrm>
          <a:prstGeom prst="line">
            <a:avLst/>
          </a:prstGeom>
          <a:ln w="127000">
            <a:solidFill>
              <a:srgbClr val="D28C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5829300" y="1009650"/>
            <a:ext cx="1638300" cy="0"/>
          </a:xfrm>
          <a:prstGeom prst="line">
            <a:avLst/>
          </a:prstGeom>
          <a:ln w="127000">
            <a:solidFill>
              <a:srgbClr val="534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7448550" y="1009650"/>
            <a:ext cx="1638300" cy="0"/>
          </a:xfrm>
          <a:prstGeom prst="line">
            <a:avLst/>
          </a:prstGeom>
          <a:ln w="127000">
            <a:solidFill>
              <a:srgbClr val="1212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3805632" y="379640"/>
            <a:ext cx="4136571" cy="362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baseline="0"/>
            </a:lvl1pPr>
          </a:lstStyle>
          <a:p>
            <a:pPr lvl="0"/>
            <a:r>
              <a:rPr lang="zh-CN" altLang="en-US" dirty="0"/>
              <a:t>点击此处添加标题 </a:t>
            </a:r>
            <a:r>
              <a:rPr lang="en-US" altLang="zh-CN" dirty="0"/>
              <a:t>TITLE HERE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643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819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91EF-8529-D44C-B83E-99CC19731065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2023/12/20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CA98-5836-6F4B-9A1A-CDA2FA233A74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475673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91EF-8529-D44C-B83E-99CC19731065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2023/12/20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CA98-5836-6F4B-9A1A-CDA2FA233A74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66111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91EF-8529-D44C-B83E-99CC19731065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2023/12/20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CA98-5836-6F4B-9A1A-CDA2FA233A74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0180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91EF-8529-D44C-B83E-99CC19731065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2023/12/20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CA98-5836-6F4B-9A1A-CDA2FA233A74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34384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91EF-8529-D44C-B83E-99CC19731065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2023/12/20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CA98-5836-6F4B-9A1A-CDA2FA233A74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80462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91EF-8529-D44C-B83E-99CC19731065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2023/12/20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CA98-5836-6F4B-9A1A-CDA2FA233A74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4288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91EF-8529-D44C-B83E-99CC19731065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2023/12/20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CA98-5836-6F4B-9A1A-CDA2FA233A74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1170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91EF-8529-D44C-B83E-99CC19731065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2023/12/20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CA98-5836-6F4B-9A1A-CDA2FA233A74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92564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kumimoji="1"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91EF-8529-D44C-B83E-99CC19731065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2023/12/20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CA98-5836-6F4B-9A1A-CDA2FA233A74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347110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91EF-8529-D44C-B83E-99CC19731065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2023/12/20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CA98-5836-6F4B-9A1A-CDA2FA233A74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5252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06375"/>
            <a:ext cx="2743200" cy="4387851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375"/>
            <a:ext cx="8026400" cy="4387851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91EF-8529-D44C-B83E-99CC19731065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2023/12/20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CA98-5836-6F4B-9A1A-CDA2FA233A74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67123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993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430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82D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466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0038"/>
          <a:stretch/>
        </p:blipFill>
        <p:spPr>
          <a:xfrm>
            <a:off x="0" y="-1"/>
            <a:ext cx="12223464" cy="687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09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bg>
      <p:bgPr>
        <a:solidFill>
          <a:srgbClr val="21A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6346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solidFill>
          <a:srgbClr val="F9F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683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solidFill>
          <a:srgbClr val="1755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913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幻灯片">
    <p:bg>
      <p:bgPr>
        <a:solidFill>
          <a:srgbClr val="FCA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884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bg>
      <p:bgPr>
        <a:solidFill>
          <a:srgbClr val="2F79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027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bg>
      <p:bgPr>
        <a:solidFill>
          <a:srgbClr val="1562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270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bg>
      <p:bgPr>
        <a:solidFill>
          <a:srgbClr val="FDCC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902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5054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99F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"/>
            <a:ext cx="12192002" cy="6858001"/>
          </a:xfrm>
          <a:prstGeom prst="rect">
            <a:avLst/>
          </a:prstGeom>
        </p:spPr>
      </p:pic>
      <p:sp>
        <p:nvSpPr>
          <p:cNvPr id="3" name="直角三角形 2"/>
          <p:cNvSpPr/>
          <p:nvPr userDrawn="1"/>
        </p:nvSpPr>
        <p:spPr>
          <a:xfrm flipV="1">
            <a:off x="0" y="0"/>
            <a:ext cx="6013654" cy="4689000"/>
          </a:xfrm>
          <a:prstGeom prst="rtTriangle">
            <a:avLst/>
          </a:prstGeom>
          <a:solidFill>
            <a:srgbClr val="59C3EB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直角三角形 3"/>
          <p:cNvSpPr/>
          <p:nvPr userDrawn="1"/>
        </p:nvSpPr>
        <p:spPr>
          <a:xfrm flipV="1">
            <a:off x="0" y="0"/>
            <a:ext cx="3936000" cy="3069000"/>
          </a:xfrm>
          <a:prstGeom prst="rtTriangle">
            <a:avLst/>
          </a:prstGeom>
          <a:solidFill>
            <a:srgbClr val="EFEFE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直角三角形 4"/>
          <p:cNvSpPr/>
          <p:nvPr userDrawn="1"/>
        </p:nvSpPr>
        <p:spPr>
          <a:xfrm flipH="1">
            <a:off x="6079054" y="2091579"/>
            <a:ext cx="6112946" cy="4766421"/>
          </a:xfrm>
          <a:prstGeom prst="rtTriangle">
            <a:avLst/>
          </a:prstGeom>
          <a:solidFill>
            <a:srgbClr val="16364F"/>
          </a:solidFill>
          <a:ln>
            <a:noFill/>
          </a:ln>
          <a:effectLst>
            <a:outerShdw blurRad="50800" dist="762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 flipV="1">
            <a:off x="0" y="536300"/>
            <a:ext cx="696000" cy="540000"/>
          </a:xfrm>
          <a:prstGeom prst="line">
            <a:avLst/>
          </a:prstGeom>
          <a:ln>
            <a:solidFill>
              <a:srgbClr val="59C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 flipH="1">
            <a:off x="888700" y="-12702"/>
            <a:ext cx="1440000" cy="1089002"/>
          </a:xfrm>
          <a:prstGeom prst="line">
            <a:avLst/>
          </a:prstGeom>
          <a:ln>
            <a:solidFill>
              <a:srgbClr val="59C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 flipH="1">
            <a:off x="9135527" y="3428998"/>
            <a:ext cx="3056474" cy="252000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538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97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6694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020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0957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191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74" r:id="rId1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516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96" r:id="rId12"/>
    <p:sldLayoutId id="2147483697" r:id="rId13"/>
    <p:sldLayoutId id="2147483713" r:id="rId14"/>
    <p:sldLayoutId id="2147483715" r:id="rId15"/>
    <p:sldLayoutId id="2147483716" r:id="rId16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D0E68-991F-4E7D-A7E8-880A0EB39F2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C8954-404D-48F2-801A-8F5F70B1DAC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837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14" r:id="rId1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671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991EF-8529-D44C-B83E-99CC19731065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2023/12/20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CCA98-5836-6F4B-9A1A-CDA2FA233A74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  <a:latin typeface="Century Gothic"/>
                <a:ea typeface="微软雅黑"/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  <a:latin typeface="Century Gothic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6194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6C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9830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366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7510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609493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609493" rtl="0" eaLnBrk="1" latinLnBrk="0" hangingPunct="1">
        <a:spcBef>
          <a:spcPct val="20000"/>
        </a:spcBef>
        <a:buFont typeface="Arial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427" indent="-380933" algn="l" defTabSz="609493" rtl="0" eaLnBrk="1" latinLnBrk="0" hangingPunct="1">
        <a:spcBef>
          <a:spcPct val="20000"/>
        </a:spcBef>
        <a:buFont typeface="Arial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733" indent="-304747" algn="l" defTabSz="609493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227" indent="-304747" algn="l" defTabSz="609493" rtl="0" eaLnBrk="1" latinLnBrk="0" hangingPunct="1">
        <a:spcBef>
          <a:spcPct val="20000"/>
        </a:spcBef>
        <a:buFont typeface="Arial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720" indent="-304747" algn="l" defTabSz="609493" rtl="0" eaLnBrk="1" latinLnBrk="0" hangingPunct="1">
        <a:spcBef>
          <a:spcPct val="20000"/>
        </a:spcBef>
        <a:buFont typeface="Arial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213" indent="-304747" algn="l" defTabSz="60949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60949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60949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60949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0949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60949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60949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60949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60949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60949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60949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60949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60949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7.xml"/><Relationship Id="rId4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11.xml"/><Relationship Id="rId9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A_文本框 11"/>
          <p:cNvSpPr txBox="1"/>
          <p:nvPr>
            <p:custDataLst>
              <p:tags r:id="rId1"/>
            </p:custDataLst>
          </p:nvPr>
        </p:nvSpPr>
        <p:spPr>
          <a:xfrm>
            <a:off x="1784178" y="3069000"/>
            <a:ext cx="45753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>
                <a:solidFill>
                  <a:prstClr val="white"/>
                </a:solidFill>
                <a:latin typeface="Agency FB" panose="020B0503020202020204" pitchFamily="34" charset="0"/>
              </a:rPr>
              <a:t>2023.12.22</a:t>
            </a:r>
            <a:endParaRPr lang="zh-CN" altLang="en-US" sz="6600" dirty="0"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17" name="PA_文本框 16"/>
          <p:cNvSpPr txBox="1"/>
          <p:nvPr>
            <p:custDataLst>
              <p:tags r:id="rId2"/>
            </p:custDataLst>
          </p:nvPr>
        </p:nvSpPr>
        <p:spPr>
          <a:xfrm>
            <a:off x="1725778" y="4176996"/>
            <a:ext cx="83553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 err="1">
                <a:solidFill>
                  <a:prstClr val="white"/>
                </a:solidFill>
                <a:latin typeface="Agency FB" panose="020B0503020202020204" pitchFamily="34" charset="0"/>
                <a:ea typeface="MSmart PRC Medium" panose="00000500000000000000" pitchFamily="2" charset="-122"/>
              </a:rPr>
              <a:t>kintone</a:t>
            </a:r>
            <a:r>
              <a:rPr lang="zh-CN" altLang="en-US" sz="8800" dirty="0">
                <a:solidFill>
                  <a:prstClr val="white"/>
                </a:solidFill>
                <a:latin typeface="Agency FB" panose="020B0503020202020204" pitchFamily="34" charset="0"/>
                <a:ea typeface="MSmart PRC Medium" panose="00000500000000000000" pitchFamily="2" charset="-122"/>
              </a:rPr>
              <a:t> 和</a:t>
            </a:r>
            <a:r>
              <a:rPr lang="en-US" altLang="zh-CN" sz="8800" dirty="0">
                <a:solidFill>
                  <a:prstClr val="white"/>
                </a:solidFill>
                <a:latin typeface="Agency FB" panose="020B0503020202020204" pitchFamily="34" charset="0"/>
                <a:ea typeface="MSmart PRC Medium" panose="00000500000000000000" pitchFamily="2" charset="-122"/>
              </a:rPr>
              <a:t>AI</a:t>
            </a:r>
            <a:r>
              <a:rPr lang="zh-CN" altLang="en-US" sz="8800" dirty="0">
                <a:solidFill>
                  <a:prstClr val="white"/>
                </a:solidFill>
                <a:latin typeface="Agency FB" panose="020B0503020202020204" pitchFamily="34" charset="0"/>
                <a:ea typeface="MSmart PRC Medium" panose="00000500000000000000" pitchFamily="2" charset="-122"/>
              </a:rPr>
              <a:t>的结合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6C86D4-35F8-E05C-9A97-87C3CD3B528E}"/>
              </a:ext>
            </a:extLst>
          </p:cNvPr>
          <p:cNvSpPr txBox="1"/>
          <p:nvPr/>
        </p:nvSpPr>
        <p:spPr>
          <a:xfrm>
            <a:off x="10021800" y="5949000"/>
            <a:ext cx="1879040" cy="4702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kumimoji="1" lang="en-US" altLang="zh-CN" b="1" dirty="0">
                <a:solidFill>
                  <a:schemeClr val="bg1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By ERD </a:t>
            </a:r>
            <a:r>
              <a:rPr kumimoji="1" lang="zh-CN" altLang="en-US" b="1" dirty="0">
                <a:solidFill>
                  <a:schemeClr val="bg1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顾三乐</a:t>
            </a:r>
            <a:endParaRPr kumimoji="1" lang="en-US" altLang="zh-CN" b="1" dirty="0">
              <a:solidFill>
                <a:schemeClr val="bg1"/>
              </a:solidFill>
              <a:latin typeface="Lantinghei SC Demibold" panose="02000000000000000000" pitchFamily="2" charset="-122"/>
              <a:ea typeface="Lantinghei SC Demibold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2888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98AAB7AB-31A9-70FC-6CA1-FB0CB931622F}"/>
              </a:ext>
            </a:extLst>
          </p:cNvPr>
          <p:cNvGrpSpPr/>
          <p:nvPr/>
        </p:nvGrpSpPr>
        <p:grpSpPr>
          <a:xfrm>
            <a:off x="-2" y="0"/>
            <a:ext cx="1581151" cy="1306653"/>
            <a:chOff x="-2" y="5562600"/>
            <a:chExt cx="1581151" cy="1306653"/>
          </a:xfrm>
        </p:grpSpPr>
        <p:sp>
          <p:nvSpPr>
            <p:cNvPr id="7" name="直角三角形 8">
              <a:extLst>
                <a:ext uri="{FF2B5EF4-FFF2-40B4-BE49-F238E27FC236}">
                  <a16:creationId xmlns:a16="http://schemas.microsoft.com/office/drawing/2014/main" id="{3A6C9325-ED6B-1587-C1C8-571AB5D03A7D}"/>
                </a:ext>
              </a:extLst>
            </p:cNvPr>
            <p:cNvSpPr/>
            <p:nvPr/>
          </p:nvSpPr>
          <p:spPr>
            <a:xfrm flipV="1">
              <a:off x="-2" y="5562600"/>
              <a:ext cx="1581151" cy="1306653"/>
            </a:xfrm>
            <a:custGeom>
              <a:avLst/>
              <a:gdLst>
                <a:gd name="connsiteX0" fmla="*/ 0 w 1596000"/>
                <a:gd name="connsiteY0" fmla="*/ 740842 h 740842"/>
                <a:gd name="connsiteX1" fmla="*/ 0 w 1596000"/>
                <a:gd name="connsiteY1" fmla="*/ 0 h 740842"/>
                <a:gd name="connsiteX2" fmla="*/ 1596000 w 1596000"/>
                <a:gd name="connsiteY2" fmla="*/ 740842 h 740842"/>
                <a:gd name="connsiteX3" fmla="*/ 0 w 1596000"/>
                <a:gd name="connsiteY3" fmla="*/ 740842 h 740842"/>
                <a:gd name="connsiteX0" fmla="*/ 0 w 1519800"/>
                <a:gd name="connsiteY0" fmla="*/ 740842 h 1293292"/>
                <a:gd name="connsiteX1" fmla="*/ 0 w 1519800"/>
                <a:gd name="connsiteY1" fmla="*/ 0 h 1293292"/>
                <a:gd name="connsiteX2" fmla="*/ 1519800 w 1519800"/>
                <a:gd name="connsiteY2" fmla="*/ 1293292 h 1293292"/>
                <a:gd name="connsiteX3" fmla="*/ 0 w 1519800"/>
                <a:gd name="connsiteY3" fmla="*/ 740842 h 129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800" h="1293292">
                  <a:moveTo>
                    <a:pt x="0" y="740842"/>
                  </a:moveTo>
                  <a:lnTo>
                    <a:pt x="0" y="0"/>
                  </a:lnTo>
                  <a:lnTo>
                    <a:pt x="1519800" y="1293292"/>
                  </a:lnTo>
                  <a:lnTo>
                    <a:pt x="0" y="740842"/>
                  </a:lnTo>
                  <a:close/>
                </a:path>
              </a:pathLst>
            </a:custGeom>
            <a:solidFill>
              <a:srgbClr val="59C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直角三角形 8">
              <a:extLst>
                <a:ext uri="{FF2B5EF4-FFF2-40B4-BE49-F238E27FC236}">
                  <a16:creationId xmlns:a16="http://schemas.microsoft.com/office/drawing/2014/main" id="{1171E616-C1F7-7455-E196-890B853368F1}"/>
                </a:ext>
              </a:extLst>
            </p:cNvPr>
            <p:cNvSpPr/>
            <p:nvPr/>
          </p:nvSpPr>
          <p:spPr>
            <a:xfrm rot="5400000" flipH="1" flipV="1">
              <a:off x="148633" y="5428776"/>
              <a:ext cx="1293293" cy="1565153"/>
            </a:xfrm>
            <a:custGeom>
              <a:avLst/>
              <a:gdLst>
                <a:gd name="connsiteX0" fmla="*/ 0 w 1596000"/>
                <a:gd name="connsiteY0" fmla="*/ 740842 h 740842"/>
                <a:gd name="connsiteX1" fmla="*/ 0 w 1596000"/>
                <a:gd name="connsiteY1" fmla="*/ 0 h 740842"/>
                <a:gd name="connsiteX2" fmla="*/ 1596000 w 1596000"/>
                <a:gd name="connsiteY2" fmla="*/ 740842 h 740842"/>
                <a:gd name="connsiteX3" fmla="*/ 0 w 1596000"/>
                <a:gd name="connsiteY3" fmla="*/ 740842 h 740842"/>
                <a:gd name="connsiteX0" fmla="*/ 0 w 1519800"/>
                <a:gd name="connsiteY0" fmla="*/ 740842 h 1293292"/>
                <a:gd name="connsiteX1" fmla="*/ 0 w 1519800"/>
                <a:gd name="connsiteY1" fmla="*/ 0 h 1293292"/>
                <a:gd name="connsiteX2" fmla="*/ 1519800 w 1519800"/>
                <a:gd name="connsiteY2" fmla="*/ 1293292 h 1293292"/>
                <a:gd name="connsiteX3" fmla="*/ 0 w 1519800"/>
                <a:gd name="connsiteY3" fmla="*/ 740842 h 129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800" h="1293292">
                  <a:moveTo>
                    <a:pt x="0" y="740842"/>
                  </a:moveTo>
                  <a:lnTo>
                    <a:pt x="0" y="0"/>
                  </a:lnTo>
                  <a:lnTo>
                    <a:pt x="1519800" y="1293292"/>
                  </a:lnTo>
                  <a:lnTo>
                    <a:pt x="0" y="74084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C1A3AE72-1E3B-9D46-BE6A-D77B931E5BA9}"/>
              </a:ext>
            </a:extLst>
          </p:cNvPr>
          <p:cNvSpPr/>
          <p:nvPr/>
        </p:nvSpPr>
        <p:spPr>
          <a:xfrm>
            <a:off x="1667706" y="294809"/>
            <a:ext cx="58682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58595B"/>
                </a:solidFill>
                <a:latin typeface="Agency FB" panose="020B0503020202020204" pitchFamily="34" charset="0"/>
              </a:rPr>
              <a:t>Function calling</a:t>
            </a:r>
            <a:endParaRPr lang="zh-CN" altLang="en-US" sz="4000" dirty="0">
              <a:solidFill>
                <a:srgbClr val="58595B"/>
              </a:solidFill>
              <a:latin typeface="Agency FB" panose="020B0503020202020204" pitchFamily="34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45C807-EF51-B847-69EF-A70D5540B62C}"/>
              </a:ext>
            </a:extLst>
          </p:cNvPr>
          <p:cNvGrpSpPr/>
          <p:nvPr/>
        </p:nvGrpSpPr>
        <p:grpSpPr>
          <a:xfrm>
            <a:off x="2316000" y="1449000"/>
            <a:ext cx="7868886" cy="4784255"/>
            <a:chOff x="1467113" y="1366492"/>
            <a:chExt cx="7868886" cy="478425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7D0E67C-6FCC-C79C-4EEB-078EF33DA999}"/>
                </a:ext>
              </a:extLst>
            </p:cNvPr>
            <p:cNvSpPr/>
            <p:nvPr/>
          </p:nvSpPr>
          <p:spPr>
            <a:xfrm>
              <a:off x="1467113" y="1366492"/>
              <a:ext cx="7175427" cy="4161747"/>
            </a:xfrm>
            <a:prstGeom prst="rect">
              <a:avLst/>
            </a:prstGeom>
            <a:solidFill>
              <a:srgbClr val="59C3E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 descr="图片包含 男人, 桌子, 前, 乐高&#10;&#10;描述已自动生成">
              <a:extLst>
                <a:ext uri="{FF2B5EF4-FFF2-40B4-BE49-F238E27FC236}">
                  <a16:creationId xmlns:a16="http://schemas.microsoft.com/office/drawing/2014/main" id="{6F685C1E-387B-B1AC-AEBD-8B3224B91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0573" y="1661650"/>
              <a:ext cx="7175427" cy="4161747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AA476A1-70AB-D141-3794-BD7D2C63FB90}"/>
                </a:ext>
              </a:extLst>
            </p:cNvPr>
            <p:cNvSpPr/>
            <p:nvPr/>
          </p:nvSpPr>
          <p:spPr>
            <a:xfrm>
              <a:off x="2160572" y="1989000"/>
              <a:ext cx="7175427" cy="4161747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2430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2" y="0"/>
            <a:ext cx="1581151" cy="1306653"/>
            <a:chOff x="-2" y="5562600"/>
            <a:chExt cx="1581151" cy="1306653"/>
          </a:xfrm>
        </p:grpSpPr>
        <p:sp>
          <p:nvSpPr>
            <p:cNvPr id="3" name="直角三角形 8"/>
            <p:cNvSpPr/>
            <p:nvPr/>
          </p:nvSpPr>
          <p:spPr>
            <a:xfrm flipV="1">
              <a:off x="-2" y="5562600"/>
              <a:ext cx="1581151" cy="1306653"/>
            </a:xfrm>
            <a:custGeom>
              <a:avLst/>
              <a:gdLst>
                <a:gd name="connsiteX0" fmla="*/ 0 w 1596000"/>
                <a:gd name="connsiteY0" fmla="*/ 740842 h 740842"/>
                <a:gd name="connsiteX1" fmla="*/ 0 w 1596000"/>
                <a:gd name="connsiteY1" fmla="*/ 0 h 740842"/>
                <a:gd name="connsiteX2" fmla="*/ 1596000 w 1596000"/>
                <a:gd name="connsiteY2" fmla="*/ 740842 h 740842"/>
                <a:gd name="connsiteX3" fmla="*/ 0 w 1596000"/>
                <a:gd name="connsiteY3" fmla="*/ 740842 h 740842"/>
                <a:gd name="connsiteX0" fmla="*/ 0 w 1519800"/>
                <a:gd name="connsiteY0" fmla="*/ 740842 h 1293292"/>
                <a:gd name="connsiteX1" fmla="*/ 0 w 1519800"/>
                <a:gd name="connsiteY1" fmla="*/ 0 h 1293292"/>
                <a:gd name="connsiteX2" fmla="*/ 1519800 w 1519800"/>
                <a:gd name="connsiteY2" fmla="*/ 1293292 h 1293292"/>
                <a:gd name="connsiteX3" fmla="*/ 0 w 1519800"/>
                <a:gd name="connsiteY3" fmla="*/ 740842 h 129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800" h="1293292">
                  <a:moveTo>
                    <a:pt x="0" y="740842"/>
                  </a:moveTo>
                  <a:lnTo>
                    <a:pt x="0" y="0"/>
                  </a:lnTo>
                  <a:lnTo>
                    <a:pt x="1519800" y="1293292"/>
                  </a:lnTo>
                  <a:lnTo>
                    <a:pt x="0" y="740842"/>
                  </a:lnTo>
                  <a:close/>
                </a:path>
              </a:pathLst>
            </a:custGeom>
            <a:solidFill>
              <a:srgbClr val="59C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直角三角形 8"/>
            <p:cNvSpPr/>
            <p:nvPr/>
          </p:nvSpPr>
          <p:spPr>
            <a:xfrm rot="5400000" flipH="1" flipV="1">
              <a:off x="148633" y="5428776"/>
              <a:ext cx="1293293" cy="1565153"/>
            </a:xfrm>
            <a:custGeom>
              <a:avLst/>
              <a:gdLst>
                <a:gd name="connsiteX0" fmla="*/ 0 w 1596000"/>
                <a:gd name="connsiteY0" fmla="*/ 740842 h 740842"/>
                <a:gd name="connsiteX1" fmla="*/ 0 w 1596000"/>
                <a:gd name="connsiteY1" fmla="*/ 0 h 740842"/>
                <a:gd name="connsiteX2" fmla="*/ 1596000 w 1596000"/>
                <a:gd name="connsiteY2" fmla="*/ 740842 h 740842"/>
                <a:gd name="connsiteX3" fmla="*/ 0 w 1596000"/>
                <a:gd name="connsiteY3" fmla="*/ 740842 h 740842"/>
                <a:gd name="connsiteX0" fmla="*/ 0 w 1519800"/>
                <a:gd name="connsiteY0" fmla="*/ 740842 h 1293292"/>
                <a:gd name="connsiteX1" fmla="*/ 0 w 1519800"/>
                <a:gd name="connsiteY1" fmla="*/ 0 h 1293292"/>
                <a:gd name="connsiteX2" fmla="*/ 1519800 w 1519800"/>
                <a:gd name="connsiteY2" fmla="*/ 1293292 h 1293292"/>
                <a:gd name="connsiteX3" fmla="*/ 0 w 1519800"/>
                <a:gd name="connsiteY3" fmla="*/ 740842 h 129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800" h="1293292">
                  <a:moveTo>
                    <a:pt x="0" y="740842"/>
                  </a:moveTo>
                  <a:lnTo>
                    <a:pt x="0" y="0"/>
                  </a:lnTo>
                  <a:lnTo>
                    <a:pt x="1519800" y="1293292"/>
                  </a:lnTo>
                  <a:lnTo>
                    <a:pt x="0" y="74084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9" name="任意多边形 4"/>
          <p:cNvSpPr/>
          <p:nvPr/>
        </p:nvSpPr>
        <p:spPr>
          <a:xfrm>
            <a:off x="-482096" y="2034505"/>
            <a:ext cx="12096925" cy="4694010"/>
          </a:xfrm>
          <a:custGeom>
            <a:avLst/>
            <a:gdLst>
              <a:gd name="connsiteX0" fmla="*/ 0 w 8665028"/>
              <a:gd name="connsiteY0" fmla="*/ 4528457 h 4528457"/>
              <a:gd name="connsiteX1" fmla="*/ 2046514 w 8665028"/>
              <a:gd name="connsiteY1" fmla="*/ 2569028 h 4528457"/>
              <a:gd name="connsiteX2" fmla="*/ 3352800 w 8665028"/>
              <a:gd name="connsiteY2" fmla="*/ 2989943 h 4528457"/>
              <a:gd name="connsiteX3" fmla="*/ 4862286 w 8665028"/>
              <a:gd name="connsiteY3" fmla="*/ 972457 h 4528457"/>
              <a:gd name="connsiteX4" fmla="*/ 6720114 w 8665028"/>
              <a:gd name="connsiteY4" fmla="*/ 1596571 h 4528457"/>
              <a:gd name="connsiteX5" fmla="*/ 8665028 w 8665028"/>
              <a:gd name="connsiteY5" fmla="*/ 0 h 4528457"/>
              <a:gd name="connsiteX0" fmla="*/ 0 w 8665028"/>
              <a:gd name="connsiteY0" fmla="*/ 4528457 h 4528457"/>
              <a:gd name="connsiteX1" fmla="*/ 2046514 w 8665028"/>
              <a:gd name="connsiteY1" fmla="*/ 2569028 h 4528457"/>
              <a:gd name="connsiteX2" fmla="*/ 3990291 w 8665028"/>
              <a:gd name="connsiteY2" fmla="*/ 3003947 h 4528457"/>
              <a:gd name="connsiteX3" fmla="*/ 4862286 w 8665028"/>
              <a:gd name="connsiteY3" fmla="*/ 972457 h 4528457"/>
              <a:gd name="connsiteX4" fmla="*/ 6720114 w 8665028"/>
              <a:gd name="connsiteY4" fmla="*/ 1596571 h 4528457"/>
              <a:gd name="connsiteX5" fmla="*/ 8665028 w 8665028"/>
              <a:gd name="connsiteY5" fmla="*/ 0 h 4528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5028" h="4528457">
                <a:moveTo>
                  <a:pt x="0" y="4528457"/>
                </a:moveTo>
                <a:lnTo>
                  <a:pt x="2046514" y="2569028"/>
                </a:lnTo>
                <a:lnTo>
                  <a:pt x="3990291" y="3003947"/>
                </a:lnTo>
                <a:lnTo>
                  <a:pt x="4862286" y="972457"/>
                </a:lnTo>
                <a:lnTo>
                  <a:pt x="6720114" y="1596571"/>
                </a:lnTo>
                <a:lnTo>
                  <a:pt x="8665028" y="0"/>
                </a:lnTo>
              </a:path>
            </a:pathLst>
          </a:custGeom>
          <a:noFill/>
          <a:ln w="38100">
            <a:solidFill>
              <a:schemeClr val="bg1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188583" y="4522343"/>
            <a:ext cx="462848" cy="43542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58595B"/>
                </a:solidFill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solidFill>
                <a:srgbClr val="58595B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800476" y="4914228"/>
            <a:ext cx="462848" cy="43542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58595B"/>
                </a:solidFill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solidFill>
                <a:srgbClr val="58595B"/>
              </a:solidFill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058052" y="2853200"/>
            <a:ext cx="462848" cy="43542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58595B"/>
                </a:solidFill>
                <a:ea typeface="微软雅黑" panose="020B0503020204020204" pitchFamily="34" charset="-122"/>
              </a:rPr>
              <a:t>3</a:t>
            </a:r>
            <a:endParaRPr lang="zh-CN" altLang="en-US" sz="1600" b="1" dirty="0">
              <a:solidFill>
                <a:srgbClr val="58595B"/>
              </a:solidFill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8650595" y="3462800"/>
            <a:ext cx="462848" cy="43542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58595B"/>
                </a:solidFill>
                <a:ea typeface="微软雅黑" panose="020B0503020204020204" pitchFamily="34" charset="-122"/>
              </a:rPr>
              <a:t>4</a:t>
            </a:r>
            <a:endParaRPr lang="zh-CN" altLang="en-US" sz="1600" b="1" dirty="0">
              <a:solidFill>
                <a:srgbClr val="58595B"/>
              </a:solidFill>
              <a:ea typeface="微软雅黑" panose="020B0503020204020204" pitchFamily="34" charset="-122"/>
            </a:endParaRPr>
          </a:p>
        </p:txBody>
      </p:sp>
      <p:sp>
        <p:nvSpPr>
          <p:cNvPr id="23" name="MH_SubTitle_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21762" y="3142994"/>
            <a:ext cx="1981748" cy="47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b">
            <a:norm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  <a:cs typeface="Arial" panose="020B060402020202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>
              <a:defRPr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>
              <a:defRPr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>
              <a:defRPr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>
              <a:defRPr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zh-CN" altLang="en-US" dirty="0"/>
              <a:t>文心一言</a:t>
            </a:r>
            <a:endParaRPr lang="en-US" altLang="zh-CN" dirty="0"/>
          </a:p>
        </p:txBody>
      </p:sp>
      <p:sp>
        <p:nvSpPr>
          <p:cNvPr id="27" name="MH_SubTitle_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09524" y="2090425"/>
            <a:ext cx="1981748" cy="47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b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通义千问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LANTINGHEI SC DEMIBOLD" panose="02000000000000000000" pitchFamily="2" charset="-122"/>
              <a:ea typeface="LANTINGHEI SC DEMIBOLD" panose="02000000000000000000" pitchFamily="2" charset="-122"/>
            </a:endParaRPr>
          </a:p>
        </p:txBody>
      </p:sp>
      <p:sp>
        <p:nvSpPr>
          <p:cNvPr id="29" name="MH_SubTitle_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291272" y="4287081"/>
            <a:ext cx="3201997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b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讯飞火星大模型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LANTINGHEI SC DEMIBOLD" panose="02000000000000000000" pitchFamily="2" charset="-122"/>
              <a:ea typeface="LANTINGHEI SC DEMIBOLD" panose="02000000000000000000" pitchFamily="2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667705" y="294809"/>
            <a:ext cx="698288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国内对</a:t>
            </a:r>
            <a:r>
              <a:rPr lang="en-US" altLang="zh-CN" sz="4000" dirty="0">
                <a:solidFill>
                  <a:srgbClr val="58595B"/>
                </a:solidFill>
                <a:latin typeface="Agency FB" panose="020B0503020202020204" pitchFamily="34" charset="0"/>
              </a:rPr>
              <a:t>function</a:t>
            </a:r>
            <a:r>
              <a:rPr lang="zh-CN" altLang="en-US" sz="4000" dirty="0">
                <a:solidFill>
                  <a:srgbClr val="58595B"/>
                </a:solidFill>
                <a:latin typeface="Agency FB" panose="020B0503020202020204" pitchFamily="34" charset="0"/>
              </a:rPr>
              <a:t> </a:t>
            </a:r>
            <a:r>
              <a:rPr lang="en-US" altLang="zh-CN" sz="4000" dirty="0">
                <a:solidFill>
                  <a:srgbClr val="58595B"/>
                </a:solidFill>
                <a:latin typeface="Agency FB" panose="020B0503020202020204" pitchFamily="34" charset="0"/>
              </a:rPr>
              <a:t>calling</a:t>
            </a:r>
            <a:r>
              <a:rPr lang="zh-CN" altLang="en-US" sz="4000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的支持</a:t>
            </a:r>
          </a:p>
        </p:txBody>
      </p:sp>
      <p:sp>
        <p:nvSpPr>
          <p:cNvPr id="2" name="MH_SubTitle_3">
            <a:extLst>
              <a:ext uri="{FF2B5EF4-FFF2-40B4-BE49-F238E27FC236}">
                <a16:creationId xmlns:a16="http://schemas.microsoft.com/office/drawing/2014/main" id="{F70FE9DA-AFEF-2346-B663-F270960CF770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168275" y="5801538"/>
            <a:ext cx="1981748" cy="47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b">
            <a:normAutofit fontScale="92500"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Chatglm</a:t>
            </a:r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智普</a:t>
            </a:r>
            <a:endParaRPr lang="en-US" altLang="zh-CN" sz="2600" dirty="0">
              <a:solidFill>
                <a:schemeClr val="tx1">
                  <a:lumMod val="75000"/>
                  <a:lumOff val="25000"/>
                </a:schemeClr>
              </a:solidFill>
              <a:latin typeface="LANTINGHEI SC DEMIBOLD" panose="02000000000000000000" pitchFamily="2" charset="-122"/>
              <a:ea typeface="LANTINGHEI SC DEMIBOLD" panose="02000000000000000000" pitchFamily="2" charset="-122"/>
            </a:endParaRPr>
          </a:p>
        </p:txBody>
      </p:sp>
      <p:sp>
        <p:nvSpPr>
          <p:cNvPr id="6" name="MH_SubTitle_3">
            <a:extLst>
              <a:ext uri="{FF2B5EF4-FFF2-40B4-BE49-F238E27FC236}">
                <a16:creationId xmlns:a16="http://schemas.microsoft.com/office/drawing/2014/main" id="{75B6D124-2A2B-B012-9555-4A2ADE3571B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0901654" y="1233720"/>
            <a:ext cx="1370746" cy="569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b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。。。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LANTINGHEI SC DEMIBOLD" panose="02000000000000000000" pitchFamily="2" charset="-122"/>
              <a:ea typeface="LANTINGHEI SC DEMIBOLD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0817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45"/>
                            </p:stCondLst>
                            <p:childTnLst>
                              <p:par>
                                <p:cTn id="2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45"/>
                            </p:stCondLst>
                            <p:childTnLst>
                              <p:par>
                                <p:cTn id="3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90"/>
                            </p:stCondLst>
                            <p:childTnLst>
                              <p:par>
                                <p:cTn id="4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23" grpId="0"/>
      <p:bldP spid="27" grpId="0"/>
      <p:bldP spid="29" grpId="0"/>
      <p:bldP spid="2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2" y="0"/>
            <a:ext cx="1581151" cy="1306653"/>
            <a:chOff x="-2" y="5562600"/>
            <a:chExt cx="1581151" cy="1306653"/>
          </a:xfrm>
        </p:grpSpPr>
        <p:sp>
          <p:nvSpPr>
            <p:cNvPr id="3" name="直角三角形 8"/>
            <p:cNvSpPr/>
            <p:nvPr/>
          </p:nvSpPr>
          <p:spPr>
            <a:xfrm flipV="1">
              <a:off x="-2" y="5562600"/>
              <a:ext cx="1581151" cy="1306653"/>
            </a:xfrm>
            <a:custGeom>
              <a:avLst/>
              <a:gdLst>
                <a:gd name="connsiteX0" fmla="*/ 0 w 1596000"/>
                <a:gd name="connsiteY0" fmla="*/ 740842 h 740842"/>
                <a:gd name="connsiteX1" fmla="*/ 0 w 1596000"/>
                <a:gd name="connsiteY1" fmla="*/ 0 h 740842"/>
                <a:gd name="connsiteX2" fmla="*/ 1596000 w 1596000"/>
                <a:gd name="connsiteY2" fmla="*/ 740842 h 740842"/>
                <a:gd name="connsiteX3" fmla="*/ 0 w 1596000"/>
                <a:gd name="connsiteY3" fmla="*/ 740842 h 740842"/>
                <a:gd name="connsiteX0" fmla="*/ 0 w 1519800"/>
                <a:gd name="connsiteY0" fmla="*/ 740842 h 1293292"/>
                <a:gd name="connsiteX1" fmla="*/ 0 w 1519800"/>
                <a:gd name="connsiteY1" fmla="*/ 0 h 1293292"/>
                <a:gd name="connsiteX2" fmla="*/ 1519800 w 1519800"/>
                <a:gd name="connsiteY2" fmla="*/ 1293292 h 1293292"/>
                <a:gd name="connsiteX3" fmla="*/ 0 w 1519800"/>
                <a:gd name="connsiteY3" fmla="*/ 740842 h 129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800" h="1293292">
                  <a:moveTo>
                    <a:pt x="0" y="740842"/>
                  </a:moveTo>
                  <a:lnTo>
                    <a:pt x="0" y="0"/>
                  </a:lnTo>
                  <a:lnTo>
                    <a:pt x="1519800" y="1293292"/>
                  </a:lnTo>
                  <a:lnTo>
                    <a:pt x="0" y="740842"/>
                  </a:lnTo>
                  <a:close/>
                </a:path>
              </a:pathLst>
            </a:custGeom>
            <a:solidFill>
              <a:srgbClr val="59C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直角三角形 8"/>
            <p:cNvSpPr/>
            <p:nvPr/>
          </p:nvSpPr>
          <p:spPr>
            <a:xfrm rot="5400000" flipH="1" flipV="1">
              <a:off x="148633" y="5428776"/>
              <a:ext cx="1293293" cy="1565153"/>
            </a:xfrm>
            <a:custGeom>
              <a:avLst/>
              <a:gdLst>
                <a:gd name="connsiteX0" fmla="*/ 0 w 1596000"/>
                <a:gd name="connsiteY0" fmla="*/ 740842 h 740842"/>
                <a:gd name="connsiteX1" fmla="*/ 0 w 1596000"/>
                <a:gd name="connsiteY1" fmla="*/ 0 h 740842"/>
                <a:gd name="connsiteX2" fmla="*/ 1596000 w 1596000"/>
                <a:gd name="connsiteY2" fmla="*/ 740842 h 740842"/>
                <a:gd name="connsiteX3" fmla="*/ 0 w 1596000"/>
                <a:gd name="connsiteY3" fmla="*/ 740842 h 740842"/>
                <a:gd name="connsiteX0" fmla="*/ 0 w 1519800"/>
                <a:gd name="connsiteY0" fmla="*/ 740842 h 1293292"/>
                <a:gd name="connsiteX1" fmla="*/ 0 w 1519800"/>
                <a:gd name="connsiteY1" fmla="*/ 0 h 1293292"/>
                <a:gd name="connsiteX2" fmla="*/ 1519800 w 1519800"/>
                <a:gd name="connsiteY2" fmla="*/ 1293292 h 1293292"/>
                <a:gd name="connsiteX3" fmla="*/ 0 w 1519800"/>
                <a:gd name="connsiteY3" fmla="*/ 740842 h 129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800" h="1293292">
                  <a:moveTo>
                    <a:pt x="0" y="740842"/>
                  </a:moveTo>
                  <a:lnTo>
                    <a:pt x="0" y="0"/>
                  </a:lnTo>
                  <a:lnTo>
                    <a:pt x="1519800" y="1293292"/>
                  </a:lnTo>
                  <a:lnTo>
                    <a:pt x="0" y="74084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1667706" y="294809"/>
            <a:ext cx="71282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平台的选择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47B3B39-1D84-1132-D461-CF639FF352B5}"/>
              </a:ext>
            </a:extLst>
          </p:cNvPr>
          <p:cNvGrpSpPr/>
          <p:nvPr/>
        </p:nvGrpSpPr>
        <p:grpSpPr>
          <a:xfrm>
            <a:off x="1236000" y="2349000"/>
            <a:ext cx="9312462" cy="2587581"/>
            <a:chOff x="1357469" y="2725811"/>
            <a:chExt cx="9312462" cy="2587581"/>
          </a:xfrm>
        </p:grpSpPr>
        <p:cxnSp>
          <p:nvCxnSpPr>
            <p:cNvPr id="14" name="MH_Other_6"/>
            <p:cNvCxnSpPr/>
            <p:nvPr>
              <p:custDataLst>
                <p:tags r:id="rId1"/>
              </p:custDataLst>
            </p:nvPr>
          </p:nvCxnSpPr>
          <p:spPr>
            <a:xfrm>
              <a:off x="4586722" y="3493071"/>
              <a:ext cx="601086" cy="217861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MH_Other_9"/>
            <p:cNvCxnSpPr/>
            <p:nvPr>
              <p:custDataLst>
                <p:tags r:id="rId2"/>
              </p:custDataLst>
            </p:nvPr>
          </p:nvCxnSpPr>
          <p:spPr>
            <a:xfrm>
              <a:off x="7014692" y="4507569"/>
              <a:ext cx="601086" cy="22442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MH_SubTitle_4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8688183" y="4674760"/>
              <a:ext cx="1981748" cy="4750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b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r>
                <a:rPr lang="zh-CN" altLang="en-US" sz="2400" b="1" dirty="0">
                  <a:solidFill>
                    <a:srgbClr val="58595B"/>
                  </a:solidFill>
                  <a:latin typeface="Lantinghei SC Demibold" panose="02000000000000000000" pitchFamily="2" charset="-122"/>
                  <a:ea typeface="Lantinghei SC Demibold" panose="02000000000000000000" pitchFamily="2" charset="-122"/>
                </a:rPr>
                <a:t>私有化搭建</a:t>
              </a:r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D5D733DA-B5A8-29D0-A25D-BC05240D771B}"/>
                </a:ext>
              </a:extLst>
            </p:cNvPr>
            <p:cNvGrpSpPr/>
            <p:nvPr/>
          </p:nvGrpSpPr>
          <p:grpSpPr>
            <a:xfrm>
              <a:off x="1357469" y="2725811"/>
              <a:ext cx="1981748" cy="1379349"/>
              <a:chOff x="1536667" y="2675436"/>
              <a:chExt cx="1981748" cy="1379349"/>
            </a:xfrm>
          </p:grpSpPr>
          <p:sp>
            <p:nvSpPr>
              <p:cNvPr id="23" name="MH_Text_1"/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1536667" y="3222714"/>
                <a:ext cx="1981748" cy="8320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no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r">
                  <a:lnSpc>
                    <a:spcPct val="110000"/>
                  </a:lnSpc>
                  <a:defRPr/>
                </a:pPr>
                <a:r>
                  <a:rPr kumimoji="1" lang="zh-CN" altLang="en-US" dirty="0">
                    <a:latin typeface="Lantinghei SC Extralight" panose="02000000000000000000" pitchFamily="2" charset="-122"/>
                    <a:ea typeface="Lantinghei SC Extralight" panose="02000000000000000000" pitchFamily="2" charset="-122"/>
                  </a:rPr>
                  <a:t>千帆大模型平台</a:t>
                </a:r>
                <a:endParaRPr lang="en-US" altLang="zh-CN" dirty="0">
                  <a:solidFill>
                    <a:srgbClr val="58595B"/>
                  </a:solidFill>
                  <a:latin typeface="Lantinghei SC Extralight" panose="02000000000000000000" pitchFamily="2" charset="-122"/>
                  <a:ea typeface="Lantinghei SC Extralight" panose="02000000000000000000" pitchFamily="2" charset="-122"/>
                </a:endParaRPr>
              </a:p>
            </p:txBody>
          </p:sp>
          <p:sp>
            <p:nvSpPr>
              <p:cNvPr id="24" name="MH_SubTitle_1"/>
              <p:cNvSpPr txBox="1"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536667" y="2675436"/>
                <a:ext cx="1981748" cy="4750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b">
                <a:norm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r">
                  <a:defRPr/>
                </a:pPr>
                <a:r>
                  <a:rPr lang="zh-CN" altLang="en-US" sz="2400" b="1" dirty="0">
                    <a:solidFill>
                      <a:srgbClr val="58595B"/>
                    </a:solidFill>
                    <a:latin typeface="Lantinghei SC Demibold" panose="02000000000000000000" pitchFamily="2" charset="-122"/>
                    <a:ea typeface="Lantinghei SC Demibold" panose="02000000000000000000" pitchFamily="2" charset="-122"/>
                  </a:rPr>
                  <a:t>公共平台</a:t>
                </a:r>
                <a:endParaRPr lang="en-US" altLang="zh-CN" sz="2400" b="1" dirty="0">
                  <a:solidFill>
                    <a:srgbClr val="58595B"/>
                  </a:solidFill>
                  <a:latin typeface="Lantinghei SC Demibold" panose="02000000000000000000" pitchFamily="2" charset="-122"/>
                  <a:ea typeface="Lantinghei SC Demibold" panose="02000000000000000000" pitchFamily="2" charset="-122"/>
                </a:endParaRPr>
              </a:p>
            </p:txBody>
          </p:sp>
        </p:grpSp>
        <p:grpSp>
          <p:nvGrpSpPr>
            <p:cNvPr id="61" name="组合 60"/>
            <p:cNvGrpSpPr/>
            <p:nvPr/>
          </p:nvGrpSpPr>
          <p:grpSpPr>
            <a:xfrm>
              <a:off x="5109063" y="3132156"/>
              <a:ext cx="1973874" cy="1972562"/>
              <a:chOff x="5109063" y="3132156"/>
              <a:chExt cx="1973874" cy="1972562"/>
            </a:xfrm>
          </p:grpSpPr>
          <p:sp>
            <p:nvSpPr>
              <p:cNvPr id="9" name="MH_Other_1"/>
              <p:cNvSpPr/>
              <p:nvPr>
                <p:custDataLst>
                  <p:tags r:id="rId6"/>
                </p:custDataLst>
              </p:nvPr>
            </p:nvSpPr>
            <p:spPr>
              <a:xfrm>
                <a:off x="5109063" y="3132156"/>
                <a:ext cx="1973874" cy="1972562"/>
              </a:xfrm>
              <a:prstGeom prst="ellipse">
                <a:avLst/>
              </a:prstGeom>
              <a:noFill/>
              <a:ln w="57150">
                <a:solidFill>
                  <a:schemeClr val="bg1"/>
                </a:solidFill>
              </a:ln>
              <a:effectLst>
                <a:outerShdw blurRad="88900" sx="102000" sy="102000" algn="ctr" rotWithShape="0">
                  <a:schemeClr val="tx1">
                    <a:lumMod val="65000"/>
                    <a:lumOff val="3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7" name="组合 36"/>
              <p:cNvGrpSpPr/>
              <p:nvPr/>
            </p:nvGrpSpPr>
            <p:grpSpPr>
              <a:xfrm>
                <a:off x="5714082" y="3850841"/>
                <a:ext cx="763835" cy="535191"/>
                <a:chOff x="7309487" y="2188779"/>
                <a:chExt cx="763835" cy="535191"/>
              </a:xfrm>
            </p:grpSpPr>
            <p:sp>
              <p:nvSpPr>
                <p:cNvPr id="31" name="Freeform 587"/>
                <p:cNvSpPr>
                  <a:spLocks/>
                </p:cNvSpPr>
                <p:nvPr/>
              </p:nvSpPr>
              <p:spPr bwMode="auto">
                <a:xfrm>
                  <a:off x="7797072" y="2382804"/>
                  <a:ext cx="276250" cy="247399"/>
                </a:xfrm>
                <a:custGeom>
                  <a:avLst/>
                  <a:gdLst>
                    <a:gd name="T0" fmla="*/ 141 w 162"/>
                    <a:gd name="T1" fmla="*/ 17 h 145"/>
                    <a:gd name="T2" fmla="*/ 105 w 162"/>
                    <a:gd name="T3" fmla="*/ 0 h 145"/>
                    <a:gd name="T4" fmla="*/ 81 w 162"/>
                    <a:gd name="T5" fmla="*/ 9 h 145"/>
                    <a:gd name="T6" fmla="*/ 57 w 162"/>
                    <a:gd name="T7" fmla="*/ 0 h 145"/>
                    <a:gd name="T8" fmla="*/ 0 w 162"/>
                    <a:gd name="T9" fmla="*/ 56 h 145"/>
                    <a:gd name="T10" fmla="*/ 0 w 162"/>
                    <a:gd name="T11" fmla="*/ 59 h 145"/>
                    <a:gd name="T12" fmla="*/ 30 w 162"/>
                    <a:gd name="T13" fmla="*/ 109 h 145"/>
                    <a:gd name="T14" fmla="*/ 30 w 162"/>
                    <a:gd name="T15" fmla="*/ 140 h 145"/>
                    <a:gd name="T16" fmla="*/ 73 w 162"/>
                    <a:gd name="T17" fmla="*/ 145 h 145"/>
                    <a:gd name="T18" fmla="*/ 88 w 162"/>
                    <a:gd name="T19" fmla="*/ 145 h 145"/>
                    <a:gd name="T20" fmla="*/ 162 w 162"/>
                    <a:gd name="T21" fmla="*/ 118 h 145"/>
                    <a:gd name="T22" fmla="*/ 162 w 162"/>
                    <a:gd name="T23" fmla="*/ 56 h 145"/>
                    <a:gd name="T24" fmla="*/ 141 w 162"/>
                    <a:gd name="T25" fmla="*/ 17 h 1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2" h="145">
                      <a:moveTo>
                        <a:pt x="141" y="17"/>
                      </a:moveTo>
                      <a:cubicBezTo>
                        <a:pt x="130" y="8"/>
                        <a:pt x="116" y="3"/>
                        <a:pt x="105" y="0"/>
                      </a:cubicBezTo>
                      <a:cubicBezTo>
                        <a:pt x="81" y="9"/>
                        <a:pt x="81" y="9"/>
                        <a:pt x="81" y="9"/>
                      </a:cubicBezTo>
                      <a:cubicBezTo>
                        <a:pt x="57" y="0"/>
                        <a:pt x="57" y="0"/>
                        <a:pt x="57" y="0"/>
                      </a:cubicBezTo>
                      <a:cubicBezTo>
                        <a:pt x="35" y="5"/>
                        <a:pt x="0" y="20"/>
                        <a:pt x="0" y="56"/>
                      </a:cubicBezTo>
                      <a:cubicBezTo>
                        <a:pt x="0" y="57"/>
                        <a:pt x="0" y="58"/>
                        <a:pt x="0" y="59"/>
                      </a:cubicBezTo>
                      <a:cubicBezTo>
                        <a:pt x="16" y="69"/>
                        <a:pt x="30" y="85"/>
                        <a:pt x="30" y="109"/>
                      </a:cubicBezTo>
                      <a:cubicBezTo>
                        <a:pt x="30" y="121"/>
                        <a:pt x="30" y="132"/>
                        <a:pt x="30" y="140"/>
                      </a:cubicBezTo>
                      <a:cubicBezTo>
                        <a:pt x="40" y="143"/>
                        <a:pt x="54" y="145"/>
                        <a:pt x="73" y="145"/>
                      </a:cubicBezTo>
                      <a:cubicBezTo>
                        <a:pt x="88" y="145"/>
                        <a:pt x="88" y="145"/>
                        <a:pt x="88" y="145"/>
                      </a:cubicBezTo>
                      <a:cubicBezTo>
                        <a:pt x="160" y="145"/>
                        <a:pt x="162" y="118"/>
                        <a:pt x="162" y="118"/>
                      </a:cubicBezTo>
                      <a:cubicBezTo>
                        <a:pt x="162" y="118"/>
                        <a:pt x="162" y="109"/>
                        <a:pt x="162" y="56"/>
                      </a:cubicBezTo>
                      <a:cubicBezTo>
                        <a:pt x="162" y="38"/>
                        <a:pt x="153" y="26"/>
                        <a:pt x="141" y="17"/>
                      </a:cubicBezTo>
                      <a:close/>
                    </a:path>
                  </a:pathLst>
                </a:custGeom>
                <a:solidFill>
                  <a:srgbClr val="59C3E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Oval 588"/>
                <p:cNvSpPr>
                  <a:spLocks noChangeArrowheads="1"/>
                </p:cNvSpPr>
                <p:nvPr/>
              </p:nvSpPr>
              <p:spPr bwMode="auto">
                <a:xfrm>
                  <a:off x="7864872" y="2188779"/>
                  <a:ext cx="139928" cy="161567"/>
                </a:xfrm>
                <a:prstGeom prst="ellipse">
                  <a:avLst/>
                </a:prstGeom>
                <a:solidFill>
                  <a:srgbClr val="59C3E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" name="Freeform 589"/>
                <p:cNvSpPr>
                  <a:spLocks/>
                </p:cNvSpPr>
                <p:nvPr/>
              </p:nvSpPr>
              <p:spPr bwMode="auto">
                <a:xfrm>
                  <a:off x="7549673" y="2475128"/>
                  <a:ext cx="276250" cy="248842"/>
                </a:xfrm>
                <a:custGeom>
                  <a:avLst/>
                  <a:gdLst>
                    <a:gd name="T0" fmla="*/ 145 w 162"/>
                    <a:gd name="T1" fmla="*/ 20 h 146"/>
                    <a:gd name="T2" fmla="*/ 132 w 162"/>
                    <a:gd name="T3" fmla="*/ 11 h 146"/>
                    <a:gd name="T4" fmla="*/ 105 w 162"/>
                    <a:gd name="T5" fmla="*/ 0 h 146"/>
                    <a:gd name="T6" fmla="*/ 81 w 162"/>
                    <a:gd name="T7" fmla="*/ 9 h 146"/>
                    <a:gd name="T8" fmla="*/ 57 w 162"/>
                    <a:gd name="T9" fmla="*/ 0 h 146"/>
                    <a:gd name="T10" fmla="*/ 34 w 162"/>
                    <a:gd name="T11" fmla="*/ 9 h 146"/>
                    <a:gd name="T12" fmla="*/ 21 w 162"/>
                    <a:gd name="T13" fmla="*/ 17 h 146"/>
                    <a:gd name="T14" fmla="*/ 0 w 162"/>
                    <a:gd name="T15" fmla="*/ 57 h 146"/>
                    <a:gd name="T16" fmla="*/ 0 w 162"/>
                    <a:gd name="T17" fmla="*/ 82 h 146"/>
                    <a:gd name="T18" fmla="*/ 0 w 162"/>
                    <a:gd name="T19" fmla="*/ 96 h 146"/>
                    <a:gd name="T20" fmla="*/ 0 w 162"/>
                    <a:gd name="T21" fmla="*/ 119 h 146"/>
                    <a:gd name="T22" fmla="*/ 74 w 162"/>
                    <a:gd name="T23" fmla="*/ 146 h 146"/>
                    <a:gd name="T24" fmla="*/ 88 w 162"/>
                    <a:gd name="T25" fmla="*/ 146 h 146"/>
                    <a:gd name="T26" fmla="*/ 162 w 162"/>
                    <a:gd name="T27" fmla="*/ 119 h 146"/>
                    <a:gd name="T28" fmla="*/ 162 w 162"/>
                    <a:gd name="T29" fmla="*/ 96 h 146"/>
                    <a:gd name="T30" fmla="*/ 162 w 162"/>
                    <a:gd name="T31" fmla="*/ 82 h 146"/>
                    <a:gd name="T32" fmla="*/ 162 w 162"/>
                    <a:gd name="T33" fmla="*/ 57 h 146"/>
                    <a:gd name="T34" fmla="*/ 145 w 162"/>
                    <a:gd name="T35" fmla="*/ 20 h 1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62" h="146">
                      <a:moveTo>
                        <a:pt x="145" y="20"/>
                      </a:moveTo>
                      <a:cubicBezTo>
                        <a:pt x="141" y="17"/>
                        <a:pt x="137" y="14"/>
                        <a:pt x="132" y="11"/>
                      </a:cubicBezTo>
                      <a:cubicBezTo>
                        <a:pt x="123" y="6"/>
                        <a:pt x="113" y="3"/>
                        <a:pt x="105" y="0"/>
                      </a:cubicBezTo>
                      <a:cubicBezTo>
                        <a:pt x="81" y="9"/>
                        <a:pt x="81" y="9"/>
                        <a:pt x="81" y="9"/>
                      </a:cubicBezTo>
                      <a:cubicBezTo>
                        <a:pt x="57" y="0"/>
                        <a:pt x="57" y="0"/>
                        <a:pt x="57" y="0"/>
                      </a:cubicBezTo>
                      <a:cubicBezTo>
                        <a:pt x="50" y="2"/>
                        <a:pt x="42" y="5"/>
                        <a:pt x="34" y="9"/>
                      </a:cubicBezTo>
                      <a:cubicBezTo>
                        <a:pt x="29" y="11"/>
                        <a:pt x="25" y="14"/>
                        <a:pt x="21" y="17"/>
                      </a:cubicBezTo>
                      <a:cubicBezTo>
                        <a:pt x="9" y="26"/>
                        <a:pt x="0" y="39"/>
                        <a:pt x="0" y="57"/>
                      </a:cubicBezTo>
                      <a:cubicBezTo>
                        <a:pt x="0" y="67"/>
                        <a:pt x="0" y="75"/>
                        <a:pt x="0" y="82"/>
                      </a:cubicBezTo>
                      <a:cubicBezTo>
                        <a:pt x="0" y="87"/>
                        <a:pt x="0" y="92"/>
                        <a:pt x="0" y="96"/>
                      </a:cubicBezTo>
                      <a:cubicBezTo>
                        <a:pt x="0" y="115"/>
                        <a:pt x="0" y="119"/>
                        <a:pt x="0" y="119"/>
                      </a:cubicBezTo>
                      <a:cubicBezTo>
                        <a:pt x="0" y="119"/>
                        <a:pt x="2" y="146"/>
                        <a:pt x="74" y="146"/>
                      </a:cubicBezTo>
                      <a:cubicBezTo>
                        <a:pt x="88" y="146"/>
                        <a:pt x="88" y="146"/>
                        <a:pt x="88" y="146"/>
                      </a:cubicBezTo>
                      <a:cubicBezTo>
                        <a:pt x="160" y="146"/>
                        <a:pt x="162" y="119"/>
                        <a:pt x="162" y="119"/>
                      </a:cubicBezTo>
                      <a:cubicBezTo>
                        <a:pt x="162" y="119"/>
                        <a:pt x="162" y="114"/>
                        <a:pt x="162" y="96"/>
                      </a:cubicBezTo>
                      <a:cubicBezTo>
                        <a:pt x="162" y="92"/>
                        <a:pt x="162" y="87"/>
                        <a:pt x="162" y="82"/>
                      </a:cubicBezTo>
                      <a:cubicBezTo>
                        <a:pt x="162" y="75"/>
                        <a:pt x="162" y="67"/>
                        <a:pt x="162" y="57"/>
                      </a:cubicBezTo>
                      <a:cubicBezTo>
                        <a:pt x="162" y="41"/>
                        <a:pt x="155" y="29"/>
                        <a:pt x="145" y="20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" name="Oval 590"/>
                <p:cNvSpPr>
                  <a:spLocks noChangeArrowheads="1"/>
                </p:cNvSpPr>
                <p:nvPr/>
              </p:nvSpPr>
              <p:spPr bwMode="auto">
                <a:xfrm>
                  <a:off x="7618195" y="2282546"/>
                  <a:ext cx="139207" cy="161567"/>
                </a:xfrm>
                <a:prstGeom prst="ellipse">
                  <a:avLst/>
                </a:prstGeom>
                <a:solidFill>
                  <a:srgbClr val="58595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Freeform 591"/>
                <p:cNvSpPr>
                  <a:spLocks/>
                </p:cNvSpPr>
                <p:nvPr/>
              </p:nvSpPr>
              <p:spPr bwMode="auto">
                <a:xfrm>
                  <a:off x="7309487" y="2381361"/>
                  <a:ext cx="276250" cy="246678"/>
                </a:xfrm>
                <a:custGeom>
                  <a:avLst/>
                  <a:gdLst>
                    <a:gd name="T0" fmla="*/ 162 w 162"/>
                    <a:gd name="T1" fmla="*/ 57 h 145"/>
                    <a:gd name="T2" fmla="*/ 162 w 162"/>
                    <a:gd name="T3" fmla="*/ 57 h 145"/>
                    <a:gd name="T4" fmla="*/ 142 w 162"/>
                    <a:gd name="T5" fmla="*/ 17 h 145"/>
                    <a:gd name="T6" fmla="*/ 105 w 162"/>
                    <a:gd name="T7" fmla="*/ 0 h 145"/>
                    <a:gd name="T8" fmla="*/ 81 w 162"/>
                    <a:gd name="T9" fmla="*/ 9 h 145"/>
                    <a:gd name="T10" fmla="*/ 57 w 162"/>
                    <a:gd name="T11" fmla="*/ 0 h 145"/>
                    <a:gd name="T12" fmla="*/ 0 w 162"/>
                    <a:gd name="T13" fmla="*/ 57 h 145"/>
                    <a:gd name="T14" fmla="*/ 0 w 162"/>
                    <a:gd name="T15" fmla="*/ 118 h 145"/>
                    <a:gd name="T16" fmla="*/ 74 w 162"/>
                    <a:gd name="T17" fmla="*/ 145 h 145"/>
                    <a:gd name="T18" fmla="*/ 88 w 162"/>
                    <a:gd name="T19" fmla="*/ 145 h 145"/>
                    <a:gd name="T20" fmla="*/ 129 w 162"/>
                    <a:gd name="T21" fmla="*/ 141 h 145"/>
                    <a:gd name="T22" fmla="*/ 129 w 162"/>
                    <a:gd name="T23" fmla="*/ 110 h 145"/>
                    <a:gd name="T24" fmla="*/ 162 w 162"/>
                    <a:gd name="T25" fmla="*/ 57 h 1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2" h="145">
                      <a:moveTo>
                        <a:pt x="162" y="57"/>
                      </a:moveTo>
                      <a:cubicBezTo>
                        <a:pt x="162" y="57"/>
                        <a:pt x="162" y="57"/>
                        <a:pt x="162" y="57"/>
                      </a:cubicBezTo>
                      <a:cubicBezTo>
                        <a:pt x="162" y="39"/>
                        <a:pt x="153" y="26"/>
                        <a:pt x="142" y="17"/>
                      </a:cubicBezTo>
                      <a:cubicBezTo>
                        <a:pt x="130" y="8"/>
                        <a:pt x="116" y="3"/>
                        <a:pt x="105" y="0"/>
                      </a:cubicBezTo>
                      <a:cubicBezTo>
                        <a:pt x="81" y="9"/>
                        <a:pt x="81" y="9"/>
                        <a:pt x="81" y="9"/>
                      </a:cubicBezTo>
                      <a:cubicBezTo>
                        <a:pt x="57" y="0"/>
                        <a:pt x="57" y="0"/>
                        <a:pt x="57" y="0"/>
                      </a:cubicBezTo>
                      <a:cubicBezTo>
                        <a:pt x="35" y="6"/>
                        <a:pt x="0" y="21"/>
                        <a:pt x="0" y="57"/>
                      </a:cubicBezTo>
                      <a:cubicBezTo>
                        <a:pt x="0" y="109"/>
                        <a:pt x="0" y="118"/>
                        <a:pt x="0" y="118"/>
                      </a:cubicBezTo>
                      <a:cubicBezTo>
                        <a:pt x="0" y="118"/>
                        <a:pt x="2" y="145"/>
                        <a:pt x="74" y="145"/>
                      </a:cubicBezTo>
                      <a:cubicBezTo>
                        <a:pt x="88" y="145"/>
                        <a:pt x="88" y="145"/>
                        <a:pt x="88" y="145"/>
                      </a:cubicBezTo>
                      <a:cubicBezTo>
                        <a:pt x="105" y="145"/>
                        <a:pt x="118" y="143"/>
                        <a:pt x="129" y="141"/>
                      </a:cubicBezTo>
                      <a:cubicBezTo>
                        <a:pt x="129" y="133"/>
                        <a:pt x="129" y="122"/>
                        <a:pt x="129" y="110"/>
                      </a:cubicBezTo>
                      <a:cubicBezTo>
                        <a:pt x="129" y="84"/>
                        <a:pt x="144" y="68"/>
                        <a:pt x="162" y="57"/>
                      </a:cubicBezTo>
                      <a:close/>
                    </a:path>
                  </a:pathLst>
                </a:custGeom>
                <a:solidFill>
                  <a:srgbClr val="59C3E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" name="Oval 592"/>
                <p:cNvSpPr>
                  <a:spLocks noChangeArrowheads="1"/>
                </p:cNvSpPr>
                <p:nvPr/>
              </p:nvSpPr>
              <p:spPr bwMode="auto">
                <a:xfrm>
                  <a:off x="7377287" y="2188779"/>
                  <a:ext cx="139928" cy="161567"/>
                </a:xfrm>
                <a:prstGeom prst="ellipse">
                  <a:avLst/>
                </a:prstGeom>
                <a:solidFill>
                  <a:srgbClr val="59C3E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5" name="组合 64"/>
            <p:cNvGrpSpPr/>
            <p:nvPr/>
          </p:nvGrpSpPr>
          <p:grpSpPr>
            <a:xfrm>
              <a:off x="7586907" y="4457696"/>
              <a:ext cx="854383" cy="855696"/>
              <a:chOff x="7586907" y="4457696"/>
              <a:chExt cx="854383" cy="855696"/>
            </a:xfrm>
          </p:grpSpPr>
          <p:sp>
            <p:nvSpPr>
              <p:cNvPr id="11" name="MH_Other_3"/>
              <p:cNvSpPr/>
              <p:nvPr>
                <p:custDataLst>
                  <p:tags r:id="rId5"/>
                </p:custDataLst>
              </p:nvPr>
            </p:nvSpPr>
            <p:spPr>
              <a:xfrm>
                <a:off x="7586907" y="4457696"/>
                <a:ext cx="854383" cy="85569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  <a:effectLst>
                <a:outerShdw blurRad="63500" sx="102000" sy="102000" algn="ctr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8" name="组合 57"/>
              <p:cNvGrpSpPr/>
              <p:nvPr/>
            </p:nvGrpSpPr>
            <p:grpSpPr>
              <a:xfrm>
                <a:off x="7776080" y="4707418"/>
                <a:ext cx="435887" cy="365083"/>
                <a:chOff x="9211014" y="1362855"/>
                <a:chExt cx="710460" cy="595055"/>
              </a:xfrm>
            </p:grpSpPr>
            <p:sp>
              <p:nvSpPr>
                <p:cNvPr id="38" name="Freeform 227"/>
                <p:cNvSpPr>
                  <a:spLocks noEditPoints="1"/>
                </p:cNvSpPr>
                <p:nvPr/>
              </p:nvSpPr>
              <p:spPr bwMode="auto">
                <a:xfrm>
                  <a:off x="9211014" y="1362855"/>
                  <a:ext cx="710460" cy="530141"/>
                </a:xfrm>
                <a:custGeom>
                  <a:avLst/>
                  <a:gdLst>
                    <a:gd name="T0" fmla="*/ 384 w 417"/>
                    <a:gd name="T1" fmla="*/ 0 h 311"/>
                    <a:gd name="T2" fmla="*/ 32 w 417"/>
                    <a:gd name="T3" fmla="*/ 0 h 311"/>
                    <a:gd name="T4" fmla="*/ 0 w 417"/>
                    <a:gd name="T5" fmla="*/ 33 h 311"/>
                    <a:gd name="T6" fmla="*/ 0 w 417"/>
                    <a:gd name="T7" fmla="*/ 278 h 311"/>
                    <a:gd name="T8" fmla="*/ 32 w 417"/>
                    <a:gd name="T9" fmla="*/ 311 h 311"/>
                    <a:gd name="T10" fmla="*/ 384 w 417"/>
                    <a:gd name="T11" fmla="*/ 311 h 311"/>
                    <a:gd name="T12" fmla="*/ 417 w 417"/>
                    <a:gd name="T13" fmla="*/ 278 h 311"/>
                    <a:gd name="T14" fmla="*/ 417 w 417"/>
                    <a:gd name="T15" fmla="*/ 33 h 311"/>
                    <a:gd name="T16" fmla="*/ 384 w 417"/>
                    <a:gd name="T17" fmla="*/ 0 h 311"/>
                    <a:gd name="T18" fmla="*/ 378 w 417"/>
                    <a:gd name="T19" fmla="*/ 251 h 311"/>
                    <a:gd name="T20" fmla="*/ 351 w 417"/>
                    <a:gd name="T21" fmla="*/ 277 h 311"/>
                    <a:gd name="T22" fmla="*/ 62 w 417"/>
                    <a:gd name="T23" fmla="*/ 277 h 311"/>
                    <a:gd name="T24" fmla="*/ 35 w 417"/>
                    <a:gd name="T25" fmla="*/ 251 h 311"/>
                    <a:gd name="T26" fmla="*/ 35 w 417"/>
                    <a:gd name="T27" fmla="*/ 60 h 311"/>
                    <a:gd name="T28" fmla="*/ 62 w 417"/>
                    <a:gd name="T29" fmla="*/ 35 h 311"/>
                    <a:gd name="T30" fmla="*/ 351 w 417"/>
                    <a:gd name="T31" fmla="*/ 35 h 311"/>
                    <a:gd name="T32" fmla="*/ 378 w 417"/>
                    <a:gd name="T33" fmla="*/ 60 h 311"/>
                    <a:gd name="T34" fmla="*/ 378 w 417"/>
                    <a:gd name="T35" fmla="*/ 251 h 3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17" h="311">
                      <a:moveTo>
                        <a:pt x="384" y="0"/>
                      </a:moveTo>
                      <a:cubicBezTo>
                        <a:pt x="32" y="0"/>
                        <a:pt x="32" y="0"/>
                        <a:pt x="32" y="0"/>
                      </a:cubicBezTo>
                      <a:cubicBezTo>
                        <a:pt x="14" y="0"/>
                        <a:pt x="0" y="15"/>
                        <a:pt x="0" y="33"/>
                      </a:cubicBezTo>
                      <a:cubicBezTo>
                        <a:pt x="0" y="278"/>
                        <a:pt x="0" y="278"/>
                        <a:pt x="0" y="278"/>
                      </a:cubicBezTo>
                      <a:cubicBezTo>
                        <a:pt x="0" y="296"/>
                        <a:pt x="14" y="311"/>
                        <a:pt x="32" y="311"/>
                      </a:cubicBezTo>
                      <a:cubicBezTo>
                        <a:pt x="384" y="311"/>
                        <a:pt x="384" y="311"/>
                        <a:pt x="384" y="311"/>
                      </a:cubicBezTo>
                      <a:cubicBezTo>
                        <a:pt x="402" y="311"/>
                        <a:pt x="417" y="296"/>
                        <a:pt x="417" y="278"/>
                      </a:cubicBezTo>
                      <a:cubicBezTo>
                        <a:pt x="417" y="33"/>
                        <a:pt x="417" y="33"/>
                        <a:pt x="417" y="33"/>
                      </a:cubicBezTo>
                      <a:cubicBezTo>
                        <a:pt x="417" y="15"/>
                        <a:pt x="402" y="0"/>
                        <a:pt x="384" y="0"/>
                      </a:cubicBezTo>
                      <a:close/>
                      <a:moveTo>
                        <a:pt x="378" y="251"/>
                      </a:moveTo>
                      <a:cubicBezTo>
                        <a:pt x="378" y="265"/>
                        <a:pt x="366" y="277"/>
                        <a:pt x="351" y="277"/>
                      </a:cubicBezTo>
                      <a:cubicBezTo>
                        <a:pt x="62" y="277"/>
                        <a:pt x="62" y="277"/>
                        <a:pt x="62" y="277"/>
                      </a:cubicBezTo>
                      <a:cubicBezTo>
                        <a:pt x="47" y="277"/>
                        <a:pt x="35" y="265"/>
                        <a:pt x="35" y="251"/>
                      </a:cubicBezTo>
                      <a:cubicBezTo>
                        <a:pt x="35" y="60"/>
                        <a:pt x="35" y="60"/>
                        <a:pt x="35" y="60"/>
                      </a:cubicBezTo>
                      <a:cubicBezTo>
                        <a:pt x="35" y="46"/>
                        <a:pt x="47" y="35"/>
                        <a:pt x="62" y="35"/>
                      </a:cubicBezTo>
                      <a:cubicBezTo>
                        <a:pt x="351" y="35"/>
                        <a:pt x="351" y="35"/>
                        <a:pt x="351" y="35"/>
                      </a:cubicBezTo>
                      <a:cubicBezTo>
                        <a:pt x="366" y="35"/>
                        <a:pt x="378" y="46"/>
                        <a:pt x="378" y="60"/>
                      </a:cubicBezTo>
                      <a:lnTo>
                        <a:pt x="378" y="251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" name="Freeform 228"/>
                <p:cNvSpPr>
                  <a:spLocks/>
                </p:cNvSpPr>
                <p:nvPr/>
              </p:nvSpPr>
              <p:spPr bwMode="auto">
                <a:xfrm>
                  <a:off x="9340844" y="1528027"/>
                  <a:ext cx="468111" cy="168779"/>
                </a:xfrm>
                <a:custGeom>
                  <a:avLst/>
                  <a:gdLst>
                    <a:gd name="T0" fmla="*/ 231 w 649"/>
                    <a:gd name="T1" fmla="*/ 83 h 234"/>
                    <a:gd name="T2" fmla="*/ 0 w 649"/>
                    <a:gd name="T3" fmla="*/ 234 h 234"/>
                    <a:gd name="T4" fmla="*/ 92 w 649"/>
                    <a:gd name="T5" fmla="*/ 234 h 234"/>
                    <a:gd name="T6" fmla="*/ 231 w 649"/>
                    <a:gd name="T7" fmla="*/ 142 h 234"/>
                    <a:gd name="T8" fmla="*/ 361 w 649"/>
                    <a:gd name="T9" fmla="*/ 220 h 234"/>
                    <a:gd name="T10" fmla="*/ 649 w 649"/>
                    <a:gd name="T11" fmla="*/ 57 h 234"/>
                    <a:gd name="T12" fmla="*/ 649 w 649"/>
                    <a:gd name="T13" fmla="*/ 0 h 234"/>
                    <a:gd name="T14" fmla="*/ 361 w 649"/>
                    <a:gd name="T15" fmla="*/ 159 h 234"/>
                    <a:gd name="T16" fmla="*/ 231 w 649"/>
                    <a:gd name="T17" fmla="*/ 83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49" h="234">
                      <a:moveTo>
                        <a:pt x="231" y="83"/>
                      </a:moveTo>
                      <a:lnTo>
                        <a:pt x="0" y="234"/>
                      </a:lnTo>
                      <a:lnTo>
                        <a:pt x="92" y="234"/>
                      </a:lnTo>
                      <a:lnTo>
                        <a:pt x="231" y="142"/>
                      </a:lnTo>
                      <a:lnTo>
                        <a:pt x="361" y="220"/>
                      </a:lnTo>
                      <a:lnTo>
                        <a:pt x="649" y="57"/>
                      </a:lnTo>
                      <a:lnTo>
                        <a:pt x="649" y="0"/>
                      </a:lnTo>
                      <a:lnTo>
                        <a:pt x="361" y="159"/>
                      </a:lnTo>
                      <a:lnTo>
                        <a:pt x="231" y="83"/>
                      </a:lnTo>
                      <a:close/>
                    </a:path>
                  </a:pathLst>
                </a:custGeom>
                <a:solidFill>
                  <a:srgbClr val="59C3E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" name="Freeform 229"/>
                <p:cNvSpPr>
                  <a:spLocks/>
                </p:cNvSpPr>
                <p:nvPr/>
              </p:nvSpPr>
              <p:spPr bwMode="auto">
                <a:xfrm>
                  <a:off x="9393498" y="1911748"/>
                  <a:ext cx="332510" cy="46162"/>
                </a:xfrm>
                <a:custGeom>
                  <a:avLst/>
                  <a:gdLst>
                    <a:gd name="T0" fmla="*/ 181 w 195"/>
                    <a:gd name="T1" fmla="*/ 0 h 27"/>
                    <a:gd name="T2" fmla="*/ 14 w 195"/>
                    <a:gd name="T3" fmla="*/ 0 h 27"/>
                    <a:gd name="T4" fmla="*/ 4 w 195"/>
                    <a:gd name="T5" fmla="*/ 4 h 27"/>
                    <a:gd name="T6" fmla="*/ 0 w 195"/>
                    <a:gd name="T7" fmla="*/ 14 h 27"/>
                    <a:gd name="T8" fmla="*/ 14 w 195"/>
                    <a:gd name="T9" fmla="*/ 27 h 27"/>
                    <a:gd name="T10" fmla="*/ 181 w 195"/>
                    <a:gd name="T11" fmla="*/ 27 h 27"/>
                    <a:gd name="T12" fmla="*/ 195 w 195"/>
                    <a:gd name="T13" fmla="*/ 14 h 27"/>
                    <a:gd name="T14" fmla="*/ 181 w 195"/>
                    <a:gd name="T15" fmla="*/ 0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95" h="27">
                      <a:moveTo>
                        <a:pt x="181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0" y="0"/>
                        <a:pt x="6" y="2"/>
                        <a:pt x="4" y="4"/>
                      </a:cubicBezTo>
                      <a:cubicBezTo>
                        <a:pt x="1" y="7"/>
                        <a:pt x="0" y="10"/>
                        <a:pt x="0" y="14"/>
                      </a:cubicBezTo>
                      <a:cubicBezTo>
                        <a:pt x="0" y="21"/>
                        <a:pt x="6" y="27"/>
                        <a:pt x="14" y="27"/>
                      </a:cubicBezTo>
                      <a:cubicBezTo>
                        <a:pt x="181" y="27"/>
                        <a:pt x="181" y="27"/>
                        <a:pt x="181" y="27"/>
                      </a:cubicBezTo>
                      <a:cubicBezTo>
                        <a:pt x="189" y="27"/>
                        <a:pt x="195" y="21"/>
                        <a:pt x="195" y="14"/>
                      </a:cubicBezTo>
                      <a:cubicBezTo>
                        <a:pt x="195" y="6"/>
                        <a:pt x="189" y="0"/>
                        <a:pt x="181" y="0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2" name="组合 61"/>
            <p:cNvGrpSpPr/>
            <p:nvPr/>
          </p:nvGrpSpPr>
          <p:grpSpPr>
            <a:xfrm>
              <a:off x="3750714" y="2923481"/>
              <a:ext cx="854383" cy="855696"/>
              <a:chOff x="3750714" y="2923481"/>
              <a:chExt cx="854383" cy="855696"/>
            </a:xfrm>
          </p:grpSpPr>
          <p:sp>
            <p:nvSpPr>
              <p:cNvPr id="12" name="MH_Other_4"/>
              <p:cNvSpPr/>
              <p:nvPr>
                <p:custDataLst>
                  <p:tags r:id="rId4"/>
                </p:custDataLst>
              </p:nvPr>
            </p:nvSpPr>
            <p:spPr>
              <a:xfrm>
                <a:off x="3750714" y="2923481"/>
                <a:ext cx="854383" cy="85569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  <a:effectLst>
                <a:outerShdw blurRad="63500" sx="102000" sy="102000" algn="ctr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Freeform 359"/>
              <p:cNvSpPr>
                <a:spLocks noEditPoints="1"/>
              </p:cNvSpPr>
              <p:nvPr/>
            </p:nvSpPr>
            <p:spPr bwMode="auto">
              <a:xfrm>
                <a:off x="3975126" y="3144961"/>
                <a:ext cx="386767" cy="395618"/>
              </a:xfrm>
              <a:custGeom>
                <a:avLst/>
                <a:gdLst>
                  <a:gd name="T0" fmla="*/ 317 w 370"/>
                  <a:gd name="T1" fmla="*/ 63 h 378"/>
                  <a:gd name="T2" fmla="*/ 361 w 370"/>
                  <a:gd name="T3" fmla="*/ 13 h 378"/>
                  <a:gd name="T4" fmla="*/ 346 w 370"/>
                  <a:gd name="T5" fmla="*/ 0 h 378"/>
                  <a:gd name="T6" fmla="*/ 302 w 370"/>
                  <a:gd name="T7" fmla="*/ 49 h 378"/>
                  <a:gd name="T8" fmla="*/ 185 w 370"/>
                  <a:gd name="T9" fmla="*/ 8 h 378"/>
                  <a:gd name="T10" fmla="*/ 0 w 370"/>
                  <a:gd name="T11" fmla="*/ 193 h 378"/>
                  <a:gd name="T12" fmla="*/ 185 w 370"/>
                  <a:gd name="T13" fmla="*/ 378 h 378"/>
                  <a:gd name="T14" fmla="*/ 370 w 370"/>
                  <a:gd name="T15" fmla="*/ 193 h 378"/>
                  <a:gd name="T16" fmla="*/ 317 w 370"/>
                  <a:gd name="T17" fmla="*/ 63 h 378"/>
                  <a:gd name="T18" fmla="*/ 185 w 370"/>
                  <a:gd name="T19" fmla="*/ 332 h 378"/>
                  <a:gd name="T20" fmla="*/ 46 w 370"/>
                  <a:gd name="T21" fmla="*/ 193 h 378"/>
                  <a:gd name="T22" fmla="*/ 185 w 370"/>
                  <a:gd name="T23" fmla="*/ 54 h 378"/>
                  <a:gd name="T24" fmla="*/ 271 w 370"/>
                  <a:gd name="T25" fmla="*/ 84 h 378"/>
                  <a:gd name="T26" fmla="*/ 258 w 370"/>
                  <a:gd name="T27" fmla="*/ 99 h 378"/>
                  <a:gd name="T28" fmla="*/ 185 w 370"/>
                  <a:gd name="T29" fmla="*/ 74 h 378"/>
                  <a:gd name="T30" fmla="*/ 66 w 370"/>
                  <a:gd name="T31" fmla="*/ 193 h 378"/>
                  <a:gd name="T32" fmla="*/ 185 w 370"/>
                  <a:gd name="T33" fmla="*/ 311 h 378"/>
                  <a:gd name="T34" fmla="*/ 304 w 370"/>
                  <a:gd name="T35" fmla="*/ 193 h 378"/>
                  <a:gd name="T36" fmla="*/ 273 w 370"/>
                  <a:gd name="T37" fmla="*/ 113 h 378"/>
                  <a:gd name="T38" fmla="*/ 286 w 370"/>
                  <a:gd name="T39" fmla="*/ 97 h 378"/>
                  <a:gd name="T40" fmla="*/ 324 w 370"/>
                  <a:gd name="T41" fmla="*/ 193 h 378"/>
                  <a:gd name="T42" fmla="*/ 185 w 370"/>
                  <a:gd name="T43" fmla="*/ 332 h 378"/>
                  <a:gd name="T44" fmla="*/ 257 w 370"/>
                  <a:gd name="T45" fmla="*/ 193 h 378"/>
                  <a:gd name="T46" fmla="*/ 185 w 370"/>
                  <a:gd name="T47" fmla="*/ 265 h 378"/>
                  <a:gd name="T48" fmla="*/ 113 w 370"/>
                  <a:gd name="T49" fmla="*/ 193 h 378"/>
                  <a:gd name="T50" fmla="*/ 185 w 370"/>
                  <a:gd name="T51" fmla="*/ 121 h 378"/>
                  <a:gd name="T52" fmla="*/ 217 w 370"/>
                  <a:gd name="T53" fmla="*/ 128 h 378"/>
                  <a:gd name="T54" fmla="*/ 207 w 370"/>
                  <a:gd name="T55" fmla="*/ 148 h 378"/>
                  <a:gd name="T56" fmla="*/ 185 w 370"/>
                  <a:gd name="T57" fmla="*/ 143 h 378"/>
                  <a:gd name="T58" fmla="*/ 135 w 370"/>
                  <a:gd name="T59" fmla="*/ 193 h 378"/>
                  <a:gd name="T60" fmla="*/ 185 w 370"/>
                  <a:gd name="T61" fmla="*/ 243 h 378"/>
                  <a:gd name="T62" fmla="*/ 235 w 370"/>
                  <a:gd name="T63" fmla="*/ 193 h 378"/>
                  <a:gd name="T64" fmla="*/ 229 w 370"/>
                  <a:gd name="T65" fmla="*/ 169 h 378"/>
                  <a:gd name="T66" fmla="*/ 247 w 370"/>
                  <a:gd name="T67" fmla="*/ 157 h 378"/>
                  <a:gd name="T68" fmla="*/ 257 w 370"/>
                  <a:gd name="T69" fmla="*/ 19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70" h="378">
                    <a:moveTo>
                      <a:pt x="317" y="63"/>
                    </a:moveTo>
                    <a:cubicBezTo>
                      <a:pt x="361" y="13"/>
                      <a:pt x="361" y="13"/>
                      <a:pt x="361" y="13"/>
                    </a:cubicBezTo>
                    <a:cubicBezTo>
                      <a:pt x="346" y="0"/>
                      <a:pt x="346" y="0"/>
                      <a:pt x="346" y="0"/>
                    </a:cubicBezTo>
                    <a:cubicBezTo>
                      <a:pt x="302" y="49"/>
                      <a:pt x="302" y="49"/>
                      <a:pt x="302" y="49"/>
                    </a:cubicBezTo>
                    <a:cubicBezTo>
                      <a:pt x="270" y="23"/>
                      <a:pt x="229" y="8"/>
                      <a:pt x="185" y="8"/>
                    </a:cubicBezTo>
                    <a:cubicBezTo>
                      <a:pt x="83" y="8"/>
                      <a:pt x="0" y="91"/>
                      <a:pt x="0" y="193"/>
                    </a:cubicBezTo>
                    <a:cubicBezTo>
                      <a:pt x="0" y="295"/>
                      <a:pt x="83" y="378"/>
                      <a:pt x="185" y="378"/>
                    </a:cubicBezTo>
                    <a:cubicBezTo>
                      <a:pt x="287" y="378"/>
                      <a:pt x="370" y="295"/>
                      <a:pt x="370" y="193"/>
                    </a:cubicBezTo>
                    <a:cubicBezTo>
                      <a:pt x="370" y="142"/>
                      <a:pt x="350" y="96"/>
                      <a:pt x="317" y="63"/>
                    </a:cubicBezTo>
                    <a:close/>
                    <a:moveTo>
                      <a:pt x="185" y="332"/>
                    </a:moveTo>
                    <a:cubicBezTo>
                      <a:pt x="108" y="332"/>
                      <a:pt x="46" y="269"/>
                      <a:pt x="46" y="193"/>
                    </a:cubicBezTo>
                    <a:cubicBezTo>
                      <a:pt x="46" y="116"/>
                      <a:pt x="108" y="54"/>
                      <a:pt x="185" y="54"/>
                    </a:cubicBezTo>
                    <a:cubicBezTo>
                      <a:pt x="218" y="54"/>
                      <a:pt x="248" y="65"/>
                      <a:pt x="271" y="84"/>
                    </a:cubicBezTo>
                    <a:cubicBezTo>
                      <a:pt x="258" y="99"/>
                      <a:pt x="258" y="99"/>
                      <a:pt x="258" y="99"/>
                    </a:cubicBezTo>
                    <a:cubicBezTo>
                      <a:pt x="238" y="83"/>
                      <a:pt x="212" y="74"/>
                      <a:pt x="185" y="74"/>
                    </a:cubicBezTo>
                    <a:cubicBezTo>
                      <a:pt x="120" y="74"/>
                      <a:pt x="66" y="127"/>
                      <a:pt x="66" y="193"/>
                    </a:cubicBezTo>
                    <a:cubicBezTo>
                      <a:pt x="66" y="258"/>
                      <a:pt x="120" y="311"/>
                      <a:pt x="185" y="311"/>
                    </a:cubicBezTo>
                    <a:cubicBezTo>
                      <a:pt x="251" y="311"/>
                      <a:pt x="304" y="258"/>
                      <a:pt x="304" y="193"/>
                    </a:cubicBezTo>
                    <a:cubicBezTo>
                      <a:pt x="304" y="162"/>
                      <a:pt x="292" y="134"/>
                      <a:pt x="273" y="113"/>
                    </a:cubicBezTo>
                    <a:cubicBezTo>
                      <a:pt x="286" y="97"/>
                      <a:pt x="286" y="97"/>
                      <a:pt x="286" y="97"/>
                    </a:cubicBezTo>
                    <a:cubicBezTo>
                      <a:pt x="310" y="122"/>
                      <a:pt x="324" y="156"/>
                      <a:pt x="324" y="193"/>
                    </a:cubicBezTo>
                    <a:cubicBezTo>
                      <a:pt x="324" y="269"/>
                      <a:pt x="262" y="332"/>
                      <a:pt x="185" y="332"/>
                    </a:cubicBezTo>
                    <a:close/>
                    <a:moveTo>
                      <a:pt x="257" y="193"/>
                    </a:moveTo>
                    <a:cubicBezTo>
                      <a:pt x="257" y="232"/>
                      <a:pt x="225" y="265"/>
                      <a:pt x="185" y="265"/>
                    </a:cubicBezTo>
                    <a:cubicBezTo>
                      <a:pt x="145" y="265"/>
                      <a:pt x="113" y="232"/>
                      <a:pt x="113" y="193"/>
                    </a:cubicBezTo>
                    <a:cubicBezTo>
                      <a:pt x="113" y="153"/>
                      <a:pt x="145" y="121"/>
                      <a:pt x="185" y="121"/>
                    </a:cubicBezTo>
                    <a:cubicBezTo>
                      <a:pt x="197" y="121"/>
                      <a:pt x="207" y="124"/>
                      <a:pt x="217" y="128"/>
                    </a:cubicBezTo>
                    <a:cubicBezTo>
                      <a:pt x="207" y="148"/>
                      <a:pt x="207" y="148"/>
                      <a:pt x="207" y="148"/>
                    </a:cubicBezTo>
                    <a:cubicBezTo>
                      <a:pt x="200" y="145"/>
                      <a:pt x="193" y="143"/>
                      <a:pt x="185" y="143"/>
                    </a:cubicBezTo>
                    <a:cubicBezTo>
                      <a:pt x="158" y="143"/>
                      <a:pt x="135" y="165"/>
                      <a:pt x="135" y="193"/>
                    </a:cubicBezTo>
                    <a:cubicBezTo>
                      <a:pt x="135" y="220"/>
                      <a:pt x="158" y="243"/>
                      <a:pt x="185" y="243"/>
                    </a:cubicBezTo>
                    <a:cubicBezTo>
                      <a:pt x="212" y="243"/>
                      <a:pt x="235" y="220"/>
                      <a:pt x="235" y="193"/>
                    </a:cubicBezTo>
                    <a:cubicBezTo>
                      <a:pt x="235" y="184"/>
                      <a:pt x="233" y="176"/>
                      <a:pt x="229" y="169"/>
                    </a:cubicBezTo>
                    <a:cubicBezTo>
                      <a:pt x="247" y="157"/>
                      <a:pt x="247" y="157"/>
                      <a:pt x="247" y="157"/>
                    </a:cubicBezTo>
                    <a:cubicBezTo>
                      <a:pt x="253" y="167"/>
                      <a:pt x="257" y="180"/>
                      <a:pt x="257" y="193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4162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2" y="0"/>
            <a:ext cx="1581151" cy="1306653"/>
            <a:chOff x="-2" y="5562600"/>
            <a:chExt cx="1581151" cy="1306653"/>
          </a:xfrm>
        </p:grpSpPr>
        <p:sp>
          <p:nvSpPr>
            <p:cNvPr id="3" name="直角三角形 8"/>
            <p:cNvSpPr/>
            <p:nvPr/>
          </p:nvSpPr>
          <p:spPr>
            <a:xfrm flipV="1">
              <a:off x="-2" y="5562600"/>
              <a:ext cx="1581151" cy="1306653"/>
            </a:xfrm>
            <a:custGeom>
              <a:avLst/>
              <a:gdLst>
                <a:gd name="connsiteX0" fmla="*/ 0 w 1596000"/>
                <a:gd name="connsiteY0" fmla="*/ 740842 h 740842"/>
                <a:gd name="connsiteX1" fmla="*/ 0 w 1596000"/>
                <a:gd name="connsiteY1" fmla="*/ 0 h 740842"/>
                <a:gd name="connsiteX2" fmla="*/ 1596000 w 1596000"/>
                <a:gd name="connsiteY2" fmla="*/ 740842 h 740842"/>
                <a:gd name="connsiteX3" fmla="*/ 0 w 1596000"/>
                <a:gd name="connsiteY3" fmla="*/ 740842 h 740842"/>
                <a:gd name="connsiteX0" fmla="*/ 0 w 1519800"/>
                <a:gd name="connsiteY0" fmla="*/ 740842 h 1293292"/>
                <a:gd name="connsiteX1" fmla="*/ 0 w 1519800"/>
                <a:gd name="connsiteY1" fmla="*/ 0 h 1293292"/>
                <a:gd name="connsiteX2" fmla="*/ 1519800 w 1519800"/>
                <a:gd name="connsiteY2" fmla="*/ 1293292 h 1293292"/>
                <a:gd name="connsiteX3" fmla="*/ 0 w 1519800"/>
                <a:gd name="connsiteY3" fmla="*/ 740842 h 129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800" h="1293292">
                  <a:moveTo>
                    <a:pt x="0" y="740842"/>
                  </a:moveTo>
                  <a:lnTo>
                    <a:pt x="0" y="0"/>
                  </a:lnTo>
                  <a:lnTo>
                    <a:pt x="1519800" y="1293292"/>
                  </a:lnTo>
                  <a:lnTo>
                    <a:pt x="0" y="740842"/>
                  </a:lnTo>
                  <a:close/>
                </a:path>
              </a:pathLst>
            </a:custGeom>
            <a:solidFill>
              <a:srgbClr val="59C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直角三角形 8"/>
            <p:cNvSpPr/>
            <p:nvPr/>
          </p:nvSpPr>
          <p:spPr>
            <a:xfrm rot="5400000" flipH="1" flipV="1">
              <a:off x="148633" y="5428776"/>
              <a:ext cx="1293293" cy="1565153"/>
            </a:xfrm>
            <a:custGeom>
              <a:avLst/>
              <a:gdLst>
                <a:gd name="connsiteX0" fmla="*/ 0 w 1596000"/>
                <a:gd name="connsiteY0" fmla="*/ 740842 h 740842"/>
                <a:gd name="connsiteX1" fmla="*/ 0 w 1596000"/>
                <a:gd name="connsiteY1" fmla="*/ 0 h 740842"/>
                <a:gd name="connsiteX2" fmla="*/ 1596000 w 1596000"/>
                <a:gd name="connsiteY2" fmla="*/ 740842 h 740842"/>
                <a:gd name="connsiteX3" fmla="*/ 0 w 1596000"/>
                <a:gd name="connsiteY3" fmla="*/ 740842 h 740842"/>
                <a:gd name="connsiteX0" fmla="*/ 0 w 1519800"/>
                <a:gd name="connsiteY0" fmla="*/ 740842 h 1293292"/>
                <a:gd name="connsiteX1" fmla="*/ 0 w 1519800"/>
                <a:gd name="connsiteY1" fmla="*/ 0 h 1293292"/>
                <a:gd name="connsiteX2" fmla="*/ 1519800 w 1519800"/>
                <a:gd name="connsiteY2" fmla="*/ 1293292 h 1293292"/>
                <a:gd name="connsiteX3" fmla="*/ 0 w 1519800"/>
                <a:gd name="connsiteY3" fmla="*/ 740842 h 129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800" h="1293292">
                  <a:moveTo>
                    <a:pt x="0" y="740842"/>
                  </a:moveTo>
                  <a:lnTo>
                    <a:pt x="0" y="0"/>
                  </a:lnTo>
                  <a:lnTo>
                    <a:pt x="1519800" y="1293292"/>
                  </a:lnTo>
                  <a:lnTo>
                    <a:pt x="0" y="74084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0" y="4428061"/>
            <a:ext cx="12192000" cy="2429939"/>
          </a:xfrm>
          <a:prstGeom prst="rect">
            <a:avLst/>
          </a:prstGeom>
          <a:solidFill>
            <a:srgbClr val="16364F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prstClr val="white"/>
              </a:solidFill>
              <a:ea typeface="宋体"/>
            </a:endParaRPr>
          </a:p>
        </p:txBody>
      </p:sp>
      <p:grpSp>
        <p:nvGrpSpPr>
          <p:cNvPr id="10" name="组 5"/>
          <p:cNvGrpSpPr/>
          <p:nvPr/>
        </p:nvGrpSpPr>
        <p:grpSpPr>
          <a:xfrm>
            <a:off x="1056000" y="2735659"/>
            <a:ext cx="3606465" cy="3424412"/>
            <a:chOff x="682113" y="1083441"/>
            <a:chExt cx="3789484" cy="3598193"/>
          </a:xfrm>
        </p:grpSpPr>
        <p:pic>
          <p:nvPicPr>
            <p:cNvPr id="11" name="图片 10" descr="mac white.png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113" y="1083441"/>
              <a:ext cx="3789484" cy="359819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3571" y="1303842"/>
              <a:ext cx="3292753" cy="1964169"/>
            </a:xfrm>
            <a:prstGeom prst="rect">
              <a:avLst/>
            </a:prstGeom>
          </p:spPr>
        </p:pic>
      </p:grpSp>
      <p:sp>
        <p:nvSpPr>
          <p:cNvPr id="28" name="MH_Text_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963738" y="2377160"/>
            <a:ext cx="5267398" cy="2130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           之前，只能实现和</a:t>
            </a:r>
            <a:r>
              <a:rPr lang="en-US" altLang="zh-CN" dirty="0"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ai</a:t>
            </a:r>
            <a:r>
              <a:rPr lang="zh-CN" altLang="en-US" dirty="0"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进行自然语言对话。</a:t>
            </a:r>
            <a:endParaRPr lang="en-US" altLang="zh-CN" dirty="0">
              <a:latin typeface="Lantinghei SC Extralight" panose="02000000000000000000" pitchFamily="2" charset="-122"/>
              <a:ea typeface="Lantinghei SC Extralight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对话：提问，解答。</a:t>
            </a:r>
            <a:endParaRPr lang="en-US" altLang="zh-CN" dirty="0">
              <a:latin typeface="Lantinghei SC Extralight" panose="02000000000000000000" pitchFamily="2" charset="-122"/>
              <a:ea typeface="Lantinghei SC Extralight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续写：扩展内容</a:t>
            </a:r>
            <a:endParaRPr lang="en-US" altLang="zh-CN" dirty="0">
              <a:latin typeface="Lantinghei SC Extralight" panose="02000000000000000000" pitchFamily="2" charset="-122"/>
              <a:ea typeface="Lantinghei SC Extralight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现在。可以理解自然语言的同时，执行一些操作。</a:t>
            </a:r>
            <a:endParaRPr lang="en-US" altLang="zh-CN" dirty="0">
              <a:latin typeface="Lantinghei SC Extralight" panose="02000000000000000000" pitchFamily="2" charset="-122"/>
              <a:ea typeface="Lantinghei SC Extralight" panose="02000000000000000000" pitchFamily="2" charset="-122"/>
            </a:endParaRPr>
          </a:p>
        </p:txBody>
      </p:sp>
      <p:sp>
        <p:nvSpPr>
          <p:cNvPr id="15" name="MH_Text_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63738" y="4480840"/>
            <a:ext cx="6172261" cy="2008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例：</a:t>
            </a:r>
            <a:endParaRPr lang="en-US" altLang="zh-CN" dirty="0">
              <a:solidFill>
                <a:schemeClr val="bg1"/>
              </a:solidFill>
              <a:latin typeface="Lantinghei SC Extralight" panose="02000000000000000000" pitchFamily="2" charset="-122"/>
              <a:ea typeface="Lantinghei SC Extralight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续写补充日报，并且直接作为记录添加到</a:t>
            </a:r>
            <a:r>
              <a:rPr lang="en-US" altLang="zh-CN" dirty="0" err="1">
                <a:solidFill>
                  <a:schemeClr val="bg1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kintone</a:t>
            </a:r>
            <a:endParaRPr lang="en-US" altLang="zh-CN" dirty="0">
              <a:solidFill>
                <a:schemeClr val="bg1"/>
              </a:solidFill>
              <a:latin typeface="Lantinghei SC Extralight" panose="02000000000000000000" pitchFamily="2" charset="-122"/>
              <a:ea typeface="Lantinghei SC Extralight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将日报信息直接发送邮件给领导</a:t>
            </a:r>
            <a:endParaRPr lang="en-US" altLang="zh-CN" dirty="0">
              <a:solidFill>
                <a:schemeClr val="bg1"/>
              </a:solidFill>
              <a:latin typeface="Lantinghei SC Extralight" panose="02000000000000000000" pitchFamily="2" charset="-122"/>
              <a:ea typeface="Lantinghei SC Extralight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将工作信息直接登记成</a:t>
            </a:r>
            <a:r>
              <a:rPr lang="en-US" altLang="zh-CN" dirty="0" err="1">
                <a:solidFill>
                  <a:schemeClr val="bg1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todolist</a:t>
            </a:r>
            <a:r>
              <a:rPr lang="zh-CN" altLang="en-US" dirty="0">
                <a:solidFill>
                  <a:schemeClr val="bg1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到</a:t>
            </a:r>
            <a:r>
              <a:rPr lang="en-US" altLang="zh-CN" dirty="0" err="1">
                <a:solidFill>
                  <a:schemeClr val="bg1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kintone</a:t>
            </a:r>
            <a:r>
              <a:rPr lang="zh-CN" altLang="en-US" dirty="0">
                <a:solidFill>
                  <a:schemeClr val="bg1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获取其他系统等。</a:t>
            </a:r>
          </a:p>
          <a:p>
            <a:pPr algn="just">
              <a:lnSpc>
                <a:spcPct val="150000"/>
              </a:lnSpc>
              <a:defRPr/>
            </a:pPr>
            <a:endParaRPr lang="en-US" altLang="zh-CN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667706" y="294809"/>
            <a:ext cx="62779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58595B"/>
                </a:solidFill>
                <a:latin typeface="Agency FB" panose="020B0503020202020204" pitchFamily="34" charset="0"/>
              </a:rPr>
              <a:t>function</a:t>
            </a:r>
            <a:r>
              <a:rPr lang="zh-CN" altLang="en-US" sz="4000" dirty="0">
                <a:solidFill>
                  <a:srgbClr val="58595B"/>
                </a:solidFill>
                <a:latin typeface="Agency FB" panose="020B0503020202020204" pitchFamily="34" charset="0"/>
              </a:rPr>
              <a:t> </a:t>
            </a:r>
            <a:r>
              <a:rPr lang="en-US" altLang="zh-CN" sz="4000" dirty="0">
                <a:solidFill>
                  <a:srgbClr val="58595B"/>
                </a:solidFill>
                <a:latin typeface="Agency FB" panose="020B0503020202020204" pitchFamily="34" charset="0"/>
              </a:rPr>
              <a:t>calling</a:t>
            </a:r>
            <a:r>
              <a:rPr lang="zh-CN" altLang="en-US" sz="4000" dirty="0">
                <a:solidFill>
                  <a:srgbClr val="58595B"/>
                </a:solidFill>
                <a:latin typeface="Agency FB" panose="020B0503020202020204" pitchFamily="34" charset="0"/>
              </a:rPr>
              <a:t>的具体含义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5139589" y="2409860"/>
            <a:ext cx="416411" cy="382998"/>
            <a:chOff x="8374817" y="3976831"/>
            <a:chExt cx="719115" cy="661413"/>
          </a:xfrm>
        </p:grpSpPr>
        <p:sp>
          <p:nvSpPr>
            <p:cNvPr id="18" name="Freeform 44"/>
            <p:cNvSpPr>
              <a:spLocks/>
            </p:cNvSpPr>
            <p:nvPr/>
          </p:nvSpPr>
          <p:spPr bwMode="auto">
            <a:xfrm>
              <a:off x="9018919" y="4072040"/>
              <a:ext cx="75013" cy="68522"/>
            </a:xfrm>
            <a:custGeom>
              <a:avLst/>
              <a:gdLst>
                <a:gd name="T0" fmla="*/ 28 w 44"/>
                <a:gd name="T1" fmla="*/ 11 h 40"/>
                <a:gd name="T2" fmla="*/ 0 w 44"/>
                <a:gd name="T3" fmla="*/ 18 h 40"/>
                <a:gd name="T4" fmla="*/ 31 w 44"/>
                <a:gd name="T5" fmla="*/ 40 h 40"/>
                <a:gd name="T6" fmla="*/ 28 w 44"/>
                <a:gd name="T7" fmla="*/ 1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40">
                  <a:moveTo>
                    <a:pt x="28" y="11"/>
                  </a:moveTo>
                  <a:cubicBezTo>
                    <a:pt x="13" y="0"/>
                    <a:pt x="0" y="18"/>
                    <a:pt x="0" y="18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44" y="22"/>
                    <a:pt x="28" y="11"/>
                  </a:cubicBez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45"/>
            <p:cNvSpPr>
              <a:spLocks/>
            </p:cNvSpPr>
            <p:nvPr/>
          </p:nvSpPr>
          <p:spPr bwMode="auto">
            <a:xfrm>
              <a:off x="8831387" y="4116759"/>
              <a:ext cx="230088" cy="284184"/>
            </a:xfrm>
            <a:custGeom>
              <a:avLst/>
              <a:gdLst>
                <a:gd name="T0" fmla="*/ 187 w 319"/>
                <a:gd name="T1" fmla="*/ 85 h 394"/>
                <a:gd name="T2" fmla="*/ 156 w 319"/>
                <a:gd name="T3" fmla="*/ 125 h 394"/>
                <a:gd name="T4" fmla="*/ 104 w 319"/>
                <a:gd name="T5" fmla="*/ 198 h 394"/>
                <a:gd name="T6" fmla="*/ 0 w 319"/>
                <a:gd name="T7" fmla="*/ 342 h 394"/>
                <a:gd name="T8" fmla="*/ 74 w 319"/>
                <a:gd name="T9" fmla="*/ 394 h 394"/>
                <a:gd name="T10" fmla="*/ 104 w 319"/>
                <a:gd name="T11" fmla="*/ 352 h 394"/>
                <a:gd name="T12" fmla="*/ 130 w 319"/>
                <a:gd name="T13" fmla="*/ 314 h 394"/>
                <a:gd name="T14" fmla="*/ 156 w 319"/>
                <a:gd name="T15" fmla="*/ 276 h 394"/>
                <a:gd name="T16" fmla="*/ 319 w 319"/>
                <a:gd name="T17" fmla="*/ 52 h 394"/>
                <a:gd name="T18" fmla="*/ 248 w 319"/>
                <a:gd name="T19" fmla="*/ 0 h 394"/>
                <a:gd name="T20" fmla="*/ 187 w 319"/>
                <a:gd name="T21" fmla="*/ 8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9" h="394">
                  <a:moveTo>
                    <a:pt x="187" y="85"/>
                  </a:moveTo>
                  <a:lnTo>
                    <a:pt x="156" y="125"/>
                  </a:lnTo>
                  <a:lnTo>
                    <a:pt x="104" y="198"/>
                  </a:lnTo>
                  <a:lnTo>
                    <a:pt x="0" y="342"/>
                  </a:lnTo>
                  <a:lnTo>
                    <a:pt x="74" y="394"/>
                  </a:lnTo>
                  <a:lnTo>
                    <a:pt x="104" y="352"/>
                  </a:lnTo>
                  <a:lnTo>
                    <a:pt x="130" y="314"/>
                  </a:lnTo>
                  <a:lnTo>
                    <a:pt x="156" y="276"/>
                  </a:lnTo>
                  <a:lnTo>
                    <a:pt x="319" y="52"/>
                  </a:lnTo>
                  <a:lnTo>
                    <a:pt x="248" y="0"/>
                  </a:lnTo>
                  <a:lnTo>
                    <a:pt x="187" y="85"/>
                  </a:lnTo>
                  <a:close/>
                </a:path>
              </a:pathLst>
            </a:custGeom>
            <a:solidFill>
              <a:srgbClr val="59C3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46"/>
            <p:cNvSpPr>
              <a:spLocks/>
            </p:cNvSpPr>
            <p:nvPr/>
          </p:nvSpPr>
          <p:spPr bwMode="auto">
            <a:xfrm>
              <a:off x="8374817" y="3976831"/>
              <a:ext cx="569090" cy="661413"/>
            </a:xfrm>
            <a:custGeom>
              <a:avLst/>
              <a:gdLst>
                <a:gd name="T0" fmla="*/ 312 w 334"/>
                <a:gd name="T1" fmla="*/ 348 h 388"/>
                <a:gd name="T2" fmla="*/ 293 w 334"/>
                <a:gd name="T3" fmla="*/ 366 h 388"/>
                <a:gd name="T4" fmla="*/ 40 w 334"/>
                <a:gd name="T5" fmla="*/ 366 h 388"/>
                <a:gd name="T6" fmla="*/ 22 w 334"/>
                <a:gd name="T7" fmla="*/ 348 h 388"/>
                <a:gd name="T8" fmla="*/ 22 w 334"/>
                <a:gd name="T9" fmla="*/ 41 h 388"/>
                <a:gd name="T10" fmla="*/ 40 w 334"/>
                <a:gd name="T11" fmla="*/ 23 h 388"/>
                <a:gd name="T12" fmla="*/ 293 w 334"/>
                <a:gd name="T13" fmla="*/ 23 h 388"/>
                <a:gd name="T14" fmla="*/ 312 w 334"/>
                <a:gd name="T15" fmla="*/ 41 h 388"/>
                <a:gd name="T16" fmla="*/ 312 w 334"/>
                <a:gd name="T17" fmla="*/ 140 h 388"/>
                <a:gd name="T18" fmla="*/ 334 w 334"/>
                <a:gd name="T19" fmla="*/ 109 h 388"/>
                <a:gd name="T20" fmla="*/ 334 w 334"/>
                <a:gd name="T21" fmla="*/ 21 h 388"/>
                <a:gd name="T22" fmla="*/ 313 w 334"/>
                <a:gd name="T23" fmla="*/ 0 h 388"/>
                <a:gd name="T24" fmla="*/ 21 w 334"/>
                <a:gd name="T25" fmla="*/ 0 h 388"/>
                <a:gd name="T26" fmla="*/ 0 w 334"/>
                <a:gd name="T27" fmla="*/ 21 h 388"/>
                <a:gd name="T28" fmla="*/ 0 w 334"/>
                <a:gd name="T29" fmla="*/ 368 h 388"/>
                <a:gd name="T30" fmla="*/ 21 w 334"/>
                <a:gd name="T31" fmla="*/ 388 h 388"/>
                <a:gd name="T32" fmla="*/ 313 w 334"/>
                <a:gd name="T33" fmla="*/ 388 h 388"/>
                <a:gd name="T34" fmla="*/ 334 w 334"/>
                <a:gd name="T35" fmla="*/ 368 h 388"/>
                <a:gd name="T36" fmla="*/ 334 w 334"/>
                <a:gd name="T37" fmla="*/ 223 h 388"/>
                <a:gd name="T38" fmla="*/ 312 w 334"/>
                <a:gd name="T39" fmla="*/ 254 h 388"/>
                <a:gd name="T40" fmla="*/ 312 w 334"/>
                <a:gd name="T41" fmla="*/ 348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4" h="388">
                  <a:moveTo>
                    <a:pt x="312" y="348"/>
                  </a:moveTo>
                  <a:cubicBezTo>
                    <a:pt x="312" y="358"/>
                    <a:pt x="303" y="366"/>
                    <a:pt x="293" y="366"/>
                  </a:cubicBezTo>
                  <a:cubicBezTo>
                    <a:pt x="40" y="366"/>
                    <a:pt x="40" y="366"/>
                    <a:pt x="40" y="366"/>
                  </a:cubicBezTo>
                  <a:cubicBezTo>
                    <a:pt x="30" y="366"/>
                    <a:pt x="22" y="358"/>
                    <a:pt x="22" y="348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2" y="31"/>
                    <a:pt x="30" y="23"/>
                    <a:pt x="40" y="23"/>
                  </a:cubicBezTo>
                  <a:cubicBezTo>
                    <a:pt x="293" y="23"/>
                    <a:pt x="293" y="23"/>
                    <a:pt x="293" y="23"/>
                  </a:cubicBezTo>
                  <a:cubicBezTo>
                    <a:pt x="303" y="23"/>
                    <a:pt x="312" y="31"/>
                    <a:pt x="312" y="41"/>
                  </a:cubicBezTo>
                  <a:cubicBezTo>
                    <a:pt x="312" y="140"/>
                    <a:pt x="312" y="140"/>
                    <a:pt x="312" y="140"/>
                  </a:cubicBezTo>
                  <a:cubicBezTo>
                    <a:pt x="334" y="109"/>
                    <a:pt x="334" y="109"/>
                    <a:pt x="334" y="109"/>
                  </a:cubicBezTo>
                  <a:cubicBezTo>
                    <a:pt x="334" y="21"/>
                    <a:pt x="334" y="21"/>
                    <a:pt x="334" y="21"/>
                  </a:cubicBezTo>
                  <a:cubicBezTo>
                    <a:pt x="334" y="10"/>
                    <a:pt x="325" y="0"/>
                    <a:pt x="313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10"/>
                    <a:pt x="0" y="21"/>
                  </a:cubicBezTo>
                  <a:cubicBezTo>
                    <a:pt x="0" y="368"/>
                    <a:pt x="0" y="368"/>
                    <a:pt x="0" y="368"/>
                  </a:cubicBezTo>
                  <a:cubicBezTo>
                    <a:pt x="0" y="379"/>
                    <a:pt x="9" y="388"/>
                    <a:pt x="21" y="388"/>
                  </a:cubicBezTo>
                  <a:cubicBezTo>
                    <a:pt x="313" y="388"/>
                    <a:pt x="313" y="388"/>
                    <a:pt x="313" y="388"/>
                  </a:cubicBezTo>
                  <a:cubicBezTo>
                    <a:pt x="325" y="388"/>
                    <a:pt x="334" y="379"/>
                    <a:pt x="334" y="368"/>
                  </a:cubicBezTo>
                  <a:cubicBezTo>
                    <a:pt x="334" y="223"/>
                    <a:pt x="334" y="223"/>
                    <a:pt x="334" y="223"/>
                  </a:cubicBezTo>
                  <a:cubicBezTo>
                    <a:pt x="312" y="254"/>
                    <a:pt x="312" y="254"/>
                    <a:pt x="312" y="254"/>
                  </a:cubicBezTo>
                  <a:lnTo>
                    <a:pt x="312" y="348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47"/>
            <p:cNvSpPr>
              <a:spLocks/>
            </p:cNvSpPr>
            <p:nvPr/>
          </p:nvSpPr>
          <p:spPr bwMode="auto">
            <a:xfrm>
              <a:off x="8806142" y="4377142"/>
              <a:ext cx="67800" cy="77177"/>
            </a:xfrm>
            <a:custGeom>
              <a:avLst/>
              <a:gdLst>
                <a:gd name="T0" fmla="*/ 21 w 94"/>
                <a:gd name="T1" fmla="*/ 0 h 107"/>
                <a:gd name="T2" fmla="*/ 0 w 94"/>
                <a:gd name="T3" fmla="*/ 107 h 107"/>
                <a:gd name="T4" fmla="*/ 94 w 94"/>
                <a:gd name="T5" fmla="*/ 52 h 107"/>
                <a:gd name="T6" fmla="*/ 21 w 94"/>
                <a:gd name="T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" h="107">
                  <a:moveTo>
                    <a:pt x="21" y="0"/>
                  </a:moveTo>
                  <a:lnTo>
                    <a:pt x="0" y="107"/>
                  </a:lnTo>
                  <a:lnTo>
                    <a:pt x="94" y="5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Rectangle 48"/>
            <p:cNvSpPr>
              <a:spLocks noChangeArrowheads="1"/>
            </p:cNvSpPr>
            <p:nvPr/>
          </p:nvSpPr>
          <p:spPr bwMode="auto">
            <a:xfrm>
              <a:off x="8459928" y="4504808"/>
              <a:ext cx="228646" cy="34621"/>
            </a:xfrm>
            <a:prstGeom prst="rect">
              <a:avLst/>
            </a:prstGeom>
            <a:solidFill>
              <a:srgbClr val="59C3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Rectangle 49"/>
            <p:cNvSpPr>
              <a:spLocks noChangeArrowheads="1"/>
            </p:cNvSpPr>
            <p:nvPr/>
          </p:nvSpPr>
          <p:spPr bwMode="auto">
            <a:xfrm>
              <a:off x="8459928" y="4428352"/>
              <a:ext cx="228646" cy="33900"/>
            </a:xfrm>
            <a:prstGeom prst="rect">
              <a:avLst/>
            </a:prstGeom>
            <a:solidFill>
              <a:srgbClr val="59C3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Rectangle 50"/>
            <p:cNvSpPr>
              <a:spLocks noChangeArrowheads="1"/>
            </p:cNvSpPr>
            <p:nvPr/>
          </p:nvSpPr>
          <p:spPr bwMode="auto">
            <a:xfrm>
              <a:off x="8459928" y="4354782"/>
              <a:ext cx="228646" cy="32458"/>
            </a:xfrm>
            <a:prstGeom prst="rect">
              <a:avLst/>
            </a:prstGeom>
            <a:solidFill>
              <a:srgbClr val="59C3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Rectangle 51"/>
            <p:cNvSpPr>
              <a:spLocks noChangeArrowheads="1"/>
            </p:cNvSpPr>
            <p:nvPr/>
          </p:nvSpPr>
          <p:spPr bwMode="auto">
            <a:xfrm>
              <a:off x="8459928" y="4278326"/>
              <a:ext cx="228646" cy="32458"/>
            </a:xfrm>
            <a:prstGeom prst="rect">
              <a:avLst/>
            </a:prstGeom>
            <a:solidFill>
              <a:srgbClr val="59C3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Rectangle 52"/>
            <p:cNvSpPr>
              <a:spLocks noChangeArrowheads="1"/>
            </p:cNvSpPr>
            <p:nvPr/>
          </p:nvSpPr>
          <p:spPr bwMode="auto">
            <a:xfrm>
              <a:off x="8459928" y="4201870"/>
              <a:ext cx="228646" cy="33900"/>
            </a:xfrm>
            <a:prstGeom prst="rect">
              <a:avLst/>
            </a:prstGeom>
            <a:solidFill>
              <a:srgbClr val="59C3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Rectangle 53"/>
            <p:cNvSpPr>
              <a:spLocks noChangeArrowheads="1"/>
            </p:cNvSpPr>
            <p:nvPr/>
          </p:nvSpPr>
          <p:spPr bwMode="auto">
            <a:xfrm>
              <a:off x="8459928" y="4124694"/>
              <a:ext cx="228646" cy="34621"/>
            </a:xfrm>
            <a:prstGeom prst="rect">
              <a:avLst/>
            </a:prstGeom>
            <a:solidFill>
              <a:srgbClr val="59C3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99813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98AAB7AB-31A9-70FC-6CA1-FB0CB931622F}"/>
              </a:ext>
            </a:extLst>
          </p:cNvPr>
          <p:cNvGrpSpPr/>
          <p:nvPr/>
        </p:nvGrpSpPr>
        <p:grpSpPr>
          <a:xfrm>
            <a:off x="-2" y="0"/>
            <a:ext cx="1581151" cy="1306653"/>
            <a:chOff x="-2" y="5562600"/>
            <a:chExt cx="1581151" cy="1306653"/>
          </a:xfrm>
        </p:grpSpPr>
        <p:sp>
          <p:nvSpPr>
            <p:cNvPr id="7" name="直角三角形 8">
              <a:extLst>
                <a:ext uri="{FF2B5EF4-FFF2-40B4-BE49-F238E27FC236}">
                  <a16:creationId xmlns:a16="http://schemas.microsoft.com/office/drawing/2014/main" id="{3A6C9325-ED6B-1587-C1C8-571AB5D03A7D}"/>
                </a:ext>
              </a:extLst>
            </p:cNvPr>
            <p:cNvSpPr/>
            <p:nvPr/>
          </p:nvSpPr>
          <p:spPr>
            <a:xfrm flipV="1">
              <a:off x="-2" y="5562600"/>
              <a:ext cx="1581151" cy="1306653"/>
            </a:xfrm>
            <a:custGeom>
              <a:avLst/>
              <a:gdLst>
                <a:gd name="connsiteX0" fmla="*/ 0 w 1596000"/>
                <a:gd name="connsiteY0" fmla="*/ 740842 h 740842"/>
                <a:gd name="connsiteX1" fmla="*/ 0 w 1596000"/>
                <a:gd name="connsiteY1" fmla="*/ 0 h 740842"/>
                <a:gd name="connsiteX2" fmla="*/ 1596000 w 1596000"/>
                <a:gd name="connsiteY2" fmla="*/ 740842 h 740842"/>
                <a:gd name="connsiteX3" fmla="*/ 0 w 1596000"/>
                <a:gd name="connsiteY3" fmla="*/ 740842 h 740842"/>
                <a:gd name="connsiteX0" fmla="*/ 0 w 1519800"/>
                <a:gd name="connsiteY0" fmla="*/ 740842 h 1293292"/>
                <a:gd name="connsiteX1" fmla="*/ 0 w 1519800"/>
                <a:gd name="connsiteY1" fmla="*/ 0 h 1293292"/>
                <a:gd name="connsiteX2" fmla="*/ 1519800 w 1519800"/>
                <a:gd name="connsiteY2" fmla="*/ 1293292 h 1293292"/>
                <a:gd name="connsiteX3" fmla="*/ 0 w 1519800"/>
                <a:gd name="connsiteY3" fmla="*/ 740842 h 129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800" h="1293292">
                  <a:moveTo>
                    <a:pt x="0" y="740842"/>
                  </a:moveTo>
                  <a:lnTo>
                    <a:pt x="0" y="0"/>
                  </a:lnTo>
                  <a:lnTo>
                    <a:pt x="1519800" y="1293292"/>
                  </a:lnTo>
                  <a:lnTo>
                    <a:pt x="0" y="740842"/>
                  </a:lnTo>
                  <a:close/>
                </a:path>
              </a:pathLst>
            </a:custGeom>
            <a:solidFill>
              <a:srgbClr val="59C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直角三角形 8">
              <a:extLst>
                <a:ext uri="{FF2B5EF4-FFF2-40B4-BE49-F238E27FC236}">
                  <a16:creationId xmlns:a16="http://schemas.microsoft.com/office/drawing/2014/main" id="{1171E616-C1F7-7455-E196-890B853368F1}"/>
                </a:ext>
              </a:extLst>
            </p:cNvPr>
            <p:cNvSpPr/>
            <p:nvPr/>
          </p:nvSpPr>
          <p:spPr>
            <a:xfrm rot="5400000" flipH="1" flipV="1">
              <a:off x="148633" y="5428776"/>
              <a:ext cx="1293293" cy="1565153"/>
            </a:xfrm>
            <a:custGeom>
              <a:avLst/>
              <a:gdLst>
                <a:gd name="connsiteX0" fmla="*/ 0 w 1596000"/>
                <a:gd name="connsiteY0" fmla="*/ 740842 h 740842"/>
                <a:gd name="connsiteX1" fmla="*/ 0 w 1596000"/>
                <a:gd name="connsiteY1" fmla="*/ 0 h 740842"/>
                <a:gd name="connsiteX2" fmla="*/ 1596000 w 1596000"/>
                <a:gd name="connsiteY2" fmla="*/ 740842 h 740842"/>
                <a:gd name="connsiteX3" fmla="*/ 0 w 1596000"/>
                <a:gd name="connsiteY3" fmla="*/ 740842 h 740842"/>
                <a:gd name="connsiteX0" fmla="*/ 0 w 1519800"/>
                <a:gd name="connsiteY0" fmla="*/ 740842 h 1293292"/>
                <a:gd name="connsiteX1" fmla="*/ 0 w 1519800"/>
                <a:gd name="connsiteY1" fmla="*/ 0 h 1293292"/>
                <a:gd name="connsiteX2" fmla="*/ 1519800 w 1519800"/>
                <a:gd name="connsiteY2" fmla="*/ 1293292 h 1293292"/>
                <a:gd name="connsiteX3" fmla="*/ 0 w 1519800"/>
                <a:gd name="connsiteY3" fmla="*/ 740842 h 129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800" h="1293292">
                  <a:moveTo>
                    <a:pt x="0" y="740842"/>
                  </a:moveTo>
                  <a:lnTo>
                    <a:pt x="0" y="0"/>
                  </a:lnTo>
                  <a:lnTo>
                    <a:pt x="1519800" y="1293292"/>
                  </a:lnTo>
                  <a:lnTo>
                    <a:pt x="0" y="74084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C1A3AE72-1E3B-9D46-BE6A-D77B931E5BA9}"/>
              </a:ext>
            </a:extLst>
          </p:cNvPr>
          <p:cNvSpPr/>
          <p:nvPr/>
        </p:nvSpPr>
        <p:spPr>
          <a:xfrm>
            <a:off x="1667706" y="294809"/>
            <a:ext cx="58682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58595B"/>
                </a:solidFill>
                <a:latin typeface="Agency FB" panose="020B0503020202020204" pitchFamily="34" charset="0"/>
              </a:rPr>
              <a:t>Function calling</a:t>
            </a:r>
            <a:r>
              <a:rPr lang="zh-CN" altLang="en-US" sz="4000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的</a:t>
            </a:r>
            <a:r>
              <a:rPr lang="en-US" altLang="zh-CN" sz="4000" dirty="0" err="1">
                <a:solidFill>
                  <a:srgbClr val="58595B"/>
                </a:solidFill>
                <a:latin typeface="Agency FB" panose="020B0503020202020204" pitchFamily="34" charset="0"/>
              </a:rPr>
              <a:t>api</a:t>
            </a:r>
            <a:r>
              <a:rPr lang="zh-CN" altLang="en-US" sz="4000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接口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3D2C507-3CE1-D666-E982-1F7C512F8294}"/>
              </a:ext>
            </a:extLst>
          </p:cNvPr>
          <p:cNvSpPr txBox="1"/>
          <p:nvPr/>
        </p:nvSpPr>
        <p:spPr>
          <a:xfrm>
            <a:off x="2895599" y="1455221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58595B"/>
                </a:solidFill>
              </a:rPr>
              <a:t>https://cloud.baidu.com/doc/WENXINWORKSHOP/s/jlil56u11</a:t>
            </a:r>
          </a:p>
        </p:txBody>
      </p:sp>
      <p:pic>
        <p:nvPicPr>
          <p:cNvPr id="4" name="内容占位符 4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094E1A59-BED7-55A6-4128-DD18E15BA5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34717" y="2227577"/>
            <a:ext cx="7322565" cy="4246071"/>
          </a:xfrm>
        </p:spPr>
      </p:pic>
    </p:spTree>
    <p:extLst>
      <p:ext uri="{BB962C8B-B14F-4D97-AF65-F5344CB8AC3E}">
        <p14:creationId xmlns:p14="http://schemas.microsoft.com/office/powerpoint/2010/main" val="2015908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98AAB7AB-31A9-70FC-6CA1-FB0CB931622F}"/>
              </a:ext>
            </a:extLst>
          </p:cNvPr>
          <p:cNvGrpSpPr/>
          <p:nvPr/>
        </p:nvGrpSpPr>
        <p:grpSpPr>
          <a:xfrm>
            <a:off x="-2" y="0"/>
            <a:ext cx="1581151" cy="1306653"/>
            <a:chOff x="-2" y="5562600"/>
            <a:chExt cx="1581151" cy="1306653"/>
          </a:xfrm>
        </p:grpSpPr>
        <p:sp>
          <p:nvSpPr>
            <p:cNvPr id="7" name="直角三角形 8">
              <a:extLst>
                <a:ext uri="{FF2B5EF4-FFF2-40B4-BE49-F238E27FC236}">
                  <a16:creationId xmlns:a16="http://schemas.microsoft.com/office/drawing/2014/main" id="{3A6C9325-ED6B-1587-C1C8-571AB5D03A7D}"/>
                </a:ext>
              </a:extLst>
            </p:cNvPr>
            <p:cNvSpPr/>
            <p:nvPr/>
          </p:nvSpPr>
          <p:spPr>
            <a:xfrm flipV="1">
              <a:off x="-2" y="5562600"/>
              <a:ext cx="1581151" cy="1306653"/>
            </a:xfrm>
            <a:custGeom>
              <a:avLst/>
              <a:gdLst>
                <a:gd name="connsiteX0" fmla="*/ 0 w 1596000"/>
                <a:gd name="connsiteY0" fmla="*/ 740842 h 740842"/>
                <a:gd name="connsiteX1" fmla="*/ 0 w 1596000"/>
                <a:gd name="connsiteY1" fmla="*/ 0 h 740842"/>
                <a:gd name="connsiteX2" fmla="*/ 1596000 w 1596000"/>
                <a:gd name="connsiteY2" fmla="*/ 740842 h 740842"/>
                <a:gd name="connsiteX3" fmla="*/ 0 w 1596000"/>
                <a:gd name="connsiteY3" fmla="*/ 740842 h 740842"/>
                <a:gd name="connsiteX0" fmla="*/ 0 w 1519800"/>
                <a:gd name="connsiteY0" fmla="*/ 740842 h 1293292"/>
                <a:gd name="connsiteX1" fmla="*/ 0 w 1519800"/>
                <a:gd name="connsiteY1" fmla="*/ 0 h 1293292"/>
                <a:gd name="connsiteX2" fmla="*/ 1519800 w 1519800"/>
                <a:gd name="connsiteY2" fmla="*/ 1293292 h 1293292"/>
                <a:gd name="connsiteX3" fmla="*/ 0 w 1519800"/>
                <a:gd name="connsiteY3" fmla="*/ 740842 h 129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800" h="1293292">
                  <a:moveTo>
                    <a:pt x="0" y="740842"/>
                  </a:moveTo>
                  <a:lnTo>
                    <a:pt x="0" y="0"/>
                  </a:lnTo>
                  <a:lnTo>
                    <a:pt x="1519800" y="1293292"/>
                  </a:lnTo>
                  <a:lnTo>
                    <a:pt x="0" y="740842"/>
                  </a:lnTo>
                  <a:close/>
                </a:path>
              </a:pathLst>
            </a:custGeom>
            <a:solidFill>
              <a:srgbClr val="59C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直角三角形 8">
              <a:extLst>
                <a:ext uri="{FF2B5EF4-FFF2-40B4-BE49-F238E27FC236}">
                  <a16:creationId xmlns:a16="http://schemas.microsoft.com/office/drawing/2014/main" id="{1171E616-C1F7-7455-E196-890B853368F1}"/>
                </a:ext>
              </a:extLst>
            </p:cNvPr>
            <p:cNvSpPr/>
            <p:nvPr/>
          </p:nvSpPr>
          <p:spPr>
            <a:xfrm rot="5400000" flipH="1" flipV="1">
              <a:off x="148633" y="5428776"/>
              <a:ext cx="1293293" cy="1565153"/>
            </a:xfrm>
            <a:custGeom>
              <a:avLst/>
              <a:gdLst>
                <a:gd name="connsiteX0" fmla="*/ 0 w 1596000"/>
                <a:gd name="connsiteY0" fmla="*/ 740842 h 740842"/>
                <a:gd name="connsiteX1" fmla="*/ 0 w 1596000"/>
                <a:gd name="connsiteY1" fmla="*/ 0 h 740842"/>
                <a:gd name="connsiteX2" fmla="*/ 1596000 w 1596000"/>
                <a:gd name="connsiteY2" fmla="*/ 740842 h 740842"/>
                <a:gd name="connsiteX3" fmla="*/ 0 w 1596000"/>
                <a:gd name="connsiteY3" fmla="*/ 740842 h 740842"/>
                <a:gd name="connsiteX0" fmla="*/ 0 w 1519800"/>
                <a:gd name="connsiteY0" fmla="*/ 740842 h 1293292"/>
                <a:gd name="connsiteX1" fmla="*/ 0 w 1519800"/>
                <a:gd name="connsiteY1" fmla="*/ 0 h 1293292"/>
                <a:gd name="connsiteX2" fmla="*/ 1519800 w 1519800"/>
                <a:gd name="connsiteY2" fmla="*/ 1293292 h 1293292"/>
                <a:gd name="connsiteX3" fmla="*/ 0 w 1519800"/>
                <a:gd name="connsiteY3" fmla="*/ 740842 h 129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800" h="1293292">
                  <a:moveTo>
                    <a:pt x="0" y="740842"/>
                  </a:moveTo>
                  <a:lnTo>
                    <a:pt x="0" y="0"/>
                  </a:lnTo>
                  <a:lnTo>
                    <a:pt x="1519800" y="1293292"/>
                  </a:lnTo>
                  <a:lnTo>
                    <a:pt x="0" y="74084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C1A3AE72-1E3B-9D46-BE6A-D77B931E5BA9}"/>
              </a:ext>
            </a:extLst>
          </p:cNvPr>
          <p:cNvSpPr/>
          <p:nvPr/>
        </p:nvSpPr>
        <p:spPr>
          <a:xfrm>
            <a:off x="1667706" y="294809"/>
            <a:ext cx="58682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4000" dirty="0">
                <a:solidFill>
                  <a:srgbClr val="58595B"/>
                </a:solidFill>
                <a:latin typeface="Agency FB" panose="020B0503020202020204" pitchFamily="34" charset="0"/>
              </a:rPr>
              <a:t>function_call</a:t>
            </a:r>
            <a:r>
              <a:rPr lang="zh-CN" altLang="en-US" sz="4000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说明</a:t>
            </a:r>
          </a:p>
        </p:txBody>
      </p:sp>
      <p:graphicFrame>
        <p:nvGraphicFramePr>
          <p:cNvPr id="10" name="内容占位符 3">
            <a:extLst>
              <a:ext uri="{FF2B5EF4-FFF2-40B4-BE49-F238E27FC236}">
                <a16:creationId xmlns:a16="http://schemas.microsoft.com/office/drawing/2014/main" id="{29D1BF42-7476-F63F-CE33-9880DE4830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2581950"/>
              </p:ext>
            </p:extLst>
          </p:nvPr>
        </p:nvGraphicFramePr>
        <p:xfrm>
          <a:off x="1776000" y="2169000"/>
          <a:ext cx="9037800" cy="2839247"/>
        </p:xfrm>
        <a:graphic>
          <a:graphicData uri="http://schemas.openxmlformats.org/drawingml/2006/table">
            <a:tbl>
              <a:tblPr/>
              <a:tblGrid>
                <a:gridCol w="3012600">
                  <a:extLst>
                    <a:ext uri="{9D8B030D-6E8A-4147-A177-3AD203B41FA5}">
                      <a16:colId xmlns:a16="http://schemas.microsoft.com/office/drawing/2014/main" val="1115065839"/>
                    </a:ext>
                  </a:extLst>
                </a:gridCol>
                <a:gridCol w="3012600">
                  <a:extLst>
                    <a:ext uri="{9D8B030D-6E8A-4147-A177-3AD203B41FA5}">
                      <a16:colId xmlns:a16="http://schemas.microsoft.com/office/drawing/2014/main" val="3042090513"/>
                    </a:ext>
                  </a:extLst>
                </a:gridCol>
                <a:gridCol w="3012600">
                  <a:extLst>
                    <a:ext uri="{9D8B030D-6E8A-4147-A177-3AD203B41FA5}">
                      <a16:colId xmlns:a16="http://schemas.microsoft.com/office/drawing/2014/main" val="4042109292"/>
                    </a:ext>
                  </a:extLst>
                </a:gridCol>
              </a:tblGrid>
              <a:tr h="800813"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b="1" i="0" dirty="0">
                          <a:solidFill>
                            <a:schemeClr val="bg1"/>
                          </a:solidFill>
                          <a:effectLst/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名称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C3E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b="1" i="0" dirty="0">
                          <a:solidFill>
                            <a:schemeClr val="bg1"/>
                          </a:solidFill>
                          <a:effectLst/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类型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C3E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b="1" i="0" dirty="0">
                          <a:solidFill>
                            <a:schemeClr val="bg1"/>
                          </a:solidFill>
                          <a:effectLst/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描述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763172"/>
                  </a:ext>
                </a:extLst>
              </a:tr>
              <a:tr h="679478">
                <a:tc>
                  <a:txBody>
                    <a:bodyPr/>
                    <a:lstStyle/>
                    <a:p>
                      <a:pPr algn="l" latinLnBrk="1"/>
                      <a:r>
                        <a:rPr lang="en" b="0">
                          <a:effectLst/>
                          <a:latin typeface="PingFangSC-Regular" panose="020B0400000000000000" pitchFamily="34" charset="-122"/>
                          <a:ea typeface="PingFangSC-Regular" panose="020B0400000000000000" pitchFamily="34" charset="-122"/>
                        </a:rPr>
                        <a:t>name</a:t>
                      </a:r>
                    </a:p>
                  </a:txBody>
                  <a:tcPr marL="1143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" b="0" dirty="0">
                          <a:effectLst/>
                          <a:latin typeface="PingFangSC-Regular" panose="020B0400000000000000" pitchFamily="34" charset="-122"/>
                          <a:ea typeface="PingFangSC-Regular" panose="020B0400000000000000" pitchFamily="34" charset="-122"/>
                        </a:rPr>
                        <a:t>string</a:t>
                      </a:r>
                    </a:p>
                  </a:txBody>
                  <a:tcPr marL="1143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b="0" dirty="0">
                          <a:effectLst/>
                          <a:latin typeface="PingFangSC-Regular" panose="020B0400000000000000" pitchFamily="34" charset="-122"/>
                          <a:ea typeface="PingFangSC-Regular" panose="020B0400000000000000" pitchFamily="34" charset="-122"/>
                        </a:rPr>
                        <a:t>触发的</a:t>
                      </a:r>
                      <a:r>
                        <a:rPr lang="en" b="0" dirty="0">
                          <a:effectLst/>
                          <a:latin typeface="PingFangSC-Regular" panose="020B0400000000000000" pitchFamily="34" charset="-122"/>
                          <a:ea typeface="PingFangSC-Regular" panose="020B0400000000000000" pitchFamily="34" charset="-122"/>
                        </a:rPr>
                        <a:t>function</a:t>
                      </a:r>
                      <a:r>
                        <a:rPr lang="zh-CN" altLang="en-US" b="0" dirty="0">
                          <a:effectLst/>
                          <a:latin typeface="PingFangSC-Regular" panose="020B0400000000000000" pitchFamily="34" charset="-122"/>
                          <a:ea typeface="PingFangSC-Regular" panose="020B0400000000000000" pitchFamily="34" charset="-122"/>
                        </a:rPr>
                        <a:t>名</a:t>
                      </a:r>
                    </a:p>
                  </a:txBody>
                  <a:tcPr marL="1143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44210"/>
                  </a:ext>
                </a:extLst>
              </a:tr>
              <a:tr h="679478">
                <a:tc>
                  <a:txBody>
                    <a:bodyPr/>
                    <a:lstStyle/>
                    <a:p>
                      <a:pPr algn="l" latinLnBrk="1"/>
                      <a:r>
                        <a:rPr lang="en" b="0" dirty="0">
                          <a:effectLst/>
                          <a:latin typeface="PingFangSC-Regular" panose="020B0400000000000000" pitchFamily="34" charset="-122"/>
                          <a:ea typeface="PingFangSC-Regular" panose="020B0400000000000000" pitchFamily="34" charset="-122"/>
                        </a:rPr>
                        <a:t>thoughts</a:t>
                      </a:r>
                    </a:p>
                  </a:txBody>
                  <a:tcPr marL="1143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" b="0" dirty="0">
                          <a:effectLst/>
                          <a:latin typeface="PingFangSC-Regular" panose="020B0400000000000000" pitchFamily="34" charset="-122"/>
                          <a:ea typeface="PingFangSC-Regular" panose="020B0400000000000000" pitchFamily="34" charset="-122"/>
                        </a:rPr>
                        <a:t>string</a:t>
                      </a:r>
                    </a:p>
                  </a:txBody>
                  <a:tcPr marL="1143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b="0" dirty="0">
                          <a:effectLst/>
                          <a:latin typeface="PingFangSC-Regular" panose="020B0400000000000000" pitchFamily="34" charset="-122"/>
                          <a:ea typeface="PingFangSC-Regular" panose="020B0400000000000000" pitchFamily="34" charset="-122"/>
                        </a:rPr>
                        <a:t>模型思考过程</a:t>
                      </a:r>
                    </a:p>
                  </a:txBody>
                  <a:tcPr marL="1143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957180"/>
                  </a:ext>
                </a:extLst>
              </a:tr>
              <a:tr h="679478">
                <a:tc>
                  <a:txBody>
                    <a:bodyPr/>
                    <a:lstStyle/>
                    <a:p>
                      <a:pPr algn="l" latinLnBrk="1"/>
                      <a:r>
                        <a:rPr lang="en" b="0" dirty="0">
                          <a:effectLst/>
                          <a:latin typeface="PingFangSC-Regular" panose="020B0400000000000000" pitchFamily="34" charset="-122"/>
                          <a:ea typeface="PingFangSC-Regular" panose="020B0400000000000000" pitchFamily="34" charset="-122"/>
                        </a:rPr>
                        <a:t>arguments</a:t>
                      </a:r>
                    </a:p>
                  </a:txBody>
                  <a:tcPr marL="1143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" b="0" dirty="0">
                          <a:effectLst/>
                          <a:latin typeface="PingFangSC-Regular" panose="020B0400000000000000" pitchFamily="34" charset="-122"/>
                          <a:ea typeface="PingFangSC-Regular" panose="020B0400000000000000" pitchFamily="34" charset="-122"/>
                        </a:rPr>
                        <a:t>string</a:t>
                      </a:r>
                    </a:p>
                  </a:txBody>
                  <a:tcPr marL="1143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b="0" dirty="0">
                          <a:effectLst/>
                          <a:latin typeface="PingFangSC-Regular" panose="020B0400000000000000" pitchFamily="34" charset="-122"/>
                          <a:ea typeface="PingFangSC-Regular" panose="020B0400000000000000" pitchFamily="34" charset="-122"/>
                        </a:rPr>
                        <a:t>请求参数</a:t>
                      </a:r>
                    </a:p>
                  </a:txBody>
                  <a:tcPr marL="1143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719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578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2" y="0"/>
            <a:ext cx="1581151" cy="1306653"/>
            <a:chOff x="-2" y="5562600"/>
            <a:chExt cx="1581151" cy="1306653"/>
          </a:xfrm>
        </p:grpSpPr>
        <p:sp>
          <p:nvSpPr>
            <p:cNvPr id="3" name="直角三角形 8"/>
            <p:cNvSpPr/>
            <p:nvPr/>
          </p:nvSpPr>
          <p:spPr>
            <a:xfrm flipV="1">
              <a:off x="-2" y="5562600"/>
              <a:ext cx="1581151" cy="1306653"/>
            </a:xfrm>
            <a:custGeom>
              <a:avLst/>
              <a:gdLst>
                <a:gd name="connsiteX0" fmla="*/ 0 w 1596000"/>
                <a:gd name="connsiteY0" fmla="*/ 740842 h 740842"/>
                <a:gd name="connsiteX1" fmla="*/ 0 w 1596000"/>
                <a:gd name="connsiteY1" fmla="*/ 0 h 740842"/>
                <a:gd name="connsiteX2" fmla="*/ 1596000 w 1596000"/>
                <a:gd name="connsiteY2" fmla="*/ 740842 h 740842"/>
                <a:gd name="connsiteX3" fmla="*/ 0 w 1596000"/>
                <a:gd name="connsiteY3" fmla="*/ 740842 h 740842"/>
                <a:gd name="connsiteX0" fmla="*/ 0 w 1519800"/>
                <a:gd name="connsiteY0" fmla="*/ 740842 h 1293292"/>
                <a:gd name="connsiteX1" fmla="*/ 0 w 1519800"/>
                <a:gd name="connsiteY1" fmla="*/ 0 h 1293292"/>
                <a:gd name="connsiteX2" fmla="*/ 1519800 w 1519800"/>
                <a:gd name="connsiteY2" fmla="*/ 1293292 h 1293292"/>
                <a:gd name="connsiteX3" fmla="*/ 0 w 1519800"/>
                <a:gd name="connsiteY3" fmla="*/ 740842 h 129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800" h="1293292">
                  <a:moveTo>
                    <a:pt x="0" y="740842"/>
                  </a:moveTo>
                  <a:lnTo>
                    <a:pt x="0" y="0"/>
                  </a:lnTo>
                  <a:lnTo>
                    <a:pt x="1519800" y="1293292"/>
                  </a:lnTo>
                  <a:lnTo>
                    <a:pt x="0" y="740842"/>
                  </a:lnTo>
                  <a:close/>
                </a:path>
              </a:pathLst>
            </a:custGeom>
            <a:solidFill>
              <a:srgbClr val="59C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直角三角形 8"/>
            <p:cNvSpPr/>
            <p:nvPr/>
          </p:nvSpPr>
          <p:spPr>
            <a:xfrm rot="5400000" flipH="1" flipV="1">
              <a:off x="148633" y="5428776"/>
              <a:ext cx="1293293" cy="1565153"/>
            </a:xfrm>
            <a:custGeom>
              <a:avLst/>
              <a:gdLst>
                <a:gd name="connsiteX0" fmla="*/ 0 w 1596000"/>
                <a:gd name="connsiteY0" fmla="*/ 740842 h 740842"/>
                <a:gd name="connsiteX1" fmla="*/ 0 w 1596000"/>
                <a:gd name="connsiteY1" fmla="*/ 0 h 740842"/>
                <a:gd name="connsiteX2" fmla="*/ 1596000 w 1596000"/>
                <a:gd name="connsiteY2" fmla="*/ 740842 h 740842"/>
                <a:gd name="connsiteX3" fmla="*/ 0 w 1596000"/>
                <a:gd name="connsiteY3" fmla="*/ 740842 h 740842"/>
                <a:gd name="connsiteX0" fmla="*/ 0 w 1519800"/>
                <a:gd name="connsiteY0" fmla="*/ 740842 h 1293292"/>
                <a:gd name="connsiteX1" fmla="*/ 0 w 1519800"/>
                <a:gd name="connsiteY1" fmla="*/ 0 h 1293292"/>
                <a:gd name="connsiteX2" fmla="*/ 1519800 w 1519800"/>
                <a:gd name="connsiteY2" fmla="*/ 1293292 h 1293292"/>
                <a:gd name="connsiteX3" fmla="*/ 0 w 1519800"/>
                <a:gd name="connsiteY3" fmla="*/ 740842 h 129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800" h="1293292">
                  <a:moveTo>
                    <a:pt x="0" y="740842"/>
                  </a:moveTo>
                  <a:lnTo>
                    <a:pt x="0" y="0"/>
                  </a:lnTo>
                  <a:lnTo>
                    <a:pt x="1519800" y="1293292"/>
                  </a:lnTo>
                  <a:lnTo>
                    <a:pt x="0" y="74084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1416000" y="1510045"/>
            <a:ext cx="4088886" cy="4305300"/>
          </a:xfrm>
          <a:prstGeom prst="rect">
            <a:avLst/>
          </a:prstGeom>
          <a:solidFill>
            <a:srgbClr val="59C3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MH_Text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651800" y="3146530"/>
            <a:ext cx="5137036" cy="2262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lv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当</a:t>
            </a:r>
            <a:r>
              <a:rPr lang="en-US" altLang="zh-CN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ai</a:t>
            </a:r>
            <a:r>
              <a:rPr lang="zh-CN" altLang="en-US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成功识别到需要调用哪个接口时，它将通过</a:t>
            </a:r>
            <a:r>
              <a:rPr lang="en" altLang="zh-CN" dirty="0" err="1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finish_reason</a:t>
            </a:r>
            <a:r>
              <a:rPr lang="en" altLang="zh-CN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, function_call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这两个参数返回。</a:t>
            </a:r>
            <a:endParaRPr lang="en-US" altLang="zh-CN" dirty="0">
              <a:solidFill>
                <a:srgbClr val="58595B"/>
              </a:solidFill>
              <a:latin typeface="Lantinghei SC Extralight" panose="02000000000000000000" pitchFamily="2" charset="-122"/>
              <a:ea typeface="Lantinghei SC Extralight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其中</a:t>
            </a:r>
            <a:r>
              <a:rPr lang="en" altLang="zh-CN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function_call</a:t>
            </a:r>
            <a:r>
              <a:rPr lang="zh-CN" altLang="en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中</a:t>
            </a:r>
            <a:r>
              <a:rPr lang="zh-CN" altLang="en-US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会包含</a:t>
            </a:r>
            <a:r>
              <a:rPr lang="en-US" altLang="zh-CN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name:</a:t>
            </a:r>
            <a:r>
              <a:rPr lang="zh-CN" altLang="en-US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调用的接口名。</a:t>
            </a:r>
            <a:r>
              <a:rPr lang="en-US" altLang="zh-CN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 </a:t>
            </a:r>
            <a:r>
              <a:rPr lang="en" altLang="zh-CN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arguments</a:t>
            </a:r>
            <a:r>
              <a:rPr lang="zh-CN" altLang="en-US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：接口的参数。</a:t>
            </a:r>
            <a:endParaRPr lang="en-US" altLang="zh-CN" dirty="0">
              <a:solidFill>
                <a:srgbClr val="58595B"/>
              </a:solidFill>
              <a:latin typeface="Lantinghei SC Extralight" panose="02000000000000000000" pitchFamily="2" charset="-122"/>
              <a:ea typeface="Lantinghei SC Extralight" panose="02000000000000000000" pitchFamily="2" charset="-122"/>
            </a:endParaRPr>
          </a:p>
          <a:p>
            <a:pPr algn="just">
              <a:lnSpc>
                <a:spcPct val="110000"/>
              </a:lnSpc>
              <a:defRPr/>
            </a:pPr>
            <a:endParaRPr lang="en-US" altLang="zh-CN" sz="1050" dirty="0">
              <a:solidFill>
                <a:srgbClr val="58595B"/>
              </a:solidFill>
              <a:latin typeface="+mn-lt"/>
            </a:endParaRPr>
          </a:p>
        </p:txBody>
      </p:sp>
      <p:sp>
        <p:nvSpPr>
          <p:cNvPr id="23" name="MH_SubTitle_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557928" y="2590408"/>
            <a:ext cx="1908063" cy="47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b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2400" b="1" dirty="0">
                <a:solidFill>
                  <a:srgbClr val="58595B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响应</a:t>
            </a:r>
            <a:endParaRPr lang="en-US" altLang="zh-CN" sz="2400" b="1" dirty="0">
              <a:solidFill>
                <a:srgbClr val="58595B"/>
              </a:solidFill>
              <a:latin typeface="Lantinghei SC Demibold" panose="02000000000000000000" pitchFamily="2" charset="-122"/>
              <a:ea typeface="Lantinghei SC Demibold" panose="02000000000000000000" pitchFamily="2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7511959" y="2590408"/>
            <a:ext cx="416411" cy="382998"/>
            <a:chOff x="8374817" y="3976831"/>
            <a:chExt cx="719115" cy="661413"/>
          </a:xfrm>
        </p:grpSpPr>
        <p:sp>
          <p:nvSpPr>
            <p:cNvPr id="25" name="Freeform 44"/>
            <p:cNvSpPr>
              <a:spLocks/>
            </p:cNvSpPr>
            <p:nvPr/>
          </p:nvSpPr>
          <p:spPr bwMode="auto">
            <a:xfrm>
              <a:off x="9018919" y="4072040"/>
              <a:ext cx="75013" cy="68522"/>
            </a:xfrm>
            <a:custGeom>
              <a:avLst/>
              <a:gdLst>
                <a:gd name="T0" fmla="*/ 28 w 44"/>
                <a:gd name="T1" fmla="*/ 11 h 40"/>
                <a:gd name="T2" fmla="*/ 0 w 44"/>
                <a:gd name="T3" fmla="*/ 18 h 40"/>
                <a:gd name="T4" fmla="*/ 31 w 44"/>
                <a:gd name="T5" fmla="*/ 40 h 40"/>
                <a:gd name="T6" fmla="*/ 28 w 44"/>
                <a:gd name="T7" fmla="*/ 1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40">
                  <a:moveTo>
                    <a:pt x="28" y="11"/>
                  </a:moveTo>
                  <a:cubicBezTo>
                    <a:pt x="13" y="0"/>
                    <a:pt x="0" y="18"/>
                    <a:pt x="0" y="18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44" y="22"/>
                    <a:pt x="28" y="11"/>
                  </a:cubicBez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45"/>
            <p:cNvSpPr>
              <a:spLocks/>
            </p:cNvSpPr>
            <p:nvPr/>
          </p:nvSpPr>
          <p:spPr bwMode="auto">
            <a:xfrm>
              <a:off x="8831387" y="4116759"/>
              <a:ext cx="230088" cy="284184"/>
            </a:xfrm>
            <a:custGeom>
              <a:avLst/>
              <a:gdLst>
                <a:gd name="T0" fmla="*/ 187 w 319"/>
                <a:gd name="T1" fmla="*/ 85 h 394"/>
                <a:gd name="T2" fmla="*/ 156 w 319"/>
                <a:gd name="T3" fmla="*/ 125 h 394"/>
                <a:gd name="T4" fmla="*/ 104 w 319"/>
                <a:gd name="T5" fmla="*/ 198 h 394"/>
                <a:gd name="T6" fmla="*/ 0 w 319"/>
                <a:gd name="T7" fmla="*/ 342 h 394"/>
                <a:gd name="T8" fmla="*/ 74 w 319"/>
                <a:gd name="T9" fmla="*/ 394 h 394"/>
                <a:gd name="T10" fmla="*/ 104 w 319"/>
                <a:gd name="T11" fmla="*/ 352 h 394"/>
                <a:gd name="T12" fmla="*/ 130 w 319"/>
                <a:gd name="T13" fmla="*/ 314 h 394"/>
                <a:gd name="T14" fmla="*/ 156 w 319"/>
                <a:gd name="T15" fmla="*/ 276 h 394"/>
                <a:gd name="T16" fmla="*/ 319 w 319"/>
                <a:gd name="T17" fmla="*/ 52 h 394"/>
                <a:gd name="T18" fmla="*/ 248 w 319"/>
                <a:gd name="T19" fmla="*/ 0 h 394"/>
                <a:gd name="T20" fmla="*/ 187 w 319"/>
                <a:gd name="T21" fmla="*/ 8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9" h="394">
                  <a:moveTo>
                    <a:pt x="187" y="85"/>
                  </a:moveTo>
                  <a:lnTo>
                    <a:pt x="156" y="125"/>
                  </a:lnTo>
                  <a:lnTo>
                    <a:pt x="104" y="198"/>
                  </a:lnTo>
                  <a:lnTo>
                    <a:pt x="0" y="342"/>
                  </a:lnTo>
                  <a:lnTo>
                    <a:pt x="74" y="394"/>
                  </a:lnTo>
                  <a:lnTo>
                    <a:pt x="104" y="352"/>
                  </a:lnTo>
                  <a:lnTo>
                    <a:pt x="130" y="314"/>
                  </a:lnTo>
                  <a:lnTo>
                    <a:pt x="156" y="276"/>
                  </a:lnTo>
                  <a:lnTo>
                    <a:pt x="319" y="52"/>
                  </a:lnTo>
                  <a:lnTo>
                    <a:pt x="248" y="0"/>
                  </a:lnTo>
                  <a:lnTo>
                    <a:pt x="187" y="85"/>
                  </a:lnTo>
                  <a:close/>
                </a:path>
              </a:pathLst>
            </a:custGeom>
            <a:solidFill>
              <a:srgbClr val="59C3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46"/>
            <p:cNvSpPr>
              <a:spLocks/>
            </p:cNvSpPr>
            <p:nvPr/>
          </p:nvSpPr>
          <p:spPr bwMode="auto">
            <a:xfrm>
              <a:off x="8374817" y="3976831"/>
              <a:ext cx="569090" cy="661413"/>
            </a:xfrm>
            <a:custGeom>
              <a:avLst/>
              <a:gdLst>
                <a:gd name="T0" fmla="*/ 312 w 334"/>
                <a:gd name="T1" fmla="*/ 348 h 388"/>
                <a:gd name="T2" fmla="*/ 293 w 334"/>
                <a:gd name="T3" fmla="*/ 366 h 388"/>
                <a:gd name="T4" fmla="*/ 40 w 334"/>
                <a:gd name="T5" fmla="*/ 366 h 388"/>
                <a:gd name="T6" fmla="*/ 22 w 334"/>
                <a:gd name="T7" fmla="*/ 348 h 388"/>
                <a:gd name="T8" fmla="*/ 22 w 334"/>
                <a:gd name="T9" fmla="*/ 41 h 388"/>
                <a:gd name="T10" fmla="*/ 40 w 334"/>
                <a:gd name="T11" fmla="*/ 23 h 388"/>
                <a:gd name="T12" fmla="*/ 293 w 334"/>
                <a:gd name="T13" fmla="*/ 23 h 388"/>
                <a:gd name="T14" fmla="*/ 312 w 334"/>
                <a:gd name="T15" fmla="*/ 41 h 388"/>
                <a:gd name="T16" fmla="*/ 312 w 334"/>
                <a:gd name="T17" fmla="*/ 140 h 388"/>
                <a:gd name="T18" fmla="*/ 334 w 334"/>
                <a:gd name="T19" fmla="*/ 109 h 388"/>
                <a:gd name="T20" fmla="*/ 334 w 334"/>
                <a:gd name="T21" fmla="*/ 21 h 388"/>
                <a:gd name="T22" fmla="*/ 313 w 334"/>
                <a:gd name="T23" fmla="*/ 0 h 388"/>
                <a:gd name="T24" fmla="*/ 21 w 334"/>
                <a:gd name="T25" fmla="*/ 0 h 388"/>
                <a:gd name="T26" fmla="*/ 0 w 334"/>
                <a:gd name="T27" fmla="*/ 21 h 388"/>
                <a:gd name="T28" fmla="*/ 0 w 334"/>
                <a:gd name="T29" fmla="*/ 368 h 388"/>
                <a:gd name="T30" fmla="*/ 21 w 334"/>
                <a:gd name="T31" fmla="*/ 388 h 388"/>
                <a:gd name="T32" fmla="*/ 313 w 334"/>
                <a:gd name="T33" fmla="*/ 388 h 388"/>
                <a:gd name="T34" fmla="*/ 334 w 334"/>
                <a:gd name="T35" fmla="*/ 368 h 388"/>
                <a:gd name="T36" fmla="*/ 334 w 334"/>
                <a:gd name="T37" fmla="*/ 223 h 388"/>
                <a:gd name="T38" fmla="*/ 312 w 334"/>
                <a:gd name="T39" fmla="*/ 254 h 388"/>
                <a:gd name="T40" fmla="*/ 312 w 334"/>
                <a:gd name="T41" fmla="*/ 348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4" h="388">
                  <a:moveTo>
                    <a:pt x="312" y="348"/>
                  </a:moveTo>
                  <a:cubicBezTo>
                    <a:pt x="312" y="358"/>
                    <a:pt x="303" y="366"/>
                    <a:pt x="293" y="366"/>
                  </a:cubicBezTo>
                  <a:cubicBezTo>
                    <a:pt x="40" y="366"/>
                    <a:pt x="40" y="366"/>
                    <a:pt x="40" y="366"/>
                  </a:cubicBezTo>
                  <a:cubicBezTo>
                    <a:pt x="30" y="366"/>
                    <a:pt x="22" y="358"/>
                    <a:pt x="22" y="348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2" y="31"/>
                    <a:pt x="30" y="23"/>
                    <a:pt x="40" y="23"/>
                  </a:cubicBezTo>
                  <a:cubicBezTo>
                    <a:pt x="293" y="23"/>
                    <a:pt x="293" y="23"/>
                    <a:pt x="293" y="23"/>
                  </a:cubicBezTo>
                  <a:cubicBezTo>
                    <a:pt x="303" y="23"/>
                    <a:pt x="312" y="31"/>
                    <a:pt x="312" y="41"/>
                  </a:cubicBezTo>
                  <a:cubicBezTo>
                    <a:pt x="312" y="140"/>
                    <a:pt x="312" y="140"/>
                    <a:pt x="312" y="140"/>
                  </a:cubicBezTo>
                  <a:cubicBezTo>
                    <a:pt x="334" y="109"/>
                    <a:pt x="334" y="109"/>
                    <a:pt x="334" y="109"/>
                  </a:cubicBezTo>
                  <a:cubicBezTo>
                    <a:pt x="334" y="21"/>
                    <a:pt x="334" y="21"/>
                    <a:pt x="334" y="21"/>
                  </a:cubicBezTo>
                  <a:cubicBezTo>
                    <a:pt x="334" y="10"/>
                    <a:pt x="325" y="0"/>
                    <a:pt x="313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10"/>
                    <a:pt x="0" y="21"/>
                  </a:cubicBezTo>
                  <a:cubicBezTo>
                    <a:pt x="0" y="368"/>
                    <a:pt x="0" y="368"/>
                    <a:pt x="0" y="368"/>
                  </a:cubicBezTo>
                  <a:cubicBezTo>
                    <a:pt x="0" y="379"/>
                    <a:pt x="9" y="388"/>
                    <a:pt x="21" y="388"/>
                  </a:cubicBezTo>
                  <a:cubicBezTo>
                    <a:pt x="313" y="388"/>
                    <a:pt x="313" y="388"/>
                    <a:pt x="313" y="388"/>
                  </a:cubicBezTo>
                  <a:cubicBezTo>
                    <a:pt x="325" y="388"/>
                    <a:pt x="334" y="379"/>
                    <a:pt x="334" y="368"/>
                  </a:cubicBezTo>
                  <a:cubicBezTo>
                    <a:pt x="334" y="223"/>
                    <a:pt x="334" y="223"/>
                    <a:pt x="334" y="223"/>
                  </a:cubicBezTo>
                  <a:cubicBezTo>
                    <a:pt x="312" y="254"/>
                    <a:pt x="312" y="254"/>
                    <a:pt x="312" y="254"/>
                  </a:cubicBezTo>
                  <a:lnTo>
                    <a:pt x="312" y="348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47"/>
            <p:cNvSpPr>
              <a:spLocks/>
            </p:cNvSpPr>
            <p:nvPr/>
          </p:nvSpPr>
          <p:spPr bwMode="auto">
            <a:xfrm>
              <a:off x="8806142" y="4377142"/>
              <a:ext cx="67800" cy="77177"/>
            </a:xfrm>
            <a:custGeom>
              <a:avLst/>
              <a:gdLst>
                <a:gd name="T0" fmla="*/ 21 w 94"/>
                <a:gd name="T1" fmla="*/ 0 h 107"/>
                <a:gd name="T2" fmla="*/ 0 w 94"/>
                <a:gd name="T3" fmla="*/ 107 h 107"/>
                <a:gd name="T4" fmla="*/ 94 w 94"/>
                <a:gd name="T5" fmla="*/ 52 h 107"/>
                <a:gd name="T6" fmla="*/ 21 w 94"/>
                <a:gd name="T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" h="107">
                  <a:moveTo>
                    <a:pt x="21" y="0"/>
                  </a:moveTo>
                  <a:lnTo>
                    <a:pt x="0" y="107"/>
                  </a:lnTo>
                  <a:lnTo>
                    <a:pt x="94" y="5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Rectangle 48"/>
            <p:cNvSpPr>
              <a:spLocks noChangeArrowheads="1"/>
            </p:cNvSpPr>
            <p:nvPr/>
          </p:nvSpPr>
          <p:spPr bwMode="auto">
            <a:xfrm>
              <a:off x="8459928" y="4504808"/>
              <a:ext cx="228646" cy="34621"/>
            </a:xfrm>
            <a:prstGeom prst="rect">
              <a:avLst/>
            </a:prstGeom>
            <a:solidFill>
              <a:srgbClr val="59C3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Rectangle 49"/>
            <p:cNvSpPr>
              <a:spLocks noChangeArrowheads="1"/>
            </p:cNvSpPr>
            <p:nvPr/>
          </p:nvSpPr>
          <p:spPr bwMode="auto">
            <a:xfrm>
              <a:off x="8459928" y="4428352"/>
              <a:ext cx="228646" cy="33900"/>
            </a:xfrm>
            <a:prstGeom prst="rect">
              <a:avLst/>
            </a:prstGeom>
            <a:solidFill>
              <a:srgbClr val="59C3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Rectangle 50"/>
            <p:cNvSpPr>
              <a:spLocks noChangeArrowheads="1"/>
            </p:cNvSpPr>
            <p:nvPr/>
          </p:nvSpPr>
          <p:spPr bwMode="auto">
            <a:xfrm>
              <a:off x="8459928" y="4354782"/>
              <a:ext cx="228646" cy="32458"/>
            </a:xfrm>
            <a:prstGeom prst="rect">
              <a:avLst/>
            </a:prstGeom>
            <a:solidFill>
              <a:srgbClr val="59C3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Rectangle 51"/>
            <p:cNvSpPr>
              <a:spLocks noChangeArrowheads="1"/>
            </p:cNvSpPr>
            <p:nvPr/>
          </p:nvSpPr>
          <p:spPr bwMode="auto">
            <a:xfrm>
              <a:off x="8459928" y="4278326"/>
              <a:ext cx="228646" cy="32458"/>
            </a:xfrm>
            <a:prstGeom prst="rect">
              <a:avLst/>
            </a:prstGeom>
            <a:solidFill>
              <a:srgbClr val="59C3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Rectangle 52"/>
            <p:cNvSpPr>
              <a:spLocks noChangeArrowheads="1"/>
            </p:cNvSpPr>
            <p:nvPr/>
          </p:nvSpPr>
          <p:spPr bwMode="auto">
            <a:xfrm>
              <a:off x="8459928" y="4201870"/>
              <a:ext cx="228646" cy="33900"/>
            </a:xfrm>
            <a:prstGeom prst="rect">
              <a:avLst/>
            </a:prstGeom>
            <a:solidFill>
              <a:srgbClr val="59C3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Rectangle 53"/>
            <p:cNvSpPr>
              <a:spLocks noChangeArrowheads="1"/>
            </p:cNvSpPr>
            <p:nvPr/>
          </p:nvSpPr>
          <p:spPr bwMode="auto">
            <a:xfrm>
              <a:off x="8459928" y="4124694"/>
              <a:ext cx="228646" cy="34621"/>
            </a:xfrm>
            <a:prstGeom prst="rect">
              <a:avLst/>
            </a:prstGeom>
            <a:solidFill>
              <a:srgbClr val="59C3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36" name="矩形 35"/>
          <p:cNvSpPr/>
          <p:nvPr/>
        </p:nvSpPr>
        <p:spPr>
          <a:xfrm>
            <a:off x="1667706" y="294809"/>
            <a:ext cx="85682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自动</a:t>
            </a:r>
            <a:r>
              <a:rPr lang="zh-CN" altLang="en-US" sz="4000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分析接口调用时机，接口参数</a:t>
            </a:r>
          </a:p>
        </p:txBody>
      </p:sp>
      <p:pic>
        <p:nvPicPr>
          <p:cNvPr id="2" name="内容占位符 4" descr="文本&#10;&#10;描述已自动生成">
            <a:extLst>
              <a:ext uri="{FF2B5EF4-FFF2-40B4-BE49-F238E27FC236}">
                <a16:creationId xmlns:a16="http://schemas.microsoft.com/office/drawing/2014/main" id="{A06CD8D2-1340-9703-C761-9EA537101E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388" y="1865094"/>
            <a:ext cx="3860800" cy="4305300"/>
          </a:xfrm>
          <a:prstGeom prst="rect">
            <a:avLst/>
          </a:prstGeom>
          <a:effectLst>
            <a:outerShdw blurRad="50800" dist="38100" dir="2700000" algn="ctr" rotWithShape="0">
              <a:schemeClr val="tx1">
                <a:alpha val="40000"/>
              </a:schemeClr>
            </a:outerShdw>
          </a:effectLst>
        </p:spPr>
      </p:pic>
      <p:sp>
        <p:nvSpPr>
          <p:cNvPr id="11" name="矩形 10"/>
          <p:cNvSpPr/>
          <p:nvPr/>
        </p:nvSpPr>
        <p:spPr>
          <a:xfrm>
            <a:off x="1776000" y="2169000"/>
            <a:ext cx="4417036" cy="43053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114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2" grpId="0"/>
      <p:bldP spid="23" grpId="0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2" y="0"/>
            <a:ext cx="1581151" cy="1306653"/>
            <a:chOff x="-2" y="5562600"/>
            <a:chExt cx="1581151" cy="1306653"/>
          </a:xfrm>
        </p:grpSpPr>
        <p:sp>
          <p:nvSpPr>
            <p:cNvPr id="3" name="直角三角形 8"/>
            <p:cNvSpPr/>
            <p:nvPr/>
          </p:nvSpPr>
          <p:spPr>
            <a:xfrm flipV="1">
              <a:off x="-2" y="5562600"/>
              <a:ext cx="1581151" cy="1306653"/>
            </a:xfrm>
            <a:custGeom>
              <a:avLst/>
              <a:gdLst>
                <a:gd name="connsiteX0" fmla="*/ 0 w 1596000"/>
                <a:gd name="connsiteY0" fmla="*/ 740842 h 740842"/>
                <a:gd name="connsiteX1" fmla="*/ 0 w 1596000"/>
                <a:gd name="connsiteY1" fmla="*/ 0 h 740842"/>
                <a:gd name="connsiteX2" fmla="*/ 1596000 w 1596000"/>
                <a:gd name="connsiteY2" fmla="*/ 740842 h 740842"/>
                <a:gd name="connsiteX3" fmla="*/ 0 w 1596000"/>
                <a:gd name="connsiteY3" fmla="*/ 740842 h 740842"/>
                <a:gd name="connsiteX0" fmla="*/ 0 w 1519800"/>
                <a:gd name="connsiteY0" fmla="*/ 740842 h 1293292"/>
                <a:gd name="connsiteX1" fmla="*/ 0 w 1519800"/>
                <a:gd name="connsiteY1" fmla="*/ 0 h 1293292"/>
                <a:gd name="connsiteX2" fmla="*/ 1519800 w 1519800"/>
                <a:gd name="connsiteY2" fmla="*/ 1293292 h 1293292"/>
                <a:gd name="connsiteX3" fmla="*/ 0 w 1519800"/>
                <a:gd name="connsiteY3" fmla="*/ 740842 h 129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800" h="1293292">
                  <a:moveTo>
                    <a:pt x="0" y="740842"/>
                  </a:moveTo>
                  <a:lnTo>
                    <a:pt x="0" y="0"/>
                  </a:lnTo>
                  <a:lnTo>
                    <a:pt x="1519800" y="1293292"/>
                  </a:lnTo>
                  <a:lnTo>
                    <a:pt x="0" y="740842"/>
                  </a:lnTo>
                  <a:close/>
                </a:path>
              </a:pathLst>
            </a:custGeom>
            <a:solidFill>
              <a:srgbClr val="59C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直角三角形 8"/>
            <p:cNvSpPr/>
            <p:nvPr/>
          </p:nvSpPr>
          <p:spPr>
            <a:xfrm rot="5400000" flipH="1" flipV="1">
              <a:off x="148633" y="5428776"/>
              <a:ext cx="1293293" cy="1565153"/>
            </a:xfrm>
            <a:custGeom>
              <a:avLst/>
              <a:gdLst>
                <a:gd name="connsiteX0" fmla="*/ 0 w 1596000"/>
                <a:gd name="connsiteY0" fmla="*/ 740842 h 740842"/>
                <a:gd name="connsiteX1" fmla="*/ 0 w 1596000"/>
                <a:gd name="connsiteY1" fmla="*/ 0 h 740842"/>
                <a:gd name="connsiteX2" fmla="*/ 1596000 w 1596000"/>
                <a:gd name="connsiteY2" fmla="*/ 740842 h 740842"/>
                <a:gd name="connsiteX3" fmla="*/ 0 w 1596000"/>
                <a:gd name="connsiteY3" fmla="*/ 740842 h 740842"/>
                <a:gd name="connsiteX0" fmla="*/ 0 w 1519800"/>
                <a:gd name="connsiteY0" fmla="*/ 740842 h 1293292"/>
                <a:gd name="connsiteX1" fmla="*/ 0 w 1519800"/>
                <a:gd name="connsiteY1" fmla="*/ 0 h 1293292"/>
                <a:gd name="connsiteX2" fmla="*/ 1519800 w 1519800"/>
                <a:gd name="connsiteY2" fmla="*/ 1293292 h 1293292"/>
                <a:gd name="connsiteX3" fmla="*/ 0 w 1519800"/>
                <a:gd name="connsiteY3" fmla="*/ 740842 h 129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800" h="1293292">
                  <a:moveTo>
                    <a:pt x="0" y="740842"/>
                  </a:moveTo>
                  <a:lnTo>
                    <a:pt x="0" y="0"/>
                  </a:lnTo>
                  <a:lnTo>
                    <a:pt x="1519800" y="1293292"/>
                  </a:lnTo>
                  <a:lnTo>
                    <a:pt x="0" y="74084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8" name="MH_SubTitle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93010" y="2216647"/>
            <a:ext cx="4412914" cy="2816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b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600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第一轮请求的结果，通过</a:t>
            </a:r>
            <a:r>
              <a:rPr lang="en-US" altLang="zh-CN" sz="3600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message</a:t>
            </a:r>
            <a:r>
              <a:rPr lang="zh-CN" altLang="en-US" sz="3600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接入第二轮</a:t>
            </a:r>
          </a:p>
        </p:txBody>
      </p:sp>
      <p:sp>
        <p:nvSpPr>
          <p:cNvPr id="53" name="矩形 52"/>
          <p:cNvSpPr/>
          <p:nvPr/>
        </p:nvSpPr>
        <p:spPr>
          <a:xfrm>
            <a:off x="1667706" y="294809"/>
            <a:ext cx="76682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单</a:t>
            </a:r>
            <a:r>
              <a:rPr lang="zh-CN" altLang="en-US" sz="4000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轮，多轮询问</a:t>
            </a:r>
          </a:p>
        </p:txBody>
      </p:sp>
      <p:pic>
        <p:nvPicPr>
          <p:cNvPr id="7" name="图片 6" descr="图示&#10;&#10;描述已自动生成">
            <a:extLst>
              <a:ext uri="{FF2B5EF4-FFF2-40B4-BE49-F238E27FC236}">
                <a16:creationId xmlns:a16="http://schemas.microsoft.com/office/drawing/2014/main" id="{C4E76130-261D-0306-586D-2E4A29C3FF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078" y="453012"/>
            <a:ext cx="3971526" cy="5801012"/>
          </a:xfrm>
          <a:prstGeom prst="rect">
            <a:avLst/>
          </a:prstGeom>
          <a:effectLst>
            <a:outerShdw blurRad="50800" dist="38100" dir="2700000" algn="ctr" rotWithShape="0">
              <a:schemeClr val="tx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1208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-66675" y="-149678"/>
            <a:ext cx="7788275" cy="5878966"/>
            <a:chOff x="-58057" y="-149678"/>
            <a:chExt cx="7779657" cy="5849257"/>
          </a:xfrm>
          <a:blipFill>
            <a:blip r:embed="rId2"/>
            <a:stretch>
              <a:fillRect/>
            </a:stretch>
          </a:blipFill>
        </p:grpSpPr>
        <p:sp>
          <p:nvSpPr>
            <p:cNvPr id="4" name="任意多边形 3"/>
            <p:cNvSpPr/>
            <p:nvPr/>
          </p:nvSpPr>
          <p:spPr>
            <a:xfrm>
              <a:off x="-58057" y="-149678"/>
              <a:ext cx="7779657" cy="5849257"/>
            </a:xfrm>
            <a:custGeom>
              <a:avLst/>
              <a:gdLst>
                <a:gd name="connsiteX0" fmla="*/ 0 w 7779657"/>
                <a:gd name="connsiteY0" fmla="*/ 29029 h 5849257"/>
                <a:gd name="connsiteX1" fmla="*/ 14514 w 7779657"/>
                <a:gd name="connsiteY1" fmla="*/ 5849257 h 5849257"/>
                <a:gd name="connsiteX2" fmla="*/ 7779657 w 7779657"/>
                <a:gd name="connsiteY2" fmla="*/ 0 h 5849257"/>
                <a:gd name="connsiteX3" fmla="*/ 0 w 7779657"/>
                <a:gd name="connsiteY3" fmla="*/ 29029 h 5849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79657" h="5849257">
                  <a:moveTo>
                    <a:pt x="0" y="29029"/>
                  </a:moveTo>
                  <a:lnTo>
                    <a:pt x="14514" y="5849257"/>
                  </a:lnTo>
                  <a:lnTo>
                    <a:pt x="7779657" y="0"/>
                  </a:lnTo>
                  <a:lnTo>
                    <a:pt x="0" y="2902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2758550" y="4246450"/>
              <a:ext cx="2160000" cy="1118100"/>
            </a:xfrm>
            <a:custGeom>
              <a:avLst/>
              <a:gdLst>
                <a:gd name="connsiteX0" fmla="*/ 0 w 2160000"/>
                <a:gd name="connsiteY0" fmla="*/ 1080000 h 1080000"/>
                <a:gd name="connsiteX1" fmla="*/ 1080000 w 2160000"/>
                <a:gd name="connsiteY1" fmla="*/ 0 h 1080000"/>
                <a:gd name="connsiteX2" fmla="*/ 2160000 w 2160000"/>
                <a:gd name="connsiteY2" fmla="*/ 1080000 h 1080000"/>
                <a:gd name="connsiteX3" fmla="*/ 0 w 2160000"/>
                <a:gd name="connsiteY3" fmla="*/ 1080000 h 1080000"/>
                <a:gd name="connsiteX0" fmla="*/ 0 w 2160000"/>
                <a:gd name="connsiteY0" fmla="*/ 1118100 h 1118100"/>
                <a:gd name="connsiteX1" fmla="*/ 1695950 w 2160000"/>
                <a:gd name="connsiteY1" fmla="*/ 0 h 1118100"/>
                <a:gd name="connsiteX2" fmla="*/ 2160000 w 2160000"/>
                <a:gd name="connsiteY2" fmla="*/ 1118100 h 1118100"/>
                <a:gd name="connsiteX3" fmla="*/ 0 w 2160000"/>
                <a:gd name="connsiteY3" fmla="*/ 1118100 h 111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0000" h="1118100">
                  <a:moveTo>
                    <a:pt x="0" y="1118100"/>
                  </a:moveTo>
                  <a:lnTo>
                    <a:pt x="1695950" y="0"/>
                  </a:lnTo>
                  <a:lnTo>
                    <a:pt x="2160000" y="1118100"/>
                  </a:lnTo>
                  <a:lnTo>
                    <a:pt x="0" y="11181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8" name="任意多边形 7"/>
          <p:cNvSpPr/>
          <p:nvPr/>
        </p:nvSpPr>
        <p:spPr>
          <a:xfrm>
            <a:off x="-171450" y="-1162050"/>
            <a:ext cx="8667750" cy="6972300"/>
          </a:xfrm>
          <a:custGeom>
            <a:avLst/>
            <a:gdLst>
              <a:gd name="connsiteX0" fmla="*/ 0 w 8667750"/>
              <a:gd name="connsiteY0" fmla="*/ 6972300 h 6972300"/>
              <a:gd name="connsiteX1" fmla="*/ 4953000 w 8667750"/>
              <a:gd name="connsiteY1" fmla="*/ 4743450 h 6972300"/>
              <a:gd name="connsiteX2" fmla="*/ 8667750 w 8667750"/>
              <a:gd name="connsiteY2" fmla="*/ 0 h 6972300"/>
              <a:gd name="connsiteX3" fmla="*/ 7353300 w 8667750"/>
              <a:gd name="connsiteY3" fmla="*/ 723900 h 6972300"/>
              <a:gd name="connsiteX4" fmla="*/ 4648200 w 8667750"/>
              <a:gd name="connsiteY4" fmla="*/ 3676650 h 6972300"/>
              <a:gd name="connsiteX5" fmla="*/ 0 w 8667750"/>
              <a:gd name="connsiteY5" fmla="*/ 6972300 h 697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7750" h="6972300">
                <a:moveTo>
                  <a:pt x="0" y="6972300"/>
                </a:moveTo>
                <a:lnTo>
                  <a:pt x="4953000" y="4743450"/>
                </a:lnTo>
                <a:lnTo>
                  <a:pt x="8667750" y="0"/>
                </a:lnTo>
                <a:lnTo>
                  <a:pt x="7353300" y="723900"/>
                </a:lnTo>
                <a:lnTo>
                  <a:pt x="4648200" y="3676650"/>
                </a:lnTo>
                <a:lnTo>
                  <a:pt x="0" y="697230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  <a:effectLst>
            <a:outerShdw blurRad="508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任意多边形 2"/>
          <p:cNvSpPr/>
          <p:nvPr/>
        </p:nvSpPr>
        <p:spPr>
          <a:xfrm>
            <a:off x="-180975" y="-72571"/>
            <a:ext cx="9992632" cy="5873296"/>
          </a:xfrm>
          <a:custGeom>
            <a:avLst/>
            <a:gdLst>
              <a:gd name="connsiteX0" fmla="*/ 0 w 9869714"/>
              <a:gd name="connsiteY0" fmla="*/ 5805714 h 5805714"/>
              <a:gd name="connsiteX1" fmla="*/ 7590971 w 9869714"/>
              <a:gd name="connsiteY1" fmla="*/ 0 h 5805714"/>
              <a:gd name="connsiteX2" fmla="*/ 9869714 w 9869714"/>
              <a:gd name="connsiteY2" fmla="*/ 0 h 5805714"/>
              <a:gd name="connsiteX3" fmla="*/ 0 w 9869714"/>
              <a:gd name="connsiteY3" fmla="*/ 5805714 h 5805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69714" h="5805714">
                <a:moveTo>
                  <a:pt x="0" y="5805714"/>
                </a:moveTo>
                <a:lnTo>
                  <a:pt x="7590971" y="0"/>
                </a:lnTo>
                <a:lnTo>
                  <a:pt x="9869714" y="0"/>
                </a:lnTo>
                <a:lnTo>
                  <a:pt x="0" y="5805714"/>
                </a:lnTo>
                <a:close/>
              </a:path>
            </a:pathLst>
          </a:custGeom>
          <a:solidFill>
            <a:srgbClr val="59C3EB"/>
          </a:solidFill>
          <a:ln>
            <a:noFill/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直角三角形 8"/>
          <p:cNvSpPr/>
          <p:nvPr/>
        </p:nvSpPr>
        <p:spPr>
          <a:xfrm flipV="1">
            <a:off x="-2" y="5562600"/>
            <a:ext cx="1581151" cy="1306653"/>
          </a:xfrm>
          <a:custGeom>
            <a:avLst/>
            <a:gdLst>
              <a:gd name="connsiteX0" fmla="*/ 0 w 1596000"/>
              <a:gd name="connsiteY0" fmla="*/ 740842 h 740842"/>
              <a:gd name="connsiteX1" fmla="*/ 0 w 1596000"/>
              <a:gd name="connsiteY1" fmla="*/ 0 h 740842"/>
              <a:gd name="connsiteX2" fmla="*/ 1596000 w 1596000"/>
              <a:gd name="connsiteY2" fmla="*/ 740842 h 740842"/>
              <a:gd name="connsiteX3" fmla="*/ 0 w 1596000"/>
              <a:gd name="connsiteY3" fmla="*/ 740842 h 740842"/>
              <a:gd name="connsiteX0" fmla="*/ 0 w 1519800"/>
              <a:gd name="connsiteY0" fmla="*/ 740842 h 1293292"/>
              <a:gd name="connsiteX1" fmla="*/ 0 w 1519800"/>
              <a:gd name="connsiteY1" fmla="*/ 0 h 1293292"/>
              <a:gd name="connsiteX2" fmla="*/ 1519800 w 1519800"/>
              <a:gd name="connsiteY2" fmla="*/ 1293292 h 1293292"/>
              <a:gd name="connsiteX3" fmla="*/ 0 w 1519800"/>
              <a:gd name="connsiteY3" fmla="*/ 740842 h 1293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9800" h="1293292">
                <a:moveTo>
                  <a:pt x="0" y="740842"/>
                </a:moveTo>
                <a:lnTo>
                  <a:pt x="0" y="0"/>
                </a:lnTo>
                <a:lnTo>
                  <a:pt x="1519800" y="1293292"/>
                </a:lnTo>
                <a:lnTo>
                  <a:pt x="0" y="740842"/>
                </a:lnTo>
                <a:close/>
              </a:path>
            </a:pathLst>
          </a:custGeom>
          <a:solidFill>
            <a:srgbClr val="59C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直角三角形 8"/>
          <p:cNvSpPr/>
          <p:nvPr/>
        </p:nvSpPr>
        <p:spPr>
          <a:xfrm rot="5400000" flipH="1" flipV="1">
            <a:off x="148633" y="5428776"/>
            <a:ext cx="1293293" cy="1565153"/>
          </a:xfrm>
          <a:custGeom>
            <a:avLst/>
            <a:gdLst>
              <a:gd name="connsiteX0" fmla="*/ 0 w 1596000"/>
              <a:gd name="connsiteY0" fmla="*/ 740842 h 740842"/>
              <a:gd name="connsiteX1" fmla="*/ 0 w 1596000"/>
              <a:gd name="connsiteY1" fmla="*/ 0 h 740842"/>
              <a:gd name="connsiteX2" fmla="*/ 1596000 w 1596000"/>
              <a:gd name="connsiteY2" fmla="*/ 740842 h 740842"/>
              <a:gd name="connsiteX3" fmla="*/ 0 w 1596000"/>
              <a:gd name="connsiteY3" fmla="*/ 740842 h 740842"/>
              <a:gd name="connsiteX0" fmla="*/ 0 w 1519800"/>
              <a:gd name="connsiteY0" fmla="*/ 740842 h 1293292"/>
              <a:gd name="connsiteX1" fmla="*/ 0 w 1519800"/>
              <a:gd name="connsiteY1" fmla="*/ 0 h 1293292"/>
              <a:gd name="connsiteX2" fmla="*/ 1519800 w 1519800"/>
              <a:gd name="connsiteY2" fmla="*/ 1293292 h 1293292"/>
              <a:gd name="connsiteX3" fmla="*/ 0 w 1519800"/>
              <a:gd name="connsiteY3" fmla="*/ 740842 h 1293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9800" h="1293292">
                <a:moveTo>
                  <a:pt x="0" y="740842"/>
                </a:moveTo>
                <a:lnTo>
                  <a:pt x="0" y="0"/>
                </a:lnTo>
                <a:lnTo>
                  <a:pt x="1519800" y="1293292"/>
                </a:lnTo>
                <a:lnTo>
                  <a:pt x="0" y="7408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等腰三角形 10"/>
          <p:cNvSpPr/>
          <p:nvPr/>
        </p:nvSpPr>
        <p:spPr>
          <a:xfrm rot="164224">
            <a:off x="3506540" y="5042651"/>
            <a:ext cx="1085960" cy="496658"/>
          </a:xfrm>
          <a:custGeom>
            <a:avLst/>
            <a:gdLst>
              <a:gd name="connsiteX0" fmla="*/ 0 w 2160000"/>
              <a:gd name="connsiteY0" fmla="*/ 1080000 h 1080000"/>
              <a:gd name="connsiteX1" fmla="*/ 1080000 w 2160000"/>
              <a:gd name="connsiteY1" fmla="*/ 0 h 1080000"/>
              <a:gd name="connsiteX2" fmla="*/ 2160000 w 2160000"/>
              <a:gd name="connsiteY2" fmla="*/ 1080000 h 1080000"/>
              <a:gd name="connsiteX3" fmla="*/ 0 w 2160000"/>
              <a:gd name="connsiteY3" fmla="*/ 1080000 h 1080000"/>
              <a:gd name="connsiteX0" fmla="*/ 0 w 2160000"/>
              <a:gd name="connsiteY0" fmla="*/ 1118100 h 1118100"/>
              <a:gd name="connsiteX1" fmla="*/ 1695950 w 2160000"/>
              <a:gd name="connsiteY1" fmla="*/ 0 h 1118100"/>
              <a:gd name="connsiteX2" fmla="*/ 2160000 w 2160000"/>
              <a:gd name="connsiteY2" fmla="*/ 1118100 h 1118100"/>
              <a:gd name="connsiteX3" fmla="*/ 0 w 2160000"/>
              <a:gd name="connsiteY3" fmla="*/ 1118100 h 111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0000" h="1118100">
                <a:moveTo>
                  <a:pt x="0" y="1118100"/>
                </a:moveTo>
                <a:lnTo>
                  <a:pt x="1695950" y="0"/>
                </a:lnTo>
                <a:lnTo>
                  <a:pt x="2160000" y="1118100"/>
                </a:lnTo>
                <a:lnTo>
                  <a:pt x="0" y="111810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  <a:effectLst>
            <a:outerShdw blurRad="508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100965" y="2988613"/>
            <a:ext cx="55206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0" dirty="0">
                <a:solidFill>
                  <a:prstClr val="white"/>
                </a:solidFill>
                <a:latin typeface="Agency FB" panose="020B0503020202020204" pitchFamily="34" charset="0"/>
              </a:rPr>
              <a:t>演示</a:t>
            </a:r>
          </a:p>
        </p:txBody>
      </p:sp>
    </p:spTree>
    <p:extLst>
      <p:ext uri="{BB962C8B-B14F-4D97-AF65-F5344CB8AC3E}">
        <p14:creationId xmlns:p14="http://schemas.microsoft.com/office/powerpoint/2010/main" val="4094863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2" y="0"/>
            <a:ext cx="1581151" cy="1306653"/>
            <a:chOff x="-2" y="5562600"/>
            <a:chExt cx="1581151" cy="1306653"/>
          </a:xfrm>
        </p:grpSpPr>
        <p:sp>
          <p:nvSpPr>
            <p:cNvPr id="3" name="直角三角形 8"/>
            <p:cNvSpPr/>
            <p:nvPr/>
          </p:nvSpPr>
          <p:spPr>
            <a:xfrm flipV="1">
              <a:off x="-2" y="5562600"/>
              <a:ext cx="1581151" cy="1306653"/>
            </a:xfrm>
            <a:custGeom>
              <a:avLst/>
              <a:gdLst>
                <a:gd name="connsiteX0" fmla="*/ 0 w 1596000"/>
                <a:gd name="connsiteY0" fmla="*/ 740842 h 740842"/>
                <a:gd name="connsiteX1" fmla="*/ 0 w 1596000"/>
                <a:gd name="connsiteY1" fmla="*/ 0 h 740842"/>
                <a:gd name="connsiteX2" fmla="*/ 1596000 w 1596000"/>
                <a:gd name="connsiteY2" fmla="*/ 740842 h 740842"/>
                <a:gd name="connsiteX3" fmla="*/ 0 w 1596000"/>
                <a:gd name="connsiteY3" fmla="*/ 740842 h 740842"/>
                <a:gd name="connsiteX0" fmla="*/ 0 w 1519800"/>
                <a:gd name="connsiteY0" fmla="*/ 740842 h 1293292"/>
                <a:gd name="connsiteX1" fmla="*/ 0 w 1519800"/>
                <a:gd name="connsiteY1" fmla="*/ 0 h 1293292"/>
                <a:gd name="connsiteX2" fmla="*/ 1519800 w 1519800"/>
                <a:gd name="connsiteY2" fmla="*/ 1293292 h 1293292"/>
                <a:gd name="connsiteX3" fmla="*/ 0 w 1519800"/>
                <a:gd name="connsiteY3" fmla="*/ 740842 h 129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800" h="1293292">
                  <a:moveTo>
                    <a:pt x="0" y="740842"/>
                  </a:moveTo>
                  <a:lnTo>
                    <a:pt x="0" y="0"/>
                  </a:lnTo>
                  <a:lnTo>
                    <a:pt x="1519800" y="1293292"/>
                  </a:lnTo>
                  <a:lnTo>
                    <a:pt x="0" y="740842"/>
                  </a:lnTo>
                  <a:close/>
                </a:path>
              </a:pathLst>
            </a:custGeom>
            <a:solidFill>
              <a:srgbClr val="59C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直角三角形 8"/>
            <p:cNvSpPr/>
            <p:nvPr/>
          </p:nvSpPr>
          <p:spPr>
            <a:xfrm rot="5400000" flipH="1" flipV="1">
              <a:off x="148633" y="5428776"/>
              <a:ext cx="1293293" cy="1565153"/>
            </a:xfrm>
            <a:custGeom>
              <a:avLst/>
              <a:gdLst>
                <a:gd name="connsiteX0" fmla="*/ 0 w 1596000"/>
                <a:gd name="connsiteY0" fmla="*/ 740842 h 740842"/>
                <a:gd name="connsiteX1" fmla="*/ 0 w 1596000"/>
                <a:gd name="connsiteY1" fmla="*/ 0 h 740842"/>
                <a:gd name="connsiteX2" fmla="*/ 1596000 w 1596000"/>
                <a:gd name="connsiteY2" fmla="*/ 740842 h 740842"/>
                <a:gd name="connsiteX3" fmla="*/ 0 w 1596000"/>
                <a:gd name="connsiteY3" fmla="*/ 740842 h 740842"/>
                <a:gd name="connsiteX0" fmla="*/ 0 w 1519800"/>
                <a:gd name="connsiteY0" fmla="*/ 740842 h 1293292"/>
                <a:gd name="connsiteX1" fmla="*/ 0 w 1519800"/>
                <a:gd name="connsiteY1" fmla="*/ 0 h 1293292"/>
                <a:gd name="connsiteX2" fmla="*/ 1519800 w 1519800"/>
                <a:gd name="connsiteY2" fmla="*/ 1293292 h 1293292"/>
                <a:gd name="connsiteX3" fmla="*/ 0 w 1519800"/>
                <a:gd name="connsiteY3" fmla="*/ 740842 h 129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800" h="1293292">
                  <a:moveTo>
                    <a:pt x="0" y="740842"/>
                  </a:moveTo>
                  <a:lnTo>
                    <a:pt x="0" y="0"/>
                  </a:lnTo>
                  <a:lnTo>
                    <a:pt x="1519800" y="1293292"/>
                  </a:lnTo>
                  <a:lnTo>
                    <a:pt x="0" y="74084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1198904" y="2321932"/>
            <a:ext cx="9757095" cy="3309922"/>
          </a:xfrm>
          <a:prstGeom prst="rect">
            <a:avLst/>
          </a:prstGeom>
          <a:solidFill>
            <a:srgbClr val="59C3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8940" y="1816893"/>
            <a:ext cx="8894120" cy="43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矩形 10"/>
          <p:cNvSpPr/>
          <p:nvPr/>
        </p:nvSpPr>
        <p:spPr>
          <a:xfrm>
            <a:off x="1956000" y="2169000"/>
            <a:ext cx="8280000" cy="360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1667706" y="294809"/>
            <a:ext cx="820829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我们可以</a:t>
            </a:r>
            <a:r>
              <a:rPr lang="zh-CN" altLang="en-US" sz="4000" dirty="0">
                <a:solidFill>
                  <a:srgbClr val="58595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做什么？</a:t>
            </a:r>
            <a:endParaRPr lang="en-US" altLang="zh-CN" sz="4000" dirty="0">
              <a:solidFill>
                <a:srgbClr val="58595B"/>
              </a:solidFill>
              <a:latin typeface="Lantinghei SC Extralight" panose="02000000000000000000" pitchFamily="2" charset="-122"/>
              <a:ea typeface="Lantinghei SC Extralight" panose="02000000000000000000" pitchFamily="2" charset="-122"/>
            </a:endParaRPr>
          </a:p>
          <a:p>
            <a:endParaRPr lang="zh-CN" altLang="en-US" sz="4000" dirty="0">
              <a:solidFill>
                <a:srgbClr val="58595B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20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700678" y="3713027"/>
            <a:ext cx="29553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solidFill>
                  <a:prstClr val="white"/>
                </a:solidFill>
                <a:latin typeface="Agency FB" panose="020B0503020202020204" pitchFamily="34" charset="0"/>
              </a:rPr>
              <a:t>THANKS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774420" y="4965873"/>
            <a:ext cx="70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prstClr val="white"/>
                </a:solidFill>
                <a:latin typeface="Agency FB" panose="020B0503020202020204" pitchFamily="34" charset="0"/>
                <a:ea typeface="MSmart PRC Medium" panose="00000500000000000000" pitchFamily="2" charset="-122"/>
              </a:rPr>
              <a:t>FOR YOUR WATCHING</a:t>
            </a:r>
            <a:endParaRPr lang="zh-CN" altLang="en-US" sz="4000" dirty="0">
              <a:solidFill>
                <a:prstClr val="white"/>
              </a:solidFill>
              <a:latin typeface="Agency FB" panose="020B0503020202020204" pitchFamily="34" charset="0"/>
              <a:ea typeface="MSmart PRC Medium" panose="00000500000000000000" pitchFamily="2" charset="-122"/>
            </a:endParaRPr>
          </a:p>
        </p:txBody>
      </p:sp>
      <p:pic>
        <p:nvPicPr>
          <p:cNvPr id="2" name="7AND5 - Equality 7-252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644000" y="7029000"/>
            <a:ext cx="609600" cy="6096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D158521-2E96-F279-A255-187182BE251A}"/>
              </a:ext>
            </a:extLst>
          </p:cNvPr>
          <p:cNvSpPr txBox="1"/>
          <p:nvPr/>
        </p:nvSpPr>
        <p:spPr>
          <a:xfrm>
            <a:off x="10056000" y="5673759"/>
            <a:ext cx="1879040" cy="885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kumimoji="1" lang="en-US" altLang="zh-CN" b="1" dirty="0">
                <a:solidFill>
                  <a:schemeClr val="bg1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By ERD </a:t>
            </a:r>
            <a:r>
              <a:rPr kumimoji="1" lang="zh-CN" altLang="en-US" b="1" dirty="0">
                <a:solidFill>
                  <a:schemeClr val="bg1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顾三乐</a:t>
            </a:r>
            <a:endParaRPr kumimoji="1" lang="en-US" altLang="zh-CN" b="1" dirty="0">
              <a:solidFill>
                <a:schemeClr val="bg1"/>
              </a:solidFill>
              <a:latin typeface="Lantinghei SC Demibold" panose="02000000000000000000" pitchFamily="2" charset="-122"/>
              <a:ea typeface="Lantinghei SC Demibold" panose="02000000000000000000" pitchFamily="2" charset="-122"/>
            </a:endParaRPr>
          </a:p>
          <a:p>
            <a:pPr algn="r">
              <a:lnSpc>
                <a:spcPct val="150000"/>
              </a:lnSpc>
            </a:pPr>
            <a:r>
              <a:rPr kumimoji="1" lang="en-US" altLang="zh-CN" b="1" dirty="0">
                <a:solidFill>
                  <a:schemeClr val="bg1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2023.12.22</a:t>
            </a:r>
            <a:endParaRPr kumimoji="1" lang="zh-CN" altLang="en-US" b="1" dirty="0">
              <a:solidFill>
                <a:schemeClr val="bg1"/>
              </a:solidFill>
              <a:latin typeface="Lantinghei SC Demibold" panose="02000000000000000000" pitchFamily="2" charset="-122"/>
              <a:ea typeface="Lantinghei SC Demibold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1705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919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01161922"/>
  <p:tag name="MH_LIBRARY" val="GRAPHIC"/>
  <p:tag name="MH_TYPE" val="SubTitle"/>
  <p:tag name="MH_ORDER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01161922"/>
  <p:tag name="MH_LIBRARY" val="GRAPHIC"/>
  <p:tag name="MH_TYPE" val="SubTitle"/>
  <p:tag name="MH_ORDER" val="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01161922"/>
  <p:tag name="MH_LIBRARY" val="GRAPHIC"/>
  <p:tag name="MH_TYPE" val="SubTitle"/>
  <p:tag name="MH_ORDER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01161922"/>
  <p:tag name="MH_LIBRARY" val="GRAPHIC"/>
  <p:tag name="MH_TYPE" val="SubTitle"/>
  <p:tag name="MH_ORDER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01161922"/>
  <p:tag name="MH_LIBRARY" val="GRAPHIC"/>
  <p:tag name="MH_TYPE" val="SubTitle"/>
  <p:tag name="MH_ORDER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01161922"/>
  <p:tag name="MH_LIBRARY" val="GRAPHIC"/>
  <p:tag name="MH_TYPE" val="Other"/>
  <p:tag name="MH_ORDER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01161922"/>
  <p:tag name="MH_LIBRARY" val="GRAPHIC"/>
  <p:tag name="MH_TYPE" val="Other"/>
  <p:tag name="MH_ORDER" val="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01161922"/>
  <p:tag name="MH_LIBRARY" val="GRAPHIC"/>
  <p:tag name="MH_TYPE" val="SubTitle"/>
  <p:tag name="MH_ORDER" val="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01161922"/>
  <p:tag name="MH_LIBRARY" val="GRAPHIC"/>
  <p:tag name="MH_TYPE" val="Other"/>
  <p:tag name="MH_ORDER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01161922"/>
  <p:tag name="MH_LIBRARY" val="GRAPHIC"/>
  <p:tag name="MH_TYPE" val="Other"/>
  <p:tag name="MH_ORDER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01161922"/>
  <p:tag name="MH_LIBRARY" val="GRAPHIC"/>
  <p:tag name="MH_TYPE" val="Other"/>
  <p:tag name="MH_ORDER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01161922"/>
  <p:tag name="MH_LIBRARY" val="GRAPHIC"/>
  <p:tag name="MH_TYPE" val="Text"/>
  <p:tag name="MH_ORDER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01161922"/>
  <p:tag name="MH_LIBRARY" val="GRAPHIC"/>
  <p:tag name="MH_TYPE" val="SubTitle"/>
  <p:tag name="MH_ORDER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01161922"/>
  <p:tag name="MH_LIBRARY" val="GRAPHIC"/>
  <p:tag name="MH_TYPE" val="Text"/>
  <p:tag name="MH_ORDER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01161922"/>
  <p:tag name="MH_LIBRARY" val="GRAPHIC"/>
  <p:tag name="MH_TYPE" val="Text"/>
  <p:tag name="MH_ORDER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01161922"/>
  <p:tag name="MH_LIBRARY" val="GRAPHIC"/>
  <p:tag name="MH_TYPE" val="Text"/>
  <p:tag name="MH_ORDE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01161922"/>
  <p:tag name="MH_LIBRARY" val="GRAPHIC"/>
  <p:tag name="MH_TYPE" val="SubTitle"/>
  <p:tag name="MH_ORDER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01161922"/>
  <p:tag name="MH_LIBRARY" val="GRAPHIC"/>
  <p:tag name="MH_TYPE" val="SubTitle"/>
  <p:tag name="MH_ORDER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">
  <a:themeElements>
    <a:clrScheme name="像素">
      <a:dk1>
        <a:srgbClr val="103154"/>
      </a:dk1>
      <a:lt1>
        <a:srgbClr val="FFFFFF"/>
      </a:lt1>
      <a:dk2>
        <a:srgbClr val="00BFC3"/>
      </a:dk2>
      <a:lt2>
        <a:srgbClr val="0096FF"/>
      </a:lt2>
      <a:accent1>
        <a:srgbClr val="FF7F01"/>
      </a:accent1>
      <a:accent2>
        <a:srgbClr val="F1B015"/>
      </a:accent2>
      <a:accent3>
        <a:srgbClr val="FBEC85"/>
      </a:accent3>
      <a:accent4>
        <a:srgbClr val="D2C2F1"/>
      </a:accent4>
      <a:accent5>
        <a:srgbClr val="DA5AF4"/>
      </a:accent5>
      <a:accent6>
        <a:srgbClr val="9D09D1"/>
      </a:accent6>
      <a:hlink>
        <a:srgbClr val="1286C9"/>
      </a:hlink>
      <a:folHlink>
        <a:srgbClr val="A8C2E7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91934386619ba01c0fa0e87e29ccddf6d206bfdd">
  <a:themeElements>
    <a:clrScheme name="像素">
      <a:dk1>
        <a:srgbClr val="103154"/>
      </a:dk1>
      <a:lt1>
        <a:srgbClr val="FFFFFF"/>
      </a:lt1>
      <a:dk2>
        <a:srgbClr val="00BFC3"/>
      </a:dk2>
      <a:lt2>
        <a:srgbClr val="0096FF"/>
      </a:lt2>
      <a:accent1>
        <a:srgbClr val="FF7F01"/>
      </a:accent1>
      <a:accent2>
        <a:srgbClr val="F1B015"/>
      </a:accent2>
      <a:accent3>
        <a:srgbClr val="FBEC85"/>
      </a:accent3>
      <a:accent4>
        <a:srgbClr val="D2C2F1"/>
      </a:accent4>
      <a:accent5>
        <a:srgbClr val="DA5AF4"/>
      </a:accent5>
      <a:accent6>
        <a:srgbClr val="9D09D1"/>
      </a:accent6>
      <a:hlink>
        <a:srgbClr val="1286C9"/>
      </a:hlink>
      <a:folHlink>
        <a:srgbClr val="A8C2E7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adfa9dbaa88181d6bd08f0a93e36f8a9843c1384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3_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5225</TotalTime>
  <Words>1413</Words>
  <Application>Microsoft Macintosh PowerPoint</Application>
  <PresentationFormat>宽屏</PresentationFormat>
  <Paragraphs>110</Paragraphs>
  <Slides>12</Slides>
  <Notes>9</Notes>
  <HiddenSlides>0</HiddenSlides>
  <MMClips>1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12</vt:i4>
      </vt:variant>
    </vt:vector>
  </HeadingPairs>
  <TitlesOfParts>
    <vt:vector size="35" baseType="lpstr">
      <vt:lpstr>等线</vt:lpstr>
      <vt:lpstr>等线 Light</vt:lpstr>
      <vt:lpstr>微软雅黑</vt:lpstr>
      <vt:lpstr>JetBrains Mono</vt:lpstr>
      <vt:lpstr>Lantinghei SC Demibold</vt:lpstr>
      <vt:lpstr>Lantinghei SC Demibold</vt:lpstr>
      <vt:lpstr>LANTINGHEI SC EXTRALIGHT</vt:lpstr>
      <vt:lpstr>LANTINGHEI SC EXTRALIGHT</vt:lpstr>
      <vt:lpstr>PingFangSC-Medium</vt:lpstr>
      <vt:lpstr>PingFangSC-Regular</vt:lpstr>
      <vt:lpstr>Agency FB</vt:lpstr>
      <vt:lpstr>Arial</vt:lpstr>
      <vt:lpstr>Arial Rounded MT Bold</vt:lpstr>
      <vt:lpstr>Calibri</vt:lpstr>
      <vt:lpstr>Century Gothic</vt:lpstr>
      <vt:lpstr>Office 主题​​</vt:lpstr>
      <vt:lpstr>1_Office 主题​​</vt:lpstr>
      <vt:lpstr>2_Office 主题​​</vt:lpstr>
      <vt:lpstr>1_Office 主题</vt:lpstr>
      <vt:lpstr>Office 主题</vt:lpstr>
      <vt:lpstr>91934386619ba01c0fa0e87e29ccddf6d206bfdd</vt:lpstr>
      <vt:lpstr>adfa9dbaa88181d6bd08f0a93e36f8a9843c1384</vt:lpstr>
      <vt:lpstr>3_Office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dc:description>http://www.ypppt.com/</dc:description>
  <cp:lastModifiedBy>严 蓓琦 (Yan BeiQi)</cp:lastModifiedBy>
  <cp:revision>95</cp:revision>
  <dcterms:created xsi:type="dcterms:W3CDTF">2016-03-28T10:30:42Z</dcterms:created>
  <dcterms:modified xsi:type="dcterms:W3CDTF">2023-12-21T02:37:50Z</dcterms:modified>
</cp:coreProperties>
</file>