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411" r:id="rId2"/>
    <p:sldId id="410" r:id="rId3"/>
    <p:sldId id="320" r:id="rId4"/>
    <p:sldId id="321" r:id="rId5"/>
    <p:sldId id="326" r:id="rId6"/>
    <p:sldId id="327" r:id="rId7"/>
    <p:sldId id="328" r:id="rId8"/>
    <p:sldId id="329" r:id="rId9"/>
    <p:sldId id="412" r:id="rId10"/>
    <p:sldId id="439" r:id="rId11"/>
    <p:sldId id="419" r:id="rId12"/>
    <p:sldId id="355" r:id="rId13"/>
    <p:sldId id="357" r:id="rId14"/>
    <p:sldId id="416" r:id="rId15"/>
    <p:sldId id="322" r:id="rId16"/>
    <p:sldId id="332" r:id="rId17"/>
    <p:sldId id="303" r:id="rId18"/>
    <p:sldId id="297" r:id="rId19"/>
    <p:sldId id="444" r:id="rId20"/>
    <p:sldId id="438" r:id="rId21"/>
    <p:sldId id="420" r:id="rId22"/>
    <p:sldId id="417" r:id="rId23"/>
    <p:sldId id="422" r:id="rId24"/>
    <p:sldId id="421" r:id="rId25"/>
    <p:sldId id="362" r:id="rId26"/>
    <p:sldId id="360" r:id="rId27"/>
    <p:sldId id="364" r:id="rId28"/>
    <p:sldId id="370" r:id="rId29"/>
    <p:sldId id="365" r:id="rId30"/>
    <p:sldId id="363" r:id="rId31"/>
    <p:sldId id="423" r:id="rId32"/>
    <p:sldId id="424" r:id="rId33"/>
    <p:sldId id="376" r:id="rId34"/>
    <p:sldId id="425" r:id="rId35"/>
    <p:sldId id="426" r:id="rId36"/>
    <p:sldId id="378" r:id="rId37"/>
    <p:sldId id="441" r:id="rId38"/>
    <p:sldId id="432" r:id="rId39"/>
    <p:sldId id="433" r:id="rId40"/>
    <p:sldId id="434" r:id="rId41"/>
    <p:sldId id="435" r:id="rId42"/>
    <p:sldId id="436" r:id="rId43"/>
    <p:sldId id="437" r:id="rId44"/>
    <p:sldId id="442" r:id="rId45"/>
    <p:sldId id="443" r:id="rId46"/>
    <p:sldId id="445" r:id="rId47"/>
    <p:sldId id="446" r:id="rId48"/>
    <p:sldId id="447" r:id="rId49"/>
    <p:sldId id="304" r:id="rId5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 淑鈴" initials="吳" lastIdx="3" clrIdx="0">
    <p:extLst>
      <p:ext uri="{19B8F6BF-5375-455C-9EA6-DF929625EA0E}">
        <p15:presenceInfo xmlns:p15="http://schemas.microsoft.com/office/powerpoint/2012/main" userId="S-1-5-21-3698523251-3360643197-3526930804-86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70C0"/>
    <a:srgbClr val="EA9600"/>
    <a:srgbClr val="BFBFBF"/>
    <a:srgbClr val="FFBF00"/>
    <a:srgbClr val="FFC000"/>
    <a:srgbClr val="F7B52C"/>
    <a:srgbClr val="21294D"/>
    <a:srgbClr val="F2F2F2"/>
    <a:srgbClr val="DFE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4" autoAdjust="0"/>
    <p:restoredTop sz="69257" autoAdjust="0"/>
  </p:normalViewPr>
  <p:slideViewPr>
    <p:cSldViewPr>
      <p:cViewPr varScale="1">
        <p:scale>
          <a:sx n="100" d="100"/>
          <a:sy n="100" d="100"/>
        </p:scale>
        <p:origin x="84" y="108"/>
      </p:cViewPr>
      <p:guideLst>
        <p:guide orient="horz" pos="2159"/>
        <p:guide orient="horz" pos="1053"/>
        <p:guide pos="3844"/>
        <p:guide pos="19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3564" y="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AF9645-F9FE-4491-900C-C37B6C0B909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482002D-093B-49A6-BF0C-0A5D62524209}">
      <dgm:prSet custT="1"/>
      <dgm:spPr>
        <a:solidFill>
          <a:srgbClr val="62C9E2"/>
        </a:solidFill>
        <a:ln>
          <a:solidFill>
            <a:srgbClr val="62C9E2"/>
          </a:solidFill>
        </a:ln>
      </dgm:spPr>
      <dgm:t>
        <a:bodyPr/>
        <a:lstStyle/>
        <a:p>
          <a:r>
            <a:rPr lang="en-US" sz="1100" b="1" dirty="0"/>
            <a:t>cybozu developer network</a:t>
          </a:r>
          <a:r>
            <a:rPr lang="zh-CN" altLang="en-US" sz="1100" b="1" dirty="0"/>
            <a:t>网站</a:t>
          </a:r>
          <a:endParaRPr lang="zh-CN" sz="1100" dirty="0"/>
        </a:p>
      </dgm:t>
    </dgm:pt>
    <dgm:pt modelId="{262DD8D2-20BD-4F28-9E08-1C5A4FFB3FDC}" type="par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CDDBF1D3-3983-485F-9252-D9869C52C2E6}" type="sib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42155B44-35DF-450B-BE6E-E1659B158AC0}">
      <dgm:prSet custT="1"/>
      <dgm:spPr>
        <a:solidFill>
          <a:srgbClr val="FDA907"/>
        </a:solidFill>
        <a:ln>
          <a:solidFill>
            <a:srgbClr val="FDA907"/>
          </a:solidFill>
        </a:ln>
      </dgm:spPr>
      <dgm:t>
        <a:bodyPr/>
        <a:lstStyle/>
        <a:p>
          <a:r>
            <a:rPr lang="en-US" sz="1100" b="1" dirty="0" err="1"/>
            <a:t>kintone</a:t>
          </a:r>
          <a:r>
            <a:rPr lang="zh-CN" altLang="en-US" sz="1100" b="1" dirty="0"/>
            <a:t>中国官网</a:t>
          </a:r>
        </a:p>
      </dgm:t>
    </dgm:pt>
    <dgm:pt modelId="{0931BF11-F11D-408D-A2DA-0ED69C8BB422}" type="par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67F2FEA2-A8C7-4CD1-8DD4-D4A3294DC861}" type="sib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18100290-5B97-4AFC-8A09-D80AE70FBC3F}">
      <dgm:prSet custT="1"/>
      <dgm:spPr>
        <a:solidFill>
          <a:srgbClr val="21294D"/>
        </a:solidFill>
        <a:ln>
          <a:solidFill>
            <a:srgbClr val="21294D"/>
          </a:solidFill>
        </a:ln>
      </dgm:spPr>
      <dgm:t>
        <a:bodyPr/>
        <a:lstStyle/>
        <a:p>
          <a:r>
            <a:rPr lang="zh-CN" altLang="en-US" sz="1100" b="1" dirty="0"/>
            <a:t>微信公众号</a:t>
          </a:r>
          <a:r>
            <a:rPr lang="en-US" altLang="zh-CN" sz="1100" b="1" dirty="0"/>
            <a:t>:</a:t>
          </a:r>
          <a:r>
            <a:rPr lang="en-US" altLang="zh-CN" sz="1100" b="1" dirty="0" err="1"/>
            <a:t>cybozu</a:t>
          </a:r>
          <a:r>
            <a:rPr lang="zh-CN" altLang="en-US" sz="1100" b="1" dirty="0"/>
            <a:t>开发者网站</a:t>
          </a:r>
          <a:endParaRPr lang="zh-CN" sz="1100" dirty="0"/>
        </a:p>
      </dgm:t>
    </dgm:pt>
    <dgm:pt modelId="{2B52976E-7E3A-4D80-91A7-75A1B634D2BD}" type="sib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64E4F109-63F3-47AF-BD42-23324141CCF3}" type="par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02422081-F09A-4DEC-AEF7-16B1605DCBF3}">
      <dgm:prSet custT="1"/>
      <dgm:spPr>
        <a:solidFill>
          <a:srgbClr val="62C9E2">
            <a:alpha val="20000"/>
          </a:srgbClr>
        </a:solidFill>
        <a:ln>
          <a:solidFill>
            <a:srgbClr val="62C9E2">
              <a:alpha val="20000"/>
            </a:srgbClr>
          </a:solidFill>
        </a:ln>
      </dgm:spPr>
      <dgm:t>
        <a:bodyPr/>
        <a:lstStyle/>
        <a:p>
          <a:r>
            <a:rPr lang="en-US" sz="110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dirty="0">
            <a:solidFill>
              <a:srgbClr val="62C9E2"/>
            </a:solidFill>
          </a:endParaRPr>
        </a:p>
      </dgm:t>
    </dgm:pt>
    <dgm:pt modelId="{6B780937-DE71-4AE9-9D9D-6E34478E1DC9}" type="sib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10E57AA-B5B4-4092-92DF-717C287AED02}" type="par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C2F2674-385E-4623-AB26-5BF3EB642258}">
      <dgm:prSet custT="1"/>
      <dgm:spPr>
        <a:solidFill>
          <a:srgbClr val="FDA907">
            <a:alpha val="20000"/>
          </a:srgbClr>
        </a:solidFill>
        <a:ln>
          <a:solidFill>
            <a:srgbClr val="FDA907">
              <a:alpha val="20000"/>
            </a:srgbClr>
          </a:solidFill>
        </a:ln>
      </dgm:spPr>
      <dgm:t>
        <a:bodyPr/>
        <a:lstStyle/>
        <a:p>
          <a:r>
            <a:rPr lang="en-US" altLang="zh-CN" sz="11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dirty="0"/>
        </a:p>
      </dgm:t>
    </dgm:pt>
    <dgm:pt modelId="{7645FA14-CFD8-42FA-8504-3A3FC9307F1F}" type="sib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797C1B13-5A5C-41B0-96DE-C43DCAF2CB05}" type="par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52FA4DE0-5C9A-4166-A375-5BB65EBD2A0A}" type="pres">
      <dgm:prSet presAssocID="{5BAF9645-F9FE-4491-900C-C37B6C0B9099}" presName="Name0" presStyleCnt="0">
        <dgm:presLayoutVars>
          <dgm:dir/>
          <dgm:animLvl val="lvl"/>
          <dgm:resizeHandles val="exact"/>
        </dgm:presLayoutVars>
      </dgm:prSet>
      <dgm:spPr/>
    </dgm:pt>
    <dgm:pt modelId="{1B83B677-6649-4B2A-BE7E-EB5A086FAD1A}" type="pres">
      <dgm:prSet presAssocID="{C482002D-093B-49A6-BF0C-0A5D62524209}" presName="composite" presStyleCnt="0"/>
      <dgm:spPr/>
    </dgm:pt>
    <dgm:pt modelId="{02DE2194-79AC-412A-BEDC-D8DC2054B17B}" type="pres">
      <dgm:prSet presAssocID="{C482002D-093B-49A6-BF0C-0A5D6252420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2BFEC1A-A31A-4E95-9DE1-A04D0E37E9C5}" type="pres">
      <dgm:prSet presAssocID="{C482002D-093B-49A6-BF0C-0A5D62524209}" presName="desTx" presStyleLbl="alignAccFollowNode1" presStyleIdx="0" presStyleCnt="3">
        <dgm:presLayoutVars>
          <dgm:bulletEnabled val="1"/>
        </dgm:presLayoutVars>
      </dgm:prSet>
      <dgm:spPr/>
    </dgm:pt>
    <dgm:pt modelId="{D18B7241-E2F9-4BF9-8F9D-E95373023176}" type="pres">
      <dgm:prSet presAssocID="{CDDBF1D3-3983-485F-9252-D9869C52C2E6}" presName="space" presStyleCnt="0"/>
      <dgm:spPr/>
    </dgm:pt>
    <dgm:pt modelId="{D6A567B8-AF62-4206-9F46-CE5DFC4E4BE6}" type="pres">
      <dgm:prSet presAssocID="{18100290-5B97-4AFC-8A09-D80AE70FBC3F}" presName="composite" presStyleCnt="0"/>
      <dgm:spPr/>
    </dgm:pt>
    <dgm:pt modelId="{2F3E05CD-05E8-487D-97C0-F36C5B25A766}" type="pres">
      <dgm:prSet presAssocID="{18100290-5B97-4AFC-8A09-D80AE70FBC3F}" presName="parTx" presStyleLbl="alignNode1" presStyleIdx="1" presStyleCnt="3" custScaleX="101724" custLinFactNeighborX="0" custLinFactNeighborY="1150">
        <dgm:presLayoutVars>
          <dgm:chMax val="0"/>
          <dgm:chPref val="0"/>
          <dgm:bulletEnabled val="1"/>
        </dgm:presLayoutVars>
      </dgm:prSet>
      <dgm:spPr/>
    </dgm:pt>
    <dgm:pt modelId="{E082B7CA-85BE-4FF1-8E83-B33DD293E2C5}" type="pres">
      <dgm:prSet presAssocID="{18100290-5B97-4AFC-8A09-D80AE70FBC3F}" presName="desTx" presStyleLbl="alignAccFollowNode1" presStyleIdx="1" presStyleCnt="3" custLinFactNeighborY="5627">
        <dgm:presLayoutVars>
          <dgm:bulletEnabled val="1"/>
        </dgm:presLayoutVars>
      </dgm:prSet>
      <dgm:spPr/>
    </dgm:pt>
    <dgm:pt modelId="{916010FC-73C2-4A20-BAF1-D3DB841A5D2F}" type="pres">
      <dgm:prSet presAssocID="{2B52976E-7E3A-4D80-91A7-75A1B634D2BD}" presName="space" presStyleCnt="0"/>
      <dgm:spPr/>
    </dgm:pt>
    <dgm:pt modelId="{E99C8C0B-735C-4792-8775-AE31569CBCAF}" type="pres">
      <dgm:prSet presAssocID="{42155B44-35DF-450B-BE6E-E1659B158AC0}" presName="composite" presStyleCnt="0"/>
      <dgm:spPr/>
    </dgm:pt>
    <dgm:pt modelId="{B12AE9C0-421F-483A-A5E4-1EF097948687}" type="pres">
      <dgm:prSet presAssocID="{42155B44-35DF-450B-BE6E-E1659B158AC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A36BC6B-2E73-4C15-B318-8EEFBE07D2CC}" type="pres">
      <dgm:prSet presAssocID="{42155B44-35DF-450B-BE6E-E1659B158AC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A14B30A-6A5D-4EBD-8EF0-F756C2CDBCDF}" srcId="{5BAF9645-F9FE-4491-900C-C37B6C0B9099}" destId="{42155B44-35DF-450B-BE6E-E1659B158AC0}" srcOrd="2" destOrd="0" parTransId="{0931BF11-F11D-408D-A2DA-0ED69C8BB422}" sibTransId="{67F2FEA2-A8C7-4CD1-8DD4-D4A3294DC861}"/>
    <dgm:cxn modelId="{5CCCF014-DF03-4C0A-9F10-83258132E5DE}" type="presOf" srcId="{42155B44-35DF-450B-BE6E-E1659B158AC0}" destId="{B12AE9C0-421F-483A-A5E4-1EF097948687}" srcOrd="0" destOrd="0" presId="urn:microsoft.com/office/officeart/2005/8/layout/hList1"/>
    <dgm:cxn modelId="{5A11CD1D-499A-4E94-810F-662BC789B4BD}" srcId="{42155B44-35DF-450B-BE6E-E1659B158AC0}" destId="{DC2F2674-385E-4623-AB26-5BF3EB642258}" srcOrd="0" destOrd="0" parTransId="{797C1B13-5A5C-41B0-96DE-C43DCAF2CB05}" sibTransId="{7645FA14-CFD8-42FA-8504-3A3FC9307F1F}"/>
    <dgm:cxn modelId="{5B120262-91D8-4CED-B234-AD20EA98D57D}" type="presOf" srcId="{C482002D-093B-49A6-BF0C-0A5D62524209}" destId="{02DE2194-79AC-412A-BEDC-D8DC2054B17B}" srcOrd="0" destOrd="0" presId="urn:microsoft.com/office/officeart/2005/8/layout/hList1"/>
    <dgm:cxn modelId="{EB113BC4-F8EF-43B8-8535-C1BB85D0F7F8}" type="presOf" srcId="{02422081-F09A-4DEC-AEF7-16B1605DCBF3}" destId="{B2BFEC1A-A31A-4E95-9DE1-A04D0E37E9C5}" srcOrd="0" destOrd="0" presId="urn:microsoft.com/office/officeart/2005/8/layout/hList1"/>
    <dgm:cxn modelId="{5F63A6C9-09F3-4F14-A78B-7C36831C32C2}" type="presOf" srcId="{18100290-5B97-4AFC-8A09-D80AE70FBC3F}" destId="{2F3E05CD-05E8-487D-97C0-F36C5B25A766}" srcOrd="0" destOrd="0" presId="urn:microsoft.com/office/officeart/2005/8/layout/hList1"/>
    <dgm:cxn modelId="{8504BACE-ED63-458A-8023-4AF65FD35343}" srcId="{5BAF9645-F9FE-4491-900C-C37B6C0B9099}" destId="{C482002D-093B-49A6-BF0C-0A5D62524209}" srcOrd="0" destOrd="0" parTransId="{262DD8D2-20BD-4F28-9E08-1C5A4FFB3FDC}" sibTransId="{CDDBF1D3-3983-485F-9252-D9869C52C2E6}"/>
    <dgm:cxn modelId="{2F8EBCDE-B104-4C9F-9F77-F466AEC78FDB}" srcId="{5BAF9645-F9FE-4491-900C-C37B6C0B9099}" destId="{18100290-5B97-4AFC-8A09-D80AE70FBC3F}" srcOrd="1" destOrd="0" parTransId="{64E4F109-63F3-47AF-BD42-23324141CCF3}" sibTransId="{2B52976E-7E3A-4D80-91A7-75A1B634D2BD}"/>
    <dgm:cxn modelId="{4011BDF4-0D69-47B0-A376-A55A29C474F8}" srcId="{C482002D-093B-49A6-BF0C-0A5D62524209}" destId="{02422081-F09A-4DEC-AEF7-16B1605DCBF3}" srcOrd="0" destOrd="0" parTransId="{D10E57AA-B5B4-4092-92DF-717C287AED02}" sibTransId="{6B780937-DE71-4AE9-9D9D-6E34478E1DC9}"/>
    <dgm:cxn modelId="{C643A8F6-8984-4A11-9247-F4E3BCF174D5}" type="presOf" srcId="{DC2F2674-385E-4623-AB26-5BF3EB642258}" destId="{0A36BC6B-2E73-4C15-B318-8EEFBE07D2CC}" srcOrd="0" destOrd="0" presId="urn:microsoft.com/office/officeart/2005/8/layout/hList1"/>
    <dgm:cxn modelId="{A7CF29FB-BE84-43F4-8721-80B8829E2ACD}" type="presOf" srcId="{5BAF9645-F9FE-4491-900C-C37B6C0B9099}" destId="{52FA4DE0-5C9A-4166-A375-5BB65EBD2A0A}" srcOrd="0" destOrd="0" presId="urn:microsoft.com/office/officeart/2005/8/layout/hList1"/>
    <dgm:cxn modelId="{0F41CA7B-5000-49A6-99E5-17C49FA7642E}" type="presParOf" srcId="{52FA4DE0-5C9A-4166-A375-5BB65EBD2A0A}" destId="{1B83B677-6649-4B2A-BE7E-EB5A086FAD1A}" srcOrd="0" destOrd="0" presId="urn:microsoft.com/office/officeart/2005/8/layout/hList1"/>
    <dgm:cxn modelId="{0F3D3EA0-7166-46DA-80BD-1A425FDB2160}" type="presParOf" srcId="{1B83B677-6649-4B2A-BE7E-EB5A086FAD1A}" destId="{02DE2194-79AC-412A-BEDC-D8DC2054B17B}" srcOrd="0" destOrd="0" presId="urn:microsoft.com/office/officeart/2005/8/layout/hList1"/>
    <dgm:cxn modelId="{E6C0C457-1923-4EB9-89B3-5162A0133BE9}" type="presParOf" srcId="{1B83B677-6649-4B2A-BE7E-EB5A086FAD1A}" destId="{B2BFEC1A-A31A-4E95-9DE1-A04D0E37E9C5}" srcOrd="1" destOrd="0" presId="urn:microsoft.com/office/officeart/2005/8/layout/hList1"/>
    <dgm:cxn modelId="{3F0A9209-3EC3-4CD8-80D1-19642CCCF163}" type="presParOf" srcId="{52FA4DE0-5C9A-4166-A375-5BB65EBD2A0A}" destId="{D18B7241-E2F9-4BF9-8F9D-E95373023176}" srcOrd="1" destOrd="0" presId="urn:microsoft.com/office/officeart/2005/8/layout/hList1"/>
    <dgm:cxn modelId="{3BF159A2-DDF0-4720-B405-5B4F3420B33A}" type="presParOf" srcId="{52FA4DE0-5C9A-4166-A375-5BB65EBD2A0A}" destId="{D6A567B8-AF62-4206-9F46-CE5DFC4E4BE6}" srcOrd="2" destOrd="0" presId="urn:microsoft.com/office/officeart/2005/8/layout/hList1"/>
    <dgm:cxn modelId="{4CE9E8E8-7207-4E9F-A0AF-BDAF8A2A0D2E}" type="presParOf" srcId="{D6A567B8-AF62-4206-9F46-CE5DFC4E4BE6}" destId="{2F3E05CD-05E8-487D-97C0-F36C5B25A766}" srcOrd="0" destOrd="0" presId="urn:microsoft.com/office/officeart/2005/8/layout/hList1"/>
    <dgm:cxn modelId="{5DE264E7-FB88-492F-AA75-4EF8DD329887}" type="presParOf" srcId="{D6A567B8-AF62-4206-9F46-CE5DFC4E4BE6}" destId="{E082B7CA-85BE-4FF1-8E83-B33DD293E2C5}" srcOrd="1" destOrd="0" presId="urn:microsoft.com/office/officeart/2005/8/layout/hList1"/>
    <dgm:cxn modelId="{FB5FFE86-9574-484C-B711-C07C503F0D79}" type="presParOf" srcId="{52FA4DE0-5C9A-4166-A375-5BB65EBD2A0A}" destId="{916010FC-73C2-4A20-BAF1-D3DB841A5D2F}" srcOrd="3" destOrd="0" presId="urn:microsoft.com/office/officeart/2005/8/layout/hList1"/>
    <dgm:cxn modelId="{956D3A80-ECF5-49DC-BD8A-323DDC24B11B}" type="presParOf" srcId="{52FA4DE0-5C9A-4166-A375-5BB65EBD2A0A}" destId="{E99C8C0B-735C-4792-8775-AE31569CBCAF}" srcOrd="4" destOrd="0" presId="urn:microsoft.com/office/officeart/2005/8/layout/hList1"/>
    <dgm:cxn modelId="{1EA4C944-255E-48D4-B82E-7EF471C7BD38}" type="presParOf" srcId="{E99C8C0B-735C-4792-8775-AE31569CBCAF}" destId="{B12AE9C0-421F-483A-A5E4-1EF097948687}" srcOrd="0" destOrd="0" presId="urn:microsoft.com/office/officeart/2005/8/layout/hList1"/>
    <dgm:cxn modelId="{D2FB8DF2-71AC-4A24-9215-5D740D947B90}" type="presParOf" srcId="{E99C8C0B-735C-4792-8775-AE31569CBCAF}" destId="{0A36BC6B-2E73-4C15-B318-8EEFBE07D2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E2194-79AC-412A-BEDC-D8DC2054B17B}">
      <dsp:nvSpPr>
        <dsp:cNvPr id="0" name=""/>
        <dsp:cNvSpPr/>
      </dsp:nvSpPr>
      <dsp:spPr>
        <a:xfrm>
          <a:off x="777" y="12071"/>
          <a:ext cx="2333557" cy="460800"/>
        </a:xfrm>
        <a:prstGeom prst="rect">
          <a:avLst/>
        </a:prstGeom>
        <a:solidFill>
          <a:srgbClr val="62C9E2"/>
        </a:solidFill>
        <a:ln w="25400" cap="flat" cmpd="sng" algn="ctr">
          <a:solidFill>
            <a:srgbClr val="62C9E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cybozu developer network</a:t>
          </a:r>
          <a:r>
            <a:rPr lang="zh-CN" altLang="en-US" sz="1100" b="1" kern="1200" dirty="0"/>
            <a:t>网站</a:t>
          </a:r>
          <a:endParaRPr lang="zh-CN" sz="1100" kern="1200" dirty="0"/>
        </a:p>
      </dsp:txBody>
      <dsp:txXfrm>
        <a:off x="777" y="12071"/>
        <a:ext cx="2333557" cy="460800"/>
      </dsp:txXfrm>
    </dsp:sp>
    <dsp:sp modelId="{B2BFEC1A-A31A-4E95-9DE1-A04D0E37E9C5}">
      <dsp:nvSpPr>
        <dsp:cNvPr id="0" name=""/>
        <dsp:cNvSpPr/>
      </dsp:nvSpPr>
      <dsp:spPr>
        <a:xfrm>
          <a:off x="777" y="472871"/>
          <a:ext cx="2333557" cy="702720"/>
        </a:xfrm>
        <a:prstGeom prst="rect">
          <a:avLst/>
        </a:prstGeom>
        <a:solidFill>
          <a:srgbClr val="62C9E2">
            <a:alpha val="20000"/>
          </a:srgbClr>
        </a:solidFill>
        <a:ln w="25400" cap="flat" cmpd="sng" algn="ctr">
          <a:solidFill>
            <a:srgbClr val="62C9E2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kern="1200" dirty="0">
            <a:solidFill>
              <a:srgbClr val="62C9E2"/>
            </a:solidFill>
          </a:endParaRPr>
        </a:p>
      </dsp:txBody>
      <dsp:txXfrm>
        <a:off x="777" y="472871"/>
        <a:ext cx="2333557" cy="702720"/>
      </dsp:txXfrm>
    </dsp:sp>
    <dsp:sp modelId="{2F3E05CD-05E8-487D-97C0-F36C5B25A766}">
      <dsp:nvSpPr>
        <dsp:cNvPr id="0" name=""/>
        <dsp:cNvSpPr/>
      </dsp:nvSpPr>
      <dsp:spPr>
        <a:xfrm>
          <a:off x="2661033" y="17370"/>
          <a:ext cx="2373788" cy="460800"/>
        </a:xfrm>
        <a:prstGeom prst="rect">
          <a:avLst/>
        </a:prstGeom>
        <a:solidFill>
          <a:srgbClr val="21294D"/>
        </a:solidFill>
        <a:ln w="25400" cap="flat" cmpd="sng" algn="ctr">
          <a:solidFill>
            <a:srgbClr val="21294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微信公众号</a:t>
          </a:r>
          <a:r>
            <a:rPr lang="en-US" altLang="zh-CN" sz="1100" b="1" kern="1200" dirty="0"/>
            <a:t>:</a:t>
          </a:r>
          <a:r>
            <a:rPr lang="en-US" altLang="zh-CN" sz="1100" b="1" kern="1200" dirty="0" err="1"/>
            <a:t>cybozu</a:t>
          </a:r>
          <a:r>
            <a:rPr lang="zh-CN" altLang="en-US" sz="1100" b="1" kern="1200" dirty="0"/>
            <a:t>开发者网站</a:t>
          </a:r>
          <a:endParaRPr lang="zh-CN" sz="1100" kern="1200" dirty="0"/>
        </a:p>
      </dsp:txBody>
      <dsp:txXfrm>
        <a:off x="2661033" y="17370"/>
        <a:ext cx="2373788" cy="460800"/>
      </dsp:txXfrm>
    </dsp:sp>
    <dsp:sp modelId="{E082B7CA-85BE-4FF1-8E83-B33DD293E2C5}">
      <dsp:nvSpPr>
        <dsp:cNvPr id="0" name=""/>
        <dsp:cNvSpPr/>
      </dsp:nvSpPr>
      <dsp:spPr>
        <a:xfrm>
          <a:off x="2681148" y="484943"/>
          <a:ext cx="2333557" cy="7027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E9C0-421F-483A-A5E4-1EF097948687}">
      <dsp:nvSpPr>
        <dsp:cNvPr id="0" name=""/>
        <dsp:cNvSpPr/>
      </dsp:nvSpPr>
      <dsp:spPr>
        <a:xfrm>
          <a:off x="5361519" y="12071"/>
          <a:ext cx="2333557" cy="460800"/>
        </a:xfrm>
        <a:prstGeom prst="rect">
          <a:avLst/>
        </a:prstGeom>
        <a:solidFill>
          <a:srgbClr val="FDA907"/>
        </a:solidFill>
        <a:ln w="25400" cap="flat" cmpd="sng" algn="ctr">
          <a:solidFill>
            <a:srgbClr val="FDA90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/>
            <a:t>kintone</a:t>
          </a:r>
          <a:r>
            <a:rPr lang="zh-CN" altLang="en-US" sz="1100" b="1" kern="1200" dirty="0"/>
            <a:t>中国官网</a:t>
          </a:r>
        </a:p>
      </dsp:txBody>
      <dsp:txXfrm>
        <a:off x="5361519" y="12071"/>
        <a:ext cx="2333557" cy="460800"/>
      </dsp:txXfrm>
    </dsp:sp>
    <dsp:sp modelId="{0A36BC6B-2E73-4C15-B318-8EEFBE07D2CC}">
      <dsp:nvSpPr>
        <dsp:cNvPr id="0" name=""/>
        <dsp:cNvSpPr/>
      </dsp:nvSpPr>
      <dsp:spPr>
        <a:xfrm>
          <a:off x="5361519" y="472871"/>
          <a:ext cx="2333557" cy="702720"/>
        </a:xfrm>
        <a:prstGeom prst="rect">
          <a:avLst/>
        </a:prstGeom>
        <a:solidFill>
          <a:srgbClr val="FDA907">
            <a:alpha val="20000"/>
          </a:srgbClr>
        </a:solidFill>
        <a:ln w="25400" cap="flat" cmpd="sng" algn="ctr">
          <a:solidFill>
            <a:srgbClr val="FDA907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kern="1200" dirty="0"/>
        </a:p>
      </dsp:txBody>
      <dsp:txXfrm>
        <a:off x="5361519" y="472871"/>
        <a:ext cx="2333557" cy="702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2019/3/28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2019/3/28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15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868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09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113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953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38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614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491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429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978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713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108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0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493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669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512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320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92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239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3207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6847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8830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645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7630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7014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7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449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6863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629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8274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5144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7572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597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0621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4271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5755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9867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7072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43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5202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850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2558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0965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1153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4655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9521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4325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8284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73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E05036-268D-45F3-B09D-CC67008DF79E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732CD06-1B1F-414B-B4FE-31E1F85B81F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5E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FB4022A-BBFC-42BA-B5AD-219EDFE7BE49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350168-D733-40F3-8008-C1E3A15A97FC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FBF00"/>
          </a:solidFill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EE83656-7932-4486-84C9-E7CE3178D44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5E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C8A92E5-160A-463C-8A42-C2B4DDA97872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BCB39C-B571-4FAE-AD83-3C56671202CF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09FD10D-B83E-489C-A23D-83BB085930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AF6F023-3388-4DFA-B290-C08530C2CFB5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C954331-23A4-4B71-A4CB-58B1F761A477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5F887FB-4A05-40F2-A212-D4E163B2F8C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86D66A-0081-4E9F-9DEC-63BDA23E871F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BBD591B4-D3C2-48BA-B84E-42133E130F72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FFD7933-5AEB-4EFB-A137-E299B9E87D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6A58BA5-38FD-490E-A4EB-EC85AEDC0EB7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2661083-F71D-42F6-8583-D032B2B57F46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282CFF8-2478-4E96-B97A-86F5169648A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E8EC397-24B0-47A1-9741-70B5CBE3E78E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F00FBC38-9EA5-485D-82C7-D310F88722B0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3593B03-534B-4CEE-B9DF-8D7E5B7F199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83AB6E9-C55F-42A0-B182-C067CCAD9993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61D2D8B-4DA7-486F-859B-FBEF371BD3E9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C444A7A-FFB8-4BB2-A6C6-6C92F19DCAD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F52FA3-F5FE-4DE5-8F3D-54EB048B3C4C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14891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5D6FDB-6D68-4507-AA21-E241AD02189A}"/>
              </a:ext>
            </a:extLst>
          </p:cNvPr>
          <p:cNvSpPr/>
          <p:nvPr userDrawn="1"/>
        </p:nvSpPr>
        <p:spPr>
          <a:xfrm>
            <a:off x="7182290" y="51470"/>
            <a:ext cx="1890210" cy="675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A65D2-8FAD-4D76-8784-B0DFBE8D81B0}" type="datetimeFigureOut">
              <a:rPr lang="zh-CN" altLang="en-US" smtClean="0"/>
              <a:t>2019/3/28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1E52-4521-4A04-9B01-2C3910F23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03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0D07AA-D6A0-4511-9255-3945168B88E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186485"/>
            <a:ext cx="1510693" cy="3318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9" r:id="rId6"/>
    <p:sldLayoutId id="2147483667" r:id="rId7"/>
    <p:sldLayoutId id="2147483653" r:id="rId8"/>
    <p:sldLayoutId id="2147483662" r:id="rId9"/>
    <p:sldLayoutId id="2147483654" r:id="rId10"/>
    <p:sldLayoutId id="2147483651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70" r:id="rId17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ybozudev.kf5.com/hc/kb/section/106248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ybozudev.kf5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evcamp.cybozu.cn/k/#/porta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evcamp.cybozu.cn/k/#/portal" TargetMode="External"/><Relationship Id="rId4" Type="http://schemas.openxmlformats.org/officeDocument/2006/relationships/hyperlink" Target="https://developpersh.cybozu.cn/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tool.oschina.net/encrypt?type=3" TargetMode="External"/><Relationship Id="rId3" Type="http://schemas.openxmlformats.org/officeDocument/2006/relationships/image" Target="../media/image50.png"/><Relationship Id="rId7" Type="http://schemas.openxmlformats.org/officeDocument/2006/relationships/hyperlink" Target="https://cybozudev.kf5.com/hc/kb/article/200733/#step7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hyperlink" Target="https://cybozudev.kf5.com/hc/kb/article/201603/#step1" TargetMode="External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2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1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6228786B-E576-43BA-B947-F997ADE38041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本课程内容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000F50D-8A8D-4C0D-976B-EC0D29A80BB1}"/>
              </a:ext>
            </a:extLst>
          </p:cNvPr>
          <p:cNvGrpSpPr/>
          <p:nvPr/>
        </p:nvGrpSpPr>
        <p:grpSpPr>
          <a:xfrm>
            <a:off x="332864" y="861338"/>
            <a:ext cx="4717155" cy="2771080"/>
            <a:chOff x="693880" y="1041580"/>
            <a:chExt cx="4717155" cy="277108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DBA88AAD-9EAC-44AA-B40C-4EA823C8F39D}"/>
                </a:ext>
              </a:extLst>
            </p:cNvPr>
            <p:cNvSpPr/>
            <p:nvPr/>
          </p:nvSpPr>
          <p:spPr>
            <a:xfrm>
              <a:off x="693880" y="1302944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776556B-D926-4CE1-A99F-590D84AED93E}"/>
                </a:ext>
              </a:extLst>
            </p:cNvPr>
            <p:cNvSpPr txBox="1"/>
            <p:nvPr/>
          </p:nvSpPr>
          <p:spPr>
            <a:xfrm>
              <a:off x="972576" y="1041580"/>
              <a:ext cx="4438459" cy="2771080"/>
            </a:xfrm>
            <a:prstGeom prst="rect">
              <a:avLst/>
            </a:prstGeom>
            <a:noFill/>
          </p:spPr>
          <p:txBody>
            <a:bodyPr wrap="none" tIns="46800" spcCol="72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3. kintone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的扩充性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3.1 JavaScript API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3.2 REST API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3.3 cybozu developer network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是什么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3.4 cybozu developer network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界面介绍</a:t>
              </a:r>
            </a:p>
            <a:p>
              <a:pPr>
                <a:lnSpc>
                  <a:spcPct val="150000"/>
                </a:lnSpc>
              </a:pP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4BBFD08-694A-4753-BC7B-500714B7E83F}"/>
              </a:ext>
            </a:extLst>
          </p:cNvPr>
          <p:cNvGrpSpPr/>
          <p:nvPr/>
        </p:nvGrpSpPr>
        <p:grpSpPr>
          <a:xfrm>
            <a:off x="5202069" y="878104"/>
            <a:ext cx="3555395" cy="3139321"/>
            <a:chOff x="4227016" y="878104"/>
            <a:chExt cx="3288435" cy="313932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50834B4-2B3D-4BD6-8F9A-F8093E500B98}"/>
                </a:ext>
              </a:extLst>
            </p:cNvPr>
            <p:cNvSpPr/>
            <p:nvPr/>
          </p:nvSpPr>
          <p:spPr>
            <a:xfrm>
              <a:off x="4227016" y="1122924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CDF5298-368F-48D7-A397-FF2CB737DB49}"/>
                </a:ext>
              </a:extLst>
            </p:cNvPr>
            <p:cNvSpPr txBox="1"/>
            <p:nvPr/>
          </p:nvSpPr>
          <p:spPr>
            <a:xfrm>
              <a:off x="4532779" y="878104"/>
              <a:ext cx="2982672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 kintone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定制化实践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4.1 JavaScript API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事件介绍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4.2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字段表示非表示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4.3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保存后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confirm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提示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4.4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如何上传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js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文件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88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1294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720890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rgbClr val="21294D"/>
                </a:solidFill>
                <a:latin typeface="+mj-lt"/>
              </a:rPr>
              <a:t>3</a:t>
            </a:r>
            <a:endParaRPr lang="zh-CN" altLang="en-US" sz="52000" dirty="0">
              <a:solidFill>
                <a:srgbClr val="21294D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66705"/>
            <a:ext cx="5178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</a:rPr>
              <a:t>可弥补标准功能不足的</a:t>
            </a:r>
            <a:r>
              <a:rPr lang="en-US" altLang="zh-CN" sz="2000" dirty="0" err="1">
                <a:solidFill>
                  <a:schemeClr val="bg1"/>
                </a:solidFill>
              </a:rPr>
              <a:t>kintone</a:t>
            </a:r>
            <a:r>
              <a:rPr lang="zh-CN" altLang="en-US" sz="2000" dirty="0">
                <a:solidFill>
                  <a:schemeClr val="bg1"/>
                </a:solidFill>
              </a:rPr>
              <a:t>定制化开发。</a:t>
            </a:r>
          </a:p>
        </p:txBody>
      </p:sp>
      <p:sp>
        <p:nvSpPr>
          <p:cNvPr id="3" name="矩形 2"/>
          <p:cNvSpPr/>
          <p:nvPr/>
        </p:nvSpPr>
        <p:spPr>
          <a:xfrm>
            <a:off x="4723989" y="1397264"/>
            <a:ext cx="40334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 err="1">
                <a:solidFill>
                  <a:srgbClr val="21294D"/>
                </a:solidFill>
                <a:latin typeface="Impact"/>
              </a:rPr>
              <a:t>kinone</a:t>
            </a:r>
            <a:r>
              <a:rPr lang="zh-CN" altLang="en-US" sz="4400" b="1" dirty="0">
                <a:solidFill>
                  <a:srgbClr val="21294D"/>
                </a:solidFill>
                <a:latin typeface="Impact"/>
              </a:rPr>
              <a:t>的扩充性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FEED87-C024-4124-AC73-657E30EDC996}"/>
              </a:ext>
            </a:extLst>
          </p:cNvPr>
          <p:cNvSpPr/>
          <p:nvPr/>
        </p:nvSpPr>
        <p:spPr>
          <a:xfrm>
            <a:off x="3735646" y="2825379"/>
            <a:ext cx="5178376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rgbClr val="21294D"/>
                </a:solidFill>
                <a:latin typeface="+mn-ea"/>
              </a:rPr>
              <a:t>kintone</a:t>
            </a:r>
            <a:r>
              <a:rPr lang="en-US" altLang="zh-CN" sz="1200" dirty="0">
                <a:solidFill>
                  <a:srgbClr val="21294D"/>
                </a:solidFill>
                <a:latin typeface="+mn-ea"/>
              </a:rPr>
              <a:t> API</a:t>
            </a:r>
            <a:r>
              <a:rPr lang="zh-CN" altLang="en-US" sz="1200" dirty="0">
                <a:solidFill>
                  <a:srgbClr val="21294D"/>
                </a:solidFill>
                <a:latin typeface="+mn-ea"/>
              </a:rPr>
              <a:t>入门系列</a:t>
            </a:r>
            <a:r>
              <a:rPr lang="en-US" altLang="zh-CN" sz="1200" dirty="0">
                <a:solidFill>
                  <a:srgbClr val="21294D"/>
                </a:solidFill>
                <a:latin typeface="+mn-ea"/>
                <a:hlinkClick r:id="rId3"/>
              </a:rPr>
              <a:t>https://cybozudev.kf5.com/hc/kb/section/106248/</a:t>
            </a:r>
            <a:endParaRPr lang="zh-CN" altLang="en-US" sz="1200" dirty="0">
              <a:solidFill>
                <a:srgbClr val="21294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02755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611560" y="944681"/>
            <a:ext cx="7920880" cy="3517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dirty="0">
                <a:latin typeface="+mn-ea"/>
                <a:ea typeface="+mn-ea"/>
              </a:rPr>
              <a:t>k</a:t>
            </a:r>
            <a:r>
              <a:rPr kumimoji="1" lang="en-US" altLang="ja-JP" sz="1800" dirty="0">
                <a:latin typeface="+mn-ea"/>
                <a:ea typeface="+mn-ea"/>
              </a:rPr>
              <a:t>intone</a:t>
            </a:r>
            <a:r>
              <a:rPr kumimoji="1" lang="zh-CN" altLang="en-US" sz="1800" dirty="0">
                <a:latin typeface="+mn-ea"/>
                <a:ea typeface="+mn-ea"/>
              </a:rPr>
              <a:t>的</a:t>
            </a:r>
            <a:r>
              <a:rPr kumimoji="1" lang="en-US" altLang="zh-CN" sz="1800" dirty="0">
                <a:latin typeface="+mn-ea"/>
                <a:ea typeface="+mn-ea"/>
              </a:rPr>
              <a:t>API</a:t>
            </a:r>
            <a:r>
              <a:rPr kumimoji="1" lang="zh-CN" altLang="en-US" sz="1800" dirty="0">
                <a:latin typeface="+mn-ea"/>
                <a:ea typeface="+mn-ea"/>
              </a:rPr>
              <a:t>，一般来说大致地可以分为</a:t>
            </a:r>
            <a:r>
              <a:rPr kumimoji="1" lang="en-US" altLang="zh-CN" sz="1800" dirty="0">
                <a:latin typeface="+mn-ea"/>
                <a:ea typeface="+mn-ea"/>
              </a:rPr>
              <a:t>2</a:t>
            </a:r>
            <a:r>
              <a:rPr kumimoji="1" lang="zh-CN" altLang="en-US" sz="1800" dirty="0">
                <a:latin typeface="+mn-ea"/>
                <a:ea typeface="+mn-ea"/>
              </a:rPr>
              <a:t>种：</a:t>
            </a:r>
            <a:endParaRPr kumimoji="1" lang="ja-JP" altLang="en-US" sz="1800" dirty="0">
              <a:latin typeface="+mn-ea"/>
              <a:ea typeface="+mn-ea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的扩充性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04158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462162-B050-43C9-BA1E-7F433C386297}"/>
              </a:ext>
            </a:extLst>
          </p:cNvPr>
          <p:cNvGrpSpPr/>
          <p:nvPr/>
        </p:nvGrpSpPr>
        <p:grpSpPr>
          <a:xfrm>
            <a:off x="1332822" y="1806665"/>
            <a:ext cx="5849469" cy="2548530"/>
            <a:chOff x="971600" y="1480812"/>
            <a:chExt cx="7057678" cy="3424149"/>
          </a:xfrm>
        </p:grpSpPr>
        <p:sp>
          <p:nvSpPr>
            <p:cNvPr id="31" name="角丸四角形 5">
              <a:extLst>
                <a:ext uri="{FF2B5EF4-FFF2-40B4-BE49-F238E27FC236}">
                  <a16:creationId xmlns:a16="http://schemas.microsoft.com/office/drawing/2014/main" id="{159C3162-07B5-45DD-92EA-3FC266893549}"/>
                </a:ext>
              </a:extLst>
            </p:cNvPr>
            <p:cNvSpPr/>
            <p:nvPr/>
          </p:nvSpPr>
          <p:spPr>
            <a:xfrm>
              <a:off x="5425756" y="1480812"/>
              <a:ext cx="2473376" cy="748768"/>
            </a:xfrm>
            <a:prstGeom prst="roundRect">
              <a:avLst>
                <a:gd name="adj" fmla="val 50000"/>
              </a:avLst>
            </a:prstGeom>
            <a:solidFill>
              <a:srgbClr val="63BDD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REST</a:t>
              </a:r>
              <a:r>
                <a:rPr lang="ja-JP" altLang="en-US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 </a:t>
              </a:r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API</a:t>
              </a:r>
              <a:endParaRPr lang="ja-JP" altLang="en-US" sz="2400" dirty="0">
                <a:solidFill>
                  <a:schemeClr val="bg1"/>
                </a:solidFill>
                <a:ea typeface="Meiryo" charset="-128"/>
                <a:cs typeface="Meiryo" charset="-128"/>
              </a:endParaRPr>
            </a:p>
          </p:txBody>
        </p:sp>
        <p:sp>
          <p:nvSpPr>
            <p:cNvPr id="54" name="テキスト ボックス 6">
              <a:extLst>
                <a:ext uri="{FF2B5EF4-FFF2-40B4-BE49-F238E27FC236}">
                  <a16:creationId xmlns:a16="http://schemas.microsoft.com/office/drawing/2014/main" id="{F1AE3DAA-F8A7-45E0-8BB7-0E29F2050470}"/>
                </a:ext>
              </a:extLst>
            </p:cNvPr>
            <p:cNvSpPr txBox="1"/>
            <p:nvPr/>
          </p:nvSpPr>
          <p:spPr>
            <a:xfrm>
              <a:off x="6025634" y="4367382"/>
              <a:ext cx="1460635" cy="537579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r>
                <a:rPr lang="zh-CN" altLang="en-US" sz="2000" dirty="0">
                  <a:solidFill>
                    <a:srgbClr val="FDA907"/>
                  </a:solidFill>
                  <a:latin typeface="+mn-ea"/>
                  <a:cs typeface="Meiryo" charset="-128"/>
                </a:rPr>
                <a:t>系统整合</a:t>
              </a:r>
              <a:endParaRPr lang="ja-JP" altLang="en-US" sz="2000" dirty="0">
                <a:solidFill>
                  <a:srgbClr val="FDA907"/>
                </a:solidFill>
                <a:latin typeface="+mn-ea"/>
                <a:cs typeface="Meiryo" charset="-128"/>
              </a:endParaRPr>
            </a:p>
          </p:txBody>
        </p:sp>
        <p:sp>
          <p:nvSpPr>
            <p:cNvPr id="55" name="テキスト ボックス 7">
              <a:extLst>
                <a:ext uri="{FF2B5EF4-FFF2-40B4-BE49-F238E27FC236}">
                  <a16:creationId xmlns:a16="http://schemas.microsoft.com/office/drawing/2014/main" id="{23AB6BE9-AA43-4EBE-8071-4942313DD0F4}"/>
                </a:ext>
              </a:extLst>
            </p:cNvPr>
            <p:cNvSpPr txBox="1"/>
            <p:nvPr/>
          </p:nvSpPr>
          <p:spPr>
            <a:xfrm>
              <a:off x="1589318" y="4367382"/>
              <a:ext cx="1770091" cy="537579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r>
                <a:rPr lang="zh-CN" altLang="en-US" sz="2000" dirty="0">
                  <a:solidFill>
                    <a:srgbClr val="FDA907"/>
                  </a:solidFill>
                  <a:latin typeface="+mn-ea"/>
                  <a:cs typeface="Meiryo" charset="-128"/>
                </a:rPr>
                <a:t>页面自定义</a:t>
              </a:r>
              <a:endParaRPr lang="ja-JP" altLang="en-US" sz="2000" dirty="0">
                <a:solidFill>
                  <a:srgbClr val="FDA907"/>
                </a:solidFill>
                <a:latin typeface="+mn-ea"/>
                <a:cs typeface="Meiryo" charset="-128"/>
              </a:endParaRPr>
            </a:p>
          </p:txBody>
        </p:sp>
        <p:sp>
          <p:nvSpPr>
            <p:cNvPr id="56" name="角丸四角形 8">
              <a:extLst>
                <a:ext uri="{FF2B5EF4-FFF2-40B4-BE49-F238E27FC236}">
                  <a16:creationId xmlns:a16="http://schemas.microsoft.com/office/drawing/2014/main" id="{87139A5E-AA17-4396-9BFE-2EB6129F0AC5}"/>
                </a:ext>
              </a:extLst>
            </p:cNvPr>
            <p:cNvSpPr/>
            <p:nvPr/>
          </p:nvSpPr>
          <p:spPr>
            <a:xfrm>
              <a:off x="971600" y="1484115"/>
              <a:ext cx="2983517" cy="748768"/>
            </a:xfrm>
            <a:prstGeom prst="roundRect">
              <a:avLst>
                <a:gd name="adj" fmla="val 50000"/>
              </a:avLst>
            </a:prstGeom>
            <a:solidFill>
              <a:srgbClr val="63BDD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JavaScript</a:t>
              </a:r>
              <a:r>
                <a:rPr lang="ja-JP" altLang="en-US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 </a:t>
              </a:r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API</a:t>
              </a:r>
              <a:endParaRPr lang="ja-JP" altLang="en-US" sz="2400" dirty="0">
                <a:solidFill>
                  <a:schemeClr val="bg1"/>
                </a:solidFill>
                <a:ea typeface="Meiryo" charset="-128"/>
                <a:cs typeface="Meiryo" charset="-128"/>
              </a:endParaRPr>
            </a:p>
          </p:txBody>
        </p:sp>
        <p:pic>
          <p:nvPicPr>
            <p:cNvPr id="57" name="図 10">
              <a:extLst>
                <a:ext uri="{FF2B5EF4-FFF2-40B4-BE49-F238E27FC236}">
                  <a16:creationId xmlns:a16="http://schemas.microsoft.com/office/drawing/2014/main" id="{B232E206-7EC3-42FF-935E-FE114641D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871" y="2543434"/>
              <a:ext cx="2657475" cy="1476375"/>
            </a:xfrm>
            <a:prstGeom prst="rect">
              <a:avLst/>
            </a:prstGeom>
          </p:spPr>
        </p:pic>
        <p:pic>
          <p:nvPicPr>
            <p:cNvPr id="58" name="図 11">
              <a:extLst>
                <a:ext uri="{FF2B5EF4-FFF2-40B4-BE49-F238E27FC236}">
                  <a16:creationId xmlns:a16="http://schemas.microsoft.com/office/drawing/2014/main" id="{7D7B02C0-B169-4A8E-843B-372B7C19D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5603" y="2592414"/>
              <a:ext cx="2733675" cy="1504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9970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791580" y="1041580"/>
            <a:ext cx="7650850" cy="2204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200" dirty="0">
                <a:latin typeface="+mn-ea"/>
                <a:ea typeface="+mn-ea"/>
              </a:rPr>
              <a:t>常用自定义的</a:t>
            </a:r>
            <a:r>
              <a:rPr lang="zh-CN" altLang="en-US" sz="2200" dirty="0">
                <a:latin typeface="+mn-ea"/>
              </a:rPr>
              <a:t>事件</a:t>
            </a:r>
            <a:r>
              <a:rPr lang="ja-JP" altLang="en-US" sz="2200" dirty="0">
                <a:latin typeface="+mn-ea"/>
                <a:ea typeface="+mn-ea"/>
              </a:rPr>
              <a:t>（</a:t>
            </a:r>
            <a:r>
              <a:rPr lang="zh-CN" altLang="en-US" sz="2200" dirty="0">
                <a:latin typeface="+mn-ea"/>
                <a:ea typeface="+mn-ea"/>
              </a:rPr>
              <a:t>列表</a:t>
            </a:r>
            <a:r>
              <a:rPr lang="ja-JP" altLang="en-US" sz="2200" dirty="0">
                <a:latin typeface="+mn-ea"/>
                <a:ea typeface="+mn-ea"/>
              </a:rPr>
              <a:t>、</a:t>
            </a:r>
            <a:r>
              <a:rPr lang="zh-CN" altLang="en-US" sz="2200" dirty="0">
                <a:latin typeface="+mn-ea"/>
                <a:ea typeface="+mn-ea"/>
              </a:rPr>
              <a:t>显示</a:t>
            </a:r>
            <a:r>
              <a:rPr lang="ja-JP" altLang="en-US" sz="2200" dirty="0">
                <a:latin typeface="+mn-ea"/>
                <a:ea typeface="+mn-ea"/>
              </a:rPr>
              <a:t>、</a:t>
            </a:r>
            <a:r>
              <a:rPr lang="zh-CN" altLang="en-US" sz="2200" dirty="0">
                <a:latin typeface="+mn-ea"/>
                <a:ea typeface="+mn-ea"/>
              </a:rPr>
              <a:t>添加</a:t>
            </a:r>
            <a:r>
              <a:rPr lang="ja-JP" altLang="en-US" sz="2200" dirty="0">
                <a:latin typeface="+mn-ea"/>
                <a:ea typeface="+mn-ea"/>
              </a:rPr>
              <a:t>、</a:t>
            </a:r>
            <a:r>
              <a:rPr lang="zh-CN" altLang="en-US" sz="2200" dirty="0">
                <a:latin typeface="+mn-ea"/>
                <a:ea typeface="+mn-ea"/>
              </a:rPr>
              <a:t>编辑</a:t>
            </a:r>
            <a:r>
              <a:rPr lang="ja-JP" altLang="en-US" sz="2200" dirty="0">
                <a:latin typeface="+mn-ea"/>
                <a:ea typeface="+mn-ea"/>
              </a:rPr>
              <a:t>、</a:t>
            </a:r>
            <a:r>
              <a:rPr lang="zh-CN" altLang="en-US" sz="2200" dirty="0">
                <a:latin typeface="+mn-ea"/>
                <a:ea typeface="+mn-ea"/>
              </a:rPr>
              <a:t>删除</a:t>
            </a:r>
            <a:r>
              <a:rPr lang="ja-JP" altLang="en-US" sz="2200" dirty="0">
                <a:latin typeface="+mn-ea"/>
                <a:ea typeface="+mn-ea"/>
              </a:rPr>
              <a:t>）</a:t>
            </a:r>
            <a:endParaRPr lang="en-US" altLang="ja-JP" sz="22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200" dirty="0">
                <a:latin typeface="+mn-ea"/>
                <a:ea typeface="+mn-ea"/>
              </a:rPr>
              <a:t>页面上值的获取</a:t>
            </a:r>
            <a:r>
              <a:rPr lang="ja-JP" altLang="en-US" sz="2200" dirty="0">
                <a:latin typeface="+mn-ea"/>
                <a:ea typeface="+mn-ea"/>
              </a:rPr>
              <a:t>・</a:t>
            </a:r>
            <a:r>
              <a:rPr lang="zh-CN" altLang="en-US" sz="2200" dirty="0">
                <a:latin typeface="+mn-ea"/>
                <a:ea typeface="+mn-ea"/>
              </a:rPr>
              <a:t>设定</a:t>
            </a:r>
            <a:endParaRPr lang="en-US" altLang="zh-CN" sz="22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200" dirty="0">
                <a:latin typeface="+mn-ea"/>
                <a:ea typeface="+mn-ea"/>
              </a:rPr>
              <a:t>执行</a:t>
            </a:r>
            <a:r>
              <a:rPr lang="en-US" altLang="ja-JP" sz="2200" dirty="0">
                <a:latin typeface="+mn-ea"/>
                <a:ea typeface="+mn-ea"/>
              </a:rPr>
              <a:t>REST</a:t>
            </a:r>
            <a:r>
              <a:rPr lang="ja-JP" altLang="en-US" sz="2200" dirty="0">
                <a:latin typeface="+mn-ea"/>
                <a:ea typeface="+mn-ea"/>
              </a:rPr>
              <a:t> </a:t>
            </a:r>
            <a:r>
              <a:rPr lang="en-US" altLang="ja-JP" sz="2200" dirty="0">
                <a:latin typeface="+mn-ea"/>
                <a:ea typeface="+mn-ea"/>
              </a:rPr>
              <a:t>API</a:t>
            </a: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200" dirty="0">
                <a:latin typeface="+mn-ea"/>
                <a:ea typeface="+mn-ea"/>
              </a:rPr>
              <a:t>执行</a:t>
            </a:r>
            <a:r>
              <a:rPr lang="ja-JP" altLang="en-US" sz="2200" dirty="0">
                <a:latin typeface="+mn-ea"/>
                <a:ea typeface="+mn-ea"/>
              </a:rPr>
              <a:t>外部</a:t>
            </a:r>
            <a:r>
              <a:rPr lang="en-US" altLang="ja-JP" sz="2200" dirty="0">
                <a:latin typeface="+mn-ea"/>
                <a:ea typeface="+mn-ea"/>
              </a:rPr>
              <a:t>API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17659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D8EE86-B1B9-4AC7-8C71-61C6433E4943}"/>
              </a:ext>
            </a:extLst>
          </p:cNvPr>
          <p:cNvSpPr/>
          <p:nvPr/>
        </p:nvSpPr>
        <p:spPr>
          <a:xfrm>
            <a:off x="287834" y="175299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DCB68FC-99BF-4316-83F9-40BBA746F0BB}"/>
              </a:ext>
            </a:extLst>
          </p:cNvPr>
          <p:cNvSpPr/>
          <p:nvPr/>
        </p:nvSpPr>
        <p:spPr>
          <a:xfrm>
            <a:off x="287834" y="225671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038FFB3-4B89-43F3-8AED-C607C26BA6C7}"/>
              </a:ext>
            </a:extLst>
          </p:cNvPr>
          <p:cNvSpPr/>
          <p:nvPr/>
        </p:nvSpPr>
        <p:spPr>
          <a:xfrm>
            <a:off x="290221" y="279677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DE1F59-0D67-4A47-890D-1741928EEE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345" y="3300540"/>
            <a:ext cx="960135" cy="154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12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pic>
        <p:nvPicPr>
          <p:cNvPr id="2050" name="Picture 2" descr="https://cybozudev.kf5.com/attachments/download/1122150/00157f6faa99ba4900b0a30e6d9540f/">
            <a:extLst>
              <a:ext uri="{FF2B5EF4-FFF2-40B4-BE49-F238E27FC236}">
                <a16:creationId xmlns:a16="http://schemas.microsoft.com/office/drawing/2014/main" id="{613B6AAB-ACB8-4629-BDD6-51BE1D6A8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70" y="1275734"/>
            <a:ext cx="7498713" cy="354626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79031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甘特图显示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0532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95182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批量审批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7FEA25-4937-420E-82B6-A7BD623B8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249142"/>
            <a:ext cx="5958414" cy="376666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26626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95182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页面自定义设计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182C7C-2318-4B83-A767-B650C237C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1239784"/>
            <a:ext cx="6399534" cy="390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95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611560" y="944681"/>
            <a:ext cx="4185465" cy="3112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获取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添加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更新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删除记录</a:t>
            </a:r>
            <a:endParaRPr lang="en-US" altLang="ja-JP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更改访问权限</a:t>
            </a:r>
            <a:endParaRPr lang="en-US" altLang="ja-JP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上传下载文件</a:t>
            </a: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批量处理记录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REST</a:t>
            </a:r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 API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12292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D8EE86-B1B9-4AC7-8C71-61C6433E4943}"/>
              </a:ext>
            </a:extLst>
          </p:cNvPr>
          <p:cNvSpPr/>
          <p:nvPr/>
        </p:nvSpPr>
        <p:spPr>
          <a:xfrm>
            <a:off x="287834" y="167165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DCB68FC-99BF-4316-83F9-40BBA746F0BB}"/>
              </a:ext>
            </a:extLst>
          </p:cNvPr>
          <p:cNvSpPr/>
          <p:nvPr/>
        </p:nvSpPr>
        <p:spPr>
          <a:xfrm>
            <a:off x="287834" y="225671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1BE240B-EB71-4809-B72D-D2C1794A729A}"/>
              </a:ext>
            </a:extLst>
          </p:cNvPr>
          <p:cNvSpPr/>
          <p:nvPr/>
        </p:nvSpPr>
        <p:spPr>
          <a:xfrm>
            <a:off x="296525" y="283311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2A2582-34D3-400A-ABB3-90A4CB6887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95" y="3336835"/>
            <a:ext cx="1675815" cy="167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9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>
            <a:extLst>
              <a:ext uri="{FF2B5EF4-FFF2-40B4-BE49-F238E27FC236}">
                <a16:creationId xmlns:a16="http://schemas.microsoft.com/office/drawing/2014/main" id="{C01330C8-C06D-4FC9-A771-BC2480F91172}"/>
              </a:ext>
            </a:extLst>
          </p:cNvPr>
          <p:cNvSpPr/>
          <p:nvPr/>
        </p:nvSpPr>
        <p:spPr>
          <a:xfrm>
            <a:off x="1262757" y="1208957"/>
            <a:ext cx="3459215" cy="3459215"/>
          </a:xfrm>
          <a:prstGeom prst="ellipse">
            <a:avLst/>
          </a:prstGeom>
          <a:solidFill>
            <a:schemeClr val="bg1"/>
          </a:solidFill>
          <a:ln>
            <a:solidFill>
              <a:srgbClr val="FDA907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77C9014-C268-4430-8087-A352002DD757}"/>
              </a:ext>
            </a:extLst>
          </p:cNvPr>
          <p:cNvSpPr/>
          <p:nvPr/>
        </p:nvSpPr>
        <p:spPr>
          <a:xfrm>
            <a:off x="1885416" y="3045800"/>
            <a:ext cx="2213897" cy="1141540"/>
          </a:xfrm>
          <a:custGeom>
            <a:avLst/>
            <a:gdLst>
              <a:gd name="connsiteX0" fmla="*/ 0 w 2213897"/>
              <a:gd name="connsiteY0" fmla="*/ 0 h 1141540"/>
              <a:gd name="connsiteX1" fmla="*/ 2213897 w 2213897"/>
              <a:gd name="connsiteY1" fmla="*/ 0 h 1141540"/>
              <a:gd name="connsiteX2" fmla="*/ 2213897 w 2213897"/>
              <a:gd name="connsiteY2" fmla="*/ 1141540 h 1141540"/>
              <a:gd name="connsiteX3" fmla="*/ 0 w 2213897"/>
              <a:gd name="connsiteY3" fmla="*/ 1141540 h 1141540"/>
              <a:gd name="connsiteX4" fmla="*/ 0 w 2213897"/>
              <a:gd name="connsiteY4" fmla="*/ 0 h 114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3897" h="1141540">
                <a:moveTo>
                  <a:pt x="0" y="0"/>
                </a:moveTo>
                <a:lnTo>
                  <a:pt x="2213897" y="0"/>
                </a:lnTo>
                <a:lnTo>
                  <a:pt x="2213897" y="1141540"/>
                </a:lnTo>
                <a:lnTo>
                  <a:pt x="0" y="1141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B02787C-DFED-4FC2-932A-EF60D5056C93}"/>
              </a:ext>
            </a:extLst>
          </p:cNvPr>
          <p:cNvSpPr/>
          <p:nvPr/>
        </p:nvSpPr>
        <p:spPr>
          <a:xfrm>
            <a:off x="6984299" y="1208957"/>
            <a:ext cx="603036" cy="1037764"/>
          </a:xfrm>
          <a:custGeom>
            <a:avLst/>
            <a:gdLst>
              <a:gd name="connsiteX0" fmla="*/ 0 w 288001"/>
              <a:gd name="connsiteY0" fmla="*/ 0 h 1037764"/>
              <a:gd name="connsiteX1" fmla="*/ 288001 w 288001"/>
              <a:gd name="connsiteY1" fmla="*/ 0 h 1037764"/>
              <a:gd name="connsiteX2" fmla="*/ 288001 w 288001"/>
              <a:gd name="connsiteY2" fmla="*/ 1037764 h 1037764"/>
              <a:gd name="connsiteX3" fmla="*/ 0 w 288001"/>
              <a:gd name="connsiteY3" fmla="*/ 1037764 h 1037764"/>
              <a:gd name="connsiteX4" fmla="*/ 0 w 288001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1" h="1037764">
                <a:moveTo>
                  <a:pt x="0" y="0"/>
                </a:moveTo>
                <a:lnTo>
                  <a:pt x="288001" y="0"/>
                </a:lnTo>
                <a:lnTo>
                  <a:pt x="288001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0" rIns="53340" bIns="0" numCol="1" spcCol="1270" anchor="ctr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kern="1200" dirty="0"/>
              <a:t>微信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CBBD7290-8D4E-487D-AB3E-098F1AA0ADBC}"/>
              </a:ext>
            </a:extLst>
          </p:cNvPr>
          <p:cNvSpPr/>
          <p:nvPr/>
        </p:nvSpPr>
        <p:spPr>
          <a:xfrm>
            <a:off x="6486172" y="2419682"/>
            <a:ext cx="772412" cy="1037764"/>
          </a:xfrm>
          <a:custGeom>
            <a:avLst/>
            <a:gdLst>
              <a:gd name="connsiteX0" fmla="*/ 0 w 264846"/>
              <a:gd name="connsiteY0" fmla="*/ 0 h 1037764"/>
              <a:gd name="connsiteX1" fmla="*/ 264846 w 264846"/>
              <a:gd name="connsiteY1" fmla="*/ 0 h 1037764"/>
              <a:gd name="connsiteX2" fmla="*/ 264846 w 264846"/>
              <a:gd name="connsiteY2" fmla="*/ 1037764 h 1037764"/>
              <a:gd name="connsiteX3" fmla="*/ 0 w 264846"/>
              <a:gd name="connsiteY3" fmla="*/ 1037764 h 1037764"/>
              <a:gd name="connsiteX4" fmla="*/ 0 w 264846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846" h="1037764">
                <a:moveTo>
                  <a:pt x="0" y="0"/>
                </a:moveTo>
                <a:lnTo>
                  <a:pt x="264846" y="0"/>
                </a:lnTo>
                <a:lnTo>
                  <a:pt x="264846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0" rIns="45720" bIns="0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kern="1200" dirty="0"/>
              <a:t>邮件</a:t>
            </a: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C330D86-722F-4C04-9E19-E82AC86B8D9F}"/>
              </a:ext>
            </a:extLst>
          </p:cNvPr>
          <p:cNvSpPr/>
          <p:nvPr/>
        </p:nvSpPr>
        <p:spPr>
          <a:xfrm>
            <a:off x="6984299" y="3630407"/>
            <a:ext cx="772412" cy="1037764"/>
          </a:xfrm>
          <a:custGeom>
            <a:avLst/>
            <a:gdLst>
              <a:gd name="connsiteX0" fmla="*/ 0 w 288001"/>
              <a:gd name="connsiteY0" fmla="*/ 0 h 1037764"/>
              <a:gd name="connsiteX1" fmla="*/ 288001 w 288001"/>
              <a:gd name="connsiteY1" fmla="*/ 0 h 1037764"/>
              <a:gd name="connsiteX2" fmla="*/ 288001 w 288001"/>
              <a:gd name="connsiteY2" fmla="*/ 1037764 h 1037764"/>
              <a:gd name="connsiteX3" fmla="*/ 0 w 288001"/>
              <a:gd name="connsiteY3" fmla="*/ 1037764 h 1037764"/>
              <a:gd name="connsiteX4" fmla="*/ 0 w 288001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1" h="1037764">
                <a:moveTo>
                  <a:pt x="0" y="0"/>
                </a:moveTo>
                <a:lnTo>
                  <a:pt x="288001" y="0"/>
                </a:lnTo>
                <a:lnTo>
                  <a:pt x="288001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0" rIns="53340" bIns="0" numCol="1" spcCol="1270" anchor="ctr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dirty="0"/>
              <a:t>物联网</a:t>
            </a:r>
            <a:endParaRPr lang="en-US" altLang="zh-CN" sz="1100" kern="1200" dirty="0"/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REST</a:t>
            </a:r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73474CF8-955F-41FB-B281-7C4FDC9061B9}"/>
              </a:ext>
            </a:extLst>
          </p:cNvPr>
          <p:cNvSpPr/>
          <p:nvPr/>
        </p:nvSpPr>
        <p:spPr>
          <a:xfrm>
            <a:off x="2068454" y="3606865"/>
            <a:ext cx="1808532" cy="54657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REST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 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API</a:t>
            </a:r>
            <a:endParaRPr lang="ja-JP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Meiryo" charset="-128"/>
              <a:cs typeface="Meiryo" charset="-128"/>
            </a:endParaRPr>
          </a:p>
        </p:txBody>
      </p:sp>
      <p:pic>
        <p:nvPicPr>
          <p:cNvPr id="7" name="図 16">
            <a:extLst>
              <a:ext uri="{FF2B5EF4-FFF2-40B4-BE49-F238E27FC236}">
                <a16:creationId xmlns:a16="http://schemas.microsoft.com/office/drawing/2014/main" id="{8FCB9864-B173-4E3E-99D2-052A50E53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645" y="1845662"/>
            <a:ext cx="1216375" cy="1671193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D8E6854-F37F-41EF-9379-09FBE11DAC79}"/>
              </a:ext>
            </a:extLst>
          </p:cNvPr>
          <p:cNvGrpSpPr/>
          <p:nvPr/>
        </p:nvGrpSpPr>
        <p:grpSpPr>
          <a:xfrm>
            <a:off x="5946534" y="1208957"/>
            <a:ext cx="1037764" cy="1037764"/>
            <a:chOff x="5946534" y="1208957"/>
            <a:chExt cx="1037764" cy="1037764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C2BA76F-6460-4A1C-A527-6C7DA6CE2C77}"/>
                </a:ext>
              </a:extLst>
            </p:cNvPr>
            <p:cNvSpPr/>
            <p:nvPr/>
          </p:nvSpPr>
          <p:spPr>
            <a:xfrm>
              <a:off x="5946534" y="1208957"/>
              <a:ext cx="1037764" cy="10377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tint val="50000"/>
                <a:hueOff val="-3591615"/>
                <a:satOff val="15458"/>
                <a:lumOff val="4179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3074" name="Picture 2" descr="「微信」の画像検索結果">
              <a:extLst>
                <a:ext uri="{FF2B5EF4-FFF2-40B4-BE49-F238E27FC236}">
                  <a16:creationId xmlns:a16="http://schemas.microsoft.com/office/drawing/2014/main" id="{5AAF8277-6D6E-4703-8350-B1767A87E0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1370" y="1491630"/>
              <a:ext cx="474523" cy="47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7B39E9F-CD44-4B5A-AC83-5B9683C430F4}"/>
              </a:ext>
            </a:extLst>
          </p:cNvPr>
          <p:cNvCxnSpPr>
            <a:cxnSpLocks/>
          </p:cNvCxnSpPr>
          <p:nvPr/>
        </p:nvCxnSpPr>
        <p:spPr>
          <a:xfrm>
            <a:off x="4228694" y="1716655"/>
            <a:ext cx="171019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97E2F20-66A0-49FE-82AF-DA8E3255706A}"/>
              </a:ext>
            </a:extLst>
          </p:cNvPr>
          <p:cNvCxnSpPr>
            <a:cxnSpLocks/>
          </p:cNvCxnSpPr>
          <p:nvPr/>
        </p:nvCxnSpPr>
        <p:spPr>
          <a:xfrm>
            <a:off x="4721972" y="2886785"/>
            <a:ext cx="72008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521D933-B635-4130-8E51-88C688FFFCE1}"/>
              </a:ext>
            </a:extLst>
          </p:cNvPr>
          <p:cNvCxnSpPr>
            <a:cxnSpLocks/>
          </p:cNvCxnSpPr>
          <p:nvPr/>
        </p:nvCxnSpPr>
        <p:spPr>
          <a:xfrm>
            <a:off x="4228694" y="4146925"/>
            <a:ext cx="171019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308224A-CED9-4F06-B8A2-F907D482A8FC}"/>
              </a:ext>
            </a:extLst>
          </p:cNvPr>
          <p:cNvGrpSpPr/>
          <p:nvPr/>
        </p:nvGrpSpPr>
        <p:grpSpPr>
          <a:xfrm>
            <a:off x="5448407" y="2419682"/>
            <a:ext cx="1037764" cy="1037764"/>
            <a:chOff x="5448407" y="2419682"/>
            <a:chExt cx="1037764" cy="1037764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9B07E27-80E0-409D-9E68-83050C14EC40}"/>
                </a:ext>
              </a:extLst>
            </p:cNvPr>
            <p:cNvSpPr/>
            <p:nvPr/>
          </p:nvSpPr>
          <p:spPr>
            <a:xfrm>
              <a:off x="5448407" y="2419682"/>
              <a:ext cx="1037764" cy="10377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tint val="50000"/>
                <a:hueOff val="-7183231"/>
                <a:satOff val="30917"/>
                <a:lumOff val="835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C6787F5-0CDA-4A42-B8F3-5B41FDAE1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1339" y="2841780"/>
              <a:ext cx="932600" cy="190665"/>
            </a:xfrm>
            <a:prstGeom prst="rect">
              <a:avLst/>
            </a:prstGeom>
          </p:spPr>
        </p:pic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A3FB1FB1-039A-4A1A-972F-33C4C91E1DE0}"/>
              </a:ext>
            </a:extLst>
          </p:cNvPr>
          <p:cNvSpPr/>
          <p:nvPr/>
        </p:nvSpPr>
        <p:spPr>
          <a:xfrm>
            <a:off x="5946534" y="3606865"/>
            <a:ext cx="1037764" cy="1037764"/>
          </a:xfrm>
          <a:prstGeom prst="ellipse">
            <a:avLst/>
          </a:prstGeom>
          <a:blipFill dpi="0" rotWithShape="1">
            <a:blip r:embed="rId6"/>
            <a:srcRect/>
            <a:stretch>
              <a:fillRect l="-20000" r="-20000"/>
            </a:stretch>
          </a:blip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439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1B498CE-1195-4179-BD12-8DF47914089F}"/>
              </a:ext>
            </a:extLst>
          </p:cNvPr>
          <p:cNvGrpSpPr/>
          <p:nvPr/>
        </p:nvGrpSpPr>
        <p:grpSpPr>
          <a:xfrm>
            <a:off x="0" y="2121700"/>
            <a:ext cx="9144000" cy="1035115"/>
            <a:chOff x="71500" y="4089925"/>
            <a:chExt cx="9144000" cy="103511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557305C-2420-400E-958C-B323ED058B99}"/>
                </a:ext>
              </a:extLst>
            </p:cNvPr>
            <p:cNvSpPr/>
            <p:nvPr/>
          </p:nvSpPr>
          <p:spPr>
            <a:xfrm>
              <a:off x="71500" y="4089925"/>
              <a:ext cx="9144000" cy="1035115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2F10F8-4433-4983-8E2E-B85C7074D25C}"/>
                </a:ext>
              </a:extLst>
            </p:cNvPr>
            <p:cNvSpPr txBox="1"/>
            <p:nvPr/>
          </p:nvSpPr>
          <p:spPr>
            <a:xfrm>
              <a:off x="71500" y="4315240"/>
              <a:ext cx="90724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F7B52C"/>
                  </a:solidFill>
                  <a:latin typeface="Impact" pitchFamily="34" charset="0"/>
                  <a:ea typeface="+mj-ea"/>
                </a:rPr>
                <a:t>代码规则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9F743B99-279D-40DE-918B-13C9423AF0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225" y="1477721"/>
            <a:ext cx="2188057" cy="218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72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56E293-FB84-4F18-B4F9-098CC30170BB}"/>
              </a:ext>
            </a:extLst>
          </p:cNvPr>
          <p:cNvSpPr txBox="1"/>
          <p:nvPr/>
        </p:nvSpPr>
        <p:spPr>
          <a:xfrm>
            <a:off x="926595" y="1221600"/>
            <a:ext cx="8415935" cy="1503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文件以</a:t>
            </a:r>
            <a:r>
              <a:rPr lang="en-US" altLang="ja-JP" sz="2400" dirty="0">
                <a:solidFill>
                  <a:srgbClr val="FDA907"/>
                </a:solidFill>
              </a:rPr>
              <a:t>UTF-8</a:t>
            </a:r>
            <a:r>
              <a:rPr lang="zh-CN" altLang="en-US" sz="2400" dirty="0">
                <a:solidFill>
                  <a:srgbClr val="FDA907"/>
                </a:solidFill>
              </a:rPr>
              <a:t>无</a:t>
            </a:r>
            <a:r>
              <a:rPr lang="en-US" altLang="zh-CN" sz="2400" dirty="0">
                <a:solidFill>
                  <a:srgbClr val="FDA907"/>
                </a:solidFill>
              </a:rPr>
              <a:t>BOM</a:t>
            </a:r>
            <a:r>
              <a:rPr lang="zh-CN" altLang="en-US" sz="2400" dirty="0">
                <a:solidFill>
                  <a:srgbClr val="FDA907"/>
                </a:solidFill>
              </a:rPr>
              <a:t>格式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编码保存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ja-JP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文件保存的扩展名为 </a:t>
            </a:r>
            <a:r>
              <a:rPr lang="en-US" altLang="zh-CN" sz="2400" b="1" dirty="0">
                <a:solidFill>
                  <a:srgbClr val="FDA907"/>
                </a:solidFill>
              </a:rPr>
              <a:t>js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（例：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sample.js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3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7005186" cy="25721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使用即时函数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971600" y="1716655"/>
            <a:ext cx="5799330" cy="96743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……</a:t>
            </a:r>
          </a:p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1072757" y="2976795"/>
            <a:ext cx="7774717" cy="170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将变量的影响范围控制在即时函数里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　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（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即时函数里定义的变量和函数不会覆盖即时函数外的变量和函数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）</a:t>
            </a:r>
            <a:endParaRPr lang="en-US" altLang="ja-JP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函数的定义与执行同时进行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B088AB-A80C-445E-900E-F49C54695247}"/>
              </a:ext>
            </a:extLst>
          </p:cNvPr>
          <p:cNvSpPr/>
          <p:nvPr/>
        </p:nvSpPr>
        <p:spPr>
          <a:xfrm>
            <a:off x="1151620" y="311181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125B56F-4591-4D93-9FD5-F70BC6E5BC6D}"/>
              </a:ext>
            </a:extLst>
          </p:cNvPr>
          <p:cNvSpPr/>
          <p:nvPr/>
        </p:nvSpPr>
        <p:spPr>
          <a:xfrm>
            <a:off x="1151620" y="419193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85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7005186" cy="25721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使用严格模式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971600" y="1716654"/>
            <a:ext cx="5799330" cy="140756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'use strict';</a:t>
            </a:r>
          </a:p>
          <a:p>
            <a:pPr marL="180000"/>
            <a:endParaRPr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1072758" y="3259235"/>
            <a:ext cx="5597014" cy="170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检查代码的正确性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例）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使用未定义的变量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B088AB-A80C-445E-900E-F49C54695247}"/>
              </a:ext>
            </a:extLst>
          </p:cNvPr>
          <p:cNvSpPr/>
          <p:nvPr/>
        </p:nvSpPr>
        <p:spPr>
          <a:xfrm>
            <a:off x="1160271" y="338184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080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373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+mj-lt"/>
              </a:rPr>
              <a:t>JavaScript API </a:t>
            </a:r>
            <a:r>
              <a:rPr lang="zh-CN" altLang="en-US" sz="2800" b="1" dirty="0">
                <a:latin typeface="+mj-lt"/>
              </a:rPr>
              <a:t>事件介绍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1669586-3D61-4F19-B291-29EA1E3F8885}"/>
              </a:ext>
            </a:extLst>
          </p:cNvPr>
          <p:cNvGrpSpPr/>
          <p:nvPr/>
        </p:nvGrpSpPr>
        <p:grpSpPr>
          <a:xfrm>
            <a:off x="476522" y="1052609"/>
            <a:ext cx="8145911" cy="3570208"/>
            <a:chOff x="468278" y="2228065"/>
            <a:chExt cx="7425825" cy="3570208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223C406-77E2-4B6C-A462-3B71A5B26C1B}"/>
                </a:ext>
              </a:extLst>
            </p:cNvPr>
            <p:cNvSpPr txBox="1"/>
            <p:nvPr/>
          </p:nvSpPr>
          <p:spPr>
            <a:xfrm>
              <a:off x="468278" y="2597397"/>
              <a:ext cx="7425825" cy="3200876"/>
            </a:xfrm>
            <a:prstGeom prst="rect">
              <a:avLst/>
            </a:prstGeom>
            <a:noFill/>
            <a:ln w="25400">
              <a:solidFill>
                <a:srgbClr val="FDA907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dirty="0">
                  <a:solidFill>
                    <a:srgbClr val="EA96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●●●</a:t>
              </a:r>
              <a:r>
                <a:rPr kumimoji="1" lang="zh-CN" altLang="en-US" sz="2800" dirty="0">
                  <a:latin typeface="+mn-ea"/>
                </a:rPr>
                <a:t>在</a:t>
              </a:r>
              <a:r>
                <a:rPr kumimoji="1" lang="ja-JP" altLang="en-US" sz="32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▲▲▲</a:t>
              </a:r>
              <a:r>
                <a:rPr kumimoji="1" lang="zh-CN" altLang="en-US" sz="2800" dirty="0">
                  <a:latin typeface="+mn-ea"/>
                </a:rPr>
                <a:t>时，执行</a:t>
              </a:r>
              <a:r>
                <a:rPr kumimoji="1" lang="ja-JP" altLang="en-US" sz="3200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■■■</a:t>
              </a:r>
              <a:r>
                <a:rPr kumimoji="1" lang="zh-CN" altLang="en-US" sz="2800" dirty="0">
                  <a:latin typeface="+mn-ea"/>
                </a:rPr>
                <a:t>处理</a:t>
              </a:r>
              <a:endParaRPr kumimoji="1" lang="en-US" altLang="zh-CN" sz="2800" dirty="0">
                <a:latin typeface="+mn-ea"/>
              </a:endParaRPr>
            </a:p>
            <a:p>
              <a:pPr algn="ctr"/>
              <a:r>
                <a:rPr lang="en-US" altLang="zh-CN" sz="12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</a:p>
            <a:p>
              <a:pPr algn="ctr"/>
              <a:r>
                <a:rPr lang="en-US" altLang="zh-CN" sz="2800" b="1" dirty="0" err="1">
                  <a:solidFill>
                    <a:srgbClr val="EA9600"/>
                  </a:solidFill>
                </a:rPr>
                <a:t>kintone.events.on</a:t>
              </a:r>
              <a:r>
                <a:rPr lang="en-US" altLang="zh-CN" sz="2800" b="1" dirty="0"/>
                <a:t>(</a:t>
              </a:r>
              <a:r>
                <a:rPr lang="en-US" altLang="zh-CN" sz="2800" b="1" dirty="0">
                  <a:solidFill>
                    <a:srgbClr val="00B050"/>
                  </a:solidFill>
                </a:rPr>
                <a:t>event</a:t>
              </a:r>
              <a:r>
                <a:rPr lang="en-US" altLang="zh-CN" sz="2800" b="1" dirty="0"/>
                <a:t>, </a:t>
              </a:r>
              <a:r>
                <a:rPr lang="en-US" altLang="zh-CN" sz="2800" b="1" dirty="0">
                  <a:solidFill>
                    <a:srgbClr val="0070C0"/>
                  </a:solidFill>
                </a:rPr>
                <a:t>handler(event)</a:t>
              </a:r>
              <a:r>
                <a:rPr lang="en-US" altLang="zh-CN" sz="2800" b="1" dirty="0"/>
                <a:t>);</a:t>
              </a:r>
            </a:p>
            <a:p>
              <a:pPr algn="ctr"/>
              <a:r>
                <a:rPr lang="en-US" altLang="zh-CN" sz="1600" b="1" dirty="0"/>
                <a:t> </a:t>
              </a:r>
            </a:p>
            <a:p>
              <a:r>
                <a:rPr lang="en-US" altLang="zh-CN" b="1" dirty="0" err="1">
                  <a:solidFill>
                    <a:srgbClr val="EA9600"/>
                  </a:solidFill>
                </a:rPr>
                <a:t>kintone.events.on</a:t>
              </a:r>
              <a:r>
                <a:rPr lang="en-US" altLang="zh-CN" b="1" dirty="0"/>
                <a:t>(</a:t>
              </a:r>
              <a:r>
                <a:rPr lang="en-US" altLang="ja-JP" dirty="0">
                  <a:solidFill>
                    <a:srgbClr val="00B05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'</a:t>
              </a:r>
              <a:r>
                <a:rPr lang="en-US" altLang="ja-JP" b="1" dirty="0" err="1">
                  <a:solidFill>
                    <a:srgbClr val="00B05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app.record.detail.show</a:t>
              </a:r>
              <a:r>
                <a:rPr lang="en-US" altLang="ja-JP" dirty="0">
                  <a:solidFill>
                    <a:srgbClr val="00B05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'</a:t>
              </a:r>
              <a:r>
                <a:rPr lang="en-US" altLang="zh-CN" b="1" dirty="0"/>
                <a:t>, </a:t>
              </a:r>
              <a:r>
                <a:rPr lang="en-US" altLang="zh-CN" b="1" dirty="0">
                  <a:solidFill>
                    <a:srgbClr val="0070C0"/>
                  </a:solidFill>
                </a:rPr>
                <a:t>function(event) {</a:t>
              </a:r>
            </a:p>
            <a:p>
              <a:r>
                <a:rPr lang="en-US" altLang="zh-CN" b="1" dirty="0">
                  <a:solidFill>
                    <a:srgbClr val="0070C0"/>
                  </a:solidFill>
                </a:rPr>
                <a:t>    </a:t>
              </a:r>
              <a:r>
                <a:rPr lang="en-US" altLang="zh-CN" b="1" dirty="0" err="1">
                  <a:solidFill>
                    <a:srgbClr val="0070C0"/>
                  </a:solidFill>
                </a:rPr>
                <a:t>window.alert</a:t>
              </a:r>
              <a:r>
                <a:rPr lang="en-US" altLang="zh-CN" b="1" dirty="0">
                  <a:solidFill>
                    <a:srgbClr val="0070C0"/>
                  </a:solidFill>
                </a:rPr>
                <a:t>(</a:t>
              </a:r>
              <a:r>
                <a:rPr lang="en-US" altLang="ja-JP" dirty="0">
                  <a:solidFill>
                    <a:srgbClr val="0070C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'</a:t>
              </a:r>
              <a:r>
                <a:rPr lang="zh-CN" altLang="en-US" b="1" dirty="0">
                  <a:solidFill>
                    <a:srgbClr val="0070C0"/>
                  </a:solidFill>
                </a:rPr>
                <a:t>记录显示事件</a:t>
              </a:r>
              <a:r>
                <a:rPr lang="en-US" altLang="ja-JP" dirty="0">
                  <a:solidFill>
                    <a:srgbClr val="0070C0"/>
                  </a:solidFill>
                  <a:ea typeface="Meiryo UI" panose="020B0604030504040204" pitchFamily="50" charset="-128"/>
                  <a:cs typeface="Meiryo UI" panose="020B0604030504040204" pitchFamily="50" charset="-128"/>
                </a:rPr>
                <a:t>'</a:t>
              </a:r>
              <a:r>
                <a:rPr lang="en-US" altLang="zh-CN" b="1" dirty="0">
                  <a:solidFill>
                    <a:srgbClr val="0070C0"/>
                  </a:solidFill>
                </a:rPr>
                <a:t>);</a:t>
              </a:r>
            </a:p>
            <a:p>
              <a:r>
                <a:rPr lang="en-US" altLang="zh-CN" b="1" dirty="0">
                  <a:solidFill>
                    <a:srgbClr val="0070C0"/>
                  </a:solidFill>
                </a:rPr>
                <a:t>}</a:t>
              </a:r>
              <a:r>
                <a:rPr lang="en-US" altLang="zh-CN" b="1" dirty="0"/>
                <a:t>);</a:t>
              </a:r>
            </a:p>
            <a:p>
              <a:r>
                <a:rPr kumimoji="1" lang="ja-JP" altLang="en-US" sz="2000" dirty="0">
                  <a:solidFill>
                    <a:srgbClr val="EA96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●●●</a:t>
              </a:r>
              <a:r>
                <a:rPr kumimoji="1" lang="ja-JP" altLang="en-US" sz="20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 </a:t>
              </a:r>
              <a:r>
                <a:rPr lang="zh-CN" altLang="en-US" sz="2000" dirty="0"/>
                <a:t>：</a:t>
              </a:r>
              <a:r>
                <a:rPr lang="en-US" altLang="zh-CN" dirty="0"/>
                <a:t>Object</a:t>
              </a:r>
              <a:r>
                <a:rPr lang="zh-CN" altLang="en-US" dirty="0"/>
                <a:t>（对象）</a:t>
              </a:r>
              <a:endParaRPr kumimoji="1" lang="en-US" altLang="ja-JP" dirty="0">
                <a:solidFill>
                  <a:srgbClr val="EA96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sz="2000" dirty="0">
                  <a:solidFill>
                    <a:srgbClr val="00B05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▲▲▲ </a:t>
              </a:r>
              <a:r>
                <a:rPr lang="zh-CN" altLang="en-US" sz="2000" dirty="0"/>
                <a:t>：</a:t>
              </a:r>
              <a:r>
                <a:rPr lang="en-US" altLang="zh-CN" dirty="0"/>
                <a:t>Event</a:t>
              </a:r>
              <a:r>
                <a:rPr lang="zh-CN" altLang="en-US" dirty="0"/>
                <a:t>（事件）</a:t>
              </a:r>
              <a:r>
                <a:rPr lang="en-US" altLang="zh-CN" dirty="0"/>
                <a:t>——</a:t>
              </a:r>
              <a:r>
                <a:rPr lang="zh-CN" altLang="en-US" dirty="0"/>
                <a:t>字符串或字符串的数组</a:t>
              </a:r>
              <a:endParaRPr lang="en-US" altLang="zh-CN" dirty="0"/>
            </a:p>
            <a:p>
              <a:r>
                <a:rPr kumimoji="1" lang="ja-JP" altLang="en-US" sz="2000" b="1" dirty="0">
                  <a:solidFill>
                    <a:srgbClr val="0070C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■■■ </a:t>
              </a:r>
              <a:r>
                <a:rPr lang="zh-CN" altLang="en-US" sz="2000" dirty="0"/>
                <a:t>：</a:t>
              </a:r>
              <a:r>
                <a:rPr lang="en-US" altLang="zh-CN" dirty="0"/>
                <a:t>Handler</a:t>
              </a:r>
              <a:r>
                <a:rPr lang="zh-CN" altLang="en-US" dirty="0"/>
                <a:t>（自定义）</a:t>
              </a:r>
              <a:endParaRPr lang="en-US" altLang="zh-CN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5A60D01-99AC-44A4-8C99-3D4B057D43F4}"/>
                </a:ext>
              </a:extLst>
            </p:cNvPr>
            <p:cNvSpPr txBox="1"/>
            <p:nvPr/>
          </p:nvSpPr>
          <p:spPr>
            <a:xfrm>
              <a:off x="3052976" y="2228065"/>
              <a:ext cx="2338518" cy="369332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DA907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事件处理的基本写法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920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C84C738-3EA8-426B-AD36-E4397332B6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111" y="2795932"/>
            <a:ext cx="1676435" cy="222225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E41264E-2F5E-42BC-ABF5-00908EFC4001}"/>
              </a:ext>
            </a:extLst>
          </p:cNvPr>
          <p:cNvSpPr/>
          <p:nvPr/>
        </p:nvSpPr>
        <p:spPr>
          <a:xfrm>
            <a:off x="0" y="1806665"/>
            <a:ext cx="9144000" cy="103511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71500" y="1851670"/>
            <a:ext cx="9001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在哪里查找事件呢？</a:t>
            </a:r>
            <a:endParaRPr lang="en-US" altLang="zh-CN" sz="28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  <a:p>
            <a:pPr algn="ctr"/>
            <a:r>
              <a:rPr lang="zh-CN" altLang="en-US" sz="28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下面来看看我们的</a:t>
            </a:r>
            <a:r>
              <a:rPr lang="en-US" altLang="zh-CN" sz="2800" dirty="0" err="1">
                <a:solidFill>
                  <a:srgbClr val="F7B52C"/>
                </a:solidFill>
                <a:latin typeface="Impact" pitchFamily="34" charset="0"/>
                <a:ea typeface="+mj-ea"/>
              </a:rPr>
              <a:t>cybozu</a:t>
            </a:r>
            <a:r>
              <a:rPr lang="zh-CN" altLang="en-US" sz="28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开发者网站吧</a:t>
            </a:r>
          </a:p>
        </p:txBody>
      </p:sp>
    </p:spTree>
    <p:extLst>
      <p:ext uri="{BB962C8B-B14F-4D97-AF65-F5344CB8AC3E}">
        <p14:creationId xmlns:p14="http://schemas.microsoft.com/office/powerpoint/2010/main" val="56871128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173CA7E-A6B2-4E55-BF48-51E65829A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9" y="231490"/>
            <a:ext cx="5193727" cy="4675315"/>
          </a:xfrm>
          <a:prstGeom prst="rect">
            <a:avLst/>
          </a:prstGeom>
          <a:ln w="3175">
            <a:noFill/>
          </a:ln>
          <a:effectLst>
            <a:outerShdw sx="1000" sy="1000" algn="tl" rotWithShape="0">
              <a:schemeClr val="tx1"/>
            </a:outerShdw>
          </a:effectLst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621E4896-7186-4A26-A000-2FC88A71FEBC}"/>
              </a:ext>
            </a:extLst>
          </p:cNvPr>
          <p:cNvSpPr/>
          <p:nvPr/>
        </p:nvSpPr>
        <p:spPr>
          <a:xfrm>
            <a:off x="5877145" y="2029087"/>
            <a:ext cx="3060340" cy="1080120"/>
          </a:xfrm>
          <a:prstGeom prst="wedgeRoundRectCallout">
            <a:avLst>
              <a:gd name="adj1" fmla="val 35620"/>
              <a:gd name="adj2" fmla="val 20038"/>
              <a:gd name="adj3" fmla="val 16667"/>
            </a:avLst>
          </a:prstGeom>
          <a:solidFill>
            <a:schemeClr val="lt1">
              <a:alpha val="69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cybozu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DA907"/>
                </a:solidFill>
              </a:rPr>
              <a:t>developer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network</a:t>
            </a:r>
          </a:p>
          <a:p>
            <a:pPr algn="ctr"/>
            <a:r>
              <a:rPr lang="en-US" altLang="zh-CN" sz="1200" dirty="0">
                <a:hlinkClick r:id="rId4"/>
              </a:rPr>
              <a:t>https://cybozudev.kf5.com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1364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3184688" y="2708886"/>
            <a:ext cx="1734458" cy="150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如您想要详细地学习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式样，轻松地使用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SDK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来开发，我们提供了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文档，让我们通过简单易懂的表述为您介绍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文档。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464" y="2751770"/>
            <a:ext cx="1734459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在社区里，可以灌水，可以和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developer network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的成员分享问题、解决问题。通过互相的交流，不断地提高开发水平。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77999" y="2753004"/>
            <a:ext cx="1734459" cy="150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本教程从弹出对话框这个简单的自定义开始。在后半部分，还会介绍使用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kintone JavaScript 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REST 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来进行自定义的例子。</a:t>
            </a:r>
          </a:p>
        </p:txBody>
      </p:sp>
      <p:sp>
        <p:nvSpPr>
          <p:cNvPr id="57" name="矩形 56"/>
          <p:cNvSpPr/>
          <p:nvPr/>
        </p:nvSpPr>
        <p:spPr>
          <a:xfrm>
            <a:off x="431541" y="1041580"/>
            <a:ext cx="2340258" cy="3072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开发范例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8962" y="1399703"/>
            <a:ext cx="2517853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为了满足“光看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API 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文档不明白，想要更简单易懂的学习文档”的需求，我们还可以学习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Tips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和范例，不仅仅可以学习到使用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JavaScript API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、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REST API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开发的方法，还可以提问。</a:t>
            </a:r>
          </a:p>
        </p:txBody>
      </p:sp>
      <p:sp>
        <p:nvSpPr>
          <p:cNvPr id="59" name="矩形 58"/>
          <p:cNvSpPr/>
          <p:nvPr/>
        </p:nvSpPr>
        <p:spPr>
          <a:xfrm>
            <a:off x="431542" y="2751770"/>
            <a:ext cx="2340257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免费的插件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74597" y="3109893"/>
            <a:ext cx="239720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只需要在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安装插件，然后应用到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的应用里，就可以简单实现与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JavaScript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自定义同等的功能扩展，以及和其他服务的整合。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951820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74B2946-1F2C-4EA8-A369-0D1E5BEF9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60" y="1067440"/>
            <a:ext cx="1656136" cy="149377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1C7ACB2-1CFD-4804-994B-6018DA52C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004" y="1056899"/>
            <a:ext cx="1653445" cy="150431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62B054B-84F8-48E5-B294-86EB3093E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016" y="1067440"/>
            <a:ext cx="1667114" cy="1504310"/>
          </a:xfrm>
          <a:prstGeom prst="rect">
            <a:avLst/>
          </a:prstGeom>
        </p:spPr>
      </p:pic>
      <p:sp>
        <p:nvSpPr>
          <p:cNvPr id="22" name="TextBox 6">
            <a:extLst>
              <a:ext uri="{FF2B5EF4-FFF2-40B4-BE49-F238E27FC236}">
                <a16:creationId xmlns:a16="http://schemas.microsoft.com/office/drawing/2014/main" id="{E51A0A2A-001D-4AFE-9D5C-2E09942ECDEC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网站内容介绍</a:t>
            </a:r>
          </a:p>
        </p:txBody>
      </p:sp>
    </p:spTree>
    <p:extLst>
      <p:ext uri="{BB962C8B-B14F-4D97-AF65-F5344CB8AC3E}">
        <p14:creationId xmlns:p14="http://schemas.microsoft.com/office/powerpoint/2010/main" val="751774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531736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rgbClr val="21294D"/>
                </a:solidFill>
                <a:latin typeface="+mj-lt"/>
              </a:rPr>
              <a:t>4</a:t>
            </a:r>
            <a:endParaRPr lang="zh-CN" altLang="en-US" sz="52000" dirty="0">
              <a:solidFill>
                <a:srgbClr val="21294D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8" y="2155090"/>
            <a:ext cx="5313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</a:rPr>
              <a:t>来吧！让我们亲自动手来试试看吧！</a:t>
            </a:r>
          </a:p>
        </p:txBody>
      </p:sp>
      <p:sp>
        <p:nvSpPr>
          <p:cNvPr id="3" name="矩形 2"/>
          <p:cNvSpPr/>
          <p:nvPr/>
        </p:nvSpPr>
        <p:spPr>
          <a:xfrm>
            <a:off x="3989813" y="1397264"/>
            <a:ext cx="47676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rgbClr val="21294D"/>
                </a:solidFill>
                <a:latin typeface="Impact"/>
              </a:rPr>
              <a:t>kintone</a:t>
            </a:r>
            <a:r>
              <a:rPr lang="zh-CN" altLang="en-US" sz="4400" dirty="0">
                <a:solidFill>
                  <a:srgbClr val="21294D"/>
                </a:solidFill>
                <a:latin typeface="Impact"/>
              </a:rPr>
              <a:t>定制化实践</a:t>
            </a:r>
          </a:p>
        </p:txBody>
      </p:sp>
    </p:spTree>
    <p:extLst>
      <p:ext uri="{BB962C8B-B14F-4D97-AF65-F5344CB8AC3E}">
        <p14:creationId xmlns:p14="http://schemas.microsoft.com/office/powerpoint/2010/main" val="2681729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54AF7FE-6D11-4144-B43E-65B3C07E0492}"/>
              </a:ext>
            </a:extLst>
          </p:cNvPr>
          <p:cNvSpPr/>
          <p:nvPr/>
        </p:nvSpPr>
        <p:spPr>
          <a:xfrm>
            <a:off x="0" y="1559137"/>
            <a:ext cx="9144000" cy="103511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25D19-4412-4E6B-9094-A58C41E4E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726545"/>
            <a:ext cx="2125176" cy="248578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1478925" y="1645529"/>
            <a:ext cx="50282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第一个任务：</a:t>
            </a:r>
            <a:endParaRPr lang="en-US" altLang="zh-CN" sz="24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  <a:p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在不同的页面中显示隐藏字段</a:t>
            </a:r>
            <a:endParaRPr lang="en-US" altLang="zh-CN" sz="24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E3C17-76E8-41F5-9CFC-C2625585F581}"/>
              </a:ext>
            </a:extLst>
          </p:cNvPr>
          <p:cNvSpPr txBox="1"/>
          <p:nvPr/>
        </p:nvSpPr>
        <p:spPr>
          <a:xfrm>
            <a:off x="1556664" y="2680644"/>
            <a:ext cx="4995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登录</a:t>
            </a:r>
            <a:endParaRPr lang="en-US" altLang="zh-CN" sz="2000" b="1" dirty="0">
              <a:latin typeface="+mn-ea"/>
              <a:hlinkClick r:id="rId4"/>
            </a:endParaRPr>
          </a:p>
          <a:p>
            <a:r>
              <a:rPr lang="en-US" altLang="zh-CN" sz="2000" dirty="0">
                <a:latin typeface="+mn-ea"/>
                <a:hlinkClick r:id="rId4"/>
              </a:rPr>
              <a:t>https://devcamp.cybozu.cn/k/#/portal</a:t>
            </a:r>
            <a:endParaRPr lang="en-US" altLang="zh-CN" sz="2000" b="1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1.</a:t>
            </a:r>
            <a:r>
              <a:rPr lang="zh-CN" altLang="en-US" sz="1600" dirty="0">
                <a:latin typeface="+mn-ea"/>
              </a:rPr>
              <a:t>下载：</a:t>
            </a:r>
            <a:r>
              <a:rPr lang="en-US" altLang="zh-CN" sz="1600" b="1" dirty="0">
                <a:latin typeface="+mn-ea"/>
              </a:rPr>
              <a:t>sample.js</a:t>
            </a:r>
          </a:p>
          <a:p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找到应用：</a:t>
            </a:r>
            <a:r>
              <a:rPr lang="zh-CN" altLang="en-US" sz="1600" b="1" dirty="0">
                <a:latin typeface="+mn-ea"/>
              </a:rPr>
              <a:t>案件管理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F0B6F54-F0A2-4675-B828-32425BC8F6EC}"/>
              </a:ext>
            </a:extLst>
          </p:cNvPr>
          <p:cNvSpPr txBox="1"/>
          <p:nvPr/>
        </p:nvSpPr>
        <p:spPr>
          <a:xfrm>
            <a:off x="251520" y="771550"/>
            <a:ext cx="3489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JavaScript API</a:t>
            </a:r>
          </a:p>
        </p:txBody>
      </p:sp>
    </p:spTree>
    <p:extLst>
      <p:ext uri="{BB962C8B-B14F-4D97-AF65-F5344CB8AC3E}">
        <p14:creationId xmlns:p14="http://schemas.microsoft.com/office/powerpoint/2010/main" val="891163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想要的结果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268295-A6FC-4C9D-93BD-ED22F6A58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990" y="1536635"/>
            <a:ext cx="4267490" cy="1082883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672326-1AD8-46D7-AD28-3213112ED951}"/>
              </a:ext>
            </a:extLst>
          </p:cNvPr>
          <p:cNvSpPr/>
          <p:nvPr/>
        </p:nvSpPr>
        <p:spPr>
          <a:xfrm>
            <a:off x="4617005" y="2211710"/>
            <a:ext cx="1080120" cy="407807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81BC6A1-71CE-4F9F-B7CC-42AC1C5497F5}"/>
              </a:ext>
            </a:extLst>
          </p:cNvPr>
          <p:cNvSpPr/>
          <p:nvPr/>
        </p:nvSpPr>
        <p:spPr>
          <a:xfrm>
            <a:off x="6709351" y="1761660"/>
            <a:ext cx="2048114" cy="450050"/>
          </a:xfrm>
          <a:prstGeom prst="roundRect">
            <a:avLst/>
          </a:prstGeom>
          <a:noFill/>
          <a:ln>
            <a:solidFill>
              <a:srgbClr val="F454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EE1E946-CE4A-4647-A464-BEA903695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990" y="3598591"/>
            <a:ext cx="4267490" cy="108839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605CDBB-90AD-4BF6-A51B-921CFEBF28A4}"/>
              </a:ext>
            </a:extLst>
          </p:cNvPr>
          <p:cNvSpPr/>
          <p:nvPr/>
        </p:nvSpPr>
        <p:spPr>
          <a:xfrm>
            <a:off x="4624990" y="4146925"/>
            <a:ext cx="1150717" cy="496013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C59B15A-18CF-482B-9D17-F4A6BA97B7D9}"/>
              </a:ext>
            </a:extLst>
          </p:cNvPr>
          <p:cNvSpPr/>
          <p:nvPr/>
        </p:nvSpPr>
        <p:spPr>
          <a:xfrm>
            <a:off x="6787933" y="3696875"/>
            <a:ext cx="2048114" cy="450050"/>
          </a:xfrm>
          <a:prstGeom prst="roundRect">
            <a:avLst/>
          </a:prstGeom>
          <a:noFill/>
          <a:ln>
            <a:solidFill>
              <a:srgbClr val="F454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CB7340-33B9-498B-B2B9-7416195814D8}"/>
              </a:ext>
            </a:extLst>
          </p:cNvPr>
          <p:cNvSpPr/>
          <p:nvPr/>
        </p:nvSpPr>
        <p:spPr>
          <a:xfrm>
            <a:off x="171708" y="10632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详情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3F76BB-0D0A-4832-A374-2585FA2391E9}"/>
              </a:ext>
            </a:extLst>
          </p:cNvPr>
          <p:cNvSpPr/>
          <p:nvPr/>
        </p:nvSpPr>
        <p:spPr>
          <a:xfrm>
            <a:off x="157464" y="303156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添加、编辑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C6220EE-FA61-4516-AC29-818002090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31" y="1536635"/>
            <a:ext cx="4160552" cy="1082883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1029D76-FA13-4F4D-AFDF-942C0A9CA077}"/>
              </a:ext>
            </a:extLst>
          </p:cNvPr>
          <p:cNvSpPr/>
          <p:nvPr/>
        </p:nvSpPr>
        <p:spPr>
          <a:xfrm>
            <a:off x="341530" y="2211711"/>
            <a:ext cx="1125125" cy="407806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EFBCECB-DF3C-4435-8315-6F97867E55E2}"/>
              </a:ext>
            </a:extLst>
          </p:cNvPr>
          <p:cNvSpPr/>
          <p:nvPr/>
        </p:nvSpPr>
        <p:spPr>
          <a:xfrm>
            <a:off x="2366756" y="1761660"/>
            <a:ext cx="2160241" cy="45005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89C6BC2-E3BB-4708-8D85-1769BC1B6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44" y="3598590"/>
            <a:ext cx="4160551" cy="1044349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DAA715B-F65E-40FF-ABB8-2A1871ED3510}"/>
              </a:ext>
            </a:extLst>
          </p:cNvPr>
          <p:cNvSpPr/>
          <p:nvPr/>
        </p:nvSpPr>
        <p:spPr>
          <a:xfrm>
            <a:off x="381252" y="4184745"/>
            <a:ext cx="1125125" cy="407806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937F8A6-A006-4C91-9A4B-35FC20F4054C}"/>
              </a:ext>
            </a:extLst>
          </p:cNvPr>
          <p:cNvSpPr/>
          <p:nvPr/>
        </p:nvSpPr>
        <p:spPr>
          <a:xfrm>
            <a:off x="2406479" y="3598590"/>
            <a:ext cx="2095604" cy="54833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18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5036168-3202-4A6D-BBCE-10F03AC05441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分析第一个任务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37DFBB4-973B-489E-B3FA-AAB918A90634}"/>
              </a:ext>
            </a:extLst>
          </p:cNvPr>
          <p:cNvSpPr/>
          <p:nvPr/>
        </p:nvSpPr>
        <p:spPr>
          <a:xfrm>
            <a:off x="4526995" y="2369227"/>
            <a:ext cx="450050" cy="405045"/>
          </a:xfrm>
          <a:prstGeom prst="rightArrow">
            <a:avLst/>
          </a:prstGeom>
          <a:solidFill>
            <a:srgbClr val="F45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F705CD-2F4B-4D8D-A240-317AD55AC49F}"/>
              </a:ext>
            </a:extLst>
          </p:cNvPr>
          <p:cNvSpPr txBox="1"/>
          <p:nvPr/>
        </p:nvSpPr>
        <p:spPr>
          <a:xfrm>
            <a:off x="5337905" y="411510"/>
            <a:ext cx="1896673" cy="172136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事件：</a:t>
            </a:r>
            <a:endParaRPr lang="en-US" altLang="zh-CN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</a:t>
            </a:r>
            <a:r>
              <a:rPr lang="zh-CN" altLang="en-US" sz="1200" dirty="0">
                <a:solidFill>
                  <a:srgbClr val="00B050"/>
                </a:solidFill>
              </a:rPr>
              <a:t>添加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</a:t>
            </a:r>
            <a:r>
              <a:rPr lang="zh-CN" altLang="en-US" sz="1200" dirty="0">
                <a:solidFill>
                  <a:srgbClr val="00B050"/>
                </a:solidFill>
              </a:rPr>
              <a:t>编辑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</a:t>
            </a:r>
            <a:r>
              <a:rPr lang="zh-CN" altLang="en-US" sz="1200" dirty="0">
                <a:solidFill>
                  <a:srgbClr val="00B050"/>
                </a:solidFill>
              </a:rPr>
              <a:t>详情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在</a:t>
            </a:r>
            <a:r>
              <a:rPr lang="zh-CN" altLang="en-US" sz="1200" dirty="0">
                <a:solidFill>
                  <a:srgbClr val="00B050"/>
                </a:solidFill>
              </a:rPr>
              <a:t>添加</a:t>
            </a:r>
            <a:r>
              <a:rPr lang="zh-CN" altLang="en-US" sz="1200" dirty="0"/>
              <a:t>页面</a:t>
            </a:r>
            <a:r>
              <a:rPr lang="zh-CN" altLang="en-US" sz="1200" dirty="0">
                <a:solidFill>
                  <a:srgbClr val="00B050"/>
                </a:solidFill>
              </a:rPr>
              <a:t>更改</a:t>
            </a:r>
            <a:r>
              <a:rPr lang="zh-CN" altLang="en-US" sz="1200" dirty="0"/>
              <a:t>产品名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在</a:t>
            </a:r>
            <a:r>
              <a:rPr lang="zh-CN" altLang="en-US" sz="1200" dirty="0">
                <a:solidFill>
                  <a:srgbClr val="00B050"/>
                </a:solidFill>
              </a:rPr>
              <a:t>编辑</a:t>
            </a:r>
            <a:r>
              <a:rPr lang="zh-CN" altLang="en-US" sz="1200" dirty="0"/>
              <a:t>页面</a:t>
            </a:r>
            <a:r>
              <a:rPr lang="zh-CN" altLang="en-US" sz="1200" dirty="0">
                <a:solidFill>
                  <a:srgbClr val="00B050"/>
                </a:solidFill>
              </a:rPr>
              <a:t>更改</a:t>
            </a:r>
            <a:r>
              <a:rPr lang="zh-CN" altLang="en-US" sz="1200" dirty="0"/>
              <a:t>产品名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1C7A4E6-C5D1-49A3-9EFE-D9EF47C1C5E7}"/>
              </a:ext>
            </a:extLst>
          </p:cNvPr>
          <p:cNvGrpSpPr/>
          <p:nvPr/>
        </p:nvGrpSpPr>
        <p:grpSpPr>
          <a:xfrm>
            <a:off x="5337906" y="2168327"/>
            <a:ext cx="3057058" cy="2862322"/>
            <a:chOff x="5337906" y="2168327"/>
            <a:chExt cx="3057058" cy="286232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45864BB-4A83-4D50-B8C4-B3F93720B3A8}"/>
                </a:ext>
              </a:extLst>
            </p:cNvPr>
            <p:cNvSpPr txBox="1"/>
            <p:nvPr/>
          </p:nvSpPr>
          <p:spPr>
            <a:xfrm>
              <a:off x="5337906" y="2168327"/>
              <a:ext cx="3057058" cy="2862322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</a:rPr>
                <a:t>自定义操作：</a:t>
              </a:r>
              <a:endParaRPr lang="en-US" altLang="zh-CN" dirty="0">
                <a:solidFill>
                  <a:srgbClr val="0070C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95517B4-D901-4B6B-9EDC-F983E150155D}"/>
                </a:ext>
              </a:extLst>
            </p:cNvPr>
            <p:cNvGrpSpPr/>
            <p:nvPr/>
          </p:nvGrpSpPr>
          <p:grpSpPr>
            <a:xfrm>
              <a:off x="5644900" y="2585568"/>
              <a:ext cx="1998650" cy="2200308"/>
              <a:chOff x="5453670" y="2816525"/>
              <a:chExt cx="1998650" cy="2200308"/>
            </a:xfrm>
          </p:grpSpPr>
          <p:sp>
            <p:nvSpPr>
              <p:cNvPr id="39" name="流程图: 可选过程 38">
                <a:extLst>
                  <a:ext uri="{FF2B5EF4-FFF2-40B4-BE49-F238E27FC236}">
                    <a16:creationId xmlns:a16="http://schemas.microsoft.com/office/drawing/2014/main" id="{9CD4ED94-C5FB-4E27-8F58-AC7F4920F5AF}"/>
                  </a:ext>
                </a:extLst>
              </p:cNvPr>
              <p:cNvSpPr/>
              <p:nvPr/>
            </p:nvSpPr>
            <p:spPr>
              <a:xfrm>
                <a:off x="5529120" y="2816525"/>
                <a:ext cx="1821978" cy="270030"/>
              </a:xfrm>
              <a:prstGeom prst="flowChartAlternateProcess">
                <a:avLst/>
              </a:prstGeom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/>
                  <a:t>获取记录</a:t>
                </a:r>
              </a:p>
            </p:txBody>
          </p:sp>
          <p:sp>
            <p:nvSpPr>
              <p:cNvPr id="40" name="菱形 39">
                <a:extLst>
                  <a:ext uri="{FF2B5EF4-FFF2-40B4-BE49-F238E27FC236}">
                    <a16:creationId xmlns:a16="http://schemas.microsoft.com/office/drawing/2014/main" id="{ED015617-42EB-4BBA-9E6F-A76D91FEAA1C}"/>
                  </a:ext>
                </a:extLst>
              </p:cNvPr>
              <p:cNvSpPr/>
              <p:nvPr/>
            </p:nvSpPr>
            <p:spPr>
              <a:xfrm>
                <a:off x="5453670" y="3236169"/>
                <a:ext cx="1998650" cy="600780"/>
              </a:xfrm>
              <a:prstGeom prst="diamond">
                <a:avLst/>
              </a:prstGeom>
              <a:noFill/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</a:rPr>
                  <a:t>产品名是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”Garoon”</a:t>
                </a:r>
                <a:r>
                  <a:rPr lang="zh-CN" altLang="en-US" sz="900" dirty="0">
                    <a:solidFill>
                      <a:schemeClr val="tx1"/>
                    </a:solidFill>
                  </a:rPr>
                  <a:t>吗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?</a:t>
                </a:r>
                <a:r>
                  <a:rPr lang="zh-CN" altLang="en-US" sz="1000" dirty="0"/>
                  <a:t>”</a:t>
                </a:r>
              </a:p>
              <a:p>
                <a:pPr algn="ctr"/>
                <a:endParaRPr lang="zh-CN" altLang="en-US" dirty="0"/>
              </a:p>
            </p:txBody>
          </p:sp>
          <p:sp>
            <p:nvSpPr>
              <p:cNvPr id="41" name="流程图: 可选过程 40">
                <a:extLst>
                  <a:ext uri="{FF2B5EF4-FFF2-40B4-BE49-F238E27FC236}">
                    <a16:creationId xmlns:a16="http://schemas.microsoft.com/office/drawing/2014/main" id="{4910A5A6-5A14-4E2D-9256-A59D1F5004E5}"/>
                  </a:ext>
                </a:extLst>
              </p:cNvPr>
              <p:cNvSpPr/>
              <p:nvPr/>
            </p:nvSpPr>
            <p:spPr>
              <a:xfrm>
                <a:off x="5667787" y="3974988"/>
                <a:ext cx="1563965" cy="270030"/>
              </a:xfrm>
              <a:prstGeom prst="flowChartAlternateProcess">
                <a:avLst/>
              </a:prstGeom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显示“预期时间”、“进度”</a:t>
                </a:r>
              </a:p>
            </p:txBody>
          </p:sp>
          <p:sp>
            <p:nvSpPr>
              <p:cNvPr id="42" name="流程图: 可选过程 41">
                <a:extLst>
                  <a:ext uri="{FF2B5EF4-FFF2-40B4-BE49-F238E27FC236}">
                    <a16:creationId xmlns:a16="http://schemas.microsoft.com/office/drawing/2014/main" id="{ABA32AFF-7033-41CC-A145-023CF51BCC98}"/>
                  </a:ext>
                </a:extLst>
              </p:cNvPr>
              <p:cNvSpPr/>
              <p:nvPr/>
            </p:nvSpPr>
            <p:spPr>
              <a:xfrm>
                <a:off x="5652120" y="4326945"/>
                <a:ext cx="1563962" cy="270030"/>
              </a:xfrm>
              <a:prstGeom prst="flowChartAlternateProcess">
                <a:avLst/>
              </a:prstGeom>
              <a:ln w="952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隐藏“预期时间”、“进度”</a:t>
                </a:r>
              </a:p>
            </p:txBody>
          </p:sp>
          <p:sp>
            <p:nvSpPr>
              <p:cNvPr id="43" name="流程图: 终止 42">
                <a:extLst>
                  <a:ext uri="{FF2B5EF4-FFF2-40B4-BE49-F238E27FC236}">
                    <a16:creationId xmlns:a16="http://schemas.microsoft.com/office/drawing/2014/main" id="{A77A3532-07A5-454D-B3FB-EE379A10675A}"/>
                  </a:ext>
                </a:extLst>
              </p:cNvPr>
              <p:cNvSpPr/>
              <p:nvPr/>
            </p:nvSpPr>
            <p:spPr>
              <a:xfrm>
                <a:off x="5946274" y="4735014"/>
                <a:ext cx="990110" cy="281819"/>
              </a:xfrm>
              <a:prstGeom prst="flowChartTerminator">
                <a:avLst/>
              </a:prstGeom>
              <a:noFill/>
              <a:ln w="3175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</a:rPr>
                  <a:t>结束</a:t>
                </a:r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2D9206DF-94E0-4AC0-895D-FEEE95E93AAA}"/>
                  </a:ext>
                </a:extLst>
              </p:cNvPr>
              <p:cNvCxnSpPr>
                <a:cxnSpLocks/>
                <a:stCxn id="39" idx="2"/>
                <a:endCxn id="40" idx="0"/>
              </p:cNvCxnSpPr>
              <p:nvPr/>
            </p:nvCxnSpPr>
            <p:spPr>
              <a:xfrm>
                <a:off x="6440109" y="3086555"/>
                <a:ext cx="12886" cy="149614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D9FF853E-DED1-4302-8788-B767118CC1CE}"/>
                  </a:ext>
                </a:extLst>
              </p:cNvPr>
              <p:cNvCxnSpPr>
                <a:cxnSpLocks/>
                <a:stCxn id="40" idx="2"/>
                <a:endCxn id="41" idx="0"/>
              </p:cNvCxnSpPr>
              <p:nvPr/>
            </p:nvCxnSpPr>
            <p:spPr>
              <a:xfrm flipH="1">
                <a:off x="6449770" y="3836949"/>
                <a:ext cx="3225" cy="138039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608FDCD-447E-4E53-8E59-D689798671A9}"/>
                  </a:ext>
                </a:extLst>
              </p:cNvPr>
              <p:cNvSpPr txBox="1"/>
              <p:nvPr/>
            </p:nvSpPr>
            <p:spPr>
              <a:xfrm>
                <a:off x="7075294" y="3293124"/>
                <a:ext cx="377026" cy="246221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NO</a:t>
                </a:r>
                <a:endParaRPr lang="zh-CN" altLang="en-US" sz="1000" dirty="0"/>
              </a:p>
            </p:txBody>
          </p: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8C5BB7F9-B20F-4444-AD66-A7566464B6DB}"/>
                  </a:ext>
                </a:extLst>
              </p:cNvPr>
              <p:cNvCxnSpPr>
                <a:cxnSpLocks/>
                <a:stCxn id="42" idx="2"/>
                <a:endCxn id="43" idx="0"/>
              </p:cNvCxnSpPr>
              <p:nvPr/>
            </p:nvCxnSpPr>
            <p:spPr>
              <a:xfrm>
                <a:off x="6434101" y="4596975"/>
                <a:ext cx="7228" cy="138039"/>
              </a:xfrm>
              <a:prstGeom prst="straightConnector1">
                <a:avLst/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连接符: 肘形 47">
                <a:extLst>
                  <a:ext uri="{FF2B5EF4-FFF2-40B4-BE49-F238E27FC236}">
                    <a16:creationId xmlns:a16="http://schemas.microsoft.com/office/drawing/2014/main" id="{2C9BDBD2-4D79-4011-89A5-9EBA7C9D4B38}"/>
                  </a:ext>
                </a:extLst>
              </p:cNvPr>
              <p:cNvCxnSpPr>
                <a:cxnSpLocks/>
                <a:stCxn id="40" idx="3"/>
                <a:endCxn id="42" idx="3"/>
              </p:cNvCxnSpPr>
              <p:nvPr/>
            </p:nvCxnSpPr>
            <p:spPr>
              <a:xfrm flipH="1">
                <a:off x="7216082" y="3536559"/>
                <a:ext cx="236238" cy="925401"/>
              </a:xfrm>
              <a:prstGeom prst="bentConnector3">
                <a:avLst>
                  <a:gd name="adj1" fmla="val -96767"/>
                </a:avLst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443A4BB-210B-40D6-8BDF-7355C225ED5B}"/>
                  </a:ext>
                </a:extLst>
              </p:cNvPr>
              <p:cNvSpPr txBox="1"/>
              <p:nvPr/>
            </p:nvSpPr>
            <p:spPr>
              <a:xfrm>
                <a:off x="6500845" y="3746997"/>
                <a:ext cx="439544" cy="246221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YES</a:t>
                </a:r>
                <a:endParaRPr lang="zh-CN" altLang="en-US" sz="1000" dirty="0"/>
              </a:p>
            </p:txBody>
          </p:sp>
          <p:cxnSp>
            <p:nvCxnSpPr>
              <p:cNvPr id="50" name="连接符: 肘形 49">
                <a:extLst>
                  <a:ext uri="{FF2B5EF4-FFF2-40B4-BE49-F238E27FC236}">
                    <a16:creationId xmlns:a16="http://schemas.microsoft.com/office/drawing/2014/main" id="{54417DA0-F74D-4835-92D6-D09F827FA19A}"/>
                  </a:ext>
                </a:extLst>
              </p:cNvPr>
              <p:cNvCxnSpPr>
                <a:cxnSpLocks/>
                <a:stCxn id="41" idx="1"/>
                <a:endCxn id="43" idx="1"/>
              </p:cNvCxnSpPr>
              <p:nvPr/>
            </p:nvCxnSpPr>
            <p:spPr>
              <a:xfrm rot="10800000" flipH="1" flipV="1">
                <a:off x="5667786" y="4110002"/>
                <a:ext cx="278487" cy="765921"/>
              </a:xfrm>
              <a:prstGeom prst="bentConnector3">
                <a:avLst>
                  <a:gd name="adj1" fmla="val -82086"/>
                </a:avLst>
              </a:prstGeom>
              <a:ln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902903B6-1E74-4D9A-B4A9-712CCDC5202E}"/>
              </a:ext>
            </a:extLst>
          </p:cNvPr>
          <p:cNvSpPr txBox="1"/>
          <p:nvPr/>
        </p:nvSpPr>
        <p:spPr>
          <a:xfrm>
            <a:off x="255917" y="1581640"/>
            <a:ext cx="4117581" cy="18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B050"/>
                </a:solidFill>
              </a:rPr>
              <a:t>打开</a:t>
            </a:r>
            <a:r>
              <a:rPr lang="ja-JP" altLang="en-US" sz="1600" dirty="0">
                <a:solidFill>
                  <a:srgbClr val="00B050"/>
                </a:solidFill>
              </a:rPr>
              <a:t>（</a:t>
            </a:r>
            <a:r>
              <a:rPr lang="zh-CN" altLang="en-US" sz="1600" dirty="0">
                <a:solidFill>
                  <a:srgbClr val="00B050"/>
                </a:solidFill>
              </a:rPr>
              <a:t>添加、编辑、详情</a:t>
            </a:r>
            <a:r>
              <a:rPr lang="ja-JP" altLang="en-US" sz="1600" dirty="0">
                <a:solidFill>
                  <a:srgbClr val="00B050"/>
                </a:solidFill>
              </a:rPr>
              <a:t>）</a:t>
            </a:r>
            <a:r>
              <a:rPr lang="zh-CN" altLang="en-US" sz="1600" dirty="0">
                <a:solidFill>
                  <a:srgbClr val="00B050"/>
                </a:solidFill>
              </a:rPr>
              <a:t>页面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 在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1600" dirty="0">
                <a:solidFill>
                  <a:srgbClr val="00B050"/>
                </a:solidFill>
              </a:rPr>
              <a:t>添加、编辑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）页面</a:t>
            </a:r>
            <a:r>
              <a:rPr lang="zh-CN" altLang="en-US" sz="1600" dirty="0">
                <a:solidFill>
                  <a:srgbClr val="00B050"/>
                </a:solidFill>
              </a:rPr>
              <a:t>更改产品名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产品名为 “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Garoon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</a:rPr>
              <a:t>显示“预期时间”、“进度”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字段，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如果是其他产品，则</a:t>
            </a:r>
            <a:r>
              <a:rPr lang="zh-CN" altLang="en-US" sz="1600" dirty="0">
                <a:solidFill>
                  <a:srgbClr val="0070C0"/>
                </a:solidFill>
              </a:rPr>
              <a:t>隐藏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815073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5850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lt"/>
              </a:rPr>
              <a:t>事件的查找方法：</a:t>
            </a:r>
            <a:r>
              <a:rPr lang="zh-CN" altLang="en-US" sz="2800" dirty="0">
                <a:latin typeface="+mj-lt"/>
              </a:rPr>
              <a:t>添加事件 </a:t>
            </a:r>
            <a:r>
              <a:rPr lang="zh-CN" altLang="en-US" dirty="0">
                <a:latin typeface="+mj-lt"/>
              </a:rPr>
              <a:t>为例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B7BC77-E07F-4518-A0F8-F179252D9F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5719" b="53526"/>
          <a:stretch/>
        </p:blipFill>
        <p:spPr>
          <a:xfrm>
            <a:off x="80996" y="1072927"/>
            <a:ext cx="2555789" cy="3119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13582F2-34D4-49C8-BAEE-5334BC0D0E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0" r="63072" b="15747"/>
          <a:stretch/>
        </p:blipFill>
        <p:spPr>
          <a:xfrm>
            <a:off x="2951820" y="861560"/>
            <a:ext cx="2165908" cy="36647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595D4F-A026-4BDF-A0C4-FF8AD64376E5}"/>
              </a:ext>
            </a:extLst>
          </p:cNvPr>
          <p:cNvSpPr/>
          <p:nvPr/>
        </p:nvSpPr>
        <p:spPr>
          <a:xfrm>
            <a:off x="1049167" y="2566378"/>
            <a:ext cx="1373933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0E80AE5-17B0-42A6-94C7-2C9CF2B452A0}"/>
              </a:ext>
            </a:extLst>
          </p:cNvPr>
          <p:cNvCxnSpPr>
            <a:cxnSpLocks/>
          </p:cNvCxnSpPr>
          <p:nvPr/>
        </p:nvCxnSpPr>
        <p:spPr>
          <a:xfrm>
            <a:off x="2429052" y="2757393"/>
            <a:ext cx="522768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197E39-BB47-448E-A891-4758CB2A02AE}"/>
              </a:ext>
            </a:extLst>
          </p:cNvPr>
          <p:cNvSpPr/>
          <p:nvPr/>
        </p:nvSpPr>
        <p:spPr>
          <a:xfrm>
            <a:off x="2951820" y="2569609"/>
            <a:ext cx="2064278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22FADE-B1C1-4030-B01B-197C1FE273C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" t="11978" r="44954" b="15675"/>
          <a:stretch/>
        </p:blipFill>
        <p:spPr>
          <a:xfrm>
            <a:off x="5573102" y="901193"/>
            <a:ext cx="3210025" cy="33303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C55B8EF-F102-4093-977F-25D65F0DB3AB}"/>
              </a:ext>
            </a:extLst>
          </p:cNvPr>
          <p:cNvCxnSpPr>
            <a:cxnSpLocks/>
          </p:cNvCxnSpPr>
          <p:nvPr/>
        </p:nvCxnSpPr>
        <p:spPr>
          <a:xfrm>
            <a:off x="5027110" y="2755792"/>
            <a:ext cx="522768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499E360-1BFC-4053-8072-24F0F762BF31}"/>
              </a:ext>
            </a:extLst>
          </p:cNvPr>
          <p:cNvSpPr/>
          <p:nvPr/>
        </p:nvSpPr>
        <p:spPr>
          <a:xfrm>
            <a:off x="5697125" y="2111239"/>
            <a:ext cx="1440159" cy="235486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92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2352214-8388-461D-8010-27CCB44747E8}"/>
              </a:ext>
            </a:extLst>
          </p:cNvPr>
          <p:cNvSpPr txBox="1"/>
          <p:nvPr/>
        </p:nvSpPr>
        <p:spPr>
          <a:xfrm>
            <a:off x="364895" y="1221600"/>
            <a:ext cx="7132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首页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文档和工具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kintone JavaScript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记录添加事件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564F20D-04E2-40E8-83A4-F334547A1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5" y="1681137"/>
            <a:ext cx="7839075" cy="310515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94AB3D-0835-4A9E-A16F-63A5349C9773}"/>
              </a:ext>
            </a:extLst>
          </p:cNvPr>
          <p:cNvGrpSpPr/>
          <p:nvPr/>
        </p:nvGrpSpPr>
        <p:grpSpPr>
          <a:xfrm>
            <a:off x="296537" y="411315"/>
            <a:ext cx="5355583" cy="720080"/>
            <a:chOff x="206515" y="366505"/>
            <a:chExt cx="5355583" cy="720080"/>
          </a:xfrm>
        </p:grpSpPr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C2B3CDC1-949B-4AEF-92F6-FBEC58E6D2A0}"/>
                </a:ext>
              </a:extLst>
            </p:cNvPr>
            <p:cNvSpPr txBox="1"/>
            <p:nvPr/>
          </p:nvSpPr>
          <p:spPr>
            <a:xfrm>
              <a:off x="791544" y="464935"/>
              <a:ext cx="4770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DA907"/>
                  </a:solidFill>
                  <a:latin typeface="+mj-lt"/>
                </a:rPr>
                <a:t>小贴士</a:t>
              </a:r>
            </a:p>
          </p:txBody>
        </p:sp>
        <p:pic>
          <p:nvPicPr>
            <p:cNvPr id="18" name="图形 17" descr="灯泡">
              <a:extLst>
                <a:ext uri="{FF2B5EF4-FFF2-40B4-BE49-F238E27FC236}">
                  <a16:creationId xmlns:a16="http://schemas.microsoft.com/office/drawing/2014/main" id="{A03C9DDF-D80B-4D6D-87AC-141BAD789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6515" y="366505"/>
              <a:ext cx="720080" cy="720080"/>
            </a:xfrm>
            <a:prstGeom prst="rect">
              <a:avLst/>
            </a:prstGeom>
          </p:spPr>
        </p:pic>
      </p:grp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E5C9D7B-2F0A-4A5B-A26C-8437BA9C3E1A}"/>
              </a:ext>
            </a:extLst>
          </p:cNvPr>
          <p:cNvSpPr/>
          <p:nvPr/>
        </p:nvSpPr>
        <p:spPr>
          <a:xfrm>
            <a:off x="1736685" y="3696875"/>
            <a:ext cx="1890210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162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889592"/>
            <a:ext cx="2160240" cy="49647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事件和操作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881590" y="1386069"/>
            <a:ext cx="5799330" cy="24282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打开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添加页面的时候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 err="1">
                <a:solidFill>
                  <a:srgbClr val="EA96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zh-CN" altLang="en-US" dirty="0">
                <a:solidFill>
                  <a:srgbClr val="00B050"/>
                </a:solidFill>
                <a:latin typeface="+mn-ea"/>
                <a:cs typeface="Meiryo UI" panose="020B0604030504040204" pitchFamily="50" charset="-128"/>
              </a:rPr>
              <a:t>事件</a:t>
            </a:r>
            <a:r>
              <a:rPr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zh-CN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function(event) {</a:t>
            </a:r>
          </a:p>
          <a:p>
            <a:pPr marL="180000"/>
            <a:r>
              <a:rPr lang="en-US" altLang="ja-JP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dirty="0">
                <a:solidFill>
                  <a:srgbClr val="0070C0"/>
                </a:solidFill>
                <a:latin typeface="+mn-ea"/>
              </a:rPr>
              <a:t>操作</a:t>
            </a:r>
            <a:endParaRPr lang="ja-JP" altLang="en-US" dirty="0">
              <a:solidFill>
                <a:srgbClr val="0070C0"/>
              </a:solidFill>
              <a:latin typeface="+mn-ea"/>
            </a:endParaRPr>
          </a:p>
          <a:p>
            <a:pPr marL="180000"/>
            <a:r>
              <a:rPr lang="ja-JP" altLang="en-US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);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04158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881590" y="4056915"/>
            <a:ext cx="6297883" cy="827661"/>
          </a:xfrm>
          <a:prstGeom prst="rect">
            <a:avLst/>
          </a:prstGeom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solidFill>
                  <a:srgbClr val="FF0000"/>
                </a:solidFill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  <a:cs typeface="Meiryo UI" panose="020B0604030504040204" pitchFamily="50" charset="-128"/>
              </a:rPr>
              <a:t>示范</a:t>
            </a:r>
            <a:r>
              <a:rPr lang="ja-JP" altLang="en-US" dirty="0">
                <a:solidFill>
                  <a:srgbClr val="FF0000"/>
                </a:solidFill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endParaRPr lang="en-US" altLang="ja-JP" dirty="0">
              <a:solidFill>
                <a:srgbClr val="FF0000"/>
              </a:solidFill>
              <a:latin typeface="+mn-ea"/>
              <a:ea typeface="+mn-ea"/>
              <a:cs typeface="Meiryo UI" panose="020B0604030504040204" pitchFamily="50" charset="-128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将上面的代码中的</a:t>
            </a:r>
            <a:r>
              <a:rPr lang="en-US" altLang="ja-JP" dirty="0">
                <a:solidFill>
                  <a:srgbClr val="00B050"/>
                </a:solidFill>
                <a:cs typeface="Meiryo UI" panose="020B0604030504040204" pitchFamily="50" charset="-128"/>
              </a:rPr>
              <a:t>‘</a:t>
            </a:r>
            <a:r>
              <a:rPr lang="zh-CN" altLang="en-US" dirty="0">
                <a:solidFill>
                  <a:srgbClr val="00B050"/>
                </a:solidFill>
                <a:latin typeface="+mn-ea"/>
                <a:ea typeface="+mn-ea"/>
                <a:cs typeface="Meiryo UI" panose="020B0604030504040204" pitchFamily="50" charset="-128"/>
              </a:rPr>
              <a:t>事件</a:t>
            </a:r>
            <a:r>
              <a:rPr lang="en-US" altLang="zh-CN" dirty="0">
                <a:solidFill>
                  <a:srgbClr val="00B050"/>
                </a:solidFill>
                <a:cs typeface="Meiryo UI" panose="020B0604030504040204" pitchFamily="50" charset="-128"/>
              </a:rPr>
              <a:t>’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替换成</a:t>
            </a:r>
            <a:r>
              <a:rPr lang="zh-CN" altLang="en-US" dirty="0">
                <a:solidFill>
                  <a:srgbClr val="00B050"/>
                </a:solidFill>
                <a:latin typeface="+mn-ea"/>
                <a:ea typeface="+mn-ea"/>
                <a:cs typeface="Meiryo UI" panose="020B0604030504040204" pitchFamily="50" charset="-128"/>
              </a:rPr>
              <a:t>记录添加页面时的事件名</a:t>
            </a:r>
            <a:endParaRPr lang="en-US" altLang="ja-JP" dirty="0">
              <a:solidFill>
                <a:srgbClr val="00B05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266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1800200" cy="48733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正确答案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881590" y="1716655"/>
            <a:ext cx="7740860" cy="27453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显示记录添加页面的时候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function(event)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5B61B25-EF3E-44F3-ACD8-EECE5321F7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150" y="174870"/>
            <a:ext cx="1620180" cy="16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15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45679E-6 L 0.11528 3.4567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346F9F56-20F2-4FA0-B473-AB7AC8F71064}"/>
              </a:ext>
            </a:extLst>
          </p:cNvPr>
          <p:cNvSpPr txBox="1">
            <a:spLocks/>
          </p:cNvSpPr>
          <p:nvPr/>
        </p:nvSpPr>
        <p:spPr>
          <a:xfrm>
            <a:off x="1132556" y="1039316"/>
            <a:ext cx="6274759" cy="1068798"/>
          </a:xfrm>
          <a:prstGeom prst="rect">
            <a:avLst/>
          </a:prstGeom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尝试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加入添加事件以外的事件名</a:t>
            </a:r>
            <a:endParaRPr lang="en-US" altLang="ja-JP" dirty="0">
              <a:solidFill>
                <a:srgbClr val="00B0F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EE44B90-BDE7-40CD-87D7-DF071037F1C7}"/>
              </a:ext>
            </a:extLst>
          </p:cNvPr>
          <p:cNvGrpSpPr/>
          <p:nvPr/>
        </p:nvGrpSpPr>
        <p:grpSpPr>
          <a:xfrm>
            <a:off x="1181702" y="2561194"/>
            <a:ext cx="2614431" cy="1977464"/>
            <a:chOff x="337389" y="2561194"/>
            <a:chExt cx="2614431" cy="1977464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7C73829-98EB-4FDE-A5DC-3DD3C168E903}"/>
                </a:ext>
              </a:extLst>
            </p:cNvPr>
            <p:cNvSpPr txBox="1"/>
            <p:nvPr/>
          </p:nvSpPr>
          <p:spPr>
            <a:xfrm>
              <a:off x="337389" y="2561194"/>
              <a:ext cx="2614431" cy="1977464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B050"/>
                  </a:solidFill>
                </a:rPr>
                <a:t>事件：</a:t>
              </a:r>
              <a:endParaRPr lang="en-US" altLang="zh-CN" sz="2000" b="1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打开添加页面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400" dirty="0">
                  <a:solidFill>
                    <a:srgbClr val="00B050"/>
                  </a:solidFill>
                </a:rPr>
                <a:t>打开编辑页面</a:t>
              </a:r>
              <a:endParaRPr lang="en-US" altLang="zh-CN" sz="14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B050"/>
                  </a:solidFill>
                </a:rPr>
                <a:t>    打开详情页面</a:t>
              </a:r>
              <a:endParaRPr lang="en-US" altLang="zh-CN" sz="14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B050"/>
                  </a:solidFill>
                </a:rPr>
                <a:t>    在添加页面更改产品名</a:t>
              </a:r>
              <a:endParaRPr lang="en-US" altLang="zh-CN" sz="14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B050"/>
                  </a:solidFill>
                </a:rPr>
                <a:t>    在编辑页面更改产品名</a:t>
              </a:r>
            </a:p>
          </p:txBody>
        </p:sp>
        <p:pic>
          <p:nvPicPr>
            <p:cNvPr id="5" name="图形 4" descr="选中标记">
              <a:extLst>
                <a:ext uri="{FF2B5EF4-FFF2-40B4-BE49-F238E27FC236}">
                  <a16:creationId xmlns:a16="http://schemas.microsoft.com/office/drawing/2014/main" id="{AFA8A8E3-7814-4F38-A4CE-84FCC8ECD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1690" y="2886785"/>
              <a:ext cx="315035" cy="31503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AD600F1-96C8-42A8-9629-63C572446CC6}"/>
                </a:ext>
              </a:extLst>
            </p:cNvPr>
            <p:cNvSpPr txBox="1"/>
            <p:nvPr/>
          </p:nvSpPr>
          <p:spPr>
            <a:xfrm>
              <a:off x="1718634" y="320182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FC374C1-B299-483D-854B-D6C3F8EA4D54}"/>
                </a:ext>
              </a:extLst>
            </p:cNvPr>
            <p:cNvSpPr txBox="1"/>
            <p:nvPr/>
          </p:nvSpPr>
          <p:spPr>
            <a:xfrm>
              <a:off x="1718634" y="348877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DADF34-F559-4BC2-8910-FF9A09D523AE}"/>
                </a:ext>
              </a:extLst>
            </p:cNvPr>
            <p:cNvSpPr txBox="1"/>
            <p:nvPr/>
          </p:nvSpPr>
          <p:spPr>
            <a:xfrm>
              <a:off x="2375659" y="383189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AF537DE-ECD7-4BCF-871D-F04B67FDBAAC}"/>
                </a:ext>
              </a:extLst>
            </p:cNvPr>
            <p:cNvSpPr txBox="1"/>
            <p:nvPr/>
          </p:nvSpPr>
          <p:spPr>
            <a:xfrm>
              <a:off x="2375659" y="414348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928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6">
            <a:extLst>
              <a:ext uri="{FF2B5EF4-FFF2-40B4-BE49-F238E27FC236}">
                <a16:creationId xmlns:a16="http://schemas.microsoft.com/office/drawing/2014/main" id="{6D5C10AE-EA93-4EB7-856C-FE849F563E74}"/>
              </a:ext>
            </a:extLst>
          </p:cNvPr>
          <p:cNvSpPr/>
          <p:nvPr/>
        </p:nvSpPr>
        <p:spPr>
          <a:xfrm>
            <a:off x="296525" y="1199255"/>
            <a:ext cx="7515859" cy="3375375"/>
          </a:xfrm>
          <a:prstGeom prst="rect">
            <a:avLst/>
          </a:prstGeom>
          <a:noFill/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　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编辑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详情页面上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r>
              <a:rPr lang="en-US" altLang="zh-CN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.×××.show', 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.×××.show',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.×××.×××.×××',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.×××.×××.×××'],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function(event)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sz="1600" dirty="0">
              <a:solidFill>
                <a:schemeClr val="tx1"/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F3AAB4-9BAF-4C42-8BC0-134BF534B8F2}"/>
              </a:ext>
            </a:extLst>
          </p:cNvPr>
          <p:cNvSpPr txBox="1"/>
          <p:nvPr/>
        </p:nvSpPr>
        <p:spPr>
          <a:xfrm>
            <a:off x="217353" y="82992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1847397-B4FE-4C3C-B515-5B16D8B24420}"/>
              </a:ext>
            </a:extLst>
          </p:cNvPr>
          <p:cNvGrpSpPr/>
          <p:nvPr/>
        </p:nvGrpSpPr>
        <p:grpSpPr>
          <a:xfrm>
            <a:off x="5652120" y="1941680"/>
            <a:ext cx="2614431" cy="1752146"/>
            <a:chOff x="337389" y="2561194"/>
            <a:chExt cx="2614431" cy="1752146"/>
          </a:xfrm>
          <a:solidFill>
            <a:schemeClr val="bg1"/>
          </a:solidFill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128CFCF-5F7B-4724-889B-EDA812B71D5D}"/>
                </a:ext>
              </a:extLst>
            </p:cNvPr>
            <p:cNvSpPr txBox="1"/>
            <p:nvPr/>
          </p:nvSpPr>
          <p:spPr>
            <a:xfrm>
              <a:off x="337389" y="2561194"/>
              <a:ext cx="2614431" cy="1752146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B050"/>
                  </a:solidFill>
                </a:rPr>
                <a:t>事件：</a:t>
              </a:r>
              <a:endParaRPr lang="en-US" altLang="zh-CN" sz="2000" b="1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打开添加页面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200" dirty="0">
                  <a:solidFill>
                    <a:srgbClr val="00B050"/>
                  </a:solidFill>
                </a:rPr>
                <a:t>打开编辑页面</a:t>
              </a:r>
              <a:endParaRPr lang="en-US" altLang="zh-CN" sz="12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B050"/>
                  </a:solidFill>
                </a:rPr>
                <a:t>    打开详情页面</a:t>
              </a:r>
              <a:endParaRPr lang="en-US" altLang="zh-CN" sz="12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B050"/>
                  </a:solidFill>
                </a:rPr>
                <a:t>    在添加页面更改产品名</a:t>
              </a:r>
              <a:endParaRPr lang="en-US" altLang="zh-CN" sz="1200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B050"/>
                  </a:solidFill>
                </a:rPr>
                <a:t>    在编辑页面更改产品名</a:t>
              </a:r>
            </a:p>
          </p:txBody>
        </p:sp>
        <p:pic>
          <p:nvPicPr>
            <p:cNvPr id="23" name="图形 22" descr="选中标记">
              <a:extLst>
                <a:ext uri="{FF2B5EF4-FFF2-40B4-BE49-F238E27FC236}">
                  <a16:creationId xmlns:a16="http://schemas.microsoft.com/office/drawing/2014/main" id="{F5E0F7FF-7BE2-42A6-8A67-BCFBEE6DF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1690" y="2886785"/>
              <a:ext cx="315035" cy="315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5893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02C601B-B8E3-4629-B290-B8AD9BCE9A34}"/>
              </a:ext>
            </a:extLst>
          </p:cNvPr>
          <p:cNvGrpSpPr/>
          <p:nvPr/>
        </p:nvGrpSpPr>
        <p:grpSpPr>
          <a:xfrm>
            <a:off x="656529" y="771550"/>
            <a:ext cx="2226341" cy="1990686"/>
            <a:chOff x="252702" y="1506969"/>
            <a:chExt cx="2895600" cy="2714625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6BB9B2FF-E033-4151-9E8A-8F6224105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2702" y="1506969"/>
              <a:ext cx="2895600" cy="2714625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25C157CA-C498-42AA-B9B3-E47E578B2130}"/>
                </a:ext>
              </a:extLst>
            </p:cNvPr>
            <p:cNvSpPr/>
            <p:nvPr/>
          </p:nvSpPr>
          <p:spPr>
            <a:xfrm>
              <a:off x="359174" y="3876895"/>
              <a:ext cx="2682656" cy="225025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2078E8C-3100-431B-99CC-F236DFE63644}"/>
              </a:ext>
            </a:extLst>
          </p:cNvPr>
          <p:cNvGrpSpPr/>
          <p:nvPr/>
        </p:nvGrpSpPr>
        <p:grpSpPr>
          <a:xfrm>
            <a:off x="3089925" y="771551"/>
            <a:ext cx="1932126" cy="1990685"/>
            <a:chOff x="3262294" y="1497141"/>
            <a:chExt cx="2686050" cy="270510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BF87409-ADD9-40E0-8981-EE27319FA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2294" y="1497141"/>
              <a:ext cx="2686050" cy="2705100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CDA30E5-FF69-43C2-A9FC-47474BEE772E}"/>
                </a:ext>
              </a:extLst>
            </p:cNvPr>
            <p:cNvGrpSpPr/>
            <p:nvPr/>
          </p:nvGrpSpPr>
          <p:grpSpPr>
            <a:xfrm>
              <a:off x="3369746" y="3160316"/>
              <a:ext cx="2540891" cy="990110"/>
              <a:chOff x="3369746" y="2665261"/>
              <a:chExt cx="2540891" cy="990110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2A9A9DFE-C4E4-4EA1-87F7-ACC7F56A797F}"/>
                  </a:ext>
                </a:extLst>
              </p:cNvPr>
              <p:cNvSpPr/>
              <p:nvPr/>
            </p:nvSpPr>
            <p:spPr>
              <a:xfrm>
                <a:off x="3369746" y="2665261"/>
                <a:ext cx="2215185" cy="214289"/>
              </a:xfrm>
              <a:prstGeom prst="roundRect">
                <a:avLst/>
              </a:prstGeom>
              <a:noFill/>
              <a:ln>
                <a:solidFill>
                  <a:srgbClr val="F454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A2394759-DA10-4AAE-837D-34F3BEFEA896}"/>
                  </a:ext>
                </a:extLst>
              </p:cNvPr>
              <p:cNvSpPr/>
              <p:nvPr/>
            </p:nvSpPr>
            <p:spPr>
              <a:xfrm>
                <a:off x="3369747" y="3450109"/>
                <a:ext cx="2540890" cy="205262"/>
              </a:xfrm>
              <a:prstGeom prst="roundRect">
                <a:avLst/>
              </a:prstGeom>
              <a:noFill/>
              <a:ln>
                <a:solidFill>
                  <a:srgbClr val="F454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3475ED0-7C36-42FE-8C03-0D4EED633B16}"/>
              </a:ext>
            </a:extLst>
          </p:cNvPr>
          <p:cNvGrpSpPr/>
          <p:nvPr/>
        </p:nvGrpSpPr>
        <p:grpSpPr>
          <a:xfrm>
            <a:off x="5427083" y="787717"/>
            <a:ext cx="3255099" cy="3599780"/>
            <a:chOff x="6220547" y="1469126"/>
            <a:chExt cx="2763843" cy="3082844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798329A-CF7A-4AA2-AA3D-B483D45B2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20547" y="1469126"/>
              <a:ext cx="2763843" cy="2767809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FE1D72DF-29BC-4136-B839-03C2776DA1F7}"/>
                </a:ext>
              </a:extLst>
            </p:cNvPr>
            <p:cNvSpPr/>
            <p:nvPr/>
          </p:nvSpPr>
          <p:spPr>
            <a:xfrm>
              <a:off x="6265552" y="3696876"/>
              <a:ext cx="421683" cy="180019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对话气泡: 圆角矩形 27">
              <a:extLst>
                <a:ext uri="{FF2B5EF4-FFF2-40B4-BE49-F238E27FC236}">
                  <a16:creationId xmlns:a16="http://schemas.microsoft.com/office/drawing/2014/main" id="{C4896273-0C4F-4C65-8092-E9FFFC8A5DC0}"/>
                </a:ext>
              </a:extLst>
            </p:cNvPr>
            <p:cNvSpPr/>
            <p:nvPr/>
          </p:nvSpPr>
          <p:spPr>
            <a:xfrm>
              <a:off x="6236183" y="4281940"/>
              <a:ext cx="1807827" cy="270030"/>
            </a:xfrm>
            <a:prstGeom prst="wedgeRoundRectCallout">
              <a:avLst>
                <a:gd name="adj1" fmla="val -38390"/>
                <a:gd name="adj2" fmla="val -184365"/>
                <a:gd name="adj3" fmla="val 16667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被更改字段的字段代码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2B68353-6438-4A7B-8156-B24C78B23C22}"/>
              </a:ext>
            </a:extLst>
          </p:cNvPr>
          <p:cNvGrpSpPr/>
          <p:nvPr/>
        </p:nvGrpSpPr>
        <p:grpSpPr>
          <a:xfrm>
            <a:off x="71500" y="141480"/>
            <a:ext cx="5355583" cy="720080"/>
            <a:chOff x="206515" y="366505"/>
            <a:chExt cx="5355583" cy="720080"/>
          </a:xfrm>
        </p:grpSpPr>
        <p:sp>
          <p:nvSpPr>
            <p:cNvPr id="30" name="TextBox 6">
              <a:extLst>
                <a:ext uri="{FF2B5EF4-FFF2-40B4-BE49-F238E27FC236}">
                  <a16:creationId xmlns:a16="http://schemas.microsoft.com/office/drawing/2014/main" id="{2CE0BC16-72A1-41E9-9289-1FD6CB764404}"/>
                </a:ext>
              </a:extLst>
            </p:cNvPr>
            <p:cNvSpPr txBox="1"/>
            <p:nvPr/>
          </p:nvSpPr>
          <p:spPr>
            <a:xfrm>
              <a:off x="791544" y="464935"/>
              <a:ext cx="4770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DA907"/>
                  </a:solidFill>
                  <a:latin typeface="+mj-lt"/>
                </a:rPr>
                <a:t>小贴士</a:t>
              </a:r>
            </a:p>
          </p:txBody>
        </p:sp>
        <p:pic>
          <p:nvPicPr>
            <p:cNvPr id="31" name="图形 30" descr="灯泡">
              <a:extLst>
                <a:ext uri="{FF2B5EF4-FFF2-40B4-BE49-F238E27FC236}">
                  <a16:creationId xmlns:a16="http://schemas.microsoft.com/office/drawing/2014/main" id="{A4831BFA-1478-45F0-81A6-345E08F5D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6515" y="366505"/>
              <a:ext cx="720080" cy="720080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4910FDE-F49A-4214-97A0-5CD84767E3DF}"/>
              </a:ext>
            </a:extLst>
          </p:cNvPr>
          <p:cNvGrpSpPr/>
          <p:nvPr/>
        </p:nvGrpSpPr>
        <p:grpSpPr>
          <a:xfrm>
            <a:off x="1714594" y="2903172"/>
            <a:ext cx="2172825" cy="2008838"/>
            <a:chOff x="1802985" y="3019558"/>
            <a:chExt cx="2172825" cy="200883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FAA9E4A-728E-474C-AA21-A46DC6B55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02985" y="3019558"/>
              <a:ext cx="2172825" cy="2008838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E79B9AF4-2775-451D-A24E-40EF3E454096}"/>
                </a:ext>
              </a:extLst>
            </p:cNvPr>
            <p:cNvSpPr/>
            <p:nvPr/>
          </p:nvSpPr>
          <p:spPr>
            <a:xfrm>
              <a:off x="1916705" y="4379496"/>
              <a:ext cx="1791929" cy="174256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F7916A6C-74CE-4EAE-8EF4-31CB3AAFB109}"/>
              </a:ext>
            </a:extLst>
          </p:cNvPr>
          <p:cNvSpPr/>
          <p:nvPr/>
        </p:nvSpPr>
        <p:spPr>
          <a:xfrm>
            <a:off x="656529" y="787717"/>
            <a:ext cx="900136" cy="2988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905EB5-F25E-4B49-97A9-B5E6613EEE0E}"/>
              </a:ext>
            </a:extLst>
          </p:cNvPr>
          <p:cNvSpPr/>
          <p:nvPr/>
        </p:nvSpPr>
        <p:spPr>
          <a:xfrm>
            <a:off x="3089925" y="769112"/>
            <a:ext cx="852005" cy="2724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00739F-1099-47AC-A016-BFAE7D920F25}"/>
              </a:ext>
            </a:extLst>
          </p:cNvPr>
          <p:cNvSpPr/>
          <p:nvPr/>
        </p:nvSpPr>
        <p:spPr>
          <a:xfrm>
            <a:off x="1712605" y="2920621"/>
            <a:ext cx="969185" cy="2724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391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6">
            <a:extLst>
              <a:ext uri="{FF2B5EF4-FFF2-40B4-BE49-F238E27FC236}">
                <a16:creationId xmlns:a16="http://schemas.microsoft.com/office/drawing/2014/main" id="{6D5C10AE-EA93-4EB7-856C-FE849F563E74}"/>
              </a:ext>
            </a:extLst>
          </p:cNvPr>
          <p:cNvSpPr/>
          <p:nvPr/>
        </p:nvSpPr>
        <p:spPr>
          <a:xfrm>
            <a:off x="296525" y="1199255"/>
            <a:ext cx="8505945" cy="3375375"/>
          </a:xfrm>
          <a:prstGeom prst="rect">
            <a:avLst/>
          </a:prstGeom>
          <a:noFill/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　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编辑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详情页面上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r>
              <a:rPr lang="en-US" altLang="zh-CN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'app.record.edit.show',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], function(event)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sz="1600" dirty="0">
              <a:solidFill>
                <a:schemeClr val="tx1"/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585DC6-40D5-40DD-A59F-9E060B3DBE57}"/>
              </a:ext>
            </a:extLst>
          </p:cNvPr>
          <p:cNvSpPr txBox="1"/>
          <p:nvPr/>
        </p:nvSpPr>
        <p:spPr>
          <a:xfrm>
            <a:off x="217353" y="82992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7303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FFB403-70EB-4F4E-BE4F-192947558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8405"/>
            <a:ext cx="2371725" cy="4038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1" y="1094305"/>
            <a:ext cx="3510390" cy="12524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点击“切换字段的显示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隐藏”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AA6AAC-9719-4548-A934-A487FB27515A}"/>
              </a:ext>
            </a:extLst>
          </p:cNvPr>
          <p:cNvSpPr/>
          <p:nvPr/>
        </p:nvSpPr>
        <p:spPr>
          <a:xfrm>
            <a:off x="4710209" y="4371949"/>
            <a:ext cx="1391961" cy="22502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95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6C33ED-3FBF-4EED-8BFD-24F97CDEF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5" y="816555"/>
            <a:ext cx="4712695" cy="4217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A628454-6493-489F-B770-609502FBF0C1}"/>
              </a:ext>
            </a:extLst>
          </p:cNvPr>
          <p:cNvSpPr/>
          <p:nvPr/>
        </p:nvSpPr>
        <p:spPr>
          <a:xfrm>
            <a:off x="1196625" y="1851670"/>
            <a:ext cx="1980220" cy="40504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408BFBA-C441-4A0B-A101-9C319380324F}"/>
              </a:ext>
            </a:extLst>
          </p:cNvPr>
          <p:cNvSpPr/>
          <p:nvPr/>
        </p:nvSpPr>
        <p:spPr>
          <a:xfrm>
            <a:off x="701570" y="836566"/>
            <a:ext cx="1350150" cy="25002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313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范例代码解说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296525" y="1337811"/>
            <a:ext cx="8055919" cy="21602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>
              <a:lnSpc>
                <a:spcPct val="150000"/>
              </a:lnSpc>
            </a:pP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('app.record.create.show', function(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 {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var record = event.record;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单行文本框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角丸四角形吹き出し 5">
            <a:extLst>
              <a:ext uri="{FF2B5EF4-FFF2-40B4-BE49-F238E27FC236}">
                <a16:creationId xmlns:a16="http://schemas.microsoft.com/office/drawing/2014/main" id="{6F371D66-8E82-4E8A-9212-E5F2675E2CFB}"/>
              </a:ext>
            </a:extLst>
          </p:cNvPr>
          <p:cNvSpPr/>
          <p:nvPr/>
        </p:nvSpPr>
        <p:spPr>
          <a:xfrm>
            <a:off x="4436985" y="2035562"/>
            <a:ext cx="3105345" cy="382369"/>
          </a:xfrm>
          <a:prstGeom prst="wedgeRoundRectCallout">
            <a:avLst>
              <a:gd name="adj1" fmla="val -53025"/>
              <a:gd name="adj2" fmla="val 9886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将当前事件的记录赋值给变量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record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2180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范例代码解说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341506" y="1337811"/>
            <a:ext cx="8055919" cy="21602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>
              <a:lnSpc>
                <a:spcPct val="150000"/>
              </a:lnSpc>
            </a:pP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('app.record.create.show', function(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 {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var record = event.record;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ja-JP" altLang="en-US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单行文本框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角丸四角形吹き出し 5">
            <a:extLst>
              <a:ext uri="{FF2B5EF4-FFF2-40B4-BE49-F238E27FC236}">
                <a16:creationId xmlns:a16="http://schemas.microsoft.com/office/drawing/2014/main" id="{6F371D66-8E82-4E8A-9212-E5F2675E2CFB}"/>
              </a:ext>
            </a:extLst>
          </p:cNvPr>
          <p:cNvSpPr/>
          <p:nvPr/>
        </p:nvSpPr>
        <p:spPr>
          <a:xfrm>
            <a:off x="4324484" y="3219019"/>
            <a:ext cx="1898685" cy="900100"/>
          </a:xfrm>
          <a:prstGeom prst="wedgeRoundRectCallout">
            <a:avLst>
              <a:gd name="adj1" fmla="val -36902"/>
              <a:gd name="adj2" fmla="val -91818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隐藏单行文本框</a:t>
            </a:r>
            <a:b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</a:t>
            </a:r>
            <a:b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50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9C87ADA-9A94-499A-B5E9-470E9ADFD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5" y="1356615"/>
            <a:ext cx="5309410" cy="3735415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确认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event.record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的值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A8E5B04-E2C6-4D72-BEAD-7C728BB4BA9A}"/>
              </a:ext>
            </a:extLst>
          </p:cNvPr>
          <p:cNvGrpSpPr/>
          <p:nvPr/>
        </p:nvGrpSpPr>
        <p:grpSpPr>
          <a:xfrm>
            <a:off x="251520" y="681540"/>
            <a:ext cx="6706104" cy="487335"/>
            <a:chOff x="291809" y="1274325"/>
            <a:chExt cx="6706104" cy="487335"/>
          </a:xfrm>
        </p:grpSpPr>
        <p:sp>
          <p:nvSpPr>
            <p:cNvPr id="5" name="コンテンツ プレースホルダー 2">
              <a:extLst>
                <a:ext uri="{FF2B5EF4-FFF2-40B4-BE49-F238E27FC236}">
                  <a16:creationId xmlns:a16="http://schemas.microsoft.com/office/drawing/2014/main" id="{E63CEFD6-1442-4DAA-9A14-3B5D5BAC246B}"/>
                </a:ext>
              </a:extLst>
            </p:cNvPr>
            <p:cNvSpPr txBox="1">
              <a:spLocks/>
            </p:cNvSpPr>
            <p:nvPr/>
          </p:nvSpPr>
          <p:spPr>
            <a:xfrm>
              <a:off x="696854" y="1274325"/>
              <a:ext cx="6301059" cy="487335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记录详情页面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&gt; F12 &gt; console    </a:t>
              </a:r>
              <a:endPara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5EE7B82-6BC1-45D3-91DC-749F1F7E22C0}"/>
                </a:ext>
              </a:extLst>
            </p:cNvPr>
            <p:cNvSpPr/>
            <p:nvPr/>
          </p:nvSpPr>
          <p:spPr>
            <a:xfrm>
              <a:off x="291809" y="1393900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角丸四角形吹き出し 5">
            <a:extLst>
              <a:ext uri="{FF2B5EF4-FFF2-40B4-BE49-F238E27FC236}">
                <a16:creationId xmlns:a16="http://schemas.microsoft.com/office/drawing/2014/main" id="{89E2789D-D161-433D-81FD-18FD69CDC716}"/>
              </a:ext>
            </a:extLst>
          </p:cNvPr>
          <p:cNvSpPr/>
          <p:nvPr/>
        </p:nvSpPr>
        <p:spPr>
          <a:xfrm>
            <a:off x="2366755" y="1626645"/>
            <a:ext cx="4815535" cy="382369"/>
          </a:xfrm>
          <a:prstGeom prst="wedgeRoundRectCallout">
            <a:avLst>
              <a:gd name="adj1" fmla="val -53742"/>
              <a:gd name="adj2" fmla="val -26211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输入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kintone.app.record.get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();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获取当前记录的字段代码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B0341A5-6C10-44B7-9FB7-620C0F952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170" y="3426845"/>
            <a:ext cx="1953153" cy="57578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89AED6E6-2259-4A91-A919-CDA5A9FDFFBE}"/>
              </a:ext>
            </a:extLst>
          </p:cNvPr>
          <p:cNvSpPr/>
          <p:nvPr/>
        </p:nvSpPr>
        <p:spPr>
          <a:xfrm>
            <a:off x="881590" y="4334843"/>
            <a:ext cx="810090" cy="127117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D854F82-26C2-4304-876E-1BDB55E7A168}"/>
              </a:ext>
            </a:extLst>
          </p:cNvPr>
          <p:cNvSpPr/>
          <p:nvPr/>
        </p:nvSpPr>
        <p:spPr>
          <a:xfrm>
            <a:off x="881590" y="4596975"/>
            <a:ext cx="810090" cy="12266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2B575C4-8FAC-42DB-B2D1-FD4BB3F6B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39" y="4341741"/>
            <a:ext cx="1931483" cy="593407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3B915D1-9281-4B27-BC7A-C6E81EA682EE}"/>
              </a:ext>
            </a:extLst>
          </p:cNvPr>
          <p:cNvCxnSpPr>
            <a:cxnSpLocks/>
          </p:cNvCxnSpPr>
          <p:nvPr/>
        </p:nvCxnSpPr>
        <p:spPr>
          <a:xfrm flipV="1">
            <a:off x="3221850" y="3759742"/>
            <a:ext cx="1170130" cy="485091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7D4BD2F-B3A3-4B6E-8B2D-FDD9A22FEC1C}"/>
              </a:ext>
            </a:extLst>
          </p:cNvPr>
          <p:cNvCxnSpPr>
            <a:cxnSpLocks/>
          </p:cNvCxnSpPr>
          <p:nvPr/>
        </p:nvCxnSpPr>
        <p:spPr>
          <a:xfrm>
            <a:off x="3350915" y="4519696"/>
            <a:ext cx="1041065" cy="64248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角丸四角形吹き出し 5">
            <a:extLst>
              <a:ext uri="{FF2B5EF4-FFF2-40B4-BE49-F238E27FC236}">
                <a16:creationId xmlns:a16="http://schemas.microsoft.com/office/drawing/2014/main" id="{7887EF58-EA63-4585-9EC2-F173973A0AD6}"/>
              </a:ext>
            </a:extLst>
          </p:cNvPr>
          <p:cNvSpPr/>
          <p:nvPr/>
        </p:nvSpPr>
        <p:spPr>
          <a:xfrm>
            <a:off x="6788436" y="2823510"/>
            <a:ext cx="1924024" cy="1872463"/>
          </a:xfrm>
          <a:prstGeom prst="wedgeRoundRectCallout">
            <a:avLst>
              <a:gd name="adj1" fmla="val -66280"/>
              <a:gd name="adj2" fmla="val -4320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字段代码：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    type: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字段类型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    value: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字段值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字段值为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event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发生时的当前值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778532-2F17-4F7D-9700-7010FB2F3498}"/>
              </a:ext>
            </a:extLst>
          </p:cNvPr>
          <p:cNvSpPr/>
          <p:nvPr/>
        </p:nvSpPr>
        <p:spPr>
          <a:xfrm>
            <a:off x="656565" y="103131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>
                <a:solidFill>
                  <a:schemeClr val="accent4"/>
                </a:solidFill>
              </a:rPr>
              <a:t>mac用户打开方法是“command + option + I”</a:t>
            </a:r>
          </a:p>
        </p:txBody>
      </p:sp>
    </p:spTree>
    <p:extLst>
      <p:ext uri="{BB962C8B-B14F-4D97-AF65-F5344CB8AC3E}">
        <p14:creationId xmlns:p14="http://schemas.microsoft.com/office/powerpoint/2010/main" val="2568843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296525" y="996575"/>
            <a:ext cx="8550950" cy="405210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‘use strict’;</a:t>
            </a:r>
          </a:p>
          <a:p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'app.record.edit.show',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record = event.record;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result = record['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 的时候，才显示 “预期时间”、“进度” 字段</a:t>
            </a:r>
            <a:b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if (result === '×××')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4147154-3BB4-4135-872D-EB9B0BDE758D}"/>
              </a:ext>
            </a:extLst>
          </p:cNvPr>
          <p:cNvSpPr txBox="1">
            <a:spLocks/>
          </p:cNvSpPr>
          <p:nvPr/>
        </p:nvSpPr>
        <p:spPr>
          <a:xfrm>
            <a:off x="1691681" y="698090"/>
            <a:ext cx="7290810" cy="703530"/>
          </a:xfrm>
          <a:prstGeom prst="rect">
            <a:avLst/>
          </a:prstGeom>
          <a:solidFill>
            <a:schemeClr val="bg1"/>
          </a:solidFill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尝试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endParaRPr lang="en-US" altLang="ja-JP" dirty="0">
              <a:latin typeface="+mn-ea"/>
              <a:ea typeface="+mn-ea"/>
              <a:cs typeface="Meiryo UI" panose="020B0604030504040204" pitchFamily="50" charset="-128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替换下面代码中的</a:t>
            </a:r>
            <a:r>
              <a:rPr lang="en-US" altLang="ja-JP" dirty="0">
                <a:latin typeface="+mn-ea"/>
                <a:ea typeface="+mn-ea"/>
                <a:cs typeface="Meiryo UI" panose="020B0604030504040204" pitchFamily="50" charset="-128"/>
              </a:rPr>
              <a:t>XXX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，如果产品名为“</a:t>
            </a:r>
            <a:r>
              <a:rPr lang="en-US" altLang="zh-CN" dirty="0">
                <a:latin typeface="+mn-ea"/>
                <a:ea typeface="+mn-ea"/>
                <a:cs typeface="Meiryo UI" panose="020B0604030504040204" pitchFamily="50" charset="-128"/>
              </a:rPr>
              <a:t>Garoon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”，显示“预期时间”、“进度”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（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如果是其他产品，则隐藏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）</a:t>
            </a:r>
            <a:endParaRPr lang="en-US" altLang="ja-JP" dirty="0">
              <a:solidFill>
                <a:srgbClr val="00B0F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0547F92-B2B0-4CB6-BF4C-3CECBD258149}"/>
              </a:ext>
            </a:extLst>
          </p:cNvPr>
          <p:cNvGrpSpPr/>
          <p:nvPr/>
        </p:nvGrpSpPr>
        <p:grpSpPr>
          <a:xfrm>
            <a:off x="6015442" y="1771488"/>
            <a:ext cx="3057058" cy="2862322"/>
            <a:chOff x="5427915" y="2168327"/>
            <a:chExt cx="3057058" cy="286232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1B86D9D-E5B0-4F44-AC24-A52F782D9AD4}"/>
                </a:ext>
              </a:extLst>
            </p:cNvPr>
            <p:cNvSpPr txBox="1"/>
            <p:nvPr/>
          </p:nvSpPr>
          <p:spPr>
            <a:xfrm>
              <a:off x="5427915" y="2168327"/>
              <a:ext cx="3057058" cy="286232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6D5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66D5F0"/>
                  </a:solidFill>
                </a:rPr>
                <a:t>自定义操作：</a:t>
              </a:r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1D5613F-EF6A-4FE3-B10C-CE4584623544}"/>
                </a:ext>
              </a:extLst>
            </p:cNvPr>
            <p:cNvGrpSpPr/>
            <p:nvPr/>
          </p:nvGrpSpPr>
          <p:grpSpPr>
            <a:xfrm>
              <a:off x="5644900" y="2585568"/>
              <a:ext cx="1998650" cy="2200308"/>
              <a:chOff x="5453670" y="2816525"/>
              <a:chExt cx="1998650" cy="2200308"/>
            </a:xfrm>
          </p:grpSpPr>
          <p:sp>
            <p:nvSpPr>
              <p:cNvPr id="8" name="流程图: 可选过程 7">
                <a:extLst>
                  <a:ext uri="{FF2B5EF4-FFF2-40B4-BE49-F238E27FC236}">
                    <a16:creationId xmlns:a16="http://schemas.microsoft.com/office/drawing/2014/main" id="{EC7E5EC9-FA66-43B1-B7F2-E65921FAED6B}"/>
                  </a:ext>
                </a:extLst>
              </p:cNvPr>
              <p:cNvSpPr/>
              <p:nvPr/>
            </p:nvSpPr>
            <p:spPr>
              <a:xfrm>
                <a:off x="5529120" y="2816525"/>
                <a:ext cx="1821978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/>
                  <a:t>获取记录</a:t>
                </a:r>
              </a:p>
            </p:txBody>
          </p:sp>
          <p:sp>
            <p:nvSpPr>
              <p:cNvPr id="9" name="菱形 8">
                <a:extLst>
                  <a:ext uri="{FF2B5EF4-FFF2-40B4-BE49-F238E27FC236}">
                    <a16:creationId xmlns:a16="http://schemas.microsoft.com/office/drawing/2014/main" id="{4F0ECE02-3BE3-4662-A55D-79DAB3779E79}"/>
                  </a:ext>
                </a:extLst>
              </p:cNvPr>
              <p:cNvSpPr/>
              <p:nvPr/>
            </p:nvSpPr>
            <p:spPr>
              <a:xfrm>
                <a:off x="5453670" y="3236169"/>
                <a:ext cx="1998650" cy="600780"/>
              </a:xfrm>
              <a:prstGeom prst="diamond">
                <a:avLst/>
              </a:pr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</a:rPr>
                  <a:t>产品名是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”Garoon”</a:t>
                </a:r>
                <a:r>
                  <a:rPr lang="zh-CN" altLang="en-US" sz="900" dirty="0">
                    <a:solidFill>
                      <a:schemeClr val="tx1"/>
                    </a:solidFill>
                  </a:rPr>
                  <a:t>吗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?</a:t>
                </a:r>
                <a:r>
                  <a:rPr lang="zh-CN" altLang="en-US" sz="1000" dirty="0"/>
                  <a:t>”</a:t>
                </a:r>
              </a:p>
              <a:p>
                <a:pPr algn="ctr"/>
                <a:endParaRPr lang="zh-CN" altLang="en-US" dirty="0"/>
              </a:p>
            </p:txBody>
          </p:sp>
          <p:sp>
            <p:nvSpPr>
              <p:cNvPr id="10" name="流程图: 可选过程 9">
                <a:extLst>
                  <a:ext uri="{FF2B5EF4-FFF2-40B4-BE49-F238E27FC236}">
                    <a16:creationId xmlns:a16="http://schemas.microsoft.com/office/drawing/2014/main" id="{33F34418-898D-484C-BED1-0B2B2FFCCB98}"/>
                  </a:ext>
                </a:extLst>
              </p:cNvPr>
              <p:cNvSpPr/>
              <p:nvPr/>
            </p:nvSpPr>
            <p:spPr>
              <a:xfrm>
                <a:off x="5667787" y="3974988"/>
                <a:ext cx="1563965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显示“预期时间”、“进度”</a:t>
                </a:r>
              </a:p>
            </p:txBody>
          </p:sp>
          <p:sp>
            <p:nvSpPr>
              <p:cNvPr id="11" name="流程图: 可选过程 10">
                <a:extLst>
                  <a:ext uri="{FF2B5EF4-FFF2-40B4-BE49-F238E27FC236}">
                    <a16:creationId xmlns:a16="http://schemas.microsoft.com/office/drawing/2014/main" id="{5BE7EC4D-2D62-49B4-B428-3D08A0C3FECD}"/>
                  </a:ext>
                </a:extLst>
              </p:cNvPr>
              <p:cNvSpPr/>
              <p:nvPr/>
            </p:nvSpPr>
            <p:spPr>
              <a:xfrm>
                <a:off x="5652120" y="4326945"/>
                <a:ext cx="1563962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隐藏“预期时间”、“进度”</a:t>
                </a:r>
              </a:p>
            </p:txBody>
          </p:sp>
          <p:sp>
            <p:nvSpPr>
              <p:cNvPr id="14" name="流程图: 终止 13">
                <a:extLst>
                  <a:ext uri="{FF2B5EF4-FFF2-40B4-BE49-F238E27FC236}">
                    <a16:creationId xmlns:a16="http://schemas.microsoft.com/office/drawing/2014/main" id="{AE7B5024-E99D-4056-ADA3-3F483680BD7D}"/>
                  </a:ext>
                </a:extLst>
              </p:cNvPr>
              <p:cNvSpPr/>
              <p:nvPr/>
            </p:nvSpPr>
            <p:spPr>
              <a:xfrm>
                <a:off x="5946274" y="4735014"/>
                <a:ext cx="990110" cy="281819"/>
              </a:xfrm>
              <a:prstGeom prst="flowChartTermina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</a:rPr>
                  <a:t>结束</a:t>
                </a: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9552ECE0-9DEC-4320-BAD5-E1BDC058843F}"/>
                  </a:ext>
                </a:extLst>
              </p:cNvPr>
              <p:cNvCxnSpPr>
                <a:cxnSpLocks/>
                <a:stCxn id="8" idx="2"/>
                <a:endCxn id="9" idx="0"/>
              </p:cNvCxnSpPr>
              <p:nvPr/>
            </p:nvCxnSpPr>
            <p:spPr>
              <a:xfrm>
                <a:off x="6440109" y="3086555"/>
                <a:ext cx="12886" cy="1496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20C5CFB4-517E-4A03-9D41-EF55BB791C9F}"/>
                  </a:ext>
                </a:extLst>
              </p:cNvPr>
              <p:cNvCxnSpPr>
                <a:cxnSpLocks/>
                <a:stCxn id="9" idx="2"/>
                <a:endCxn id="10" idx="0"/>
              </p:cNvCxnSpPr>
              <p:nvPr/>
            </p:nvCxnSpPr>
            <p:spPr>
              <a:xfrm flipH="1">
                <a:off x="6449770" y="3836949"/>
                <a:ext cx="3225" cy="138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FA302D1-2E72-4BFB-B280-F0D462176124}"/>
                  </a:ext>
                </a:extLst>
              </p:cNvPr>
              <p:cNvSpPr txBox="1"/>
              <p:nvPr/>
            </p:nvSpPr>
            <p:spPr>
              <a:xfrm>
                <a:off x="7075294" y="3293124"/>
                <a:ext cx="3770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NO</a:t>
                </a:r>
                <a:endParaRPr lang="zh-CN" altLang="en-US" sz="1000" dirty="0"/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943B1B22-F1A5-4F30-A9B8-EE8988C00215}"/>
                  </a:ext>
                </a:extLst>
              </p:cNvPr>
              <p:cNvCxnSpPr>
                <a:cxnSpLocks/>
                <a:stCxn id="11" idx="2"/>
                <a:endCxn id="14" idx="0"/>
              </p:cNvCxnSpPr>
              <p:nvPr/>
            </p:nvCxnSpPr>
            <p:spPr>
              <a:xfrm>
                <a:off x="6434101" y="4596975"/>
                <a:ext cx="7228" cy="138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连接符: 肘形 18">
                <a:extLst>
                  <a:ext uri="{FF2B5EF4-FFF2-40B4-BE49-F238E27FC236}">
                    <a16:creationId xmlns:a16="http://schemas.microsoft.com/office/drawing/2014/main" id="{8C653F06-AE98-4DB2-8622-70C8DF27E6CE}"/>
                  </a:ext>
                </a:extLst>
              </p:cNvPr>
              <p:cNvCxnSpPr>
                <a:cxnSpLocks/>
                <a:stCxn id="9" idx="3"/>
                <a:endCxn id="11" idx="3"/>
              </p:cNvCxnSpPr>
              <p:nvPr/>
            </p:nvCxnSpPr>
            <p:spPr>
              <a:xfrm flipH="1">
                <a:off x="7216082" y="3536559"/>
                <a:ext cx="236238" cy="925401"/>
              </a:xfrm>
              <a:prstGeom prst="bentConnector3">
                <a:avLst>
                  <a:gd name="adj1" fmla="val -96767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8437580-9ACD-4184-85F0-CE21655CB064}"/>
                  </a:ext>
                </a:extLst>
              </p:cNvPr>
              <p:cNvSpPr txBox="1"/>
              <p:nvPr/>
            </p:nvSpPr>
            <p:spPr>
              <a:xfrm>
                <a:off x="6500845" y="3746997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YES</a:t>
                </a:r>
                <a:endParaRPr lang="zh-CN" altLang="en-US" sz="1000" dirty="0"/>
              </a:p>
            </p:txBody>
          </p:sp>
          <p:cxnSp>
            <p:nvCxnSpPr>
              <p:cNvPr id="21" name="连接符: 肘形 20">
                <a:extLst>
                  <a:ext uri="{FF2B5EF4-FFF2-40B4-BE49-F238E27FC236}">
                    <a16:creationId xmlns:a16="http://schemas.microsoft.com/office/drawing/2014/main" id="{257C2A34-43CA-43F5-AB24-A1E594C210B7}"/>
                  </a:ext>
                </a:extLst>
              </p:cNvPr>
              <p:cNvCxnSpPr>
                <a:cxnSpLocks/>
                <a:stCxn id="10" idx="1"/>
                <a:endCxn id="14" idx="1"/>
              </p:cNvCxnSpPr>
              <p:nvPr/>
            </p:nvCxnSpPr>
            <p:spPr>
              <a:xfrm rot="10800000" flipH="1" flipV="1">
                <a:off x="5667786" y="4110002"/>
                <a:ext cx="278487" cy="765921"/>
              </a:xfrm>
              <a:prstGeom prst="bentConnector3">
                <a:avLst>
                  <a:gd name="adj1" fmla="val -82086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7D17292-29AC-4659-B34A-2DFA0B37B6DF}"/>
              </a:ext>
            </a:extLst>
          </p:cNvPr>
          <p:cNvSpPr txBox="1"/>
          <p:nvPr/>
        </p:nvSpPr>
        <p:spPr>
          <a:xfrm>
            <a:off x="251496" y="63913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989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296525" y="994917"/>
            <a:ext cx="8550950" cy="405210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‘use strict’;</a:t>
            </a:r>
          </a:p>
          <a:p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'app.record.edit.show',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record = event.record;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result = record['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 的时候，才显示 “预期时间”、“进度” 字段</a:t>
            </a:r>
            <a:b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if (result === '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')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true);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true);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31C6D2-1E03-4AE8-A82C-3CCEF2B32BE3}"/>
              </a:ext>
            </a:extLst>
          </p:cNvPr>
          <p:cNvSpPr txBox="1"/>
          <p:nvPr/>
        </p:nvSpPr>
        <p:spPr>
          <a:xfrm>
            <a:off x="251496" y="63913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445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1B498CE-1195-4179-BD12-8DF47914089F}"/>
              </a:ext>
            </a:extLst>
          </p:cNvPr>
          <p:cNvGrpSpPr/>
          <p:nvPr/>
        </p:nvGrpSpPr>
        <p:grpSpPr>
          <a:xfrm>
            <a:off x="0" y="2121700"/>
            <a:ext cx="9144000" cy="1302533"/>
            <a:chOff x="71500" y="4089925"/>
            <a:chExt cx="9144000" cy="130253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557305C-2420-400E-958C-B323ED058B99}"/>
                </a:ext>
              </a:extLst>
            </p:cNvPr>
            <p:cNvSpPr/>
            <p:nvPr/>
          </p:nvSpPr>
          <p:spPr>
            <a:xfrm>
              <a:off x="71500" y="4089925"/>
              <a:ext cx="9144000" cy="1035115"/>
            </a:xfrm>
            <a:prstGeom prst="rect">
              <a:avLst/>
            </a:prstGeom>
            <a:solidFill>
              <a:srgbClr val="2129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2F10F8-4433-4983-8E2E-B85C7074D25C}"/>
                </a:ext>
              </a:extLst>
            </p:cNvPr>
            <p:cNvSpPr txBox="1"/>
            <p:nvPr/>
          </p:nvSpPr>
          <p:spPr>
            <a:xfrm>
              <a:off x="71500" y="4315240"/>
              <a:ext cx="907249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F7B52C"/>
                  </a:solidFill>
                  <a:latin typeface="Impact" pitchFamily="34" charset="0"/>
                  <a:ea typeface="+mj-ea"/>
                </a:rPr>
                <a:t>最后一步：测试！</a:t>
              </a:r>
              <a:endParaRPr lang="en-US" altLang="zh-CN" sz="3200" b="1" dirty="0">
                <a:solidFill>
                  <a:srgbClr val="F7B52C"/>
                </a:solidFill>
                <a:latin typeface="Impact" pitchFamily="34" charset="0"/>
                <a:ea typeface="+mj-ea"/>
              </a:endParaRPr>
            </a:p>
            <a:p>
              <a:pPr algn="ctr"/>
              <a:endParaRPr lang="zh-CN" altLang="en-US" sz="3200" b="1" dirty="0">
                <a:solidFill>
                  <a:srgbClr val="F7B52C"/>
                </a:solidFill>
                <a:latin typeface="Impact" pitchFamily="34" charset="0"/>
                <a:ea typeface="+mj-ea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9F743B99-279D-40DE-918B-13C9423AF0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225" y="1477721"/>
            <a:ext cx="2188057" cy="218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28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514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全部代码</a:t>
            </a: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341530" y="996575"/>
            <a:ext cx="5355595" cy="34938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ja-JP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           'app.record.edit.show',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'app.record.detail.show',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'app.record.create.change.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'app.record.edit.change.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var record = event.record;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var result = record['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//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Garoon”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的时候，才显示 “预期时间”、“进度” 字段</a:t>
            </a:r>
            <a:endParaRPr lang="ja-JP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if (result === 'Garoon')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});</a:t>
            </a:r>
          </a:p>
          <a:p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9C4DB0-E437-44EA-ABB7-6F7A28DE648F}"/>
              </a:ext>
            </a:extLst>
          </p:cNvPr>
          <p:cNvSpPr txBox="1"/>
          <p:nvPr/>
        </p:nvSpPr>
        <p:spPr>
          <a:xfrm>
            <a:off x="341530" y="54652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2949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D1BE45-997F-48D6-A262-C69A3C1E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05" y="1086585"/>
            <a:ext cx="8378871" cy="337537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B0AA14E-86C4-4B8B-B139-2C5C4A8B73C1}"/>
              </a:ext>
            </a:extLst>
          </p:cNvPr>
          <p:cNvSpPr/>
          <p:nvPr/>
        </p:nvSpPr>
        <p:spPr>
          <a:xfrm>
            <a:off x="7812360" y="2571750"/>
            <a:ext cx="423555" cy="327532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553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02494F-1714-4164-9979-9FF45D685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0" y="906565"/>
            <a:ext cx="6750750" cy="371291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B0AA14E-86C4-4B8B-B139-2C5C4A8B73C1}"/>
              </a:ext>
            </a:extLst>
          </p:cNvPr>
          <p:cNvSpPr/>
          <p:nvPr/>
        </p:nvSpPr>
        <p:spPr>
          <a:xfrm flipV="1">
            <a:off x="2771800" y="3111810"/>
            <a:ext cx="2025225" cy="40504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625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464147-DCC7-4B37-ABD3-D9C36DD7A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50" y="816555"/>
            <a:ext cx="4315133" cy="405045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B8E60CC-4358-434C-87F8-E7FC943D8679}"/>
              </a:ext>
            </a:extLst>
          </p:cNvPr>
          <p:cNvSpPr/>
          <p:nvPr/>
        </p:nvSpPr>
        <p:spPr>
          <a:xfrm flipV="1">
            <a:off x="1826695" y="3156815"/>
            <a:ext cx="1080120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9E32743-6912-45C8-842C-90592805932B}"/>
              </a:ext>
            </a:extLst>
          </p:cNvPr>
          <p:cNvSpPr/>
          <p:nvPr/>
        </p:nvSpPr>
        <p:spPr>
          <a:xfrm flipV="1">
            <a:off x="505542" y="1041580"/>
            <a:ext cx="646078" cy="27003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97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6A24B-5A15-430C-8F94-2DDE8F3C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87" y="1266604"/>
            <a:ext cx="7140638" cy="274530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A1EE66-4B85-4A33-9117-B1A3B54A1BC1}"/>
              </a:ext>
            </a:extLst>
          </p:cNvPr>
          <p:cNvSpPr/>
          <p:nvPr/>
        </p:nvSpPr>
        <p:spPr>
          <a:xfrm flipV="1">
            <a:off x="6162331" y="1581640"/>
            <a:ext cx="1334994" cy="45005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2A41E1-C561-4CF9-9634-72A42671243F}"/>
              </a:ext>
            </a:extLst>
          </p:cNvPr>
          <p:cNvSpPr txBox="1"/>
          <p:nvPr/>
        </p:nvSpPr>
        <p:spPr>
          <a:xfrm>
            <a:off x="6237185" y="203169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45450"/>
                </a:solidFill>
              </a:rPr>
              <a:t>别忘记哦～</a:t>
            </a:r>
          </a:p>
        </p:txBody>
      </p:sp>
    </p:spTree>
    <p:extLst>
      <p:ext uri="{BB962C8B-B14F-4D97-AF65-F5344CB8AC3E}">
        <p14:creationId xmlns:p14="http://schemas.microsoft.com/office/powerpoint/2010/main" val="4115018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22E4C3A-00E9-46F2-A341-6D41F7ED1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24" y="580514"/>
            <a:ext cx="5940661" cy="444400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881590" y="88297"/>
            <a:ext cx="64807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solidFill>
                  <a:srgbClr val="FDA907"/>
                </a:solidFill>
                <a:latin typeface="+mj-ea"/>
                <a:ea typeface="+mj-ea"/>
              </a:rPr>
              <a:t>成功了吗</a:t>
            </a:r>
            <a:r>
              <a:rPr lang="en-US" altLang="zh-CN" sz="6000" dirty="0">
                <a:solidFill>
                  <a:srgbClr val="FDA907"/>
                </a:solidFill>
                <a:latin typeface="+mj-ea"/>
                <a:ea typeface="+mj-ea"/>
              </a:rPr>
              <a:t>?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2FDD76-0613-489D-88BB-6448932BD9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355" y="3082837"/>
            <a:ext cx="1188078" cy="194168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6D31AAB-7D78-4502-9982-4B6BB784BB06}"/>
              </a:ext>
            </a:extLst>
          </p:cNvPr>
          <p:cNvSpPr/>
          <p:nvPr/>
        </p:nvSpPr>
        <p:spPr>
          <a:xfrm flipV="1">
            <a:off x="1241629" y="3671323"/>
            <a:ext cx="990111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281ADCE-3DE4-4579-A424-0CC8BE143FBD}"/>
              </a:ext>
            </a:extLst>
          </p:cNvPr>
          <p:cNvSpPr/>
          <p:nvPr/>
        </p:nvSpPr>
        <p:spPr>
          <a:xfrm flipV="1">
            <a:off x="2972712" y="2976794"/>
            <a:ext cx="1959327" cy="567827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855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54AF7FE-6D11-4144-B43E-65B3C07E0492}"/>
              </a:ext>
            </a:extLst>
          </p:cNvPr>
          <p:cNvSpPr/>
          <p:nvPr/>
        </p:nvSpPr>
        <p:spPr>
          <a:xfrm>
            <a:off x="0" y="1559137"/>
            <a:ext cx="9144000" cy="1035115"/>
          </a:xfrm>
          <a:prstGeom prst="rect">
            <a:avLst/>
          </a:prstGeom>
          <a:solidFill>
            <a:srgbClr val="21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25D19-4412-4E6B-9094-A58C41E4E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726545"/>
            <a:ext cx="2125176" cy="248578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1478925" y="1645529"/>
            <a:ext cx="50282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第二个任务：</a:t>
            </a:r>
            <a:endParaRPr lang="en-US" altLang="zh-CN" sz="2400" dirty="0">
              <a:solidFill>
                <a:srgbClr val="F7B52C"/>
              </a:solidFill>
              <a:latin typeface="Impact" pitchFamily="34" charset="0"/>
              <a:ea typeface="+mj-ea"/>
            </a:endParaRPr>
          </a:p>
          <a:p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使用 </a:t>
            </a:r>
            <a:r>
              <a:rPr lang="en-US" altLang="zh-CN" sz="2400" dirty="0">
                <a:solidFill>
                  <a:srgbClr val="F7B52C"/>
                </a:solidFill>
                <a:latin typeface="Impact" pitchFamily="34" charset="0"/>
                <a:ea typeface="+mj-ea"/>
              </a:rPr>
              <a:t>HTTP Client Tool </a:t>
            </a:r>
            <a:r>
              <a:rPr lang="zh-CN" altLang="en-US" sz="2400" b="1" dirty="0">
                <a:solidFill>
                  <a:srgbClr val="F7B52C"/>
                </a:solidFill>
                <a:latin typeface="Impact" pitchFamily="34" charset="0"/>
                <a:ea typeface="+mj-ea"/>
              </a:rPr>
              <a:t>给应用添加数据</a:t>
            </a:r>
            <a:endParaRPr lang="en-US" altLang="zh-CN" sz="2400" b="1" dirty="0">
              <a:solidFill>
                <a:srgbClr val="F7B52C"/>
              </a:solidFill>
              <a:latin typeface="Impact" pitchFamily="34" charset="0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E3C17-76E8-41F5-9CFC-C2625585F581}"/>
              </a:ext>
            </a:extLst>
          </p:cNvPr>
          <p:cNvSpPr txBox="1"/>
          <p:nvPr/>
        </p:nvSpPr>
        <p:spPr>
          <a:xfrm>
            <a:off x="1556665" y="2661760"/>
            <a:ext cx="5400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+mn-ea"/>
              </a:rPr>
              <a:t>1.</a:t>
            </a:r>
            <a:r>
              <a:rPr lang="zh-CN" altLang="en-US" sz="2000" b="1" dirty="0">
                <a:latin typeface="+mn-ea"/>
              </a:rPr>
              <a:t>登录</a:t>
            </a:r>
            <a:endParaRPr lang="en-US" altLang="zh-CN" sz="2000" b="1" dirty="0">
              <a:latin typeface="+mn-ea"/>
            </a:endParaRPr>
          </a:p>
          <a:p>
            <a:r>
              <a:rPr lang="en-US" altLang="zh-CN" sz="1600" dirty="0">
                <a:latin typeface="+mn-ea"/>
                <a:hlinkClick r:id="rId4"/>
              </a:rPr>
              <a:t>https://developpersh.cybozu.cn/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demo-guest/</a:t>
            </a:r>
            <a:r>
              <a:rPr lang="en-US" altLang="zh-CN" sz="1600" dirty="0" err="1">
                <a:latin typeface="+mn-ea"/>
              </a:rPr>
              <a:t>cybozu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找到应用：</a:t>
            </a:r>
            <a:r>
              <a:rPr lang="en-US" altLang="zh-CN" sz="1600" b="1" dirty="0"/>
              <a:t>HTTP Client Tool</a:t>
            </a:r>
          </a:p>
          <a:p>
            <a:endParaRPr lang="en-US" altLang="zh-CN" b="1" dirty="0"/>
          </a:p>
          <a:p>
            <a:r>
              <a:rPr lang="en-US" altLang="zh-CN" sz="2000" b="1" dirty="0">
                <a:latin typeface="+mn-ea"/>
              </a:rPr>
              <a:t>2.</a:t>
            </a:r>
            <a:r>
              <a:rPr lang="zh-CN" altLang="en-US" sz="2000" b="1" dirty="0">
                <a:latin typeface="+mn-ea"/>
              </a:rPr>
              <a:t>登录</a:t>
            </a:r>
            <a:endParaRPr lang="en-US" altLang="zh-CN" sz="2000" b="1" dirty="0">
              <a:latin typeface="+mn-ea"/>
              <a:hlinkClick r:id="rId5"/>
            </a:endParaRPr>
          </a:p>
          <a:p>
            <a:r>
              <a:rPr lang="en-US" altLang="zh-CN" sz="1600" dirty="0">
                <a:latin typeface="+mn-ea"/>
                <a:hlinkClick r:id="rId5"/>
              </a:rPr>
              <a:t>https://devcamp.cybozu.cn/k/#/portal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找到应用：</a:t>
            </a:r>
            <a:r>
              <a:rPr lang="en-US" altLang="zh-CN" sz="1600" b="1" dirty="0">
                <a:latin typeface="+mn-ea"/>
              </a:rPr>
              <a:t>REST API</a:t>
            </a:r>
            <a:r>
              <a:rPr lang="zh-CN" altLang="en-US" sz="1600" b="1" dirty="0"/>
              <a:t>添加数据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6BD749A-B0F0-4325-9ABC-E41E25A54480}"/>
              </a:ext>
            </a:extLst>
          </p:cNvPr>
          <p:cNvSpPr txBox="1"/>
          <p:nvPr/>
        </p:nvSpPr>
        <p:spPr>
          <a:xfrm>
            <a:off x="251520" y="771550"/>
            <a:ext cx="3489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REST API</a:t>
            </a:r>
          </a:p>
        </p:txBody>
      </p:sp>
    </p:spTree>
    <p:extLst>
      <p:ext uri="{BB962C8B-B14F-4D97-AF65-F5344CB8AC3E}">
        <p14:creationId xmlns:p14="http://schemas.microsoft.com/office/powerpoint/2010/main" val="3432793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1508DA-5F56-4239-AEE3-915B11A83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46" r="47632" b="8417"/>
          <a:stretch/>
        </p:blipFill>
        <p:spPr>
          <a:xfrm>
            <a:off x="296525" y="861560"/>
            <a:ext cx="4150736" cy="42216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6E89677-97EC-47AD-B37B-8E6136E88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467" y="2177401"/>
            <a:ext cx="713835" cy="10082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56D757D-FCE3-4F5E-B91F-33DAA7E4A13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8" b="7792"/>
          <a:stretch/>
        </p:blipFill>
        <p:spPr>
          <a:xfrm>
            <a:off x="4144455" y="231490"/>
            <a:ext cx="2432450" cy="2002497"/>
          </a:xfrm>
          <a:prstGeom prst="rect">
            <a:avLst/>
          </a:prstGeom>
        </p:spPr>
      </p:pic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7D7434E-41CB-4E95-BB37-E2FD468654BE}"/>
              </a:ext>
            </a:extLst>
          </p:cNvPr>
          <p:cNvSpPr/>
          <p:nvPr/>
        </p:nvSpPr>
        <p:spPr>
          <a:xfrm flipV="1">
            <a:off x="2501770" y="906564"/>
            <a:ext cx="1350150" cy="405045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5F5CF98-7FE9-4C0B-9331-04184233D9C6}"/>
              </a:ext>
            </a:extLst>
          </p:cNvPr>
          <p:cNvCxnSpPr>
            <a:cxnSpLocks/>
          </p:cNvCxnSpPr>
          <p:nvPr/>
        </p:nvCxnSpPr>
        <p:spPr>
          <a:xfrm>
            <a:off x="3851920" y="1109086"/>
            <a:ext cx="315035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40">
            <a:extLst>
              <a:ext uri="{FF2B5EF4-FFF2-40B4-BE49-F238E27FC236}">
                <a16:creationId xmlns:a16="http://schemas.microsoft.com/office/drawing/2014/main" id="{EDA7D236-377C-425A-AF09-5306458E35AC}"/>
              </a:ext>
            </a:extLst>
          </p:cNvPr>
          <p:cNvSpPr txBox="1"/>
          <p:nvPr/>
        </p:nvSpPr>
        <p:spPr>
          <a:xfrm>
            <a:off x="6237185" y="906565"/>
            <a:ext cx="207023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对一个记录进行处理</a:t>
            </a:r>
            <a:endParaRPr lang="en-US" altLang="zh-CN" sz="1000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批量处理数据</a:t>
            </a:r>
            <a:endParaRPr lang="en-US" altLang="zh-CN" sz="1000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对多个应用的记录进行批量处理</a:t>
            </a:r>
            <a:endParaRPr lang="en-US" altLang="zh-CN" sz="1000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更新一条记录的状态</a:t>
            </a:r>
            <a:endParaRPr lang="en-US" altLang="zh-CN" sz="1000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zh-CN" altLang="en-US" sz="1000" dirty="0">
                <a:latin typeface="+mn-ea"/>
              </a:rPr>
              <a:t>上传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下载文件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2E9218F-538F-479B-90AA-7789DA5D8C01}"/>
              </a:ext>
            </a:extLst>
          </p:cNvPr>
          <p:cNvCxnSpPr/>
          <p:nvPr/>
        </p:nvCxnSpPr>
        <p:spPr>
          <a:xfrm>
            <a:off x="4166955" y="1109086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5412011-677F-43B8-A12B-EB4B4F585863}"/>
              </a:ext>
            </a:extLst>
          </p:cNvPr>
          <p:cNvCxnSpPr/>
          <p:nvPr/>
        </p:nvCxnSpPr>
        <p:spPr>
          <a:xfrm>
            <a:off x="4179179" y="1311610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12D92C3-3EF1-4F02-8D9E-371768DF7C62}"/>
              </a:ext>
            </a:extLst>
          </p:cNvPr>
          <p:cNvCxnSpPr/>
          <p:nvPr/>
        </p:nvCxnSpPr>
        <p:spPr>
          <a:xfrm>
            <a:off x="4166955" y="1536635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A83511C-29A2-4F08-B5E2-780FC209EBFE}"/>
              </a:ext>
            </a:extLst>
          </p:cNvPr>
          <p:cNvCxnSpPr/>
          <p:nvPr/>
        </p:nvCxnSpPr>
        <p:spPr>
          <a:xfrm>
            <a:off x="4166955" y="1761660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A6E47BC-7858-487E-9C62-3ABEA8A1DA18}"/>
              </a:ext>
            </a:extLst>
          </p:cNvPr>
          <p:cNvCxnSpPr/>
          <p:nvPr/>
        </p:nvCxnSpPr>
        <p:spPr>
          <a:xfrm>
            <a:off x="4166955" y="1941680"/>
            <a:ext cx="41282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281F141-1E63-4A7C-B147-2ED922EEAED1}"/>
              </a:ext>
            </a:extLst>
          </p:cNvPr>
          <p:cNvSpPr/>
          <p:nvPr/>
        </p:nvSpPr>
        <p:spPr>
          <a:xfrm flipV="1">
            <a:off x="656566" y="2706763"/>
            <a:ext cx="630070" cy="256529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F52B1D6-6606-4142-9886-21A8569F92BB}"/>
              </a:ext>
            </a:extLst>
          </p:cNvPr>
          <p:cNvCxnSpPr>
            <a:cxnSpLocks/>
          </p:cNvCxnSpPr>
          <p:nvPr/>
        </p:nvCxnSpPr>
        <p:spPr>
          <a:xfrm flipV="1">
            <a:off x="1286636" y="2835027"/>
            <a:ext cx="2892543" cy="6753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4F6E815-77BF-47E7-ADD7-8A8636737E7B}"/>
              </a:ext>
            </a:extLst>
          </p:cNvPr>
          <p:cNvSpPr/>
          <p:nvPr/>
        </p:nvSpPr>
        <p:spPr>
          <a:xfrm flipV="1">
            <a:off x="656567" y="3156815"/>
            <a:ext cx="2205244" cy="334574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72A70D7D-47F7-456E-AF33-434A7DE217D9}"/>
              </a:ext>
            </a:extLst>
          </p:cNvPr>
          <p:cNvCxnSpPr>
            <a:cxnSpLocks/>
          </p:cNvCxnSpPr>
          <p:nvPr/>
        </p:nvCxnSpPr>
        <p:spPr>
          <a:xfrm>
            <a:off x="2861798" y="3324101"/>
            <a:ext cx="1317381" cy="1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6EF32870-1131-460B-A606-C54C465788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955" y="3228734"/>
            <a:ext cx="4305430" cy="10082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B23BFB59-BE50-4A9E-8818-D744952B665C}"/>
              </a:ext>
            </a:extLst>
          </p:cNvPr>
          <p:cNvSpPr/>
          <p:nvPr/>
        </p:nvSpPr>
        <p:spPr>
          <a:xfrm>
            <a:off x="4797025" y="3210240"/>
            <a:ext cx="383758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hlinkClick r:id="rId7"/>
              </a:rPr>
              <a:t>https://cybozudev.kf5.com/hc/kb/article/200733/#step7</a:t>
            </a:r>
            <a:endParaRPr lang="zh-CN" altLang="en-US" sz="1100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HTTP Client Tool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8BC9FEA-57C6-4EDC-9FBF-E84E65131F08}"/>
              </a:ext>
            </a:extLst>
          </p:cNvPr>
          <p:cNvSpPr/>
          <p:nvPr/>
        </p:nvSpPr>
        <p:spPr>
          <a:xfrm>
            <a:off x="4582975" y="3618462"/>
            <a:ext cx="38298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BASE64</a:t>
            </a:r>
            <a:r>
              <a:rPr lang="zh-CN" altLang="en-US" sz="1400" dirty="0"/>
              <a:t>编码 </a:t>
            </a:r>
            <a:r>
              <a:rPr lang="zh-CN" altLang="en-US" sz="1200" dirty="0">
                <a:hlinkClick r:id="rId8"/>
              </a:rPr>
              <a:t>http://tool.oschina.net/encrypt?type=3</a:t>
            </a:r>
            <a:endParaRPr lang="zh-CN" altLang="en-US" sz="120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96E08FFA-1549-46CC-A7C4-AE6E4D644B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179" y="4371950"/>
            <a:ext cx="3970986" cy="532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E496EA61-98D2-49E8-9D73-12AA9EE2F1D6}"/>
              </a:ext>
            </a:extLst>
          </p:cNvPr>
          <p:cNvSpPr/>
          <p:nvPr/>
        </p:nvSpPr>
        <p:spPr>
          <a:xfrm>
            <a:off x="3067336" y="4506965"/>
            <a:ext cx="1436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zh-CN" sz="1400" b="1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sz="1400" b="1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请求内容类型</a:t>
            </a:r>
            <a:endParaRPr lang="zh-CN" altLang="en-US" sz="1400" b="1" i="0" dirty="0">
              <a:solidFill>
                <a:srgbClr val="37405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339D13-54B5-4C03-8551-2AFD35B098BB}"/>
              </a:ext>
            </a:extLst>
          </p:cNvPr>
          <p:cNvSpPr/>
          <p:nvPr/>
        </p:nvSpPr>
        <p:spPr>
          <a:xfrm>
            <a:off x="3023473" y="3506654"/>
            <a:ext cx="14237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zh-CN" sz="1400" b="1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400" b="1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用户身份验证</a:t>
            </a:r>
            <a:endParaRPr lang="zh-CN" altLang="en-US" sz="1400" b="1" i="0" dirty="0">
              <a:solidFill>
                <a:srgbClr val="37405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1428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1508DA-5F56-4239-AEE3-915B11A83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46" r="47632" b="8417"/>
          <a:stretch/>
        </p:blipFill>
        <p:spPr>
          <a:xfrm>
            <a:off x="296525" y="861560"/>
            <a:ext cx="4150736" cy="4221646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HTTP Client Tool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66FC17C-A342-4B7C-BAD4-9007C3D41039}"/>
              </a:ext>
            </a:extLst>
          </p:cNvPr>
          <p:cNvSpPr/>
          <p:nvPr/>
        </p:nvSpPr>
        <p:spPr>
          <a:xfrm flipV="1">
            <a:off x="656554" y="3699052"/>
            <a:ext cx="2655306" cy="868662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9179423-7405-40A3-AF66-CBC8F3DE097C}"/>
              </a:ext>
            </a:extLst>
          </p:cNvPr>
          <p:cNvCxnSpPr>
            <a:cxnSpLocks/>
          </p:cNvCxnSpPr>
          <p:nvPr/>
        </p:nvCxnSpPr>
        <p:spPr>
          <a:xfrm>
            <a:off x="3311860" y="4056915"/>
            <a:ext cx="540060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F65F3409-F99B-431F-A1A8-6BB0BE15E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086814"/>
            <a:ext cx="4914690" cy="3690411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40560622-3C1F-47FD-8A4B-0A54A84DB743}"/>
              </a:ext>
            </a:extLst>
          </p:cNvPr>
          <p:cNvSpPr/>
          <p:nvPr/>
        </p:nvSpPr>
        <p:spPr>
          <a:xfrm>
            <a:off x="4678438" y="1041580"/>
            <a:ext cx="355539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hlinkClick r:id="rId5"/>
              </a:rPr>
              <a:t>https://cybozudev.kf5.com/hc/kb/article/201603/#step1</a:t>
            </a:r>
            <a:endParaRPr lang="zh-CN" altLang="en-US" sz="11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F538A9F-F799-4F7A-A267-F613FDC949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935" y="2985545"/>
            <a:ext cx="2857500" cy="3425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36D5CEBD-DF51-453C-8F59-F8EA0530840E}"/>
              </a:ext>
            </a:extLst>
          </p:cNvPr>
          <p:cNvSpPr/>
          <p:nvPr/>
        </p:nvSpPr>
        <p:spPr>
          <a:xfrm>
            <a:off x="4678438" y="3064961"/>
            <a:ext cx="568637" cy="181864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E90C3E6-F3AC-45FF-96C0-5DCF08A07F9A}"/>
              </a:ext>
            </a:extLst>
          </p:cNvPr>
          <p:cNvCxnSpPr>
            <a:cxnSpLocks/>
          </p:cNvCxnSpPr>
          <p:nvPr/>
        </p:nvCxnSpPr>
        <p:spPr>
          <a:xfrm>
            <a:off x="5247075" y="3156815"/>
            <a:ext cx="382860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4A9A34F-8A34-4A93-9A54-2C4BE6085B85}"/>
              </a:ext>
            </a:extLst>
          </p:cNvPr>
          <p:cNvSpPr/>
          <p:nvPr/>
        </p:nvSpPr>
        <p:spPr>
          <a:xfrm>
            <a:off x="7767355" y="3064961"/>
            <a:ext cx="390406" cy="181864"/>
          </a:xfrm>
          <a:prstGeom prst="round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97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1508DA-5F56-4239-AEE3-915B11A832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6" b="7794"/>
          <a:stretch/>
        </p:blipFill>
        <p:spPr>
          <a:xfrm>
            <a:off x="1196625" y="681540"/>
            <a:ext cx="6435715" cy="44372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代码范例</a:t>
            </a:r>
          </a:p>
        </p:txBody>
      </p:sp>
    </p:spTree>
    <p:extLst>
      <p:ext uri="{BB962C8B-B14F-4D97-AF65-F5344CB8AC3E}">
        <p14:creationId xmlns:p14="http://schemas.microsoft.com/office/powerpoint/2010/main" val="3771687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ED5373-4FCD-4071-9CA6-E60068703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816555"/>
            <a:ext cx="7002677" cy="38006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3782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2518647" y="908114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7B52C"/>
                </a:solidFill>
              </a:rPr>
              <a:t>THANKS FOR</a:t>
            </a:r>
            <a:r>
              <a:rPr lang="zh-CN" altLang="en-US" sz="2800" dirty="0">
                <a:solidFill>
                  <a:srgbClr val="F7B52C"/>
                </a:solidFill>
              </a:rPr>
              <a:t> </a:t>
            </a:r>
            <a:r>
              <a:rPr lang="en-US" altLang="zh-CN" sz="2800" dirty="0">
                <a:solidFill>
                  <a:srgbClr val="21294D"/>
                </a:solidFill>
              </a:rPr>
              <a:t>YOUR WATCHING</a:t>
            </a: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CC379998-9E3D-42DA-87A5-2F3CF1FB0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209234"/>
              </p:ext>
            </p:extLst>
          </p:nvPr>
        </p:nvGraphicFramePr>
        <p:xfrm>
          <a:off x="656565" y="1986685"/>
          <a:ext cx="7695855" cy="1187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D8EF27B-2954-4949-9D83-2463ADAECEE6}"/>
              </a:ext>
            </a:extLst>
          </p:cNvPr>
          <p:cNvSpPr/>
          <p:nvPr/>
        </p:nvSpPr>
        <p:spPr>
          <a:xfrm>
            <a:off x="649048" y="2481740"/>
            <a:ext cx="2355291" cy="2355289"/>
          </a:xfrm>
          <a:prstGeom prst="rect">
            <a:avLst/>
          </a:prstGeom>
          <a:solidFill>
            <a:schemeClr val="bg1"/>
          </a:solidFill>
          <a:ln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2FBEEB1-F743-476B-B877-48D6DB44BE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58" y="2571750"/>
            <a:ext cx="2175269" cy="21752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0F14B5D-52E9-47B4-A7D8-8573A55660DE}"/>
              </a:ext>
            </a:extLst>
          </p:cNvPr>
          <p:cNvSpPr/>
          <p:nvPr/>
        </p:nvSpPr>
        <p:spPr>
          <a:xfrm>
            <a:off x="6004645" y="2484868"/>
            <a:ext cx="2347776" cy="2355289"/>
          </a:xfrm>
          <a:prstGeom prst="rect">
            <a:avLst/>
          </a:prstGeom>
          <a:solidFill>
            <a:schemeClr val="bg1"/>
          </a:solidFill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A237405-3CC6-42ED-ADD6-CFC5365838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368" y="2578348"/>
            <a:ext cx="2168328" cy="2168328"/>
          </a:xfrm>
          <a:prstGeom prst="rect">
            <a:avLst/>
          </a:prstGeom>
          <a:ln>
            <a:noFill/>
          </a:ln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6055AD31-61A3-44FF-826E-A096C6E49019}"/>
              </a:ext>
            </a:extLst>
          </p:cNvPr>
          <p:cNvGrpSpPr/>
          <p:nvPr/>
        </p:nvGrpSpPr>
        <p:grpSpPr>
          <a:xfrm>
            <a:off x="3326846" y="2466711"/>
            <a:ext cx="2370279" cy="2355289"/>
            <a:chOff x="4917010" y="1266605"/>
            <a:chExt cx="2355291" cy="235528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7360F9E-A2C7-490B-9C4B-C4CF57B81C99}"/>
                </a:ext>
              </a:extLst>
            </p:cNvPr>
            <p:cNvSpPr/>
            <p:nvPr/>
          </p:nvSpPr>
          <p:spPr>
            <a:xfrm>
              <a:off x="4917010" y="1266605"/>
              <a:ext cx="2355291" cy="235528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2129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6F8EEA0-4CE7-4A79-AE72-A688685B6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986" y="1296581"/>
              <a:ext cx="2310284" cy="2310284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CE1D91A-9830-4EBF-8016-31C7F1BE1CA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88" y="182692"/>
            <a:ext cx="1663059" cy="15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2243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35791</TotalTime>
  <Words>1669</Words>
  <Application>Microsoft Office PowerPoint</Application>
  <PresentationFormat>全屏显示(16:9)</PresentationFormat>
  <Paragraphs>401</Paragraphs>
  <Slides>49</Slides>
  <Notes>49</Notes>
  <HiddenSlides>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6" baseType="lpstr">
      <vt:lpstr>Meiryo UI</vt:lpstr>
      <vt:lpstr>Microsoft YaHei</vt:lpstr>
      <vt:lpstr>Microsoft YaHei</vt:lpstr>
      <vt:lpstr>Arial</vt:lpstr>
      <vt:lpstr>Calibri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严 蓓琦 (Yan BeiQi)</dc:creator>
  <cp:lastModifiedBy>厳 蓓琪 (Yan BeiQi)</cp:lastModifiedBy>
  <cp:revision>1376</cp:revision>
  <dcterms:modified xsi:type="dcterms:W3CDTF">2019-03-28T09:45:41Z</dcterms:modified>
</cp:coreProperties>
</file>